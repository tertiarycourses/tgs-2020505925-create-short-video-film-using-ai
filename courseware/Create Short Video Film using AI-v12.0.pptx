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1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Classroom facilitation (min)</c:v>
                </c:pt>
              </c:strCache>
            </c:strRef>
          </c:tx>
          <c:spPr>
            <a:solidFill>
              <a:srgbClr val="1F6FEB"/>
            </a:solidFill>
            <a:ln>
              <a:solidFill>
                <a:srgbClr val="1F6FEB"/>
              </a:solidFill>
            </a:ln>
          </c:spPr>
          <c:cat>
            <c:strRef>
              <c:f>Sheet1!$A$2:$A$4</c:f>
              <c:strCache>
                <c:ptCount val="3"/>
                <c:pt idx="0">
                  <c:v>Day 1</c:v>
                </c:pt>
                <c:pt idx="1">
                  <c:v>Day 2</c:v>
                </c:pt>
                <c:pt idx="2">
                  <c:v>Programme total</c:v>
                </c:pt>
              </c:strCache>
            </c:strRef>
          </c:cat>
          <c:val>
            <c:numRef>
              <c:f>Sheet1!$B$2:$B$4</c:f>
              <c:numCache>
                <c:formatCode>General</c:formatCode>
                <c:ptCount val="3"/>
                <c:pt idx="0">
                  <c:v>300</c:v>
                </c:pt>
                <c:pt idx="1">
                  <c:v>150</c:v>
                </c:pt>
                <c:pt idx="2">
                  <c:v>450</c:v>
                </c:pt>
              </c:numCache>
            </c:numRef>
          </c:val>
        </c:ser>
        <c:ser>
          <c:idx val="1"/>
          <c:order val="1"/>
          <c:tx>
            <c:strRef>
              <c:f>Sheet1!$C$1</c:f>
              <c:strCache>
                <c:ptCount val="1"/>
                <c:pt idx="0">
                  <c:v>Practical / practicum (min)</c:v>
                </c:pt>
              </c:strCache>
            </c:strRef>
          </c:tx>
          <c:spPr>
            <a:solidFill>
              <a:srgbClr val="10B981"/>
            </a:solidFill>
            <a:ln>
              <a:solidFill>
                <a:srgbClr val="10B981"/>
              </a:solidFill>
            </a:ln>
          </c:spPr>
          <c:cat>
            <c:strRef>
              <c:f>Sheet1!$A$2:$A$4</c:f>
              <c:strCache>
                <c:ptCount val="3"/>
                <c:pt idx="0">
                  <c:v>Day 1</c:v>
                </c:pt>
                <c:pt idx="1">
                  <c:v>Day 2</c:v>
                </c:pt>
                <c:pt idx="2">
                  <c:v>Programme total</c:v>
                </c:pt>
              </c:strCache>
            </c:strRef>
          </c:cat>
          <c:val>
            <c:numRef>
              <c:f>Sheet1!$C$2:$C$4</c:f>
              <c:numCache>
                <c:formatCode>General</c:formatCode>
                <c:ptCount val="3"/>
                <c:pt idx="0">
                  <c:v>180</c:v>
                </c:pt>
                <c:pt idx="1">
                  <c:v>180</c:v>
                </c:pt>
                <c:pt idx="2">
                  <c:v>360</c:v>
                </c:pt>
              </c:numCache>
            </c:numRef>
          </c:val>
        </c:ser>
        <c:ser>
          <c:idx val="2"/>
          <c:order val="2"/>
          <c:tx>
            <c:strRef>
              <c:f>Sheet1!$D$1</c:f>
              <c:strCache>
                <c:ptCount val="1"/>
                <c:pt idx="0">
                  <c:v>Assessment (min)</c:v>
                </c:pt>
              </c:strCache>
            </c:strRef>
          </c:tx>
          <c:spPr>
            <a:solidFill>
              <a:srgbClr val="7C3AED"/>
            </a:solidFill>
            <a:ln>
              <a:solidFill>
                <a:srgbClr val="7C3AED"/>
              </a:solidFill>
            </a:ln>
          </c:spPr>
          <c:cat>
            <c:strRef>
              <c:f>Sheet1!$A$2:$A$4</c:f>
              <c:strCache>
                <c:ptCount val="3"/>
                <c:pt idx="0">
                  <c:v>Day 1</c:v>
                </c:pt>
                <c:pt idx="1">
                  <c:v>Day 2</c:v>
                </c:pt>
                <c:pt idx="2">
                  <c:v>Programme total</c:v>
                </c:pt>
              </c:strCache>
            </c:strRef>
          </c:cat>
          <c:val>
            <c:numRef>
              <c:f>Sheet1!$D$2:$D$4</c:f>
              <c:numCache>
                <c:formatCode>General</c:formatCode>
                <c:ptCount val="3"/>
                <c:pt idx="0">
                  <c:v>0</c:v>
                </c:pt>
                <c:pt idx="1">
                  <c:v>150</c:v>
                </c:pt>
                <c:pt idx="2">
                  <c:v>150</c:v>
                </c:pt>
              </c:numCache>
            </c:numRef>
          </c:val>
        </c:ser>
        <c:gapWidth val="60"/>
        <c:overlap val="100"/>
        <c:axId val="-2068027336"/>
        <c:axId val="-2113994440"/>
      </c:barChart>
      <c:catAx>
        <c:axId val="-2068027336"/>
        <c:scaling>
          <c:orientation val="minMax"/>
        </c:scaling>
        <c:delete val="0"/>
        <c:axPos val="b"/>
        <c:majorTickMark val="out"/>
        <c:minorTickMark val="none"/>
        <c:tickLblPos val="low"/>
        <c:txPr>
          <a:bodyPr/>
          <a:lstStyle/>
          <a:p>
            <a:pPr>
              <a:defRPr sz="1000"/>
            </a:pPr>
          </a:p>
        </c:txPr>
        <c:crossAx val="-2113994440"/>
        <c:crosses val="autoZero"/>
        <c:auto val="1"/>
        <c:lblAlgn val="ctr"/>
        <c:lblOffset val="100"/>
        <c:noMultiLvlLbl val="0"/>
      </c:catAx>
      <c:valAx>
        <c:axId val="-2113994440"/>
        <c:scaling/>
        <c:delete val="0"/>
        <c:axPos val="l"/>
        <c:majorGridlines/>
        <c:title>
          <c:tx>
            <c:rich>
              <a:bodyPr/>
              <a:lstStyle/>
              <a:p>
                <a:r>
                  <a:rPr sz="1000"/>
                  <a:t>minutes</a:t>
                </a:r>
              </a:p>
            </c:rich>
          </c:tx>
          <c:layout/>
          <c:overlay val="0"/>
        </c:title>
        <c:majorTickMark val="out"/>
        <c:minorTickMark val="none"/>
        <c:tickLblPos val="nextTo"/>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100">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Weighted total (0-5)</c:v>
                </c:pt>
              </c:strCache>
            </c:strRef>
          </c:tx>
          <c:spPr>
            <a:solidFill>
              <a:srgbClr val="1F6FEB"/>
            </a:solidFill>
            <a:ln>
              <a:solidFill>
                <a:srgbClr val="1F6FEB"/>
              </a:solidFill>
            </a:ln>
          </c:spPr>
          <c:cat>
            <c:strRef>
              <c:f>Sheet1!$A$2:$A$7</c:f>
              <c:strCache>
                <c:ptCount val="6"/>
                <c:pt idx="0">
                  <c:v>P2 Route Stories</c:v>
                </c:pt>
                <c:pt idx="1">
                  <c:v>P3 Safety dramas</c:v>
                </c:pt>
                <c:pt idx="2">
                  <c:v>P1 Last Ferry</c:v>
                </c:pt>
                <c:pt idx="3">
                  <c:v>P4 Birthday selfies</c:v>
                </c:pt>
                <c:pt idx="4">
                  <c:v>P6 Previs</c:v>
                </c:pt>
                <c:pt idx="5">
                  <c:v>P5 CEO interview</c:v>
                </c:pt>
              </c:strCache>
            </c:strRef>
          </c:cat>
          <c:val>
            <c:numRef>
              <c:f>Sheet1!$B$2:$B$7</c:f>
              <c:numCache>
                <c:formatCode>General</c:formatCode>
                <c:ptCount val="6"/>
                <c:pt idx="0">
                  <c:v>4.7</c:v>
                </c:pt>
                <c:pt idx="1">
                  <c:v>4.1</c:v>
                </c:pt>
                <c:pt idx="2">
                  <c:v>3.9</c:v>
                </c:pt>
                <c:pt idx="3">
                  <c:v>3.8</c:v>
                </c:pt>
                <c:pt idx="4">
                  <c:v>3.8</c:v>
                </c:pt>
                <c:pt idx="5">
                  <c:v>2.3</c:v>
                </c:pt>
              </c:numCache>
            </c:numRef>
          </c:val>
        </c:ser>
        <c:gapWidth val="60"/>
        <c:axId val="-2068027336"/>
        <c:axId val="-2113994440"/>
      </c:barChart>
      <c:catAx>
        <c:axId val="-2068027336"/>
        <c:scaling>
          <c:orientation val="minMax"/>
        </c:scaling>
        <c:delete val="0"/>
        <c:axPos val="b"/>
        <c:majorTickMark val="out"/>
        <c:minorTickMark val="none"/>
        <c:tickLblPos val="low"/>
        <c:txPr>
          <a:bodyPr/>
          <a:lstStyle/>
          <a:p>
            <a:pPr>
              <a:defRPr sz="1000"/>
            </a:pPr>
          </a:p>
        </c:txPr>
        <c:crossAx val="-2113994440"/>
        <c:crosses val="autoZero"/>
        <c:auto val="1"/>
        <c:lblAlgn val="ctr"/>
        <c:lblOffset val="100"/>
        <c:noMultiLvlLbl val="0"/>
      </c:catAx>
      <c:valAx>
        <c:axId val="-2113994440"/>
        <c:scaling/>
        <c:delete val="0"/>
        <c:axPos val="l"/>
        <c:majorGridlines/>
        <c:title>
          <c:tx>
            <c:rich>
              <a:bodyPr/>
              <a:lstStyle/>
              <a:p>
                <a:r>
                  <a:rPr sz="1000"/>
                  <a:t>weighted score</a:t>
                </a:r>
              </a:p>
            </c:rich>
          </c:tx>
          <c:layout/>
          <c:overlay val="0"/>
        </c:title>
        <c:majorTickMark val="out"/>
        <c:minorTickMark val="none"/>
        <c:tickLblPos val="nextTo"/>
        <c:txPr>
          <a:bodyPr/>
          <a:lstStyle/>
          <a:p>
            <a:pPr>
              <a:defRPr sz="1000"/>
            </a:pPr>
          </a:p>
        </c:txPr>
        <c:crossAx val="-2068027336"/>
        <c:crosses val="autoZero"/>
      </c:valAx>
    </c:plotArea>
    <c:dispBlanksAs val="gap"/>
  </c:chart>
  <c:txPr>
    <a:bodyPr/>
    <a:lstStyle/>
    <a:p>
      <a:pPr>
        <a:defRPr sz="1100">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Pixels kept (%)</c:v>
                </c:pt>
              </c:strCache>
            </c:strRef>
          </c:tx>
          <c:spPr>
            <a:solidFill>
              <a:srgbClr val="1F6FEB"/>
            </a:solidFill>
            <a:ln>
              <a:solidFill>
                <a:srgbClr val="1F6FEB"/>
              </a:solidFill>
            </a:ln>
          </c:spPr>
          <c:cat>
            <c:strRef>
              <c:f>Sheet1!$A$2:$A$5</c:f>
              <c:strCache>
                <c:ptCount val="4"/>
                <c:pt idx="0">
                  <c:v>16:9 YouTube</c:v>
                </c:pt>
                <c:pt idx="1">
                  <c:v>1:1 square</c:v>
                </c:pt>
                <c:pt idx="2">
                  <c:v>4:5 feed</c:v>
                </c:pt>
                <c:pt idx="3">
                  <c:v>9:16 Reels / Shorts</c:v>
                </c:pt>
              </c:strCache>
            </c:strRef>
          </c:cat>
          <c:val>
            <c:numRef>
              <c:f>Sheet1!$B$2:$B$5</c:f>
              <c:numCache>
                <c:formatCode>General</c:formatCode>
                <c:ptCount val="4"/>
                <c:pt idx="0">
                  <c:v>100.0</c:v>
                </c:pt>
                <c:pt idx="1">
                  <c:v>56.2</c:v>
                </c:pt>
                <c:pt idx="2">
                  <c:v>45.0</c:v>
                </c:pt>
                <c:pt idx="3">
                  <c:v>31.7</c:v>
                </c:pt>
              </c:numCache>
            </c:numRef>
          </c:val>
        </c:ser>
        <c:gapWidth val="60"/>
        <c:axId val="-2068027336"/>
        <c:axId val="-2113994440"/>
      </c:barChart>
      <c:catAx>
        <c:axId val="-2068027336"/>
        <c:scaling>
          <c:orientation val="minMax"/>
        </c:scaling>
        <c:delete val="0"/>
        <c:axPos val="b"/>
        <c:majorTickMark val="out"/>
        <c:minorTickMark val="none"/>
        <c:tickLblPos val="low"/>
        <c:txPr>
          <a:bodyPr/>
          <a:lstStyle/>
          <a:p>
            <a:pPr>
              <a:defRPr sz="1000"/>
            </a:pPr>
          </a:p>
        </c:txPr>
        <c:crossAx val="-2113994440"/>
        <c:crosses val="autoZero"/>
        <c:auto val="1"/>
        <c:lblAlgn val="ctr"/>
        <c:lblOffset val="100"/>
        <c:noMultiLvlLbl val="0"/>
      </c:catAx>
      <c:valAx>
        <c:axId val="-2113994440"/>
        <c:scaling/>
        <c:delete val="0"/>
        <c:axPos val="l"/>
        <c:majorGridlines/>
        <c:title>
          <c:tx>
            <c:rich>
              <a:bodyPr/>
              <a:lstStyle/>
              <a:p>
                <a:r>
                  <a:rPr sz="1000"/>
                  <a:t>% of master pixels</a:t>
                </a:r>
              </a:p>
            </c:rich>
          </c:tx>
          <c:layout/>
          <c:overlay val="0"/>
        </c:title>
        <c:majorTickMark val="out"/>
        <c:minorTickMark val="none"/>
        <c:tickLblPos val="nextTo"/>
        <c:txPr>
          <a:bodyPr/>
          <a:lstStyle/>
          <a:p>
            <a:pPr>
              <a:defRPr sz="1000"/>
            </a:pPr>
          </a:p>
        </c:txPr>
        <c:crossAx val="-2068027336"/>
        <c:crosses val="autoZero"/>
      </c:valAx>
    </c:plotArea>
    <c:dispBlanksAs val="gap"/>
  </c:chart>
  <c:txPr>
    <a:bodyPr/>
    <a:lstStyle/>
    <a:p>
      <a:pPr>
        <a:defRPr sz="1100">
          <a:latin typeface="Aria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Variance index (1.0 = design A)</c:v>
                </c:pt>
              </c:strCache>
            </c:strRef>
          </c:tx>
          <c:spPr>
            <a:solidFill>
              <a:srgbClr val="1F6FEB"/>
            </a:solidFill>
            <a:ln>
              <a:solidFill>
                <a:srgbClr val="1F6FEB"/>
              </a:solidFill>
            </a:ln>
          </c:spPr>
          <c:cat>
            <c:strRef>
              <c:f>Sheet1!$A$2:$A$5</c:f>
              <c:strCache>
                <c:ptCount val="4"/>
                <c:pt idx="0">
                  <c:v>A: free prose</c:v>
                </c:pt>
                <c:pt idx="1">
                  <c:v>B: + subject ref</c:v>
                </c:pt>
                <c:pt idx="2">
                  <c:v>C: + look locked</c:v>
                </c:pt>
                <c:pt idx="3">
                  <c:v>D: + camera, constraints</c:v>
                </c:pt>
              </c:strCache>
            </c:strRef>
          </c:cat>
          <c:val>
            <c:numRef>
              <c:f>Sheet1!$B$2:$B$5</c:f>
              <c:numCache>
                <c:formatCode>General</c:formatCode>
                <c:ptCount val="4"/>
                <c:pt idx="0">
                  <c:v>1.0</c:v>
                </c:pt>
                <c:pt idx="1">
                  <c:v>0.649</c:v>
                </c:pt>
                <c:pt idx="2">
                  <c:v>0.332</c:v>
                </c:pt>
                <c:pt idx="3">
                  <c:v>0.122</c:v>
                </c:pt>
              </c:numCache>
            </c:numRef>
          </c:val>
        </c:ser>
        <c:gapWidth val="60"/>
        <c:axId val="-2068027336"/>
        <c:axId val="-2113994440"/>
      </c:barChart>
      <c:catAx>
        <c:axId val="-2068027336"/>
        <c:scaling>
          <c:orientation val="minMax"/>
        </c:scaling>
        <c:delete val="0"/>
        <c:axPos val="b"/>
        <c:majorTickMark val="out"/>
        <c:minorTickMark val="none"/>
        <c:tickLblPos val="low"/>
        <c:txPr>
          <a:bodyPr/>
          <a:lstStyle/>
          <a:p>
            <a:pPr>
              <a:defRPr sz="1000"/>
            </a:pPr>
          </a:p>
        </c:txPr>
        <c:crossAx val="-2113994440"/>
        <c:crosses val="autoZero"/>
        <c:auto val="1"/>
        <c:lblAlgn val="ctr"/>
        <c:lblOffset val="100"/>
        <c:noMultiLvlLbl val="0"/>
      </c:catAx>
      <c:valAx>
        <c:axId val="-2113994440"/>
        <c:scaling/>
        <c:delete val="0"/>
        <c:axPos val="l"/>
        <c:majorGridlines/>
        <c:title>
          <c:tx>
            <c:rich>
              <a:bodyPr/>
              <a:lstStyle/>
              <a:p>
                <a:r>
                  <a:rPr sz="1000"/>
                  <a:t>variance index</a:t>
                </a:r>
              </a:p>
            </c:rich>
          </c:tx>
          <c:layout/>
          <c:overlay val="0"/>
        </c:title>
        <c:majorTickMark val="out"/>
        <c:minorTickMark val="none"/>
        <c:tickLblPos val="nextTo"/>
        <c:txPr>
          <a:bodyPr/>
          <a:lstStyle/>
          <a:p>
            <a:pPr>
              <a:defRPr sz="1000"/>
            </a:pPr>
          </a:p>
        </c:txPr>
        <c:crossAx val="-2068027336"/>
        <c:crosses val="autoZero"/>
      </c:valAx>
    </c:plotArea>
    <c:dispBlanksAs val="gap"/>
  </c:chart>
  <c:txPr>
    <a:bodyPr/>
    <a:lstStyle/>
    <a:p>
      <a:pPr>
        <a:defRPr sz="1100">
          <a:latin typeface="Aria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Source width kept (%)</c:v>
                </c:pt>
              </c:strCache>
            </c:strRef>
          </c:tx>
          <c:spPr>
            <a:solidFill>
              <a:srgbClr val="1F6FEB"/>
            </a:solidFill>
            <a:ln>
              <a:solidFill>
                <a:srgbClr val="1F6FEB"/>
              </a:solidFill>
            </a:ln>
          </c:spPr>
          <c:cat>
            <c:strRef>
              <c:f>Sheet1!$A$2:$A$3</c:f>
              <c:strCache>
                <c:ptCount val="2"/>
                <c:pt idx="0">
                  <c:v>Centre crop</c:v>
                </c:pt>
                <c:pt idx="1">
                  <c:v>Generative outpaint</c:v>
                </c:pt>
              </c:strCache>
            </c:strRef>
          </c:cat>
          <c:val>
            <c:numRef>
              <c:f>Sheet1!$B$2:$B$3</c:f>
              <c:numCache>
                <c:formatCode>General</c:formatCode>
                <c:ptCount val="2"/>
                <c:pt idx="0">
                  <c:v>30.2</c:v>
                </c:pt>
                <c:pt idx="1">
                  <c:v>100.0</c:v>
                </c:pt>
              </c:numCache>
            </c:numRef>
          </c:val>
        </c:ser>
        <c:ser>
          <c:idx val="1"/>
          <c:order val="1"/>
          <c:tx>
            <c:strRef>
              <c:f>Sheet1!$C$1</c:f>
              <c:strCache>
                <c:ptCount val="1"/>
                <c:pt idx="0">
                  <c:v>Pixels to generate (%)</c:v>
                </c:pt>
              </c:strCache>
            </c:strRef>
          </c:tx>
          <c:spPr>
            <a:solidFill>
              <a:srgbClr val="10B981"/>
            </a:solidFill>
            <a:ln>
              <a:solidFill>
                <a:srgbClr val="10B981"/>
              </a:solidFill>
            </a:ln>
          </c:spPr>
          <c:cat>
            <c:strRef>
              <c:f>Sheet1!$A$2:$A$3</c:f>
              <c:strCache>
                <c:ptCount val="2"/>
                <c:pt idx="0">
                  <c:v>Centre crop</c:v>
                </c:pt>
                <c:pt idx="1">
                  <c:v>Generative outpaint</c:v>
                </c:pt>
              </c:strCache>
            </c:strRef>
          </c:cat>
          <c:val>
            <c:numRef>
              <c:f>Sheet1!$C$2:$C$3</c:f>
              <c:numCache>
                <c:formatCode>General</c:formatCode>
                <c:ptCount val="2"/>
                <c:pt idx="0">
                  <c:v>0.0</c:v>
                </c:pt>
                <c:pt idx="1">
                  <c:v>69.8</c:v>
                </c:pt>
              </c:numCache>
            </c:numRef>
          </c:val>
        </c:ser>
        <c:gapWidth val="60"/>
        <c:axId val="-2068027336"/>
        <c:axId val="-2113994440"/>
      </c:barChart>
      <c:catAx>
        <c:axId val="-2068027336"/>
        <c:scaling>
          <c:orientation val="minMax"/>
        </c:scaling>
        <c:delete val="0"/>
        <c:axPos val="b"/>
        <c:majorTickMark val="out"/>
        <c:minorTickMark val="none"/>
        <c:tickLblPos val="low"/>
        <c:txPr>
          <a:bodyPr/>
          <a:lstStyle/>
          <a:p>
            <a:pPr>
              <a:defRPr sz="1000"/>
            </a:pPr>
          </a:p>
        </c:txPr>
        <c:crossAx val="-2113994440"/>
        <c:crosses val="autoZero"/>
        <c:auto val="1"/>
        <c:lblAlgn val="ctr"/>
        <c:lblOffset val="100"/>
        <c:noMultiLvlLbl val="0"/>
      </c:catAx>
      <c:valAx>
        <c:axId val="-2113994440"/>
        <c:scaling/>
        <c:delete val="0"/>
        <c:axPos val="l"/>
        <c:majorGridlines/>
        <c:title>
          <c:tx>
            <c:rich>
              <a:bodyPr/>
              <a:lstStyle/>
              <a:p>
                <a:r>
                  <a:rPr sz="1000"/>
                  <a:t>%</a:t>
                </a:r>
              </a:p>
            </c:rich>
          </c:tx>
          <c:layout/>
          <c:overlay val="0"/>
        </c:title>
        <c:majorTickMark val="out"/>
        <c:minorTickMark val="none"/>
        <c:tickLblPos val="nextTo"/>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100">
          <a:latin typeface="Arial"/>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Unrepaired</c:v>
                </c:pt>
              </c:strCache>
            </c:strRef>
          </c:tx>
          <c:spPr>
            <a:solidFill>
              <a:srgbClr val="1F6FEB"/>
            </a:solidFill>
            <a:ln>
              <a:solidFill>
                <a:srgbClr val="1F6FEB"/>
              </a:solidFill>
            </a:ln>
          </c:spPr>
          <c:cat>
            <c:strRef>
              <c:f>Sheet1!$A$2:$A$5</c:f>
              <c:strCache>
                <c:ptCount val="4"/>
                <c:pt idx="0">
                  <c:v>Noise</c:v>
                </c:pt>
                <c:pt idx="1">
                  <c:v>Soft focus</c:v>
                </c:pt>
                <c:pt idx="2">
                  <c:v>Flat log-like</c:v>
                </c:pt>
                <c:pt idx="3">
                  <c:v>Half-res draft</c:v>
                </c:pt>
              </c:strCache>
            </c:strRef>
          </c:cat>
          <c:val>
            <c:numRef>
              <c:f>Sheet1!$B$2:$B$5</c:f>
              <c:numCache>
                <c:formatCode>General</c:formatCode>
                <c:ptCount val="4"/>
                <c:pt idx="0">
                  <c:v>0.502</c:v>
                </c:pt>
                <c:pt idx="1">
                  <c:v>0.976</c:v>
                </c:pt>
                <c:pt idx="2">
                  <c:v>0.924</c:v>
                </c:pt>
                <c:pt idx="3">
                  <c:v>0.978</c:v>
                </c:pt>
              </c:numCache>
            </c:numRef>
          </c:val>
        </c:ser>
        <c:ser>
          <c:idx val="1"/>
          <c:order val="1"/>
          <c:tx>
            <c:strRef>
              <c:f>Sheet1!$C$1</c:f>
              <c:strCache>
                <c:ptCount val="1"/>
                <c:pt idx="0">
                  <c:v>Best repair</c:v>
                </c:pt>
              </c:strCache>
            </c:strRef>
          </c:tx>
          <c:spPr>
            <a:solidFill>
              <a:srgbClr val="10B981"/>
            </a:solidFill>
            <a:ln>
              <a:solidFill>
                <a:srgbClr val="10B981"/>
              </a:solidFill>
            </a:ln>
          </c:spPr>
          <c:cat>
            <c:strRef>
              <c:f>Sheet1!$A$2:$A$5</c:f>
              <c:strCache>
                <c:ptCount val="4"/>
                <c:pt idx="0">
                  <c:v>Noise</c:v>
                </c:pt>
                <c:pt idx="1">
                  <c:v>Soft focus</c:v>
                </c:pt>
                <c:pt idx="2">
                  <c:v>Flat log-like</c:v>
                </c:pt>
                <c:pt idx="3">
                  <c:v>Half-res draft</c:v>
                </c:pt>
              </c:strCache>
            </c:strRef>
          </c:cat>
          <c:val>
            <c:numRef>
              <c:f>Sheet1!$C$2:$C$5</c:f>
              <c:numCache>
                <c:formatCode>General</c:formatCode>
                <c:ptCount val="4"/>
                <c:pt idx="0">
                  <c:v>0.926</c:v>
                </c:pt>
                <c:pt idx="1">
                  <c:v>0.981</c:v>
                </c:pt>
                <c:pt idx="2">
                  <c:v>0.972</c:v>
                </c:pt>
                <c:pt idx="3">
                  <c:v>0.987</c:v>
                </c:pt>
              </c:numCache>
            </c:numRef>
          </c:val>
        </c:ser>
        <c:gapWidth val="60"/>
        <c:axId val="-2068027336"/>
        <c:axId val="-2113994440"/>
      </c:barChart>
      <c:catAx>
        <c:axId val="-2068027336"/>
        <c:scaling>
          <c:orientation val="minMax"/>
        </c:scaling>
        <c:delete val="0"/>
        <c:axPos val="b"/>
        <c:majorTickMark val="out"/>
        <c:minorTickMark val="none"/>
        <c:tickLblPos val="low"/>
        <c:txPr>
          <a:bodyPr/>
          <a:lstStyle/>
          <a:p>
            <a:pPr>
              <a:defRPr sz="1000"/>
            </a:pPr>
          </a:p>
        </c:txPr>
        <c:crossAx val="-2113994440"/>
        <c:crosses val="autoZero"/>
        <c:auto val="1"/>
        <c:lblAlgn val="ctr"/>
        <c:lblOffset val="100"/>
        <c:noMultiLvlLbl val="0"/>
      </c:catAx>
      <c:valAx>
        <c:axId val="-2113994440"/>
        <c:scaling/>
        <c:delete val="0"/>
        <c:axPos val="l"/>
        <c:majorGridlines/>
        <c:title>
          <c:tx>
            <c:rich>
              <a:bodyPr/>
              <a:lstStyle/>
              <a:p>
                <a:r>
                  <a:rPr sz="1000"/>
                  <a:t>SSIM (1 = identical)</a:t>
                </a:r>
              </a:p>
            </c:rich>
          </c:tx>
          <c:layout/>
          <c:overlay val="0"/>
        </c:title>
        <c:majorTickMark val="out"/>
        <c:minorTickMark val="none"/>
        <c:tickLblPos val="nextTo"/>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100">
          <a:latin typeface="Arial"/>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Coat hue (sheet = 23)</c:v>
                </c:pt>
              </c:strCache>
            </c:strRef>
          </c:tx>
          <c:spPr>
            <a:solidFill>
              <a:srgbClr val="1F6FEB"/>
            </a:solidFill>
            <a:ln>
              <a:solidFill>
                <a:srgbClr val="1F6FEB"/>
              </a:solidFill>
            </a:ln>
          </c:spPr>
          <c:cat>
            <c:strRef>
              <c:f>Sheet1!$A$2:$A$7</c:f>
              <c:strCache>
                <c:ptCount val="6"/>
                <c:pt idx="0">
                  <c:v>shot 01</c:v>
                </c:pt>
                <c:pt idx="1">
                  <c:v>shot 02</c:v>
                </c:pt>
                <c:pt idx="2">
                  <c:v>shot 03</c:v>
                </c:pt>
                <c:pt idx="3">
                  <c:v>shot 04</c:v>
                </c:pt>
                <c:pt idx="4">
                  <c:v>shot 05</c:v>
                </c:pt>
                <c:pt idx="5">
                  <c:v>shot 06</c:v>
                </c:pt>
              </c:strCache>
            </c:strRef>
          </c:cat>
          <c:val>
            <c:numRef>
              <c:f>Sheet1!$B$2:$B$7</c:f>
              <c:numCache>
                <c:formatCode>General</c:formatCode>
                <c:ptCount val="6"/>
                <c:pt idx="0">
                  <c:v>23</c:v>
                </c:pt>
                <c:pt idx="1">
                  <c:v>23</c:v>
                </c:pt>
                <c:pt idx="2">
                  <c:v>23</c:v>
                </c:pt>
                <c:pt idx="3">
                  <c:v>23</c:v>
                </c:pt>
                <c:pt idx="4">
                  <c:v>23</c:v>
                </c:pt>
                <c:pt idx="5">
                  <c:v>13</c:v>
                </c:pt>
              </c:numCache>
            </c:numRef>
          </c:val>
        </c:ser>
        <c:ser>
          <c:idx val="1"/>
          <c:order val="1"/>
          <c:tx>
            <c:strRef>
              <c:f>Sheet1!$C$1</c:f>
              <c:strCache>
                <c:ptCount val="1"/>
                <c:pt idx="0">
                  <c:v>ORB good matches</c:v>
                </c:pt>
              </c:strCache>
            </c:strRef>
          </c:tx>
          <c:spPr>
            <a:solidFill>
              <a:srgbClr val="10B981"/>
            </a:solidFill>
            <a:ln>
              <a:solidFill>
                <a:srgbClr val="10B981"/>
              </a:solidFill>
            </a:ln>
          </c:spPr>
          <c:cat>
            <c:strRef>
              <c:f>Sheet1!$A$2:$A$7</c:f>
              <c:strCache>
                <c:ptCount val="6"/>
                <c:pt idx="0">
                  <c:v>shot 01</c:v>
                </c:pt>
                <c:pt idx="1">
                  <c:v>shot 02</c:v>
                </c:pt>
                <c:pt idx="2">
                  <c:v>shot 03</c:v>
                </c:pt>
                <c:pt idx="3">
                  <c:v>shot 04</c:v>
                </c:pt>
                <c:pt idx="4">
                  <c:v>shot 05</c:v>
                </c:pt>
                <c:pt idx="5">
                  <c:v>shot 06</c:v>
                </c:pt>
              </c:strCache>
            </c:strRef>
          </c:cat>
          <c:val>
            <c:numRef>
              <c:f>Sheet1!$C$2:$C$7</c:f>
              <c:numCache>
                <c:formatCode>General</c:formatCode>
                <c:ptCount val="6"/>
                <c:pt idx="0">
                  <c:v>23</c:v>
                </c:pt>
                <c:pt idx="1">
                  <c:v>26</c:v>
                </c:pt>
                <c:pt idx="2">
                  <c:v>23</c:v>
                </c:pt>
                <c:pt idx="3">
                  <c:v>26</c:v>
                </c:pt>
                <c:pt idx="4">
                  <c:v>23</c:v>
                </c:pt>
                <c:pt idx="5">
                  <c:v>12</c:v>
                </c:pt>
              </c:numCache>
            </c:numRef>
          </c:val>
        </c:ser>
        <c:gapWidth val="60"/>
        <c:axId val="-2068027336"/>
        <c:axId val="-2113994440"/>
      </c:barChart>
      <c:catAx>
        <c:axId val="-2068027336"/>
        <c:scaling>
          <c:orientation val="minMax"/>
        </c:scaling>
        <c:delete val="0"/>
        <c:axPos val="b"/>
        <c:majorTickMark val="out"/>
        <c:minorTickMark val="none"/>
        <c:tickLblPos val="low"/>
        <c:txPr>
          <a:bodyPr/>
          <a:lstStyle/>
          <a:p>
            <a:pPr>
              <a:defRPr sz="1000"/>
            </a:pPr>
          </a:p>
        </c:txPr>
        <c:crossAx val="-2113994440"/>
        <c:crosses val="autoZero"/>
        <c:auto val="1"/>
        <c:lblAlgn val="ctr"/>
        <c:lblOffset val="100"/>
        <c:noMultiLvlLbl val="0"/>
      </c:catAx>
      <c:valAx>
        <c:axId val="-2113994440"/>
        <c:scaling/>
        <c:delete val="0"/>
        <c:axPos val="l"/>
        <c:majorGridlines/>
        <c:title>
          <c:tx>
            <c:rich>
              <a:bodyPr/>
              <a:lstStyle/>
              <a:p>
                <a:r>
                  <a:rPr sz="1000"/>
                  <a:t>value</a:t>
                </a:r>
              </a:p>
            </c:rich>
          </c:tx>
          <c:layout/>
          <c:overlay val="0"/>
        </c:title>
        <c:majorTickMark val="out"/>
        <c:minorTickMark val="none"/>
        <c:tickLblPos val="nextTo"/>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100">
          <a:latin typeface="Arial"/>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Exposure change (V)</c:v>
                </c:pt>
              </c:strCache>
            </c:strRef>
          </c:tx>
          <c:spPr>
            <a:solidFill>
              <a:srgbClr val="1F6FEB"/>
            </a:solidFill>
            <a:ln>
              <a:solidFill>
                <a:srgbClr val="1F6FEB"/>
              </a:solidFill>
            </a:ln>
          </c:spPr>
          <c:cat>
            <c:strRef>
              <c:f>Sheet1!$A$2:$A$9</c:f>
              <c:strCache>
                <c:ptCount val="8"/>
                <c:pt idx="0">
                  <c:v>01</c:v>
                </c:pt>
                <c:pt idx="1">
                  <c:v>02</c:v>
                </c:pt>
                <c:pt idx="2">
                  <c:v>03</c:v>
                </c:pt>
                <c:pt idx="3">
                  <c:v>04</c:v>
                </c:pt>
                <c:pt idx="4">
                  <c:v>05</c:v>
                </c:pt>
                <c:pt idx="5">
                  <c:v>06</c:v>
                </c:pt>
                <c:pt idx="6">
                  <c:v>07</c:v>
                </c:pt>
                <c:pt idx="7">
                  <c:v>08</c:v>
                </c:pt>
              </c:strCache>
            </c:strRef>
          </c:cat>
          <c:val>
            <c:numRef>
              <c:f>Sheet1!$B$2:$B$9</c:f>
              <c:numCache>
                <c:formatCode>General</c:formatCode>
                <c:ptCount val="8"/>
                <c:pt idx="0">
                  <c:v>-1.7</c:v>
                </c:pt>
                <c:pt idx="1">
                  <c:v>-2.2</c:v>
                </c:pt>
                <c:pt idx="2">
                  <c:v>0.0</c:v>
                </c:pt>
                <c:pt idx="3">
                  <c:v>-1.8</c:v>
                </c:pt>
                <c:pt idx="4">
                  <c:v>45.3</c:v>
                </c:pt>
                <c:pt idx="5">
                  <c:v>-4.2</c:v>
                </c:pt>
                <c:pt idx="6">
                  <c:v>24.1</c:v>
                </c:pt>
                <c:pt idx="7">
                  <c:v>-3.9</c:v>
                </c:pt>
              </c:numCache>
            </c:numRef>
          </c:val>
        </c:ser>
        <c:ser>
          <c:idx val="1"/>
          <c:order val="1"/>
          <c:tx>
            <c:strRef>
              <c:f>Sheet1!$C$1</c:f>
              <c:strCache>
                <c:ptCount val="1"/>
                <c:pt idx="0">
                  <c:v>Warmth change</c:v>
                </c:pt>
              </c:strCache>
            </c:strRef>
          </c:tx>
          <c:spPr>
            <a:solidFill>
              <a:srgbClr val="10B981"/>
            </a:solidFill>
            <a:ln>
              <a:solidFill>
                <a:srgbClr val="10B981"/>
              </a:solidFill>
            </a:ln>
          </c:spPr>
          <c:cat>
            <c:strRef>
              <c:f>Sheet1!$A$2:$A$9</c:f>
              <c:strCache>
                <c:ptCount val="8"/>
                <c:pt idx="0">
                  <c:v>01</c:v>
                </c:pt>
                <c:pt idx="1">
                  <c:v>02</c:v>
                </c:pt>
                <c:pt idx="2">
                  <c:v>03</c:v>
                </c:pt>
                <c:pt idx="3">
                  <c:v>04</c:v>
                </c:pt>
                <c:pt idx="4">
                  <c:v>05</c:v>
                </c:pt>
                <c:pt idx="5">
                  <c:v>06</c:v>
                </c:pt>
                <c:pt idx="6">
                  <c:v>07</c:v>
                </c:pt>
                <c:pt idx="7">
                  <c:v>08</c:v>
                </c:pt>
              </c:strCache>
            </c:strRef>
          </c:cat>
          <c:val>
            <c:numRef>
              <c:f>Sheet1!$C$2:$C$9</c:f>
              <c:numCache>
                <c:formatCode>General</c:formatCode>
                <c:ptCount val="8"/>
                <c:pt idx="0">
                  <c:v>1.0</c:v>
                </c:pt>
                <c:pt idx="1">
                  <c:v>0.8</c:v>
                </c:pt>
                <c:pt idx="2">
                  <c:v>0.0</c:v>
                </c:pt>
                <c:pt idx="3">
                  <c:v>0.3</c:v>
                </c:pt>
                <c:pt idx="4">
                  <c:v>37.5</c:v>
                </c:pt>
                <c:pt idx="5">
                  <c:v>-2.0</c:v>
                </c:pt>
                <c:pt idx="6">
                  <c:v>-5.8</c:v>
                </c:pt>
                <c:pt idx="7">
                  <c:v>-1.0</c:v>
                </c:pt>
              </c:numCache>
            </c:numRef>
          </c:val>
        </c:ser>
        <c:ser>
          <c:idx val="2"/>
          <c:order val="2"/>
          <c:tx>
            <c:strRef>
              <c:f>Sheet1!$D$1</c:f>
              <c:strCache>
                <c:ptCount val="1"/>
                <c:pt idx="0">
                  <c:v>Tint change</c:v>
                </c:pt>
              </c:strCache>
            </c:strRef>
          </c:tx>
          <c:spPr>
            <a:solidFill>
              <a:srgbClr val="7C3AED"/>
            </a:solidFill>
            <a:ln>
              <a:solidFill>
                <a:srgbClr val="7C3AED"/>
              </a:solidFill>
            </a:ln>
          </c:spPr>
          <c:cat>
            <c:strRef>
              <c:f>Sheet1!$A$2:$A$9</c:f>
              <c:strCache>
                <c:ptCount val="8"/>
                <c:pt idx="0">
                  <c:v>01</c:v>
                </c:pt>
                <c:pt idx="1">
                  <c:v>02</c:v>
                </c:pt>
                <c:pt idx="2">
                  <c:v>03</c:v>
                </c:pt>
                <c:pt idx="3">
                  <c:v>04</c:v>
                </c:pt>
                <c:pt idx="4">
                  <c:v>05</c:v>
                </c:pt>
                <c:pt idx="5">
                  <c:v>06</c:v>
                </c:pt>
                <c:pt idx="6">
                  <c:v>07</c:v>
                </c:pt>
                <c:pt idx="7">
                  <c:v>08</c:v>
                </c:pt>
              </c:strCache>
            </c:strRef>
          </c:cat>
          <c:val>
            <c:numRef>
              <c:f>Sheet1!$D$2:$D$9</c:f>
              <c:numCache>
                <c:formatCode>General</c:formatCode>
                <c:ptCount val="8"/>
                <c:pt idx="0">
                  <c:v>0.1</c:v>
                </c:pt>
                <c:pt idx="1">
                  <c:v>1.5</c:v>
                </c:pt>
                <c:pt idx="2">
                  <c:v>0.0</c:v>
                </c:pt>
                <c:pt idx="3">
                  <c:v>1.4</c:v>
                </c:pt>
                <c:pt idx="4">
                  <c:v>4.7</c:v>
                </c:pt>
                <c:pt idx="5">
                  <c:v>-0.5</c:v>
                </c:pt>
                <c:pt idx="6">
                  <c:v>-38.7</c:v>
                </c:pt>
                <c:pt idx="7">
                  <c:v>-0.4</c:v>
                </c:pt>
              </c:numCache>
            </c:numRef>
          </c:val>
        </c:ser>
        <c:gapWidth val="60"/>
        <c:axId val="-2068027336"/>
        <c:axId val="-2113994440"/>
      </c:barChart>
      <c:catAx>
        <c:axId val="-2068027336"/>
        <c:scaling>
          <c:orientation val="minMax"/>
        </c:scaling>
        <c:delete val="0"/>
        <c:axPos val="b"/>
        <c:majorTickMark val="out"/>
        <c:minorTickMark val="none"/>
        <c:tickLblPos val="low"/>
        <c:txPr>
          <a:bodyPr/>
          <a:lstStyle/>
          <a:p>
            <a:pPr>
              <a:defRPr sz="1000"/>
            </a:pPr>
          </a:p>
        </c:txPr>
        <c:crossAx val="-2113994440"/>
        <c:crosses val="autoZero"/>
        <c:auto val="1"/>
        <c:lblAlgn val="ctr"/>
        <c:lblOffset val="100"/>
        <c:noMultiLvlLbl val="0"/>
      </c:catAx>
      <c:valAx>
        <c:axId val="-2113994440"/>
        <c:scaling/>
        <c:delete val="0"/>
        <c:axPos val="l"/>
        <c:majorGridlines/>
        <c:title>
          <c:tx>
            <c:rich>
              <a:bodyPr/>
              <a:lstStyle/>
              <a:p>
                <a:r>
                  <a:rPr sz="1000"/>
                  <a:t>difference from master</a:t>
                </a:r>
              </a:p>
            </c:rich>
          </c:tx>
          <c:layout/>
          <c:overlay val="0"/>
        </c:title>
        <c:majorTickMark val="out"/>
        <c:minorTickMark val="none"/>
        <c:tickLblPos val="nextTo"/>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100">
          <a:latin typeface="Arial"/>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Finished seconds</c:v>
                </c:pt>
              </c:strCache>
            </c:strRef>
          </c:tx>
          <c:spPr>
            <a:solidFill>
              <a:srgbClr val="1F6FEB"/>
            </a:solidFill>
            <a:ln>
              <a:solidFill>
                <a:srgbClr val="1F6FEB"/>
              </a:solidFill>
            </a:ln>
          </c:spPr>
          <c:cat>
            <c:strRef>
              <c:f>Sheet1!$A$2:$A$8</c:f>
              <c:strCache>
                <c:ptCount val="7"/>
                <c:pt idx="0">
                  <c:v>S1</c:v>
                </c:pt>
                <c:pt idx="1">
                  <c:v>S2</c:v>
                </c:pt>
                <c:pt idx="2">
                  <c:v>S3</c:v>
                </c:pt>
                <c:pt idx="3">
                  <c:v>S4</c:v>
                </c:pt>
                <c:pt idx="4">
                  <c:v>S5</c:v>
                </c:pt>
                <c:pt idx="5">
                  <c:v>S6</c:v>
                </c:pt>
                <c:pt idx="6">
                  <c:v>S7</c:v>
                </c:pt>
              </c:strCache>
            </c:strRef>
          </c:cat>
          <c:val>
            <c:numRef>
              <c:f>Sheet1!$B$2:$B$8</c:f>
              <c:numCache>
                <c:formatCode>General</c:formatCode>
                <c:ptCount val="7"/>
                <c:pt idx="0">
                  <c:v>8</c:v>
                </c:pt>
                <c:pt idx="1">
                  <c:v>8</c:v>
                </c:pt>
                <c:pt idx="2">
                  <c:v>6</c:v>
                </c:pt>
                <c:pt idx="3">
                  <c:v>8</c:v>
                </c:pt>
                <c:pt idx="4">
                  <c:v>6</c:v>
                </c:pt>
                <c:pt idx="5">
                  <c:v>6</c:v>
                </c:pt>
                <c:pt idx="6">
                  <c:v>6</c:v>
                </c:pt>
              </c:numCache>
            </c:numRef>
          </c:val>
        </c:ser>
        <c:ser>
          <c:idx val="1"/>
          <c:order val="1"/>
          <c:tx>
            <c:strRef>
              <c:f>Sheet1!$C$1</c:f>
              <c:strCache>
                <c:ptCount val="1"/>
                <c:pt idx="0">
                  <c:v>Generated seconds</c:v>
                </c:pt>
              </c:strCache>
            </c:strRef>
          </c:tx>
          <c:spPr>
            <a:solidFill>
              <a:srgbClr val="10B981"/>
            </a:solidFill>
            <a:ln>
              <a:solidFill>
                <a:srgbClr val="10B981"/>
              </a:solidFill>
            </a:ln>
          </c:spPr>
          <c:cat>
            <c:strRef>
              <c:f>Sheet1!$A$2:$A$8</c:f>
              <c:strCache>
                <c:ptCount val="7"/>
                <c:pt idx="0">
                  <c:v>S1</c:v>
                </c:pt>
                <c:pt idx="1">
                  <c:v>S2</c:v>
                </c:pt>
                <c:pt idx="2">
                  <c:v>S3</c:v>
                </c:pt>
                <c:pt idx="3">
                  <c:v>S4</c:v>
                </c:pt>
                <c:pt idx="4">
                  <c:v>S5</c:v>
                </c:pt>
                <c:pt idx="5">
                  <c:v>S6</c:v>
                </c:pt>
                <c:pt idx="6">
                  <c:v>S7</c:v>
                </c:pt>
              </c:strCache>
            </c:strRef>
          </c:cat>
          <c:val>
            <c:numRef>
              <c:f>Sheet1!$C$2:$C$8</c:f>
              <c:numCache>
                <c:formatCode>General</c:formatCode>
                <c:ptCount val="7"/>
                <c:pt idx="0">
                  <c:v>16</c:v>
                </c:pt>
                <c:pt idx="1">
                  <c:v>24</c:v>
                </c:pt>
                <c:pt idx="2">
                  <c:v>12</c:v>
                </c:pt>
                <c:pt idx="3">
                  <c:v>16</c:v>
                </c:pt>
                <c:pt idx="4">
                  <c:v>12</c:v>
                </c:pt>
                <c:pt idx="5">
                  <c:v>12</c:v>
                </c:pt>
                <c:pt idx="6">
                  <c:v>6</c:v>
                </c:pt>
              </c:numCache>
            </c:numRef>
          </c:val>
        </c:ser>
        <c:gapWidth val="60"/>
        <c:axId val="-2068027336"/>
        <c:axId val="-2113994440"/>
      </c:barChart>
      <c:catAx>
        <c:axId val="-2068027336"/>
        <c:scaling>
          <c:orientation val="minMax"/>
        </c:scaling>
        <c:delete val="0"/>
        <c:axPos val="b"/>
        <c:majorTickMark val="out"/>
        <c:minorTickMark val="none"/>
        <c:tickLblPos val="low"/>
        <c:txPr>
          <a:bodyPr/>
          <a:lstStyle/>
          <a:p>
            <a:pPr>
              <a:defRPr sz="1000"/>
            </a:pPr>
          </a:p>
        </c:txPr>
        <c:crossAx val="-2113994440"/>
        <c:crosses val="autoZero"/>
        <c:auto val="1"/>
        <c:lblAlgn val="ctr"/>
        <c:lblOffset val="100"/>
        <c:noMultiLvlLbl val="0"/>
      </c:catAx>
      <c:valAx>
        <c:axId val="-2113994440"/>
        <c:scaling/>
        <c:delete val="0"/>
        <c:axPos val="l"/>
        <c:majorGridlines/>
        <c:title>
          <c:tx>
            <c:rich>
              <a:bodyPr/>
              <a:lstStyle/>
              <a:p>
                <a:r>
                  <a:rPr sz="1000"/>
                  <a:t>seconds</a:t>
                </a:r>
              </a:p>
            </c:rich>
          </c:tx>
          <c:layout/>
          <c:overlay val="0"/>
        </c:title>
        <c:majorTickMark val="out"/>
        <c:minorTickMark val="none"/>
        <c:tickLblPos val="nextTo"/>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100">
          <a:latin typeface="Arial"/>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Face cascade F1</c:v>
                </c:pt>
              </c:strCache>
            </c:strRef>
          </c:tx>
          <c:spPr>
            <a:solidFill>
              <a:srgbClr val="1F6FEB"/>
            </a:solidFill>
            <a:ln>
              <a:solidFill>
                <a:srgbClr val="1F6FEB"/>
              </a:solidFill>
            </a:ln>
          </c:spPr>
          <c:cat>
            <c:strRef>
              <c:f>Sheet1!$A$2:$A$4</c:f>
              <c:strCache>
                <c:ptCount val="3"/>
                <c:pt idx="0">
                  <c:v>IoU 0.3</c:v>
                </c:pt>
                <c:pt idx="1">
                  <c:v>IoU 0.5</c:v>
                </c:pt>
                <c:pt idx="2">
                  <c:v>IoU 0.7</c:v>
                </c:pt>
              </c:strCache>
            </c:strRef>
          </c:cat>
          <c:val>
            <c:numRef>
              <c:f>Sheet1!$B$2:$B$4</c:f>
              <c:numCache>
                <c:formatCode>General</c:formatCode>
                <c:ptCount val="3"/>
                <c:pt idx="0">
                  <c:v>0.973</c:v>
                </c:pt>
                <c:pt idx="1">
                  <c:v>0.973</c:v>
                </c:pt>
                <c:pt idx="2">
                  <c:v>0.973</c:v>
                </c:pt>
              </c:numCache>
            </c:numRef>
          </c:val>
        </c:ser>
        <c:ser>
          <c:idx val="1"/>
          <c:order val="1"/>
          <c:tx>
            <c:strRef>
              <c:f>Sheet1!$C$1</c:f>
              <c:strCache>
                <c:ptCount val="1"/>
                <c:pt idx="0">
                  <c:v>HOG person F1</c:v>
                </c:pt>
              </c:strCache>
            </c:strRef>
          </c:tx>
          <c:spPr>
            <a:solidFill>
              <a:srgbClr val="10B981"/>
            </a:solidFill>
            <a:ln>
              <a:solidFill>
                <a:srgbClr val="10B981"/>
              </a:solidFill>
            </a:ln>
          </c:spPr>
          <c:cat>
            <c:strRef>
              <c:f>Sheet1!$A$2:$A$4</c:f>
              <c:strCache>
                <c:ptCount val="3"/>
                <c:pt idx="0">
                  <c:v>IoU 0.3</c:v>
                </c:pt>
                <c:pt idx="1">
                  <c:v>IoU 0.5</c:v>
                </c:pt>
                <c:pt idx="2">
                  <c:v>IoU 0.7</c:v>
                </c:pt>
              </c:strCache>
            </c:strRef>
          </c:cat>
          <c:val>
            <c:numRef>
              <c:f>Sheet1!$C$2:$C$4</c:f>
              <c:numCache>
                <c:formatCode>General</c:formatCode>
                <c:ptCount val="3"/>
                <c:pt idx="0">
                  <c:v>1.0</c:v>
                </c:pt>
                <c:pt idx="1">
                  <c:v>0.938</c:v>
                </c:pt>
                <c:pt idx="2">
                  <c:v>0.0</c:v>
                </c:pt>
              </c:numCache>
            </c:numRef>
          </c:val>
        </c:ser>
        <c:gapWidth val="60"/>
        <c:axId val="-2068027336"/>
        <c:axId val="-2113994440"/>
      </c:barChart>
      <c:catAx>
        <c:axId val="-2068027336"/>
        <c:scaling>
          <c:orientation val="minMax"/>
        </c:scaling>
        <c:delete val="0"/>
        <c:axPos val="b"/>
        <c:majorTickMark val="out"/>
        <c:minorTickMark val="none"/>
        <c:tickLblPos val="low"/>
        <c:txPr>
          <a:bodyPr/>
          <a:lstStyle/>
          <a:p>
            <a:pPr>
              <a:defRPr sz="1000"/>
            </a:pPr>
          </a:p>
        </c:txPr>
        <c:crossAx val="-2113994440"/>
        <c:crosses val="autoZero"/>
        <c:auto val="1"/>
        <c:lblAlgn val="ctr"/>
        <c:lblOffset val="100"/>
        <c:noMultiLvlLbl val="0"/>
      </c:catAx>
      <c:valAx>
        <c:axId val="-2113994440"/>
        <c:scaling/>
        <c:delete val="0"/>
        <c:axPos val="l"/>
        <c:majorGridlines/>
        <c:title>
          <c:tx>
            <c:rich>
              <a:bodyPr/>
              <a:lstStyle/>
              <a:p>
                <a:r>
                  <a:rPr sz="1000"/>
                  <a:t>F1</a:t>
                </a:r>
              </a:p>
            </c:rich>
          </c:tx>
          <c:layout/>
          <c:overlay val="0"/>
        </c:title>
        <c:majorTickMark val="out"/>
        <c:minorTickMark val="none"/>
        <c:tickLblPos val="nextTo"/>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100">
          <a:latin typeface="Arial"/>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Flicker index</c:v>
                </c:pt>
              </c:strCache>
            </c:strRef>
          </c:tx>
          <c:spPr>
            <a:solidFill>
              <a:srgbClr val="1F6FEB"/>
            </a:solidFill>
            <a:ln>
              <a:solidFill>
                <a:srgbClr val="1F6FEB"/>
              </a:solidFill>
            </a:ln>
          </c:spPr>
          <c:cat>
            <c:strRef>
              <c:f>Sheet1!$A$2:$A$6</c:f>
              <c:strCache>
                <c:ptCount val="5"/>
                <c:pt idx="0">
                  <c:v>S1</c:v>
                </c:pt>
                <c:pt idx="1">
                  <c:v>S2</c:v>
                </c:pt>
                <c:pt idx="2">
                  <c:v>S3</c:v>
                </c:pt>
                <c:pt idx="3">
                  <c:v>S4</c:v>
                </c:pt>
                <c:pt idx="4">
                  <c:v>S5</c:v>
                </c:pt>
              </c:strCache>
            </c:strRef>
          </c:cat>
          <c:val>
            <c:numRef>
              <c:f>Sheet1!$B$2:$B$6</c:f>
              <c:numCache>
                <c:formatCode>General</c:formatCode>
                <c:ptCount val="5"/>
                <c:pt idx="0">
                  <c:v>0.22</c:v>
                </c:pt>
                <c:pt idx="1">
                  <c:v>0.06</c:v>
                </c:pt>
                <c:pt idx="2">
                  <c:v>6.06</c:v>
                </c:pt>
                <c:pt idx="3">
                  <c:v>0.02</c:v>
                </c:pt>
                <c:pt idx="4">
                  <c:v>0.02</c:v>
                </c:pt>
              </c:numCache>
            </c:numRef>
          </c:val>
        </c:ser>
        <c:gapWidth val="60"/>
        <c:axId val="-2068027336"/>
        <c:axId val="-2113994440"/>
      </c:barChart>
      <c:catAx>
        <c:axId val="-2068027336"/>
        <c:scaling>
          <c:orientation val="minMax"/>
        </c:scaling>
        <c:delete val="0"/>
        <c:axPos val="b"/>
        <c:majorTickMark val="out"/>
        <c:minorTickMark val="none"/>
        <c:tickLblPos val="low"/>
        <c:txPr>
          <a:bodyPr/>
          <a:lstStyle/>
          <a:p>
            <a:pPr>
              <a:defRPr sz="1000"/>
            </a:pPr>
          </a:p>
        </c:txPr>
        <c:crossAx val="-2113994440"/>
        <c:crosses val="autoZero"/>
        <c:auto val="1"/>
        <c:lblAlgn val="ctr"/>
        <c:lblOffset val="100"/>
        <c:noMultiLvlLbl val="0"/>
      </c:catAx>
      <c:valAx>
        <c:axId val="-2113994440"/>
        <c:scaling/>
        <c:delete val="0"/>
        <c:axPos val="l"/>
        <c:majorGridlines/>
        <c:title>
          <c:tx>
            <c:rich>
              <a:bodyPr/>
              <a:lstStyle/>
              <a:p>
                <a:r>
                  <a:rPr sz="1000"/>
                  <a:t>mean brightness jump</a:t>
                </a:r>
              </a:p>
            </c:rich>
          </c:tx>
          <c:layout/>
          <c:overlay val="0"/>
        </c:title>
        <c:majorTickMark val="out"/>
        <c:minorTickMark val="none"/>
        <c:tickLblPos val="nextTo"/>
        <c:txPr>
          <a:bodyPr/>
          <a:lstStyle/>
          <a:p>
            <a:pPr>
              <a:defRPr sz="1000"/>
            </a:pPr>
          </a:p>
        </c:txPr>
        <c:crossAx val="-2068027336"/>
        <c:crosses val="autoZero"/>
      </c:valAx>
    </c:plotArea>
    <c:dispBlanksAs val="gap"/>
  </c:chart>
  <c:txPr>
    <a:bodyPr/>
    <a:lstStyle/>
    <a:p>
      <a:pPr>
        <a:defRPr sz="1100">
          <a:latin typeface="Arial"/>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Master pixels kept (%)</c:v>
                </c:pt>
              </c:strCache>
            </c:strRef>
          </c:tx>
          <c:spPr>
            <a:solidFill>
              <a:srgbClr val="1F6FEB"/>
            </a:solidFill>
            <a:ln>
              <a:solidFill>
                <a:srgbClr val="1F6FEB"/>
              </a:solidFill>
            </a:ln>
          </c:spPr>
          <c:cat>
            <c:strRef>
              <c:f>Sheet1!$A$2:$A$4</c:f>
              <c:strCache>
                <c:ptCount val="3"/>
                <c:pt idx="0">
                  <c:v>16:9 master</c:v>
                </c:pt>
                <c:pt idx="1">
                  <c:v>4:5 feed</c:v>
                </c:pt>
                <c:pt idx="2">
                  <c:v>9:16 Reel</c:v>
                </c:pt>
              </c:strCache>
            </c:strRef>
          </c:cat>
          <c:val>
            <c:numRef>
              <c:f>Sheet1!$B$2:$B$4</c:f>
              <c:numCache>
                <c:formatCode>General</c:formatCode>
                <c:ptCount val="3"/>
                <c:pt idx="0">
                  <c:v>100.0</c:v>
                </c:pt>
                <c:pt idx="1">
                  <c:v>45.0</c:v>
                </c:pt>
                <c:pt idx="2">
                  <c:v>31.6</c:v>
                </c:pt>
              </c:numCache>
            </c:numRef>
          </c:val>
        </c:ser>
        <c:gapWidth val="60"/>
        <c:axId val="-2068027336"/>
        <c:axId val="-2113994440"/>
      </c:barChart>
      <c:catAx>
        <c:axId val="-2068027336"/>
        <c:scaling>
          <c:orientation val="minMax"/>
        </c:scaling>
        <c:delete val="0"/>
        <c:axPos val="b"/>
        <c:majorTickMark val="out"/>
        <c:minorTickMark val="none"/>
        <c:tickLblPos val="low"/>
        <c:txPr>
          <a:bodyPr/>
          <a:lstStyle/>
          <a:p>
            <a:pPr>
              <a:defRPr sz="1000"/>
            </a:pPr>
          </a:p>
        </c:txPr>
        <c:crossAx val="-2113994440"/>
        <c:crosses val="autoZero"/>
        <c:auto val="1"/>
        <c:lblAlgn val="ctr"/>
        <c:lblOffset val="100"/>
        <c:noMultiLvlLbl val="0"/>
      </c:catAx>
      <c:valAx>
        <c:axId val="-2113994440"/>
        <c:scaling/>
        <c:delete val="0"/>
        <c:axPos val="l"/>
        <c:majorGridlines/>
        <c:title>
          <c:tx>
            <c:rich>
              <a:bodyPr/>
              <a:lstStyle/>
              <a:p>
                <a:r>
                  <a:rPr sz="1000"/>
                  <a:t>% kept</a:t>
                </a:r>
              </a:p>
            </c:rich>
          </c:tx>
          <c:layout/>
          <c:overlay val="0"/>
        </c:title>
        <c:majorTickMark val="out"/>
        <c:minorTickMark val="none"/>
        <c:tickLblPos val="nextTo"/>
        <c:txPr>
          <a:bodyPr/>
          <a:lstStyle/>
          <a:p>
            <a:pPr>
              <a:defRPr sz="1000"/>
            </a:pPr>
          </a:p>
        </c:txPr>
        <c:crossAx val="-2068027336"/>
        <c:crosses val="autoZero"/>
      </c:valAx>
    </c:plotArea>
    <c:dispBlanksAs val="gap"/>
  </c:chart>
  <c:txPr>
    <a:bodyPr/>
    <a:lstStyle/>
    <a:p>
      <a:pPr>
        <a:defRPr sz="1100">
          <a:latin typeface="Arial"/>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Cost (S$)</c:v>
                </c:pt>
              </c:strCache>
            </c:strRef>
          </c:tx>
          <c:spPr>
            <a:solidFill>
              <a:srgbClr val="1F6FEB"/>
            </a:solidFill>
            <a:ln>
              <a:solidFill>
                <a:srgbClr val="1F6FEB"/>
              </a:solidFill>
            </a:ln>
          </c:spPr>
          <c:cat>
            <c:strRef>
              <c:f>Sheet1!$A$2:$A$5</c:f>
              <c:strCache>
                <c:ptCount val="4"/>
                <c:pt idx="0">
                  <c:v>A agent</c:v>
                </c:pt>
                <c:pt idx="1">
                  <c:v>B multi-tool cloud</c:v>
                </c:pt>
                <c:pt idx="2">
                  <c:v>C hybrid</c:v>
                </c:pt>
                <c:pt idx="3">
                  <c:v>D local open model</c:v>
                </c:pt>
              </c:strCache>
            </c:strRef>
          </c:cat>
          <c:val>
            <c:numRef>
              <c:f>Sheet1!$B$2:$B$5</c:f>
              <c:numCache>
                <c:formatCode>General</c:formatCode>
                <c:ptCount val="4"/>
                <c:pt idx="0">
                  <c:v>54</c:v>
                </c:pt>
                <c:pt idx="1">
                  <c:v>159</c:v>
                </c:pt>
                <c:pt idx="2">
                  <c:v>87</c:v>
                </c:pt>
                <c:pt idx="3">
                  <c:v>5</c:v>
                </c:pt>
              </c:numCache>
            </c:numRef>
          </c:val>
        </c:ser>
        <c:ser>
          <c:idx val="1"/>
          <c:order val="1"/>
          <c:tx>
            <c:strRef>
              <c:f>Sheet1!$C$1</c:f>
              <c:strCache>
                <c:ptCount val="1"/>
                <c:pt idx="0">
                  <c:v>End-to-end hours x 10</c:v>
                </c:pt>
              </c:strCache>
            </c:strRef>
          </c:tx>
          <c:spPr>
            <a:solidFill>
              <a:srgbClr val="10B981"/>
            </a:solidFill>
            <a:ln>
              <a:solidFill>
                <a:srgbClr val="10B981"/>
              </a:solidFill>
            </a:ln>
          </c:spPr>
          <c:cat>
            <c:strRef>
              <c:f>Sheet1!$A$2:$A$5</c:f>
              <c:strCache>
                <c:ptCount val="4"/>
                <c:pt idx="0">
                  <c:v>A agent</c:v>
                </c:pt>
                <c:pt idx="1">
                  <c:v>B multi-tool cloud</c:v>
                </c:pt>
                <c:pt idx="2">
                  <c:v>C hybrid</c:v>
                </c:pt>
                <c:pt idx="3">
                  <c:v>D local open model</c:v>
                </c:pt>
              </c:strCache>
            </c:strRef>
          </c:cat>
          <c:val>
            <c:numRef>
              <c:f>Sheet1!$C$2:$C$5</c:f>
              <c:numCache>
                <c:formatCode>General</c:formatCode>
                <c:ptCount val="4"/>
                <c:pt idx="0">
                  <c:v>17.9</c:v>
                </c:pt>
                <c:pt idx="1">
                  <c:v>19.6</c:v>
                </c:pt>
                <c:pt idx="2">
                  <c:v>18.8</c:v>
                </c:pt>
                <c:pt idx="3">
                  <c:v>80.5</c:v>
                </c:pt>
              </c:numCache>
            </c:numRef>
          </c:val>
        </c:ser>
        <c:gapWidth val="60"/>
        <c:axId val="-2068027336"/>
        <c:axId val="-2113994440"/>
      </c:barChart>
      <c:catAx>
        <c:axId val="-2068027336"/>
        <c:scaling>
          <c:orientation val="minMax"/>
        </c:scaling>
        <c:delete val="0"/>
        <c:axPos val="b"/>
        <c:majorTickMark val="out"/>
        <c:minorTickMark val="none"/>
        <c:tickLblPos val="low"/>
        <c:txPr>
          <a:bodyPr/>
          <a:lstStyle/>
          <a:p>
            <a:pPr>
              <a:defRPr sz="1000"/>
            </a:pPr>
          </a:p>
        </c:txPr>
        <c:crossAx val="-2113994440"/>
        <c:crosses val="autoZero"/>
        <c:auto val="1"/>
        <c:lblAlgn val="ctr"/>
        <c:lblOffset val="100"/>
        <c:noMultiLvlLbl val="0"/>
      </c:catAx>
      <c:valAx>
        <c:axId val="-2113994440"/>
        <c:scaling/>
        <c:delete val="0"/>
        <c:axPos val="l"/>
        <c:majorGridlines/>
        <c:title>
          <c:tx>
            <c:rich>
              <a:bodyPr/>
              <a:lstStyle/>
              <a:p>
                <a:r>
                  <a:rPr sz="1000"/>
                  <a:t>S$ · hours x 10</a:t>
                </a:r>
              </a:p>
            </c:rich>
          </c:tx>
          <c:layout/>
          <c:overlay val="0"/>
        </c:title>
        <c:majorTickMark val="out"/>
        <c:minorTickMark val="none"/>
        <c:tickLblPos val="nextTo"/>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100">
          <a:latin typeface="Arial"/>
        </a:defRPr>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GB needed</c:v>
                </c:pt>
              </c:strCache>
            </c:strRef>
          </c:tx>
          <c:spPr>
            <a:solidFill>
              <a:srgbClr val="1F6FEB"/>
            </a:solidFill>
            <a:ln>
              <a:solidFill>
                <a:srgbClr val="1F6FEB"/>
              </a:solidFill>
            </a:ln>
          </c:spPr>
          <c:cat>
            <c:strRef>
              <c:f>Sheet1!$A$2:$A$4</c:f>
              <c:strCache>
                <c:ptCount val="3"/>
                <c:pt idx="0">
                  <c:v>FP16</c:v>
                </c:pt>
                <c:pt idx="1">
                  <c:v>INT8</c:v>
                </c:pt>
                <c:pt idx="2">
                  <c:v>INT4</c:v>
                </c:pt>
              </c:strCache>
            </c:strRef>
          </c:cat>
          <c:val>
            <c:numRef>
              <c:f>Sheet1!$B$2:$B$4</c:f>
              <c:numCache>
                <c:formatCode>General</c:formatCode>
                <c:ptCount val="3"/>
                <c:pt idx="0">
                  <c:v>36.4</c:v>
                </c:pt>
                <c:pt idx="1">
                  <c:v>18.2</c:v>
                </c:pt>
                <c:pt idx="2">
                  <c:v>9.1</c:v>
                </c:pt>
              </c:numCache>
            </c:numRef>
          </c:val>
        </c:ser>
        <c:ser>
          <c:idx val="1"/>
          <c:order val="1"/>
          <c:tx>
            <c:strRef>
              <c:f>Sheet1!$C$1</c:f>
              <c:strCache>
                <c:ptCount val="1"/>
                <c:pt idx="0">
                  <c:v>GPU VRAM</c:v>
                </c:pt>
              </c:strCache>
            </c:strRef>
          </c:tx>
          <c:spPr>
            <a:solidFill>
              <a:srgbClr val="10B981"/>
            </a:solidFill>
            <a:ln>
              <a:solidFill>
                <a:srgbClr val="10B981"/>
              </a:solidFill>
            </a:ln>
          </c:spPr>
          <c:cat>
            <c:strRef>
              <c:f>Sheet1!$A$2:$A$4</c:f>
              <c:strCache>
                <c:ptCount val="3"/>
                <c:pt idx="0">
                  <c:v>FP16</c:v>
                </c:pt>
                <c:pt idx="1">
                  <c:v>INT8</c:v>
                </c:pt>
                <c:pt idx="2">
                  <c:v>INT4</c:v>
                </c:pt>
              </c:strCache>
            </c:strRef>
          </c:cat>
          <c:val>
            <c:numRef>
              <c:f>Sheet1!$C$2:$C$4</c:f>
              <c:numCache>
                <c:formatCode>General</c:formatCode>
                <c:ptCount val="3"/>
                <c:pt idx="0">
                  <c:v>16</c:v>
                </c:pt>
                <c:pt idx="1">
                  <c:v>16</c:v>
                </c:pt>
                <c:pt idx="2">
                  <c:v>16</c:v>
                </c:pt>
              </c:numCache>
            </c:numRef>
          </c:val>
        </c:ser>
        <c:gapWidth val="60"/>
        <c:axId val="-2068027336"/>
        <c:axId val="-2113994440"/>
      </c:barChart>
      <c:catAx>
        <c:axId val="-2068027336"/>
        <c:scaling>
          <c:orientation val="minMax"/>
        </c:scaling>
        <c:delete val="0"/>
        <c:axPos val="b"/>
        <c:majorTickMark val="out"/>
        <c:minorTickMark val="none"/>
        <c:tickLblPos val="low"/>
        <c:txPr>
          <a:bodyPr/>
          <a:lstStyle/>
          <a:p>
            <a:pPr>
              <a:defRPr sz="1000"/>
            </a:pPr>
          </a:p>
        </c:txPr>
        <c:crossAx val="-2113994440"/>
        <c:crosses val="autoZero"/>
        <c:auto val="1"/>
        <c:lblAlgn val="ctr"/>
        <c:lblOffset val="100"/>
        <c:noMultiLvlLbl val="0"/>
      </c:catAx>
      <c:valAx>
        <c:axId val="-2113994440"/>
        <c:scaling/>
        <c:delete val="0"/>
        <c:axPos val="l"/>
        <c:majorGridlines/>
        <c:title>
          <c:tx>
            <c:rich>
              <a:bodyPr/>
              <a:lstStyle/>
              <a:p>
                <a:r>
                  <a:rPr sz="1000"/>
                  <a:t>GB</a:t>
                </a:r>
              </a:p>
            </c:rich>
          </c:tx>
          <c:layout/>
          <c:overlay val="0"/>
        </c:title>
        <c:majorTickMark val="out"/>
        <c:minorTickMark val="none"/>
        <c:tickLblPos val="nextTo"/>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100">
          <a:latin typeface="Arial"/>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8.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18.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image" Target="../media/image24.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9.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0.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7.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3.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48856" y="2225421"/>
            <a:ext cx="4681728" cy="268147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hero.png"/>
          <p:cNvPicPr>
            <a:picLocks noChangeAspect="1"/>
          </p:cNvPicPr>
          <p:nvPr/>
        </p:nvPicPr>
        <p:blipFill>
          <a:blip r:embed="rId2"/>
          <a:stretch>
            <a:fillRect/>
          </a:stretch>
        </p:blipFill>
        <p:spPr>
          <a:xfrm>
            <a:off x="6903720" y="2280285"/>
            <a:ext cx="4572000" cy="2571750"/>
          </a:xfrm>
          <a:prstGeom prst="rect">
            <a:avLst/>
          </a:prstGeom>
        </p:spPr>
      </p:pic>
      <p:sp>
        <p:nvSpPr>
          <p:cNvPr id="7" name="TextBox 6"/>
          <p:cNvSpPr txBox="1"/>
          <p:nvPr/>
        </p:nvSpPr>
        <p:spPr>
          <a:xfrm>
            <a:off x="6903720" y="4906899"/>
            <a:ext cx="4572000" cy="274320"/>
          </a:xfrm>
          <a:prstGeom prst="rect">
            <a:avLst/>
          </a:prstGeom>
          <a:noFill/>
        </p:spPr>
        <p:txBody>
          <a:bodyPr wrap="square" anchor="t">
            <a:spAutoFit/>
          </a:bodyPr>
          <a:lstStyle/>
          <a:p>
            <a:pPr algn="r">
              <a:spcAft>
                <a:spcPts val="400"/>
              </a:spcAft>
            </a:pPr>
            <a:r>
              <a:rPr sz="800" b="0">
                <a:solidFill>
                  <a:srgbClr val="5B6372"/>
                </a:solidFill>
                <a:latin typeface="Arial"/>
              </a:rPr>
              <a:t>The Last Ferry — course film project (SIMULATED illustration)</a:t>
            </a:r>
          </a:p>
        </p:txBody>
      </p:sp>
      <p:pic>
        <p:nvPicPr>
          <p:cNvPr id="8" name="Picture 7" descr="tertiary-infotech-logo.png"/>
          <p:cNvPicPr>
            <a:picLocks noChangeAspect="1"/>
          </p:cNvPicPr>
          <p:nvPr/>
        </p:nvPicPr>
        <p:blipFill>
          <a:blip r:embed="rId3"/>
          <a:stretch>
            <a:fillRect/>
          </a:stretch>
        </p:blipFill>
        <p:spPr>
          <a:xfrm>
            <a:off x="777240" y="566928"/>
            <a:ext cx="868680" cy="868680"/>
          </a:xfrm>
          <a:prstGeom prst="rect">
            <a:avLst/>
          </a:prstGeom>
        </p:spPr>
      </p:pic>
      <p:sp>
        <p:nvSpPr>
          <p:cNvPr id="9" name="Rectangle 8"/>
          <p:cNvSpPr/>
          <p:nvPr/>
        </p:nvSpPr>
        <p:spPr>
          <a:xfrm>
            <a:off x="777240" y="1591056"/>
            <a:ext cx="2578608"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591056"/>
            <a:ext cx="2578608" cy="310896"/>
          </a:xfrm>
          <a:prstGeom prst="rect">
            <a:avLst/>
          </a:prstGeom>
          <a:noFill/>
        </p:spPr>
        <p:txBody>
          <a:bodyPr wrap="square" anchor="ctr">
            <a:spAutoFit/>
          </a:bodyPr>
          <a:lstStyle/>
          <a:p>
            <a:pPr algn="ctr">
              <a:spcAft>
                <a:spcPts val="400"/>
              </a:spcAft>
            </a:pPr>
            <a:r>
              <a:rPr sz="1100" b="1">
                <a:solidFill>
                  <a:srgbClr val="FFFFFF"/>
                </a:solidFill>
                <a:latin typeface="Arial"/>
              </a:rPr>
              <a:t>AI SHORT FILM PRODUCTION</a:t>
            </a:r>
          </a:p>
        </p:txBody>
      </p:sp>
      <p:sp>
        <p:nvSpPr>
          <p:cNvPr id="11" name="TextBox 10"/>
          <p:cNvSpPr txBox="1"/>
          <p:nvPr/>
        </p:nvSpPr>
        <p:spPr>
          <a:xfrm>
            <a:off x="822960" y="2103120"/>
            <a:ext cx="6309360" cy="457200"/>
          </a:xfrm>
          <a:prstGeom prst="rect">
            <a:avLst/>
          </a:prstGeom>
          <a:noFill/>
        </p:spPr>
        <p:txBody>
          <a:bodyPr wrap="square" anchor="t">
            <a:spAutoFit/>
          </a:bodyPr>
          <a:lstStyle/>
          <a:p>
            <a:pPr algn="l">
              <a:spcAft>
                <a:spcPts val="400"/>
              </a:spcAft>
            </a:pPr>
            <a:r>
              <a:rPr sz="1500" b="1">
                <a:solidFill>
                  <a:srgbClr val="1F6FEB"/>
                </a:solidFill>
                <a:latin typeface="Arial"/>
              </a:rPr>
              <a:t>COURSE SLIDES  ·  WSQ</a:t>
            </a:r>
          </a:p>
        </p:txBody>
      </p:sp>
      <p:sp>
        <p:nvSpPr>
          <p:cNvPr id="12" name="TextBox 11"/>
          <p:cNvSpPr txBox="1"/>
          <p:nvPr/>
        </p:nvSpPr>
        <p:spPr>
          <a:xfrm>
            <a:off x="822960" y="2560320"/>
            <a:ext cx="6309360" cy="1737360"/>
          </a:xfrm>
          <a:prstGeom prst="rect">
            <a:avLst/>
          </a:prstGeom>
          <a:noFill/>
        </p:spPr>
        <p:txBody>
          <a:bodyPr wrap="square" anchor="t">
            <a:spAutoFit/>
          </a:bodyPr>
          <a:lstStyle/>
          <a:p>
            <a:pPr algn="l">
              <a:spcAft>
                <a:spcPts val="400"/>
              </a:spcAft>
            </a:pPr>
            <a:r>
              <a:rPr sz="3600" b="1">
                <a:solidFill>
                  <a:srgbClr val="161B26"/>
                </a:solidFill>
                <a:latin typeface="Arial"/>
              </a:rPr>
              <a:t>Create Short Video Film using AI</a:t>
            </a:r>
          </a:p>
        </p:txBody>
      </p:sp>
      <p:sp>
        <p:nvSpPr>
          <p:cNvPr id="13" name="Rectangle 12"/>
          <p:cNvSpPr/>
          <p:nvPr/>
        </p:nvSpPr>
        <p:spPr>
          <a:xfrm>
            <a:off x="841248" y="4224528"/>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4498848"/>
            <a:ext cx="6309360" cy="1371600"/>
          </a:xfrm>
          <a:prstGeom prst="rect">
            <a:avLst/>
          </a:prstGeom>
          <a:noFill/>
        </p:spPr>
        <p:txBody>
          <a:bodyPr wrap="square" anchor="t">
            <a:spAutoFit/>
          </a:bodyPr>
          <a:lstStyle/>
          <a:p>
            <a:pPr algn="l">
              <a:spcAft>
                <a:spcPts val="600"/>
              </a:spcAft>
            </a:pPr>
            <a:r>
              <a:rPr sz="1400" b="0">
                <a:solidFill>
                  <a:srgbClr val="5B6372"/>
                </a:solidFill>
                <a:latin typeface="Arial"/>
              </a:rPr>
              <a:t>WSQ Course Code: TGS-2020505925  ·  2 Days  ·  16 Programme Hours</a:t>
            </a:r>
          </a:p>
          <a:p>
            <a:pPr algn="l">
              <a:spcAft>
                <a:spcPts val="600"/>
              </a:spcAft>
            </a:pPr>
            <a:r>
              <a:rPr sz="1400" b="0">
                <a:solidFill>
                  <a:srgbClr val="5B6372"/>
                </a:solidFill>
                <a:latin typeface="Arial"/>
              </a:rPr>
              <a:t>Skills Framework TSC: Computer Vision Technology (ICT-DIT-4022-1.1)</a:t>
            </a:r>
          </a:p>
          <a:p>
            <a:pPr algn="l">
              <a:spcAft>
                <a:spcPts val="600"/>
              </a:spcAft>
            </a:pPr>
            <a:r>
              <a:rPr sz="1400" b="0">
                <a:solidFill>
                  <a:srgbClr val="5B6372"/>
                </a:solidFill>
                <a:latin typeface="Arial"/>
              </a:rPr>
              <a:t>Conducted by Tertiary Infotech Academy Pte Ltd  ·  UEN 201200696W</a:t>
            </a:r>
          </a:p>
        </p:txBody>
      </p:sp>
      <p:sp>
        <p:nvSpPr>
          <p:cNvPr id="15" name="TextBox 14"/>
          <p:cNvSpPr txBox="1"/>
          <p:nvPr/>
        </p:nvSpPr>
        <p:spPr>
          <a:xfrm>
            <a:off x="822960" y="5897880"/>
            <a:ext cx="6309360" cy="365760"/>
          </a:xfrm>
          <a:prstGeom prst="rect">
            <a:avLst/>
          </a:prstGeom>
          <a:noFill/>
        </p:spPr>
        <p:txBody>
          <a:bodyPr wrap="square" anchor="t">
            <a:spAutoFit/>
          </a:bodyPr>
          <a:lstStyle/>
          <a:p>
            <a:pPr algn="l">
              <a:spcAft>
                <a:spcPts val="400"/>
              </a:spcAft>
            </a:pPr>
            <a:r>
              <a:rPr sz="1200" b="0">
                <a:solidFill>
                  <a:srgbClr val="5B6372"/>
                </a:solidFill>
                <a:latin typeface="Arial"/>
              </a:rPr>
              <a:t>Version v12.0  ·  27 September 2026</a:t>
            </a:r>
          </a:p>
        </p:txBody>
      </p:sp>
      <p:sp>
        <p:nvSpPr>
          <p:cNvPr id="16" name="TextBox 15"/>
          <p:cNvSpPr txBox="1"/>
          <p:nvPr/>
        </p:nvSpPr>
        <p:spPr>
          <a:xfrm>
            <a:off x="822960" y="6236208"/>
            <a:ext cx="10515600" cy="310896"/>
          </a:xfrm>
          <a:prstGeom prst="rect">
            <a:avLst/>
          </a:prstGeom>
          <a:noFill/>
        </p:spPr>
        <p:txBody>
          <a:bodyPr wrap="square" anchor="t">
            <a:spAutoFit/>
          </a:bodyPr>
          <a:lstStyle/>
          <a:p>
            <a:pPr algn="l">
              <a:spcAft>
                <a:spcPts val="400"/>
              </a:spcAft>
            </a:pPr>
            <a:r>
              <a:rPr sz="900" b="0">
                <a:solidFill>
                  <a:srgbClr val="5B6372"/>
                </a:solidFill>
                <a:latin typeface="Arial"/>
              </a:rPr>
              <a:t>© 2026 Tertiary Infotech Academy Pte Ltd. All rights reserved.  ·  www.tertiarycourses.com.sg</a:t>
            </a:r>
          </a:p>
        </p:txBody>
      </p:sp>
    </p:spTree>
  </p:cSld>
  <p:clrMapOvr>
    <a:masterClrMapping/>
  </p:clrMapOvr>
  <p:transition spd="fast">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700" b="1">
                <a:solidFill>
                  <a:srgbClr val="1F6FEB"/>
                </a:solidFill>
                <a:latin typeface="Arial"/>
              </a:rPr>
              <a:t>COURSE ADMINISTRATION</a:t>
            </a:r>
          </a:p>
        </p:txBody>
      </p:sp>
      <p:sp>
        <p:nvSpPr>
          <p:cNvPr id="6" name="TextBox 5"/>
          <p:cNvSpPr txBox="1"/>
          <p:nvPr/>
        </p:nvSpPr>
        <p:spPr>
          <a:xfrm>
            <a:off x="1143000" y="2743200"/>
            <a:ext cx="9144000" cy="1463040"/>
          </a:xfrm>
          <a:prstGeom prst="rect">
            <a:avLst/>
          </a:prstGeom>
          <a:noFill/>
        </p:spPr>
        <p:txBody>
          <a:bodyPr wrap="square" anchor="t">
            <a:spAutoFit/>
          </a:bodyPr>
          <a:lstStyle/>
          <a:p>
            <a:pPr algn="l">
              <a:spcAft>
                <a:spcPts val="400"/>
              </a:spcAft>
            </a:pPr>
            <a:r>
              <a:rPr sz="3600" b="1">
                <a:solidFill>
                  <a:srgbClr val="161B26"/>
                </a:solidFill>
                <a:latin typeface="Arial"/>
              </a:rPr>
              <a:t>Welcome and Housekeeping</a:t>
            </a:r>
          </a:p>
        </p:txBody>
      </p:sp>
      <p:sp>
        <p:nvSpPr>
          <p:cNvPr id="7" name="TextBox 6"/>
          <p:cNvSpPr txBox="1"/>
          <p:nvPr/>
        </p:nvSpPr>
        <p:spPr>
          <a:xfrm>
            <a:off x="9326880" y="640080"/>
            <a:ext cx="2377440" cy="1463040"/>
          </a:xfrm>
          <a:prstGeom prst="rect">
            <a:avLst/>
          </a:prstGeom>
          <a:noFill/>
        </p:spPr>
        <p:txBody>
          <a:bodyPr wrap="square" anchor="t">
            <a:spAutoFit/>
          </a:bodyPr>
          <a:lstStyle/>
          <a:p>
            <a:pPr algn="r">
              <a:spcAft>
                <a:spcPts val="400"/>
              </a:spcAft>
            </a:pPr>
            <a:r>
              <a:rPr sz="68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fast">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TRAQOM · SSG DIGITAL ATTENDANCE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It is mandatory to take the AM, PM and Assessment digital attendance for WSQ-funded courses.</a:t>
            </a:r>
          </a:p>
          <a:p>
            <a:pPr>
              <a:spcAft>
                <a:spcPts val="1000"/>
              </a:spcAft>
            </a:pPr>
            <a:r>
              <a:rPr sz="1700" b="0">
                <a:solidFill>
                  <a:srgbClr val="161B26"/>
                </a:solidFill>
                <a:latin typeface="Arial"/>
              </a:rPr>
              <a:t>•  The trainer or administrator displays the digital attendance QR code generated from the SSG portal.</a:t>
            </a:r>
          </a:p>
          <a:p>
            <a:pPr>
              <a:spcAft>
                <a:spcPts val="1000"/>
              </a:spcAft>
            </a:pPr>
            <a:r>
              <a:rPr sz="1700" b="0">
                <a:solidFill>
                  <a:srgbClr val="161B26"/>
                </a:solidFill>
                <a:latin typeface="Arial"/>
              </a:rPr>
              <a:t>•  Scan the QR code with your mobile phone camera and submit your attendance.</a:t>
            </a:r>
          </a:p>
          <a:p>
            <a:pPr>
              <a:spcAft>
                <a:spcPts val="1000"/>
              </a:spcAft>
            </a:pPr>
            <a:r>
              <a:rPr sz="1700" b="0">
                <a:solidFill>
                  <a:srgbClr val="161B26"/>
                </a:solidFill>
                <a:latin typeface="Arial"/>
              </a:rPr>
              <a:t>•  A minimum of 75% attendance on the SSG record is required to be eligible for assessment and for funding.</a:t>
            </a:r>
          </a:p>
          <a:p>
            <a:pPr>
              <a:spcAft>
                <a:spcPts val="1000"/>
              </a:spcAft>
            </a:pPr>
            <a:r>
              <a:rPr sz="1700" b="0">
                <a:solidFill>
                  <a:srgbClr val="161B26"/>
                </a:solidFill>
                <a:latin typeface="Arial"/>
              </a:rPr>
              <a:t>•  Attendance is taken three times: AM, PM and again immediately before the assessment block on Day 2.</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fast">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5B6372"/>
                </a:solidFill>
                <a:latin typeface="Arial"/>
              </a:rPr>
              <a:t>YOUR TRAINER · GENERAL TEMPLATE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200" b="1">
                <a:solidFill>
                  <a:srgbClr val="FFFFFF"/>
                </a:solidFill>
                <a:latin typeface="Arial"/>
              </a:rPr>
              <a:t>?</a:t>
            </a:r>
          </a:p>
        </p:txBody>
      </p:sp>
      <p:sp>
        <p:nvSpPr>
          <p:cNvPr id="11" name="TextBox 10"/>
          <p:cNvSpPr txBox="1"/>
          <p:nvPr/>
        </p:nvSpPr>
        <p:spPr>
          <a:xfrm>
            <a:off x="914400" y="4114800"/>
            <a:ext cx="3063240" cy="640080"/>
          </a:xfrm>
          <a:prstGeom prst="rect">
            <a:avLst/>
          </a:prstGeom>
          <a:noFill/>
        </p:spPr>
        <p:txBody>
          <a:bodyPr wrap="square" anchor="t">
            <a:spAutoFit/>
          </a:bodyPr>
          <a:lstStyle/>
          <a:p>
            <a:pPr algn="ctr">
              <a:spcAft>
                <a:spcPts val="400"/>
              </a:spcAft>
            </a:pPr>
            <a:r>
              <a:rPr sz="20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200"/>
              </a:spcAft>
            </a:pPr>
            <a:r>
              <a:rPr sz="1250" b="0">
                <a:solidFill>
                  <a:srgbClr val="5B6372"/>
                </a:solidFill>
                <a:latin typeface="Arial"/>
              </a:rPr>
              <a:t>General Trainer template —</a:t>
            </a:r>
          </a:p>
          <a:p>
            <a:pPr algn="ctr">
              <a:spcAft>
                <a:spcPts val="200"/>
              </a:spcAft>
            </a:pPr>
            <a:r>
              <a:rPr sz="1250" b="0">
                <a:solidFill>
                  <a:srgbClr val="5B6372"/>
                </a:solidFill>
                <a:latin typeface="Arial"/>
              </a:rPr>
              <a:t>to be completed by the</a:t>
            </a:r>
          </a:p>
          <a:p>
            <a:pPr algn="ctr">
              <a:spcAft>
                <a:spcPts val="200"/>
              </a:spcAft>
            </a:pPr>
            <a:r>
              <a:rPr sz="1250" b="0">
                <a:solidFill>
                  <a:srgbClr val="5B6372"/>
                </a:solidFill>
                <a:latin typeface="Arial"/>
              </a:rPr>
              <a:t>trainer delivering this run</a:t>
            </a:r>
          </a:p>
        </p:txBody>
      </p:sp>
      <p:sp>
        <p:nvSpPr>
          <p:cNvPr id="13" name="Rectangle 12"/>
          <p:cNvSpPr/>
          <p:nvPr/>
        </p:nvSpPr>
        <p:spPr>
          <a:xfrm>
            <a:off x="4480560" y="1783080"/>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791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0" y="1783080"/>
            <a:ext cx="6437376" cy="579120"/>
          </a:xfrm>
          <a:prstGeom prst="rect">
            <a:avLst/>
          </a:prstGeom>
          <a:noFill/>
        </p:spPr>
        <p:txBody>
          <a:bodyPr wrap="square" anchor="ctr">
            <a:spAutoFit/>
          </a:bodyPr>
          <a:lstStyle/>
          <a:p>
            <a:pPr algn="l">
              <a:spcAft>
                <a:spcPts val="300"/>
              </a:spcAft>
            </a:pPr>
            <a:r>
              <a:rPr sz="1050" b="1">
                <a:solidFill>
                  <a:srgbClr val="1F6FEB"/>
                </a:solidFill>
                <a:latin typeface="Arial"/>
              </a:rPr>
              <a:t>NAME</a:t>
            </a:r>
          </a:p>
          <a:p>
            <a:pPr algn="l">
              <a:spcAft>
                <a:spcPts val="300"/>
              </a:spcAft>
            </a:pPr>
            <a:r>
              <a:rPr sz="1200" b="0">
                <a:solidFill>
                  <a:srgbClr val="E2E8F0"/>
                </a:solidFill>
                <a:latin typeface="Arial"/>
              </a:rPr>
              <a:t>____________________________________________</a:t>
            </a:r>
          </a:p>
        </p:txBody>
      </p:sp>
      <p:sp>
        <p:nvSpPr>
          <p:cNvPr id="16" name="Rectangle 15"/>
          <p:cNvSpPr/>
          <p:nvPr/>
        </p:nvSpPr>
        <p:spPr>
          <a:xfrm>
            <a:off x="4480560" y="2526792"/>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6792"/>
            <a:ext cx="91440" cy="579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54880" y="2526792"/>
            <a:ext cx="6437376" cy="579120"/>
          </a:xfrm>
          <a:prstGeom prst="rect">
            <a:avLst/>
          </a:prstGeom>
          <a:noFill/>
        </p:spPr>
        <p:txBody>
          <a:bodyPr wrap="square" anchor="ctr">
            <a:spAutoFit/>
          </a:bodyPr>
          <a:lstStyle/>
          <a:p>
            <a:pPr algn="l">
              <a:spcAft>
                <a:spcPts val="300"/>
              </a:spcAft>
            </a:pPr>
            <a:r>
              <a:rPr sz="1050" b="1">
                <a:solidFill>
                  <a:srgbClr val="10B981"/>
                </a:solidFill>
                <a:latin typeface="Arial"/>
              </a:rPr>
              <a:t>TITLE / DESIGNATION</a:t>
            </a:r>
          </a:p>
          <a:p>
            <a:pPr algn="l">
              <a:spcAft>
                <a:spcPts val="300"/>
              </a:spcAft>
            </a:pPr>
            <a:r>
              <a:rPr sz="1200" b="0">
                <a:solidFill>
                  <a:srgbClr val="E2E8F0"/>
                </a:solidFill>
                <a:latin typeface="Arial"/>
              </a:rPr>
              <a:t>____________________________________________</a:t>
            </a:r>
          </a:p>
        </p:txBody>
      </p:sp>
      <p:sp>
        <p:nvSpPr>
          <p:cNvPr id="19" name="Rectangle 18"/>
          <p:cNvSpPr/>
          <p:nvPr/>
        </p:nvSpPr>
        <p:spPr>
          <a:xfrm>
            <a:off x="4480560" y="3270504"/>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0504"/>
            <a:ext cx="91440" cy="5791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54880" y="3270504"/>
            <a:ext cx="6437376" cy="579120"/>
          </a:xfrm>
          <a:prstGeom prst="rect">
            <a:avLst/>
          </a:prstGeom>
          <a:noFill/>
        </p:spPr>
        <p:txBody>
          <a:bodyPr wrap="square" anchor="ctr">
            <a:spAutoFit/>
          </a:bodyPr>
          <a:lstStyle/>
          <a:p>
            <a:pPr algn="l">
              <a:spcAft>
                <a:spcPts val="300"/>
              </a:spcAft>
            </a:pPr>
            <a:r>
              <a:rPr sz="1050" b="1">
                <a:solidFill>
                  <a:srgbClr val="7C3AED"/>
                </a:solidFill>
                <a:latin typeface="Arial"/>
              </a:rPr>
              <a:t>QUALIFICATIONS</a:t>
            </a:r>
          </a:p>
          <a:p>
            <a:pPr algn="l">
              <a:spcAft>
                <a:spcPts val="300"/>
              </a:spcAft>
            </a:pPr>
            <a:r>
              <a:rPr sz="1200" b="0">
                <a:solidFill>
                  <a:srgbClr val="E2E8F0"/>
                </a:solidFill>
                <a:latin typeface="Arial"/>
              </a:rPr>
              <a:t>____________________________________________</a:t>
            </a:r>
          </a:p>
        </p:txBody>
      </p:sp>
      <p:sp>
        <p:nvSpPr>
          <p:cNvPr id="22" name="Rectangle 21"/>
          <p:cNvSpPr/>
          <p:nvPr/>
        </p:nvSpPr>
        <p:spPr>
          <a:xfrm>
            <a:off x="4480560" y="4014216"/>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14216"/>
            <a:ext cx="91440" cy="579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54880" y="4014216"/>
            <a:ext cx="6437376" cy="579120"/>
          </a:xfrm>
          <a:prstGeom prst="rect">
            <a:avLst/>
          </a:prstGeom>
          <a:noFill/>
        </p:spPr>
        <p:txBody>
          <a:bodyPr wrap="square" anchor="ctr">
            <a:spAutoFit/>
          </a:bodyPr>
          <a:lstStyle/>
          <a:p>
            <a:pPr algn="l">
              <a:spcAft>
                <a:spcPts val="300"/>
              </a:spcAft>
            </a:pPr>
            <a:r>
              <a:rPr sz="1050" b="1">
                <a:solidFill>
                  <a:srgbClr val="F59E0B"/>
                </a:solidFill>
                <a:latin typeface="Arial"/>
              </a:rPr>
              <a:t>AREAS OF EXPERTISE</a:t>
            </a:r>
          </a:p>
          <a:p>
            <a:pPr algn="l">
              <a:spcAft>
                <a:spcPts val="300"/>
              </a:spcAft>
            </a:pPr>
            <a:r>
              <a:rPr sz="1200" b="0">
                <a:solidFill>
                  <a:srgbClr val="E2E8F0"/>
                </a:solidFill>
                <a:latin typeface="Arial"/>
              </a:rPr>
              <a:t>____________________________________________</a:t>
            </a:r>
          </a:p>
        </p:txBody>
      </p:sp>
      <p:sp>
        <p:nvSpPr>
          <p:cNvPr id="25" name="Rectangle 24"/>
          <p:cNvSpPr/>
          <p:nvPr/>
        </p:nvSpPr>
        <p:spPr>
          <a:xfrm>
            <a:off x="4480560" y="4757928"/>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57928"/>
            <a:ext cx="91440" cy="5791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54880" y="4757928"/>
            <a:ext cx="6437376" cy="579120"/>
          </a:xfrm>
          <a:prstGeom prst="rect">
            <a:avLst/>
          </a:prstGeom>
          <a:noFill/>
        </p:spPr>
        <p:txBody>
          <a:bodyPr wrap="square" anchor="ctr">
            <a:spAutoFit/>
          </a:bodyPr>
          <a:lstStyle/>
          <a:p>
            <a:pPr algn="l">
              <a:spcAft>
                <a:spcPts val="300"/>
              </a:spcAft>
            </a:pPr>
            <a:r>
              <a:rPr sz="1050" b="1">
                <a:solidFill>
                  <a:srgbClr val="1F6FEB"/>
                </a:solidFill>
                <a:latin typeface="Arial"/>
              </a:rPr>
              <a:t>TRAINING AND INDUSTRY EXPERIENCE</a:t>
            </a:r>
          </a:p>
          <a:p>
            <a:pPr algn="l">
              <a:spcAft>
                <a:spcPts val="300"/>
              </a:spcAft>
            </a:pPr>
            <a:r>
              <a:rPr sz="1200" b="0">
                <a:solidFill>
                  <a:srgbClr val="E2E8F0"/>
                </a:solidFill>
                <a:latin typeface="Arial"/>
              </a:rPr>
              <a:t>____________________________________________</a:t>
            </a:r>
          </a:p>
        </p:txBody>
      </p:sp>
      <p:sp>
        <p:nvSpPr>
          <p:cNvPr id="28" name="Rectangle 27"/>
          <p:cNvSpPr/>
          <p:nvPr/>
        </p:nvSpPr>
        <p:spPr>
          <a:xfrm>
            <a:off x="4480560" y="5501640"/>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01640"/>
            <a:ext cx="91440" cy="579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54880" y="5501640"/>
            <a:ext cx="6437376" cy="579120"/>
          </a:xfrm>
          <a:prstGeom prst="rect">
            <a:avLst/>
          </a:prstGeom>
          <a:noFill/>
        </p:spPr>
        <p:txBody>
          <a:bodyPr wrap="square" anchor="ctr">
            <a:spAutoFit/>
          </a:bodyPr>
          <a:lstStyle/>
          <a:p>
            <a:pPr algn="l">
              <a:spcAft>
                <a:spcPts val="300"/>
              </a:spcAft>
            </a:pPr>
            <a:r>
              <a:rPr sz="1050" b="1">
                <a:solidFill>
                  <a:srgbClr val="10B981"/>
                </a:solidFill>
                <a:latin typeface="Arial"/>
              </a:rPr>
              <a:t>CONTACT</a:t>
            </a:r>
          </a:p>
          <a:p>
            <a:pPr algn="l">
              <a:spcAft>
                <a:spcPts val="300"/>
              </a:spcAft>
            </a:pPr>
            <a:r>
              <a:rPr sz="12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fast">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YOUR TRAINER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200" b="1">
                <a:solidFill>
                  <a:srgbClr val="FFFFFF"/>
                </a:solidFill>
                <a:latin typeface="Arial"/>
              </a:rPr>
              <a:t>AA</a:t>
            </a:r>
          </a:p>
        </p:txBody>
      </p:sp>
      <p:sp>
        <p:nvSpPr>
          <p:cNvPr id="11" name="TextBox 10"/>
          <p:cNvSpPr txBox="1"/>
          <p:nvPr/>
        </p:nvSpPr>
        <p:spPr>
          <a:xfrm>
            <a:off x="914400" y="4114800"/>
            <a:ext cx="3063240" cy="640080"/>
          </a:xfrm>
          <a:prstGeom prst="rect">
            <a:avLst/>
          </a:prstGeom>
          <a:noFill/>
        </p:spPr>
        <p:txBody>
          <a:bodyPr wrap="square" anchor="t">
            <a:spAutoFit/>
          </a:bodyPr>
          <a:lstStyle/>
          <a:p>
            <a:pPr algn="ctr">
              <a:spcAft>
                <a:spcPts val="400"/>
              </a:spcAft>
            </a:pPr>
            <a:r>
              <a:rPr sz="20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200"/>
              </a:spcAft>
            </a:pPr>
            <a:r>
              <a:rPr sz="1250" b="0">
                <a:solidFill>
                  <a:srgbClr val="5B6372"/>
                </a:solidFill>
                <a:latin typeface="Arial"/>
              </a:rPr>
              <a:t>Curriculum Developer and</a:t>
            </a:r>
          </a:p>
          <a:p>
            <a:pPr algn="ctr">
              <a:spcAft>
                <a:spcPts val="200"/>
              </a:spcAft>
            </a:pPr>
            <a:r>
              <a:rPr sz="1250" b="0">
                <a:solidFill>
                  <a:srgbClr val="5B6372"/>
                </a:solidFill>
                <a:latin typeface="Arial"/>
              </a:rPr>
              <a:t>Principal Trainer</a:t>
            </a:r>
          </a:p>
          <a:p>
            <a:pPr algn="ctr">
              <a:spcAft>
                <a:spcPts val="200"/>
              </a:spcAft>
            </a:pPr>
            <a:r>
              <a:rPr sz="1250" b="0">
                <a:solidFill>
                  <a:srgbClr val="5B6372"/>
                </a:solidFill>
                <a:latin typeface="Arial"/>
              </a:rPr>
              <a:t>Tertiary Infotech Academy Pte Ltd</a:t>
            </a:r>
          </a:p>
        </p:txBody>
      </p:sp>
      <p:sp>
        <p:nvSpPr>
          <p:cNvPr id="13" name="Rectangle 12"/>
          <p:cNvSpPr/>
          <p:nvPr/>
        </p:nvSpPr>
        <p:spPr>
          <a:xfrm>
            <a:off x="4480560" y="1783080"/>
            <a:ext cx="6949440" cy="9509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5097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0" y="1783080"/>
            <a:ext cx="6437376" cy="950976"/>
          </a:xfrm>
          <a:prstGeom prst="rect">
            <a:avLst/>
          </a:prstGeom>
          <a:noFill/>
        </p:spPr>
        <p:txBody>
          <a:bodyPr wrap="square" anchor="ctr">
            <a:spAutoFit/>
          </a:bodyPr>
          <a:lstStyle/>
          <a:p>
            <a:pPr algn="l">
              <a:spcAft>
                <a:spcPts val="300"/>
              </a:spcAft>
            </a:pPr>
            <a:r>
              <a:rPr sz="1050" b="1">
                <a:solidFill>
                  <a:srgbClr val="1F6FEB"/>
                </a:solidFill>
                <a:latin typeface="Arial"/>
              </a:rPr>
              <a:t>ROLE</a:t>
            </a:r>
          </a:p>
          <a:p>
            <a:pPr algn="l">
              <a:spcAft>
                <a:spcPts val="300"/>
              </a:spcAft>
            </a:pPr>
            <a:r>
              <a:rPr sz="1250" b="0">
                <a:solidFill>
                  <a:srgbClr val="161B26"/>
                </a:solidFill>
                <a:latin typeface="Arial"/>
              </a:rPr>
              <a:t>Curriculum Developer and Subject Matter Expert for this course (Course Proposal CA-WSQ-2020-013290).</a:t>
            </a:r>
          </a:p>
        </p:txBody>
      </p:sp>
      <p:sp>
        <p:nvSpPr>
          <p:cNvPr id="16" name="Rectangle 15"/>
          <p:cNvSpPr/>
          <p:nvPr/>
        </p:nvSpPr>
        <p:spPr>
          <a:xfrm>
            <a:off x="4480560" y="2898648"/>
            <a:ext cx="6949440" cy="9509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898648"/>
            <a:ext cx="91440" cy="95097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54880" y="2898648"/>
            <a:ext cx="6437376" cy="950976"/>
          </a:xfrm>
          <a:prstGeom prst="rect">
            <a:avLst/>
          </a:prstGeom>
          <a:noFill/>
        </p:spPr>
        <p:txBody>
          <a:bodyPr wrap="square" anchor="ctr">
            <a:spAutoFit/>
          </a:bodyPr>
          <a:lstStyle/>
          <a:p>
            <a:pPr algn="l">
              <a:spcAft>
                <a:spcPts val="300"/>
              </a:spcAft>
            </a:pPr>
            <a:r>
              <a:rPr sz="1050" b="1">
                <a:solidFill>
                  <a:srgbClr val="10B981"/>
                </a:solidFill>
                <a:latin typeface="Arial"/>
              </a:rPr>
              <a:t>BACKGROUND</a:t>
            </a:r>
          </a:p>
          <a:p>
            <a:pPr algn="l">
              <a:spcAft>
                <a:spcPts val="300"/>
              </a:spcAft>
            </a:pPr>
            <a:r>
              <a:rPr sz="1250" b="0">
                <a:solidFill>
                  <a:srgbClr val="161B26"/>
                </a:solidFill>
                <a:latin typeface="Arial"/>
              </a:rPr>
              <a:t>PhD; two decades of engineering, data science and AI practice across industry and training.</a:t>
            </a:r>
          </a:p>
        </p:txBody>
      </p:sp>
      <p:sp>
        <p:nvSpPr>
          <p:cNvPr id="19" name="Rectangle 18"/>
          <p:cNvSpPr/>
          <p:nvPr/>
        </p:nvSpPr>
        <p:spPr>
          <a:xfrm>
            <a:off x="4480560" y="4014216"/>
            <a:ext cx="6949440" cy="9509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14216"/>
            <a:ext cx="91440" cy="95097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54880" y="4014216"/>
            <a:ext cx="6437376" cy="950976"/>
          </a:xfrm>
          <a:prstGeom prst="rect">
            <a:avLst/>
          </a:prstGeom>
          <a:noFill/>
        </p:spPr>
        <p:txBody>
          <a:bodyPr wrap="square" anchor="ctr">
            <a:spAutoFit/>
          </a:bodyPr>
          <a:lstStyle/>
          <a:p>
            <a:pPr algn="l">
              <a:spcAft>
                <a:spcPts val="300"/>
              </a:spcAft>
            </a:pPr>
            <a:r>
              <a:rPr sz="1050" b="1">
                <a:solidFill>
                  <a:srgbClr val="7C3AED"/>
                </a:solidFill>
                <a:latin typeface="Arial"/>
              </a:rPr>
              <a:t>DELIVERS</a:t>
            </a:r>
          </a:p>
          <a:p>
            <a:pPr algn="l">
              <a:spcAft>
                <a:spcPts val="300"/>
              </a:spcAft>
            </a:pPr>
            <a:r>
              <a:rPr sz="1250" b="0">
                <a:solidFill>
                  <a:srgbClr val="161B26"/>
                </a:solidFill>
                <a:latin typeface="Arial"/>
              </a:rPr>
              <a:t>WSQ courses in computer vision, machine learning, deep learning, generative AI and data analytics.</a:t>
            </a:r>
          </a:p>
        </p:txBody>
      </p:sp>
      <p:sp>
        <p:nvSpPr>
          <p:cNvPr id="22" name="Rectangle 21"/>
          <p:cNvSpPr/>
          <p:nvPr/>
        </p:nvSpPr>
        <p:spPr>
          <a:xfrm>
            <a:off x="4480560" y="5129784"/>
            <a:ext cx="6949440" cy="9509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29784"/>
            <a:ext cx="91440" cy="9509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54880" y="5129784"/>
            <a:ext cx="6437376" cy="950976"/>
          </a:xfrm>
          <a:prstGeom prst="rect">
            <a:avLst/>
          </a:prstGeom>
          <a:noFill/>
        </p:spPr>
        <p:txBody>
          <a:bodyPr wrap="square" anchor="ctr">
            <a:spAutoFit/>
          </a:bodyPr>
          <a:lstStyle/>
          <a:p>
            <a:pPr algn="l">
              <a:spcAft>
                <a:spcPts val="300"/>
              </a:spcAft>
            </a:pPr>
            <a:r>
              <a:rPr sz="1050" b="1">
                <a:solidFill>
                  <a:srgbClr val="F59E0B"/>
                </a:solidFill>
                <a:latin typeface="Arial"/>
              </a:rPr>
              <a:t>FOUNDER</a:t>
            </a:r>
          </a:p>
          <a:p>
            <a:pPr algn="l">
              <a:spcAft>
                <a:spcPts val="300"/>
              </a:spcAft>
            </a:pPr>
            <a:r>
              <a:rPr sz="1250" b="0">
                <a:solidFill>
                  <a:srgbClr val="161B26"/>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transition spd="fast">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ICE-BREAKER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Your name, organisation and role.</a:t>
            </a:r>
          </a:p>
          <a:p>
            <a:pPr>
              <a:spcAft>
                <a:spcPts val="1000"/>
              </a:spcAft>
            </a:pPr>
            <a:r>
              <a:rPr sz="1700" b="0">
                <a:solidFill>
                  <a:srgbClr val="161B26"/>
                </a:solidFill>
                <a:latin typeface="Arial"/>
              </a:rPr>
              <a:t>•  Any experience you have with video editing, photography, storytelling or AI image and video tools.</a:t>
            </a:r>
          </a:p>
          <a:p>
            <a:pPr>
              <a:spcAft>
                <a:spcPts val="1000"/>
              </a:spcAft>
            </a:pPr>
            <a:r>
              <a:rPr sz="1700" b="0">
                <a:solidFill>
                  <a:srgbClr val="161B26"/>
                </a:solidFill>
                <a:latin typeface="Arial"/>
              </a:rPr>
              <a:t>•  Any experience you have with Python (the labs use it, but every script is supplied and explained).</a:t>
            </a:r>
          </a:p>
          <a:p>
            <a:pPr>
              <a:spcAft>
                <a:spcPts val="1000"/>
              </a:spcAft>
            </a:pPr>
            <a:r>
              <a:rPr sz="1700" b="0">
                <a:solidFill>
                  <a:srgbClr val="161B26"/>
                </a:solidFill>
                <a:latin typeface="Arial"/>
              </a:rPr>
              <a:t>•  One short film or video you would like to be able to plan, generate and finish with AI by the end of Day 2.</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transition spd="fast">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HOUSEKEEPING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823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64336"/>
          </a:xfrm>
          <a:prstGeom prst="rect">
            <a:avLst/>
          </a:prstGeom>
          <a:noFill/>
        </p:spPr>
        <p:txBody>
          <a:bodyPr wrap="square" anchor="ctr">
            <a:spAutoFit/>
          </a:bodyPr>
          <a:lstStyle/>
          <a:p>
            <a:pPr algn="l">
              <a:spcAft>
                <a:spcPts val="400"/>
              </a:spcAft>
            </a:pPr>
            <a:r>
              <a:rPr sz="1400" b="0">
                <a:solidFill>
                  <a:srgbClr val="161B26"/>
                </a:solidFill>
                <a:latin typeface="Arial"/>
              </a:rPr>
              <a:t>Set your mobile phone to silent mode.</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8236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64336"/>
          </a:xfrm>
          <a:prstGeom prst="rect">
            <a:avLst/>
          </a:prstGeom>
          <a:noFill/>
        </p:spPr>
        <p:txBody>
          <a:bodyPr wrap="square" anchor="ctr">
            <a:spAutoFit/>
          </a:bodyPr>
          <a:lstStyle/>
          <a:p>
            <a:pPr algn="l">
              <a:spcAft>
                <a:spcPts val="400"/>
              </a:spcAft>
            </a:pPr>
            <a:r>
              <a:rPr sz="1400" b="0">
                <a:solidFill>
                  <a:srgbClr val="161B26"/>
                </a:solidFill>
                <a:latin typeface="Arial"/>
              </a:rPr>
              <a:t>Participate actively — no question is too small.</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04616"/>
            <a:ext cx="4027932" cy="1164336"/>
          </a:xfrm>
          <a:prstGeom prst="rect">
            <a:avLst/>
          </a:prstGeom>
          <a:noFill/>
        </p:spPr>
        <p:txBody>
          <a:bodyPr wrap="square" anchor="ctr">
            <a:spAutoFit/>
          </a:bodyPr>
          <a:lstStyle/>
          <a:p>
            <a:pPr algn="l">
              <a:spcAft>
                <a:spcPts val="400"/>
              </a:spcAft>
            </a:pPr>
            <a:r>
              <a:rPr sz="1400" b="0">
                <a:solidFill>
                  <a:srgbClr val="161B26"/>
                </a:solidFill>
                <a:latin typeface="Arial"/>
              </a:rPr>
              <a:t>Mutual respect: agree to disagree.</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04616"/>
            <a:ext cx="4027932" cy="1164336"/>
          </a:xfrm>
          <a:prstGeom prst="rect">
            <a:avLst/>
          </a:prstGeom>
          <a:noFill/>
        </p:spPr>
        <p:txBody>
          <a:bodyPr wrap="square" anchor="ctr">
            <a:spAutoFit/>
          </a:bodyPr>
          <a:lstStyle/>
          <a:p>
            <a:pPr algn="l">
              <a:spcAft>
                <a:spcPts val="400"/>
              </a:spcAft>
            </a:pPr>
            <a:r>
              <a:rPr sz="1400" b="0">
                <a:solidFill>
                  <a:srgbClr val="161B26"/>
                </a:solidFill>
                <a:latin typeface="Arial"/>
              </a:rPr>
              <a:t>One conversation at a time.</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256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34712"/>
            <a:ext cx="4027932" cy="1164336"/>
          </a:xfrm>
          <a:prstGeom prst="rect">
            <a:avLst/>
          </a:prstGeom>
          <a:noFill/>
        </p:spPr>
        <p:txBody>
          <a:bodyPr wrap="square" anchor="ctr">
            <a:spAutoFit/>
          </a:bodyPr>
          <a:lstStyle/>
          <a:p>
            <a:pPr algn="l">
              <a:spcAft>
                <a:spcPts val="400"/>
              </a:spcAft>
            </a:pPr>
            <a:r>
              <a:rPr sz="1400" b="0">
                <a:solidFill>
                  <a:srgbClr val="161B26"/>
                </a:solidFill>
                <a:latin typeface="Arial"/>
              </a:rPr>
              <a:t>Be punctual; return from breaks on time.</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256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34712"/>
            <a:ext cx="4027932" cy="1164336"/>
          </a:xfrm>
          <a:prstGeom prst="rect">
            <a:avLst/>
          </a:prstGeom>
          <a:noFill/>
        </p:spPr>
        <p:txBody>
          <a:bodyPr wrap="square" anchor="ctr">
            <a:spAutoFit/>
          </a:bodyPr>
          <a:lstStyle/>
          <a:p>
            <a:pPr algn="l">
              <a:spcAft>
                <a:spcPts val="400"/>
              </a:spcAft>
            </a:pPr>
            <a:r>
              <a:rPr sz="1400" b="0">
                <a:solidFill>
                  <a:srgbClr val="161B26"/>
                </a:solidFill>
                <a:latin typeface="Arial"/>
              </a:rPr>
              <a:t>75% attendance is required for funding eligibility.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fast">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COURSE PORTAL · LMS/TMS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Download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577840" cy="4114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5577840" cy="457200"/>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1832" y="1975104"/>
            <a:ext cx="164592" cy="16459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97864" y="1975104"/>
            <a:ext cx="164592" cy="16459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453896" y="1975104"/>
            <a:ext cx="164592" cy="16459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74520" y="1911096"/>
            <a:ext cx="4206240" cy="2926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002536" y="1911096"/>
            <a:ext cx="3931920" cy="292608"/>
          </a:xfrm>
          <a:prstGeom prst="rect">
            <a:avLst/>
          </a:prstGeom>
          <a:noFill/>
        </p:spPr>
        <p:txBody>
          <a:bodyPr wrap="square" anchor="ctr">
            <a:spAutoFit/>
          </a:bodyPr>
          <a:lstStyle/>
          <a:p>
            <a:pPr algn="l">
              <a:spcAft>
                <a:spcPts val="400"/>
              </a:spcAft>
            </a:pPr>
            <a:r>
              <a:rPr sz="1200" b="1">
                <a:solidFill>
                  <a:srgbClr val="1F6FEB"/>
                </a:solidFill>
                <a:latin typeface="Arial"/>
              </a:rPr>
              <a:t>https://lms-tms.tertiaryinfotech.com/</a:t>
            </a:r>
          </a:p>
        </p:txBody>
      </p:sp>
      <p:sp>
        <p:nvSpPr>
          <p:cNvPr id="14" name="Rectangle 13"/>
          <p:cNvSpPr/>
          <p:nvPr/>
        </p:nvSpPr>
        <p:spPr>
          <a:xfrm>
            <a:off x="978408" y="2468880"/>
            <a:ext cx="5175504" cy="6583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61288" y="2468880"/>
            <a:ext cx="4809744" cy="658368"/>
          </a:xfrm>
          <a:prstGeom prst="rect">
            <a:avLst/>
          </a:prstGeom>
          <a:noFill/>
        </p:spPr>
        <p:txBody>
          <a:bodyPr wrap="square" anchor="ctr">
            <a:spAutoFit/>
          </a:bodyPr>
          <a:lstStyle/>
          <a:p>
            <a:pPr algn="l">
              <a:spcAft>
                <a:spcPts val="200"/>
              </a:spcAft>
            </a:pPr>
            <a:r>
              <a:rPr sz="1400" b="1">
                <a:solidFill>
                  <a:srgbClr val="FFFFFF"/>
                </a:solidFill>
                <a:latin typeface="Arial"/>
              </a:rPr>
              <a:t>Tertiary Infotech LMS/TMS</a:t>
            </a:r>
          </a:p>
          <a:p>
            <a:pPr algn="l">
              <a:spcAft>
                <a:spcPts val="200"/>
              </a:spcAft>
            </a:pPr>
            <a:r>
              <a:rPr sz="1050" b="0">
                <a:solidFill>
                  <a:srgbClr val="B3D4FF"/>
                </a:solidFill>
                <a:latin typeface="Arial"/>
              </a:rPr>
              <a:t>My Courses  ·  Attendance  ·  Assessment</a:t>
            </a:r>
          </a:p>
        </p:txBody>
      </p:sp>
      <p:sp>
        <p:nvSpPr>
          <p:cNvPr id="16" name="Rectangle 15"/>
          <p:cNvSpPr/>
          <p:nvPr/>
        </p:nvSpPr>
        <p:spPr>
          <a:xfrm>
            <a:off x="978408" y="3291840"/>
            <a:ext cx="5175504" cy="475488"/>
          </a:xfrm>
          <a:prstGeom prst="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61288" y="3291840"/>
            <a:ext cx="4809744" cy="475488"/>
          </a:xfrm>
          <a:prstGeom prst="rect">
            <a:avLst/>
          </a:prstGeom>
          <a:noFill/>
        </p:spPr>
        <p:txBody>
          <a:bodyPr wrap="square" anchor="ctr">
            <a:spAutoFit/>
          </a:bodyPr>
          <a:lstStyle/>
          <a:p>
            <a:pPr algn="l">
              <a:spcAft>
                <a:spcPts val="400"/>
              </a:spcAft>
            </a:pPr>
            <a:r>
              <a:rPr sz="1200" b="1">
                <a:solidFill>
                  <a:srgbClr val="1F6FEB"/>
                </a:solidFill>
                <a:latin typeface="Arial"/>
              </a:rPr>
              <a:t>Create Short Video Film using AI</a:t>
            </a:r>
          </a:p>
        </p:txBody>
      </p:sp>
      <p:sp>
        <p:nvSpPr>
          <p:cNvPr id="18" name="Rectangle 17"/>
          <p:cNvSpPr/>
          <p:nvPr/>
        </p:nvSpPr>
        <p:spPr>
          <a:xfrm>
            <a:off x="978408" y="3858768"/>
            <a:ext cx="5175504"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61288" y="3858768"/>
            <a:ext cx="4809744" cy="475488"/>
          </a:xfrm>
          <a:prstGeom prst="rect">
            <a:avLst/>
          </a:prstGeom>
          <a:noFill/>
        </p:spPr>
        <p:txBody>
          <a:bodyPr wrap="square" anchor="ctr">
            <a:spAutoFit/>
          </a:bodyPr>
          <a:lstStyle/>
          <a:p>
            <a:pPr algn="l">
              <a:spcAft>
                <a:spcPts val="400"/>
              </a:spcAft>
            </a:pPr>
            <a:r>
              <a:rPr sz="1200" b="0">
                <a:solidFill>
                  <a:srgbClr val="161B26"/>
                </a:solidFill>
                <a:latin typeface="Arial"/>
              </a:rPr>
              <a:t>Trainer Slides (PDF)   ⬇</a:t>
            </a:r>
          </a:p>
        </p:txBody>
      </p:sp>
      <p:sp>
        <p:nvSpPr>
          <p:cNvPr id="20" name="Rectangle 19"/>
          <p:cNvSpPr/>
          <p:nvPr/>
        </p:nvSpPr>
        <p:spPr>
          <a:xfrm>
            <a:off x="978408" y="4425696"/>
            <a:ext cx="5175504"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61288" y="4425696"/>
            <a:ext cx="4809744" cy="475488"/>
          </a:xfrm>
          <a:prstGeom prst="rect">
            <a:avLst/>
          </a:prstGeom>
          <a:noFill/>
        </p:spPr>
        <p:txBody>
          <a:bodyPr wrap="square" anchor="ctr">
            <a:spAutoFit/>
          </a:bodyPr>
          <a:lstStyle/>
          <a:p>
            <a:pPr algn="l">
              <a:spcAft>
                <a:spcPts val="400"/>
              </a:spcAft>
            </a:pPr>
            <a:r>
              <a:rPr sz="1200" b="0">
                <a:solidFill>
                  <a:srgbClr val="161B26"/>
                </a:solidFill>
                <a:latin typeface="Arial"/>
              </a:rPr>
              <a:t>Learner Guide (PDF)   ⬇</a:t>
            </a:r>
          </a:p>
        </p:txBody>
      </p:sp>
      <p:sp>
        <p:nvSpPr>
          <p:cNvPr id="22" name="Rectangle 21"/>
          <p:cNvSpPr/>
          <p:nvPr/>
        </p:nvSpPr>
        <p:spPr>
          <a:xfrm>
            <a:off x="978408" y="4992624"/>
            <a:ext cx="5175504"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61288" y="4992624"/>
            <a:ext cx="4809744" cy="475488"/>
          </a:xfrm>
          <a:prstGeom prst="rect">
            <a:avLst/>
          </a:prstGeom>
          <a:noFill/>
        </p:spPr>
        <p:txBody>
          <a:bodyPr wrap="square" anchor="ctr">
            <a:spAutoFit/>
          </a:bodyPr>
          <a:lstStyle/>
          <a:p>
            <a:pPr algn="l">
              <a:spcAft>
                <a:spcPts val="400"/>
              </a:spcAft>
            </a:pPr>
            <a:r>
              <a:rPr sz="1200" b="0">
                <a:solidFill>
                  <a:srgbClr val="161B26"/>
                </a:solidFill>
                <a:latin typeface="Arial"/>
              </a:rPr>
              <a:t>Hands-On Labs (folder)   ⬇</a:t>
            </a:r>
          </a:p>
        </p:txBody>
      </p:sp>
      <p:sp>
        <p:nvSpPr>
          <p:cNvPr id="24" name="Rectangle 23"/>
          <p:cNvSpPr/>
          <p:nvPr/>
        </p:nvSpPr>
        <p:spPr>
          <a:xfrm>
            <a:off x="978408" y="5559552"/>
            <a:ext cx="5175504"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61288" y="5559552"/>
            <a:ext cx="4809744" cy="475488"/>
          </a:xfrm>
          <a:prstGeom prst="rect">
            <a:avLst/>
          </a:prstGeom>
          <a:noFill/>
        </p:spPr>
        <p:txBody>
          <a:bodyPr wrap="square" anchor="ctr">
            <a:spAutoFit/>
          </a:bodyPr>
          <a:lstStyle/>
          <a:p>
            <a:pPr algn="l">
              <a:spcAft>
                <a:spcPts val="400"/>
              </a:spcAft>
            </a:pPr>
            <a:r>
              <a:rPr sz="1200" b="0">
                <a:solidFill>
                  <a:srgbClr val="161B26"/>
                </a:solidFill>
                <a:latin typeface="Arial"/>
              </a:rPr>
              <a:t>Assessment Submission   ↗</a:t>
            </a:r>
          </a:p>
        </p:txBody>
      </p:sp>
      <p:sp>
        <p:nvSpPr>
          <p:cNvPr id="26" name="Rectangle 25"/>
          <p:cNvSpPr/>
          <p:nvPr/>
        </p:nvSpPr>
        <p:spPr>
          <a:xfrm>
            <a:off x="6675120" y="1828800"/>
            <a:ext cx="4754880" cy="9052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675120" y="1828800"/>
            <a:ext cx="82296" cy="90525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858000" y="2071116"/>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0" y="2071116"/>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30" name="TextBox 29"/>
          <p:cNvSpPr txBox="1"/>
          <p:nvPr/>
        </p:nvSpPr>
        <p:spPr>
          <a:xfrm>
            <a:off x="7443216" y="1828800"/>
            <a:ext cx="3803904" cy="905256"/>
          </a:xfrm>
          <a:prstGeom prst="rect">
            <a:avLst/>
          </a:prstGeom>
          <a:noFill/>
        </p:spPr>
        <p:txBody>
          <a:bodyPr wrap="square" anchor="ctr">
            <a:spAutoFit/>
          </a:bodyPr>
          <a:lstStyle/>
          <a:p>
            <a:pPr algn="l">
              <a:spcAft>
                <a:spcPts val="200"/>
              </a:spcAft>
            </a:pPr>
            <a:r>
              <a:rPr sz="1300" b="1">
                <a:solidFill>
                  <a:srgbClr val="1F6FEB"/>
                </a:solidFill>
                <a:latin typeface="Arial"/>
              </a:rPr>
              <a:t>Sign in</a:t>
            </a:r>
          </a:p>
          <a:p>
            <a:pPr algn="l">
              <a:spcAft>
                <a:spcPts val="200"/>
              </a:spcAft>
            </a:pPr>
            <a:r>
              <a:rPr sz="1100" b="0">
                <a:solidFill>
                  <a:srgbClr val="161B26"/>
                </a:solidFill>
                <a:latin typeface="Arial"/>
              </a:rPr>
              <a:t>lms-tms.tertiaryinfotech.com — log in with your registered email (OTP or password).</a:t>
            </a:r>
          </a:p>
        </p:txBody>
      </p:sp>
      <p:sp>
        <p:nvSpPr>
          <p:cNvPr id="31" name="Rectangle 30"/>
          <p:cNvSpPr/>
          <p:nvPr/>
        </p:nvSpPr>
        <p:spPr>
          <a:xfrm>
            <a:off x="6675120" y="2898648"/>
            <a:ext cx="4754880" cy="9052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675120" y="2898648"/>
            <a:ext cx="82296" cy="9052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858000" y="31409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0" y="3140964"/>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35" name="TextBox 34"/>
          <p:cNvSpPr txBox="1"/>
          <p:nvPr/>
        </p:nvSpPr>
        <p:spPr>
          <a:xfrm>
            <a:off x="7443216" y="2898648"/>
            <a:ext cx="3803904" cy="905256"/>
          </a:xfrm>
          <a:prstGeom prst="rect">
            <a:avLst/>
          </a:prstGeom>
          <a:noFill/>
        </p:spPr>
        <p:txBody>
          <a:bodyPr wrap="square" anchor="ctr">
            <a:spAutoFit/>
          </a:bodyPr>
          <a:lstStyle/>
          <a:p>
            <a:pPr algn="l">
              <a:spcAft>
                <a:spcPts val="200"/>
              </a:spcAft>
            </a:pPr>
            <a:r>
              <a:rPr sz="1300" b="1">
                <a:solidFill>
                  <a:srgbClr val="10B981"/>
                </a:solidFill>
                <a:latin typeface="Arial"/>
              </a:rPr>
              <a:t>Open your course</a:t>
            </a:r>
          </a:p>
          <a:p>
            <a:pPr algn="l">
              <a:spcAft>
                <a:spcPts val="200"/>
              </a:spcAft>
            </a:pPr>
            <a:r>
              <a:rPr sz="1100" b="0">
                <a:solidFill>
                  <a:srgbClr val="161B26"/>
                </a:solidFill>
                <a:latin typeface="Arial"/>
              </a:rPr>
              <a:t>Select this course under My Courses.</a:t>
            </a:r>
          </a:p>
        </p:txBody>
      </p:sp>
      <p:sp>
        <p:nvSpPr>
          <p:cNvPr id="36" name="Rectangle 35"/>
          <p:cNvSpPr/>
          <p:nvPr/>
        </p:nvSpPr>
        <p:spPr>
          <a:xfrm>
            <a:off x="6675120" y="3968496"/>
            <a:ext cx="4754880" cy="9052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675120" y="3968496"/>
            <a:ext cx="82296" cy="90525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858000" y="4210812"/>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858000" y="4210812"/>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40" name="TextBox 39"/>
          <p:cNvSpPr txBox="1"/>
          <p:nvPr/>
        </p:nvSpPr>
        <p:spPr>
          <a:xfrm>
            <a:off x="7443216" y="3968496"/>
            <a:ext cx="3803904" cy="905256"/>
          </a:xfrm>
          <a:prstGeom prst="rect">
            <a:avLst/>
          </a:prstGeom>
          <a:noFill/>
        </p:spPr>
        <p:txBody>
          <a:bodyPr wrap="square" anchor="ctr">
            <a:spAutoFit/>
          </a:bodyPr>
          <a:lstStyle/>
          <a:p>
            <a:pPr algn="l">
              <a:spcAft>
                <a:spcPts val="200"/>
              </a:spcAft>
            </a:pPr>
            <a:r>
              <a:rPr sz="1300" b="1">
                <a:solidFill>
                  <a:srgbClr val="7C3AED"/>
                </a:solidFill>
                <a:latin typeface="Arial"/>
              </a:rPr>
              <a:t>Download materials</a:t>
            </a:r>
          </a:p>
          <a:p>
            <a:pPr algn="l">
              <a:spcAft>
                <a:spcPts val="200"/>
              </a:spcAft>
            </a:pPr>
            <a:r>
              <a:rPr sz="1100" b="0">
                <a:solidFill>
                  <a:srgbClr val="161B26"/>
                </a:solidFill>
                <a:latin typeface="Arial"/>
              </a:rPr>
              <a:t>Slides, Learner Guide and the labs folder — your open-book references for the assessment.</a:t>
            </a:r>
          </a:p>
        </p:txBody>
      </p:sp>
      <p:sp>
        <p:nvSpPr>
          <p:cNvPr id="41" name="Rectangle 40"/>
          <p:cNvSpPr/>
          <p:nvPr/>
        </p:nvSpPr>
        <p:spPr>
          <a:xfrm>
            <a:off x="6675120" y="5038344"/>
            <a:ext cx="4754880" cy="9052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675120" y="5038344"/>
            <a:ext cx="82296" cy="90525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6858000" y="5280660"/>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858000" y="52806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45" name="TextBox 44"/>
          <p:cNvSpPr txBox="1"/>
          <p:nvPr/>
        </p:nvSpPr>
        <p:spPr>
          <a:xfrm>
            <a:off x="7443216" y="5038344"/>
            <a:ext cx="3803904" cy="905256"/>
          </a:xfrm>
          <a:prstGeom prst="rect">
            <a:avLst/>
          </a:prstGeom>
          <a:noFill/>
        </p:spPr>
        <p:txBody>
          <a:bodyPr wrap="square" anchor="ctr">
            <a:spAutoFit/>
          </a:bodyPr>
          <a:lstStyle/>
          <a:p>
            <a:pPr algn="l">
              <a:spcAft>
                <a:spcPts val="200"/>
              </a:spcAft>
            </a:pPr>
            <a:r>
              <a:rPr sz="1300" b="1">
                <a:solidFill>
                  <a:srgbClr val="F59E0B"/>
                </a:solidFill>
                <a:latin typeface="Arial"/>
              </a:rPr>
              <a:t>Submit and survey</a:t>
            </a:r>
          </a:p>
          <a:p>
            <a:pPr algn="l">
              <a:spcAft>
                <a:spcPts val="200"/>
              </a:spcAft>
            </a:pPr>
            <a:r>
              <a:rPr sz="1100" b="0">
                <a:solidFill>
                  <a:srgbClr val="161B26"/>
                </a:solidFill>
                <a:latin typeface="Arial"/>
              </a:rPr>
              <a:t>Upload your completed assessment answers here, and complete the TRAQOM survey.</a:t>
            </a:r>
          </a:p>
        </p:txBody>
      </p:sp>
      <p:sp>
        <p:nvSpPr>
          <p:cNvPr id="46" name="TextBox 45"/>
          <p:cNvSpPr txBox="1"/>
          <p:nvPr/>
        </p:nvSpPr>
        <p:spPr>
          <a:xfrm>
            <a:off x="777240" y="6035040"/>
            <a:ext cx="10698480" cy="365760"/>
          </a:xfrm>
          <a:prstGeom prst="rect">
            <a:avLst/>
          </a:prstGeom>
          <a:noFill/>
        </p:spPr>
        <p:txBody>
          <a:bodyPr wrap="square" anchor="t">
            <a:spAutoFit/>
          </a:bodyPr>
          <a:lstStyle/>
          <a:p>
            <a:pPr algn="ctr">
              <a:spcAft>
                <a:spcPts val="400"/>
              </a:spcAft>
            </a:pPr>
            <a:r>
              <a:rPr sz="1250" b="0">
                <a:solidFill>
                  <a:srgbClr val="5B6372"/>
                </a:solidFill>
                <a:latin typeface="Arial"/>
              </a:rPr>
              <a:t>All course material is downloaded from the LMS/TMS portal. Keep it open: both assessment instruments are open book.</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fast">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WSQ ALIGNMENT · ICT SKILLS FRAMEWORK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Skills Framework Alignment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552273" cy="60089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2369393" cy="600891"/>
          </a:xfrm>
          <a:prstGeom prst="rect">
            <a:avLst/>
          </a:prstGeom>
          <a:noFill/>
        </p:spPr>
        <p:txBody>
          <a:bodyPr wrap="square" anchor="ctr">
            <a:spAutoFit/>
          </a:bodyPr>
          <a:lstStyle/>
          <a:p>
            <a:pPr algn="l">
              <a:spcAft>
                <a:spcPts val="400"/>
              </a:spcAft>
            </a:pPr>
            <a:r>
              <a:rPr sz="1250" b="1">
                <a:solidFill>
                  <a:srgbClr val="FFFFFF"/>
                </a:solidFill>
                <a:latin typeface="Arial"/>
              </a:rPr>
              <a:t>Element</a:t>
            </a:r>
          </a:p>
        </p:txBody>
      </p:sp>
      <p:sp>
        <p:nvSpPr>
          <p:cNvPr id="9" name="Rectangle 8"/>
          <p:cNvSpPr/>
          <p:nvPr/>
        </p:nvSpPr>
        <p:spPr>
          <a:xfrm>
            <a:off x="3329513" y="1783080"/>
            <a:ext cx="8082198" cy="60089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39241" y="1783080"/>
            <a:ext cx="7899318" cy="600891"/>
          </a:xfrm>
          <a:prstGeom prst="rect">
            <a:avLst/>
          </a:prstGeom>
          <a:noFill/>
        </p:spPr>
        <p:txBody>
          <a:bodyPr wrap="square" anchor="ctr">
            <a:spAutoFit/>
          </a:bodyPr>
          <a:lstStyle/>
          <a:p>
            <a:pPr algn="l">
              <a:spcAft>
                <a:spcPts val="400"/>
              </a:spcAft>
            </a:pPr>
            <a:r>
              <a:rPr sz="1250" b="1">
                <a:solidFill>
                  <a:srgbClr val="FFFFFF"/>
                </a:solidFill>
                <a:latin typeface="Arial"/>
              </a:rPr>
              <a:t>Detail</a:t>
            </a:r>
          </a:p>
        </p:txBody>
      </p:sp>
      <p:sp>
        <p:nvSpPr>
          <p:cNvPr id="11" name="Rectangle 10"/>
          <p:cNvSpPr/>
          <p:nvPr/>
        </p:nvSpPr>
        <p:spPr>
          <a:xfrm>
            <a:off x="777240" y="2383971"/>
            <a:ext cx="2552273"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6968" y="2383971"/>
            <a:ext cx="2369393" cy="600891"/>
          </a:xfrm>
          <a:prstGeom prst="rect">
            <a:avLst/>
          </a:prstGeom>
          <a:noFill/>
        </p:spPr>
        <p:txBody>
          <a:bodyPr wrap="square" anchor="ctr">
            <a:spAutoFit/>
          </a:bodyPr>
          <a:lstStyle/>
          <a:p>
            <a:pPr algn="l">
              <a:spcAft>
                <a:spcPts val="400"/>
              </a:spcAft>
            </a:pPr>
            <a:r>
              <a:rPr sz="1150" b="1">
                <a:solidFill>
                  <a:srgbClr val="161B26"/>
                </a:solidFill>
                <a:latin typeface="Arial"/>
              </a:rPr>
              <a:t>TSC Title</a:t>
            </a:r>
          </a:p>
        </p:txBody>
      </p:sp>
      <p:sp>
        <p:nvSpPr>
          <p:cNvPr id="13" name="Rectangle 12"/>
          <p:cNvSpPr/>
          <p:nvPr/>
        </p:nvSpPr>
        <p:spPr>
          <a:xfrm>
            <a:off x="3329513" y="2383971"/>
            <a:ext cx="8082198"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39241" y="2383971"/>
            <a:ext cx="7899318" cy="600891"/>
          </a:xfrm>
          <a:prstGeom prst="rect">
            <a:avLst/>
          </a:prstGeom>
          <a:noFill/>
        </p:spPr>
        <p:txBody>
          <a:bodyPr wrap="square" anchor="ctr">
            <a:spAutoFit/>
          </a:bodyPr>
          <a:lstStyle/>
          <a:p>
            <a:pPr algn="l">
              <a:spcAft>
                <a:spcPts val="400"/>
              </a:spcAft>
            </a:pPr>
            <a:r>
              <a:rPr sz="1150" b="0">
                <a:solidFill>
                  <a:srgbClr val="161B26"/>
                </a:solidFill>
                <a:latin typeface="Arial"/>
              </a:rPr>
              <a:t>Computer Vision Technology</a:t>
            </a:r>
          </a:p>
        </p:txBody>
      </p:sp>
      <p:sp>
        <p:nvSpPr>
          <p:cNvPr id="15" name="Rectangle 14"/>
          <p:cNvSpPr/>
          <p:nvPr/>
        </p:nvSpPr>
        <p:spPr>
          <a:xfrm>
            <a:off x="777240" y="2984862"/>
            <a:ext cx="2552273"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6968" y="2984862"/>
            <a:ext cx="2369393" cy="600891"/>
          </a:xfrm>
          <a:prstGeom prst="rect">
            <a:avLst/>
          </a:prstGeom>
          <a:noFill/>
        </p:spPr>
        <p:txBody>
          <a:bodyPr wrap="square" anchor="ctr">
            <a:spAutoFit/>
          </a:bodyPr>
          <a:lstStyle/>
          <a:p>
            <a:pPr algn="l">
              <a:spcAft>
                <a:spcPts val="400"/>
              </a:spcAft>
            </a:pPr>
            <a:r>
              <a:rPr sz="1150" b="1">
                <a:solidFill>
                  <a:srgbClr val="161B26"/>
                </a:solidFill>
                <a:latin typeface="Arial"/>
              </a:rPr>
              <a:t>TSC Code</a:t>
            </a:r>
          </a:p>
        </p:txBody>
      </p:sp>
      <p:sp>
        <p:nvSpPr>
          <p:cNvPr id="17" name="Rectangle 16"/>
          <p:cNvSpPr/>
          <p:nvPr/>
        </p:nvSpPr>
        <p:spPr>
          <a:xfrm>
            <a:off x="3329513" y="2984862"/>
            <a:ext cx="8082198"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39241" y="2984862"/>
            <a:ext cx="7899318" cy="600891"/>
          </a:xfrm>
          <a:prstGeom prst="rect">
            <a:avLst/>
          </a:prstGeom>
          <a:noFill/>
        </p:spPr>
        <p:txBody>
          <a:bodyPr wrap="square" anchor="ctr">
            <a:spAutoFit/>
          </a:bodyPr>
          <a:lstStyle/>
          <a:p>
            <a:pPr algn="l">
              <a:spcAft>
                <a:spcPts val="400"/>
              </a:spcAft>
            </a:pPr>
            <a:r>
              <a:rPr sz="1150" b="0">
                <a:solidFill>
                  <a:srgbClr val="161B26"/>
                </a:solidFill>
                <a:latin typeface="Arial"/>
              </a:rPr>
              <a:t>ICT-DIT-4022-1.1</a:t>
            </a:r>
          </a:p>
        </p:txBody>
      </p:sp>
      <p:sp>
        <p:nvSpPr>
          <p:cNvPr id="19" name="Rectangle 18"/>
          <p:cNvSpPr/>
          <p:nvPr/>
        </p:nvSpPr>
        <p:spPr>
          <a:xfrm>
            <a:off x="777240" y="3585753"/>
            <a:ext cx="2552273"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3585753"/>
            <a:ext cx="2369393" cy="600891"/>
          </a:xfrm>
          <a:prstGeom prst="rect">
            <a:avLst/>
          </a:prstGeom>
          <a:noFill/>
        </p:spPr>
        <p:txBody>
          <a:bodyPr wrap="square" anchor="ctr">
            <a:spAutoFit/>
          </a:bodyPr>
          <a:lstStyle/>
          <a:p>
            <a:pPr algn="l">
              <a:spcAft>
                <a:spcPts val="400"/>
              </a:spcAft>
            </a:pPr>
            <a:r>
              <a:rPr sz="1150" b="1">
                <a:solidFill>
                  <a:srgbClr val="161B26"/>
                </a:solidFill>
                <a:latin typeface="Arial"/>
              </a:rPr>
              <a:t>Proficiency Level</a:t>
            </a:r>
          </a:p>
        </p:txBody>
      </p:sp>
      <p:sp>
        <p:nvSpPr>
          <p:cNvPr id="21" name="Rectangle 20"/>
          <p:cNvSpPr/>
          <p:nvPr/>
        </p:nvSpPr>
        <p:spPr>
          <a:xfrm>
            <a:off x="3329513" y="3585753"/>
            <a:ext cx="8082198"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39241" y="3585753"/>
            <a:ext cx="7899318" cy="600891"/>
          </a:xfrm>
          <a:prstGeom prst="rect">
            <a:avLst/>
          </a:prstGeom>
          <a:noFill/>
        </p:spPr>
        <p:txBody>
          <a:bodyPr wrap="square" anchor="ctr">
            <a:spAutoFit/>
          </a:bodyPr>
          <a:lstStyle/>
          <a:p>
            <a:pPr algn="l">
              <a:spcAft>
                <a:spcPts val="400"/>
              </a:spcAft>
            </a:pPr>
            <a:r>
              <a:rPr sz="1150" b="0">
                <a:solidFill>
                  <a:srgbClr val="161B26"/>
                </a:solidFill>
                <a:latin typeface="Arial"/>
              </a:rPr>
              <a:t>Level 4 — set up and deploy video analytics algorithms and perform system performance evaluations</a:t>
            </a:r>
          </a:p>
        </p:txBody>
      </p:sp>
      <p:sp>
        <p:nvSpPr>
          <p:cNvPr id="23" name="Rectangle 22"/>
          <p:cNvSpPr/>
          <p:nvPr/>
        </p:nvSpPr>
        <p:spPr>
          <a:xfrm>
            <a:off x="777240" y="4186644"/>
            <a:ext cx="2552273"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6968" y="4186644"/>
            <a:ext cx="2369393" cy="600891"/>
          </a:xfrm>
          <a:prstGeom prst="rect">
            <a:avLst/>
          </a:prstGeom>
          <a:noFill/>
        </p:spPr>
        <p:txBody>
          <a:bodyPr wrap="square" anchor="ctr">
            <a:spAutoFit/>
          </a:bodyPr>
          <a:lstStyle/>
          <a:p>
            <a:pPr algn="l">
              <a:spcAft>
                <a:spcPts val="400"/>
              </a:spcAft>
            </a:pPr>
            <a:r>
              <a:rPr sz="1150" b="1">
                <a:solidFill>
                  <a:srgbClr val="161B26"/>
                </a:solidFill>
                <a:latin typeface="Arial"/>
              </a:rPr>
              <a:t>TSC Description</a:t>
            </a:r>
          </a:p>
        </p:txBody>
      </p:sp>
      <p:sp>
        <p:nvSpPr>
          <p:cNvPr id="25" name="Rectangle 24"/>
          <p:cNvSpPr/>
          <p:nvPr/>
        </p:nvSpPr>
        <p:spPr>
          <a:xfrm>
            <a:off x="3329513" y="4186644"/>
            <a:ext cx="8082198"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439241" y="4186644"/>
            <a:ext cx="7899318" cy="600891"/>
          </a:xfrm>
          <a:prstGeom prst="rect">
            <a:avLst/>
          </a:prstGeom>
          <a:noFill/>
        </p:spPr>
        <p:txBody>
          <a:bodyPr wrap="square" anchor="ctr">
            <a:spAutoFit/>
          </a:bodyPr>
          <a:lstStyle/>
          <a:p>
            <a:pPr algn="l">
              <a:spcAft>
                <a:spcPts val="400"/>
              </a:spcAft>
            </a:pPr>
            <a:r>
              <a:rPr sz="1150" b="0">
                <a:solidFill>
                  <a:srgbClr val="161B26"/>
                </a:solidFill>
                <a:latin typeface="Arial"/>
              </a:rPr>
              <a:t>Develop and deploy vision analytics algorithms and spatial sensing and/or reasoning systems</a:t>
            </a:r>
          </a:p>
        </p:txBody>
      </p:sp>
      <p:sp>
        <p:nvSpPr>
          <p:cNvPr id="27" name="Rectangle 26"/>
          <p:cNvSpPr/>
          <p:nvPr/>
        </p:nvSpPr>
        <p:spPr>
          <a:xfrm>
            <a:off x="777240" y="4787535"/>
            <a:ext cx="2552273"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86968" y="4787535"/>
            <a:ext cx="2369393" cy="600891"/>
          </a:xfrm>
          <a:prstGeom prst="rect">
            <a:avLst/>
          </a:prstGeom>
          <a:noFill/>
        </p:spPr>
        <p:txBody>
          <a:bodyPr wrap="square" anchor="ctr">
            <a:spAutoFit/>
          </a:bodyPr>
          <a:lstStyle/>
          <a:p>
            <a:pPr algn="l">
              <a:spcAft>
                <a:spcPts val="400"/>
              </a:spcAft>
            </a:pPr>
            <a:r>
              <a:rPr sz="1150" b="1">
                <a:solidFill>
                  <a:srgbClr val="161B26"/>
                </a:solidFill>
                <a:latin typeface="Arial"/>
              </a:rPr>
              <a:t>Assessed knowledge</a:t>
            </a:r>
          </a:p>
        </p:txBody>
      </p:sp>
      <p:sp>
        <p:nvSpPr>
          <p:cNvPr id="29" name="Rectangle 28"/>
          <p:cNvSpPr/>
          <p:nvPr/>
        </p:nvSpPr>
        <p:spPr>
          <a:xfrm>
            <a:off x="3329513" y="4787535"/>
            <a:ext cx="8082198"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439241" y="4787535"/>
            <a:ext cx="7899318" cy="600891"/>
          </a:xfrm>
          <a:prstGeom prst="rect">
            <a:avLst/>
          </a:prstGeom>
          <a:noFill/>
        </p:spPr>
        <p:txBody>
          <a:bodyPr wrap="square" anchor="ctr">
            <a:spAutoFit/>
          </a:bodyPr>
          <a:lstStyle/>
          <a:p>
            <a:pPr algn="l">
              <a:spcAft>
                <a:spcPts val="400"/>
              </a:spcAft>
            </a:pPr>
            <a:r>
              <a:rPr sz="1150" b="0">
                <a:solidFill>
                  <a:srgbClr val="161B26"/>
                </a:solidFill>
                <a:latin typeface="Arial"/>
              </a:rPr>
              <a:t>K1 to K13 — assessed in the Written Assessment</a:t>
            </a:r>
          </a:p>
        </p:txBody>
      </p:sp>
      <p:sp>
        <p:nvSpPr>
          <p:cNvPr id="31" name="Rectangle 30"/>
          <p:cNvSpPr/>
          <p:nvPr/>
        </p:nvSpPr>
        <p:spPr>
          <a:xfrm>
            <a:off x="777240" y="5388426"/>
            <a:ext cx="2552273"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5388426"/>
            <a:ext cx="2369393" cy="600891"/>
          </a:xfrm>
          <a:prstGeom prst="rect">
            <a:avLst/>
          </a:prstGeom>
          <a:noFill/>
        </p:spPr>
        <p:txBody>
          <a:bodyPr wrap="square" anchor="ctr">
            <a:spAutoFit/>
          </a:bodyPr>
          <a:lstStyle/>
          <a:p>
            <a:pPr algn="l">
              <a:spcAft>
                <a:spcPts val="400"/>
              </a:spcAft>
            </a:pPr>
            <a:r>
              <a:rPr sz="1150" b="1">
                <a:solidFill>
                  <a:srgbClr val="161B26"/>
                </a:solidFill>
                <a:latin typeface="Arial"/>
              </a:rPr>
              <a:t>Assessed abilities</a:t>
            </a:r>
          </a:p>
        </p:txBody>
      </p:sp>
      <p:sp>
        <p:nvSpPr>
          <p:cNvPr id="33" name="Rectangle 32"/>
          <p:cNvSpPr/>
          <p:nvPr/>
        </p:nvSpPr>
        <p:spPr>
          <a:xfrm>
            <a:off x="3329513" y="5388426"/>
            <a:ext cx="8082198"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439241" y="5388426"/>
            <a:ext cx="7899318" cy="600891"/>
          </a:xfrm>
          <a:prstGeom prst="rect">
            <a:avLst/>
          </a:prstGeom>
          <a:noFill/>
        </p:spPr>
        <p:txBody>
          <a:bodyPr wrap="square" anchor="ctr">
            <a:spAutoFit/>
          </a:bodyPr>
          <a:lstStyle/>
          <a:p>
            <a:pPr algn="l">
              <a:spcAft>
                <a:spcPts val="400"/>
              </a:spcAft>
            </a:pPr>
            <a:r>
              <a:rPr sz="1150" b="0">
                <a:solidFill>
                  <a:srgbClr val="161B26"/>
                </a:solidFill>
                <a:latin typeface="Arial"/>
              </a:rPr>
              <a:t>A1 to A8 — assessed in the Practical Performance</a:t>
            </a:r>
          </a:p>
        </p:txBody>
      </p:sp>
      <p:sp>
        <p:nvSpPr>
          <p:cNvPr id="35" name="TextBox 34"/>
          <p:cNvSpPr txBox="1"/>
          <p:nvPr/>
        </p:nvSpPr>
        <p:spPr>
          <a:xfrm>
            <a:off x="777240" y="6053328"/>
            <a:ext cx="10698480" cy="457200"/>
          </a:xfrm>
          <a:prstGeom prst="rect">
            <a:avLst/>
          </a:prstGeom>
          <a:noFill/>
        </p:spPr>
        <p:txBody>
          <a:bodyPr wrap="square" anchor="t">
            <a:spAutoFit/>
          </a:bodyPr>
          <a:lstStyle/>
          <a:p>
            <a:pPr algn="ctr">
              <a:spcAft>
                <a:spcPts val="400"/>
              </a:spcAft>
            </a:pPr>
            <a:r>
              <a:rPr sz="1200" b="0">
                <a:solidFill>
                  <a:srgbClr val="5B6372"/>
                </a:solidFill>
                <a:latin typeface="Arial"/>
              </a:rPr>
              <a:t>Every topic, lab and assessment item in this course maps to these TSC knowledge and ability statements. Nothing is assessed that is not taught.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fast">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WRITTEN ASSESSMENT · 13 QUESTIONS · 60 MINUTES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Assessed Knowledge — K1 to K13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850757" cy="30044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667877" cy="300445"/>
          </a:xfrm>
          <a:prstGeom prst="rect">
            <a:avLst/>
          </a:prstGeom>
          <a:noFill/>
        </p:spPr>
        <p:txBody>
          <a:bodyPr wrap="square" anchor="ctr">
            <a:spAutoFit/>
          </a:bodyPr>
          <a:lstStyle/>
          <a:p>
            <a:pPr algn="l">
              <a:spcAft>
                <a:spcPts val="400"/>
              </a:spcAft>
            </a:pPr>
            <a:r>
              <a:rPr sz="1150" b="1">
                <a:solidFill>
                  <a:srgbClr val="FFFFFF"/>
                </a:solidFill>
                <a:latin typeface="Arial"/>
              </a:rPr>
              <a:t>Code</a:t>
            </a:r>
          </a:p>
        </p:txBody>
      </p:sp>
      <p:sp>
        <p:nvSpPr>
          <p:cNvPr id="9" name="Rectangle 8"/>
          <p:cNvSpPr/>
          <p:nvPr/>
        </p:nvSpPr>
        <p:spPr>
          <a:xfrm>
            <a:off x="1627997" y="1783080"/>
            <a:ext cx="7656819" cy="30044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737725" y="1783080"/>
            <a:ext cx="7473939" cy="300445"/>
          </a:xfrm>
          <a:prstGeom prst="rect">
            <a:avLst/>
          </a:prstGeom>
          <a:noFill/>
        </p:spPr>
        <p:txBody>
          <a:bodyPr wrap="square" anchor="ctr">
            <a:spAutoFit/>
          </a:bodyPr>
          <a:lstStyle/>
          <a:p>
            <a:pPr algn="l">
              <a:spcAft>
                <a:spcPts val="400"/>
              </a:spcAft>
            </a:pPr>
            <a:r>
              <a:rPr sz="1150" b="1">
                <a:solidFill>
                  <a:srgbClr val="FFFFFF"/>
                </a:solidFill>
                <a:latin typeface="Arial"/>
              </a:rPr>
              <a:t>Knowledge statement</a:t>
            </a:r>
          </a:p>
        </p:txBody>
      </p:sp>
      <p:sp>
        <p:nvSpPr>
          <p:cNvPr id="11" name="Rectangle 10"/>
          <p:cNvSpPr/>
          <p:nvPr/>
        </p:nvSpPr>
        <p:spPr>
          <a:xfrm>
            <a:off x="9284816" y="1783080"/>
            <a:ext cx="2126894" cy="30044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94544" y="1783080"/>
            <a:ext cx="1944014" cy="300445"/>
          </a:xfrm>
          <a:prstGeom prst="rect">
            <a:avLst/>
          </a:prstGeom>
          <a:noFill/>
        </p:spPr>
        <p:txBody>
          <a:bodyPr wrap="square" anchor="ctr">
            <a:spAutoFit/>
          </a:bodyPr>
          <a:lstStyle/>
          <a:p>
            <a:pPr algn="l">
              <a:spcAft>
                <a:spcPts val="400"/>
              </a:spcAft>
            </a:pPr>
            <a:r>
              <a:rPr sz="1150" b="1">
                <a:solidFill>
                  <a:srgbClr val="FFFFFF"/>
                </a:solidFill>
                <a:latin typeface="Arial"/>
              </a:rPr>
              <a:t>Taught in</a:t>
            </a:r>
          </a:p>
        </p:txBody>
      </p:sp>
      <p:sp>
        <p:nvSpPr>
          <p:cNvPr id="13" name="Rectangle 12"/>
          <p:cNvSpPr/>
          <p:nvPr/>
        </p:nvSpPr>
        <p:spPr>
          <a:xfrm>
            <a:off x="777240" y="2083525"/>
            <a:ext cx="850757" cy="30044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 y="2083525"/>
            <a:ext cx="667877" cy="300445"/>
          </a:xfrm>
          <a:prstGeom prst="rect">
            <a:avLst/>
          </a:prstGeom>
          <a:noFill/>
        </p:spPr>
        <p:txBody>
          <a:bodyPr wrap="square" anchor="ctr">
            <a:spAutoFit/>
          </a:bodyPr>
          <a:lstStyle/>
          <a:p>
            <a:pPr algn="l">
              <a:spcAft>
                <a:spcPts val="400"/>
              </a:spcAft>
            </a:pPr>
            <a:r>
              <a:rPr sz="1050" b="1">
                <a:solidFill>
                  <a:srgbClr val="161B26"/>
                </a:solidFill>
                <a:latin typeface="Arial"/>
              </a:rPr>
              <a:t>K1</a:t>
            </a:r>
          </a:p>
        </p:txBody>
      </p:sp>
      <p:sp>
        <p:nvSpPr>
          <p:cNvPr id="15" name="Rectangle 14"/>
          <p:cNvSpPr/>
          <p:nvPr/>
        </p:nvSpPr>
        <p:spPr>
          <a:xfrm>
            <a:off x="1627997" y="2083525"/>
            <a:ext cx="7656819" cy="30044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737725" y="2083525"/>
            <a:ext cx="7473939" cy="300445"/>
          </a:xfrm>
          <a:prstGeom prst="rect">
            <a:avLst/>
          </a:prstGeom>
          <a:noFill/>
        </p:spPr>
        <p:txBody>
          <a:bodyPr wrap="square" anchor="ctr">
            <a:spAutoFit/>
          </a:bodyPr>
          <a:lstStyle/>
          <a:p>
            <a:pPr algn="l">
              <a:spcAft>
                <a:spcPts val="400"/>
              </a:spcAft>
            </a:pPr>
            <a:r>
              <a:rPr sz="1050" b="0">
                <a:solidFill>
                  <a:srgbClr val="161B26"/>
                </a:solidFill>
                <a:latin typeface="Arial"/>
              </a:rPr>
              <a:t>Vision system concepts</a:t>
            </a:r>
          </a:p>
        </p:txBody>
      </p:sp>
      <p:sp>
        <p:nvSpPr>
          <p:cNvPr id="17" name="Rectangle 16"/>
          <p:cNvSpPr/>
          <p:nvPr/>
        </p:nvSpPr>
        <p:spPr>
          <a:xfrm>
            <a:off x="9284816" y="2083525"/>
            <a:ext cx="2126894" cy="30044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94544" y="2083525"/>
            <a:ext cx="1944014" cy="300445"/>
          </a:xfrm>
          <a:prstGeom prst="rect">
            <a:avLst/>
          </a:prstGeom>
          <a:noFill/>
        </p:spPr>
        <p:txBody>
          <a:bodyPr wrap="square" anchor="ctr">
            <a:spAutoFit/>
          </a:bodyPr>
          <a:lstStyle/>
          <a:p>
            <a:pPr algn="l">
              <a:spcAft>
                <a:spcPts val="400"/>
              </a:spcAft>
            </a:pPr>
            <a:r>
              <a:rPr sz="1050" b="0">
                <a:solidFill>
                  <a:srgbClr val="161B26"/>
                </a:solidFill>
                <a:latin typeface="Arial"/>
              </a:rPr>
              <a:t>Topic 01</a:t>
            </a:r>
          </a:p>
        </p:txBody>
      </p:sp>
      <p:sp>
        <p:nvSpPr>
          <p:cNvPr id="19" name="Rectangle 18"/>
          <p:cNvSpPr/>
          <p:nvPr/>
        </p:nvSpPr>
        <p:spPr>
          <a:xfrm>
            <a:off x="777240" y="2383970"/>
            <a:ext cx="850757" cy="300445"/>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2383970"/>
            <a:ext cx="667877" cy="300445"/>
          </a:xfrm>
          <a:prstGeom prst="rect">
            <a:avLst/>
          </a:prstGeom>
          <a:noFill/>
        </p:spPr>
        <p:txBody>
          <a:bodyPr wrap="square" anchor="ctr">
            <a:spAutoFit/>
          </a:bodyPr>
          <a:lstStyle/>
          <a:p>
            <a:pPr algn="l">
              <a:spcAft>
                <a:spcPts val="400"/>
              </a:spcAft>
            </a:pPr>
            <a:r>
              <a:rPr sz="1050" b="1">
                <a:solidFill>
                  <a:srgbClr val="161B26"/>
                </a:solidFill>
                <a:latin typeface="Arial"/>
              </a:rPr>
              <a:t>K2</a:t>
            </a:r>
          </a:p>
        </p:txBody>
      </p:sp>
      <p:sp>
        <p:nvSpPr>
          <p:cNvPr id="21" name="Rectangle 20"/>
          <p:cNvSpPr/>
          <p:nvPr/>
        </p:nvSpPr>
        <p:spPr>
          <a:xfrm>
            <a:off x="1627997" y="2383970"/>
            <a:ext cx="7656819" cy="300445"/>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737725" y="2383970"/>
            <a:ext cx="7473939" cy="300445"/>
          </a:xfrm>
          <a:prstGeom prst="rect">
            <a:avLst/>
          </a:prstGeom>
          <a:noFill/>
        </p:spPr>
        <p:txBody>
          <a:bodyPr wrap="square" anchor="ctr">
            <a:spAutoFit/>
          </a:bodyPr>
          <a:lstStyle/>
          <a:p>
            <a:pPr algn="l">
              <a:spcAft>
                <a:spcPts val="400"/>
              </a:spcAft>
            </a:pPr>
            <a:r>
              <a:rPr sz="1050" b="0">
                <a:solidFill>
                  <a:srgbClr val="161B26"/>
                </a:solidFill>
                <a:latin typeface="Arial"/>
              </a:rPr>
              <a:t>Business applications of vision systems</a:t>
            </a:r>
          </a:p>
        </p:txBody>
      </p:sp>
      <p:sp>
        <p:nvSpPr>
          <p:cNvPr id="23" name="Rectangle 22"/>
          <p:cNvSpPr/>
          <p:nvPr/>
        </p:nvSpPr>
        <p:spPr>
          <a:xfrm>
            <a:off x="9284816" y="2383970"/>
            <a:ext cx="2126894" cy="300445"/>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94544" y="2383970"/>
            <a:ext cx="1944014" cy="300445"/>
          </a:xfrm>
          <a:prstGeom prst="rect">
            <a:avLst/>
          </a:prstGeom>
          <a:noFill/>
        </p:spPr>
        <p:txBody>
          <a:bodyPr wrap="square" anchor="ctr">
            <a:spAutoFit/>
          </a:bodyPr>
          <a:lstStyle/>
          <a:p>
            <a:pPr algn="l">
              <a:spcAft>
                <a:spcPts val="400"/>
              </a:spcAft>
            </a:pPr>
            <a:r>
              <a:rPr sz="1050" b="0">
                <a:solidFill>
                  <a:srgbClr val="161B26"/>
                </a:solidFill>
                <a:latin typeface="Arial"/>
              </a:rPr>
              <a:t>Topic 01</a:t>
            </a:r>
          </a:p>
        </p:txBody>
      </p:sp>
      <p:sp>
        <p:nvSpPr>
          <p:cNvPr id="25" name="Rectangle 24"/>
          <p:cNvSpPr/>
          <p:nvPr/>
        </p:nvSpPr>
        <p:spPr>
          <a:xfrm>
            <a:off x="777240" y="2684415"/>
            <a:ext cx="850757" cy="30044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6968" y="2684415"/>
            <a:ext cx="667877" cy="300445"/>
          </a:xfrm>
          <a:prstGeom prst="rect">
            <a:avLst/>
          </a:prstGeom>
          <a:noFill/>
        </p:spPr>
        <p:txBody>
          <a:bodyPr wrap="square" anchor="ctr">
            <a:spAutoFit/>
          </a:bodyPr>
          <a:lstStyle/>
          <a:p>
            <a:pPr algn="l">
              <a:spcAft>
                <a:spcPts val="400"/>
              </a:spcAft>
            </a:pPr>
            <a:r>
              <a:rPr sz="1050" b="1">
                <a:solidFill>
                  <a:srgbClr val="161B26"/>
                </a:solidFill>
                <a:latin typeface="Arial"/>
              </a:rPr>
              <a:t>K3</a:t>
            </a:r>
          </a:p>
        </p:txBody>
      </p:sp>
      <p:sp>
        <p:nvSpPr>
          <p:cNvPr id="27" name="Rectangle 26"/>
          <p:cNvSpPr/>
          <p:nvPr/>
        </p:nvSpPr>
        <p:spPr>
          <a:xfrm>
            <a:off x="1627997" y="2684415"/>
            <a:ext cx="7656819" cy="30044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737725" y="2684415"/>
            <a:ext cx="7473939" cy="300445"/>
          </a:xfrm>
          <a:prstGeom prst="rect">
            <a:avLst/>
          </a:prstGeom>
          <a:noFill/>
        </p:spPr>
        <p:txBody>
          <a:bodyPr wrap="square" anchor="ctr">
            <a:spAutoFit/>
          </a:bodyPr>
          <a:lstStyle/>
          <a:p>
            <a:pPr algn="l">
              <a:spcAft>
                <a:spcPts val="400"/>
              </a:spcAft>
            </a:pPr>
            <a:r>
              <a:rPr sz="1050" b="0">
                <a:solidFill>
                  <a:srgbClr val="161B26"/>
                </a:solidFill>
                <a:latin typeface="Arial"/>
              </a:rPr>
              <a:t>Methods to represent image and video data</a:t>
            </a:r>
          </a:p>
        </p:txBody>
      </p:sp>
      <p:sp>
        <p:nvSpPr>
          <p:cNvPr id="29" name="Rectangle 28"/>
          <p:cNvSpPr/>
          <p:nvPr/>
        </p:nvSpPr>
        <p:spPr>
          <a:xfrm>
            <a:off x="9284816" y="2684415"/>
            <a:ext cx="2126894" cy="30044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394544" y="2684415"/>
            <a:ext cx="1944014" cy="300445"/>
          </a:xfrm>
          <a:prstGeom prst="rect">
            <a:avLst/>
          </a:prstGeom>
          <a:noFill/>
        </p:spPr>
        <p:txBody>
          <a:bodyPr wrap="square" anchor="ctr">
            <a:spAutoFit/>
          </a:bodyPr>
          <a:lstStyle/>
          <a:p>
            <a:pPr algn="l">
              <a:spcAft>
                <a:spcPts val="400"/>
              </a:spcAft>
            </a:pPr>
            <a:r>
              <a:rPr sz="1050" b="0">
                <a:solidFill>
                  <a:srgbClr val="161B26"/>
                </a:solidFill>
                <a:latin typeface="Arial"/>
              </a:rPr>
              <a:t>Topic 02</a:t>
            </a:r>
          </a:p>
        </p:txBody>
      </p:sp>
      <p:sp>
        <p:nvSpPr>
          <p:cNvPr id="31" name="Rectangle 30"/>
          <p:cNvSpPr/>
          <p:nvPr/>
        </p:nvSpPr>
        <p:spPr>
          <a:xfrm>
            <a:off x="777240" y="2984860"/>
            <a:ext cx="850757" cy="300445"/>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2984860"/>
            <a:ext cx="667877" cy="300445"/>
          </a:xfrm>
          <a:prstGeom prst="rect">
            <a:avLst/>
          </a:prstGeom>
          <a:noFill/>
        </p:spPr>
        <p:txBody>
          <a:bodyPr wrap="square" anchor="ctr">
            <a:spAutoFit/>
          </a:bodyPr>
          <a:lstStyle/>
          <a:p>
            <a:pPr algn="l">
              <a:spcAft>
                <a:spcPts val="400"/>
              </a:spcAft>
            </a:pPr>
            <a:r>
              <a:rPr sz="1050" b="1">
                <a:solidFill>
                  <a:srgbClr val="161B26"/>
                </a:solidFill>
                <a:latin typeface="Arial"/>
              </a:rPr>
              <a:t>K4</a:t>
            </a:r>
          </a:p>
        </p:txBody>
      </p:sp>
      <p:sp>
        <p:nvSpPr>
          <p:cNvPr id="33" name="Rectangle 32"/>
          <p:cNvSpPr/>
          <p:nvPr/>
        </p:nvSpPr>
        <p:spPr>
          <a:xfrm>
            <a:off x="1627997" y="2984860"/>
            <a:ext cx="7656819" cy="300445"/>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737725" y="2984860"/>
            <a:ext cx="7473939" cy="300445"/>
          </a:xfrm>
          <a:prstGeom prst="rect">
            <a:avLst/>
          </a:prstGeom>
          <a:noFill/>
        </p:spPr>
        <p:txBody>
          <a:bodyPr wrap="square" anchor="ctr">
            <a:spAutoFit/>
          </a:bodyPr>
          <a:lstStyle/>
          <a:p>
            <a:pPr algn="l">
              <a:spcAft>
                <a:spcPts val="400"/>
              </a:spcAft>
            </a:pPr>
            <a:r>
              <a:rPr sz="1050" b="0">
                <a:solidFill>
                  <a:srgbClr val="161B26"/>
                </a:solidFill>
                <a:latin typeface="Arial"/>
              </a:rPr>
              <a:t>Image and video processing, filtering and transformation methods</a:t>
            </a:r>
          </a:p>
        </p:txBody>
      </p:sp>
      <p:sp>
        <p:nvSpPr>
          <p:cNvPr id="35" name="Rectangle 34"/>
          <p:cNvSpPr/>
          <p:nvPr/>
        </p:nvSpPr>
        <p:spPr>
          <a:xfrm>
            <a:off x="9284816" y="2984860"/>
            <a:ext cx="2126894" cy="300445"/>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394544" y="2984860"/>
            <a:ext cx="1944014" cy="300445"/>
          </a:xfrm>
          <a:prstGeom prst="rect">
            <a:avLst/>
          </a:prstGeom>
          <a:noFill/>
        </p:spPr>
        <p:txBody>
          <a:bodyPr wrap="square" anchor="ctr">
            <a:spAutoFit/>
          </a:bodyPr>
          <a:lstStyle/>
          <a:p>
            <a:pPr algn="l">
              <a:spcAft>
                <a:spcPts val="400"/>
              </a:spcAft>
            </a:pPr>
            <a:r>
              <a:rPr sz="1050" b="0">
                <a:solidFill>
                  <a:srgbClr val="161B26"/>
                </a:solidFill>
                <a:latin typeface="Arial"/>
              </a:rPr>
              <a:t>Topic 02</a:t>
            </a:r>
          </a:p>
        </p:txBody>
      </p:sp>
      <p:sp>
        <p:nvSpPr>
          <p:cNvPr id="37" name="Rectangle 36"/>
          <p:cNvSpPr/>
          <p:nvPr/>
        </p:nvSpPr>
        <p:spPr>
          <a:xfrm>
            <a:off x="777240" y="3285305"/>
            <a:ext cx="850757" cy="30044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86968" y="3285305"/>
            <a:ext cx="667877" cy="300445"/>
          </a:xfrm>
          <a:prstGeom prst="rect">
            <a:avLst/>
          </a:prstGeom>
          <a:noFill/>
        </p:spPr>
        <p:txBody>
          <a:bodyPr wrap="square" anchor="ctr">
            <a:spAutoFit/>
          </a:bodyPr>
          <a:lstStyle/>
          <a:p>
            <a:pPr algn="l">
              <a:spcAft>
                <a:spcPts val="400"/>
              </a:spcAft>
            </a:pPr>
            <a:r>
              <a:rPr sz="1050" b="1">
                <a:solidFill>
                  <a:srgbClr val="161B26"/>
                </a:solidFill>
                <a:latin typeface="Arial"/>
              </a:rPr>
              <a:t>K5</a:t>
            </a:r>
          </a:p>
        </p:txBody>
      </p:sp>
      <p:sp>
        <p:nvSpPr>
          <p:cNvPr id="39" name="Rectangle 38"/>
          <p:cNvSpPr/>
          <p:nvPr/>
        </p:nvSpPr>
        <p:spPr>
          <a:xfrm>
            <a:off x="1627997" y="3285305"/>
            <a:ext cx="7656819" cy="30044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737725" y="3285305"/>
            <a:ext cx="7473939" cy="300445"/>
          </a:xfrm>
          <a:prstGeom prst="rect">
            <a:avLst/>
          </a:prstGeom>
          <a:noFill/>
        </p:spPr>
        <p:txBody>
          <a:bodyPr wrap="square" anchor="ctr">
            <a:spAutoFit/>
          </a:bodyPr>
          <a:lstStyle/>
          <a:p>
            <a:pPr algn="l">
              <a:spcAft>
                <a:spcPts val="400"/>
              </a:spcAft>
            </a:pPr>
            <a:r>
              <a:rPr sz="1050" b="0">
                <a:solidFill>
                  <a:srgbClr val="161B26"/>
                </a:solidFill>
                <a:latin typeface="Arial"/>
              </a:rPr>
              <a:t>Feature extraction and representation techniques</a:t>
            </a:r>
          </a:p>
        </p:txBody>
      </p:sp>
      <p:sp>
        <p:nvSpPr>
          <p:cNvPr id="41" name="Rectangle 40"/>
          <p:cNvSpPr/>
          <p:nvPr/>
        </p:nvSpPr>
        <p:spPr>
          <a:xfrm>
            <a:off x="9284816" y="3285305"/>
            <a:ext cx="2126894" cy="30044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394544" y="3285305"/>
            <a:ext cx="1944014" cy="300445"/>
          </a:xfrm>
          <a:prstGeom prst="rect">
            <a:avLst/>
          </a:prstGeom>
          <a:noFill/>
        </p:spPr>
        <p:txBody>
          <a:bodyPr wrap="square" anchor="ctr">
            <a:spAutoFit/>
          </a:bodyPr>
          <a:lstStyle/>
          <a:p>
            <a:pPr algn="l">
              <a:spcAft>
                <a:spcPts val="400"/>
              </a:spcAft>
            </a:pPr>
            <a:r>
              <a:rPr sz="1050" b="0">
                <a:solidFill>
                  <a:srgbClr val="161B26"/>
                </a:solidFill>
                <a:latin typeface="Arial"/>
              </a:rPr>
              <a:t>Topic 03</a:t>
            </a:r>
          </a:p>
        </p:txBody>
      </p:sp>
      <p:sp>
        <p:nvSpPr>
          <p:cNvPr id="43" name="Rectangle 42"/>
          <p:cNvSpPr/>
          <p:nvPr/>
        </p:nvSpPr>
        <p:spPr>
          <a:xfrm>
            <a:off x="777240" y="3585750"/>
            <a:ext cx="850757" cy="300445"/>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86968" y="3585750"/>
            <a:ext cx="667877" cy="300445"/>
          </a:xfrm>
          <a:prstGeom prst="rect">
            <a:avLst/>
          </a:prstGeom>
          <a:noFill/>
        </p:spPr>
        <p:txBody>
          <a:bodyPr wrap="square" anchor="ctr">
            <a:spAutoFit/>
          </a:bodyPr>
          <a:lstStyle/>
          <a:p>
            <a:pPr algn="l">
              <a:spcAft>
                <a:spcPts val="400"/>
              </a:spcAft>
            </a:pPr>
            <a:r>
              <a:rPr sz="1050" b="1">
                <a:solidFill>
                  <a:srgbClr val="161B26"/>
                </a:solidFill>
                <a:latin typeface="Arial"/>
              </a:rPr>
              <a:t>K6</a:t>
            </a:r>
          </a:p>
        </p:txBody>
      </p:sp>
      <p:sp>
        <p:nvSpPr>
          <p:cNvPr id="45" name="Rectangle 44"/>
          <p:cNvSpPr/>
          <p:nvPr/>
        </p:nvSpPr>
        <p:spPr>
          <a:xfrm>
            <a:off x="1627997" y="3585750"/>
            <a:ext cx="7656819" cy="300445"/>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737725" y="3585750"/>
            <a:ext cx="7473939" cy="300445"/>
          </a:xfrm>
          <a:prstGeom prst="rect">
            <a:avLst/>
          </a:prstGeom>
          <a:noFill/>
        </p:spPr>
        <p:txBody>
          <a:bodyPr wrap="square" anchor="ctr">
            <a:spAutoFit/>
          </a:bodyPr>
          <a:lstStyle/>
          <a:p>
            <a:pPr algn="l">
              <a:spcAft>
                <a:spcPts val="400"/>
              </a:spcAft>
            </a:pPr>
            <a:r>
              <a:rPr sz="1050" b="0">
                <a:solidFill>
                  <a:srgbClr val="161B26"/>
                </a:solidFill>
                <a:latin typeface="Arial"/>
              </a:rPr>
              <a:t>Local feature descriptions, edge, colour, texture and motion</a:t>
            </a:r>
          </a:p>
        </p:txBody>
      </p:sp>
      <p:sp>
        <p:nvSpPr>
          <p:cNvPr id="47" name="Rectangle 46"/>
          <p:cNvSpPr/>
          <p:nvPr/>
        </p:nvSpPr>
        <p:spPr>
          <a:xfrm>
            <a:off x="9284816" y="3585750"/>
            <a:ext cx="2126894" cy="300445"/>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394544" y="3585750"/>
            <a:ext cx="1944014" cy="300445"/>
          </a:xfrm>
          <a:prstGeom prst="rect">
            <a:avLst/>
          </a:prstGeom>
          <a:noFill/>
        </p:spPr>
        <p:txBody>
          <a:bodyPr wrap="square" anchor="ctr">
            <a:spAutoFit/>
          </a:bodyPr>
          <a:lstStyle/>
          <a:p>
            <a:pPr algn="l">
              <a:spcAft>
                <a:spcPts val="400"/>
              </a:spcAft>
            </a:pPr>
            <a:r>
              <a:rPr sz="1050" b="0">
                <a:solidFill>
                  <a:srgbClr val="161B26"/>
                </a:solidFill>
                <a:latin typeface="Arial"/>
              </a:rPr>
              <a:t>Topic 03</a:t>
            </a:r>
          </a:p>
        </p:txBody>
      </p:sp>
      <p:sp>
        <p:nvSpPr>
          <p:cNvPr id="49" name="Rectangle 48"/>
          <p:cNvSpPr/>
          <p:nvPr/>
        </p:nvSpPr>
        <p:spPr>
          <a:xfrm>
            <a:off x="777240" y="3886195"/>
            <a:ext cx="850757" cy="30044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86968" y="3886195"/>
            <a:ext cx="667877" cy="300445"/>
          </a:xfrm>
          <a:prstGeom prst="rect">
            <a:avLst/>
          </a:prstGeom>
          <a:noFill/>
        </p:spPr>
        <p:txBody>
          <a:bodyPr wrap="square" anchor="ctr">
            <a:spAutoFit/>
          </a:bodyPr>
          <a:lstStyle/>
          <a:p>
            <a:pPr algn="l">
              <a:spcAft>
                <a:spcPts val="400"/>
              </a:spcAft>
            </a:pPr>
            <a:r>
              <a:rPr sz="1050" b="1">
                <a:solidFill>
                  <a:srgbClr val="161B26"/>
                </a:solidFill>
                <a:latin typeface="Arial"/>
              </a:rPr>
              <a:t>K7</a:t>
            </a:r>
          </a:p>
        </p:txBody>
      </p:sp>
      <p:sp>
        <p:nvSpPr>
          <p:cNvPr id="51" name="Rectangle 50"/>
          <p:cNvSpPr/>
          <p:nvPr/>
        </p:nvSpPr>
        <p:spPr>
          <a:xfrm>
            <a:off x="1627997" y="3886195"/>
            <a:ext cx="7656819" cy="30044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737725" y="3886195"/>
            <a:ext cx="7473939" cy="300445"/>
          </a:xfrm>
          <a:prstGeom prst="rect">
            <a:avLst/>
          </a:prstGeom>
          <a:noFill/>
        </p:spPr>
        <p:txBody>
          <a:bodyPr wrap="square" anchor="ctr">
            <a:spAutoFit/>
          </a:bodyPr>
          <a:lstStyle/>
          <a:p>
            <a:pPr algn="l">
              <a:spcAft>
                <a:spcPts val="400"/>
              </a:spcAft>
            </a:pPr>
            <a:r>
              <a:rPr sz="1050" b="0">
                <a:solidFill>
                  <a:srgbClr val="161B26"/>
                </a:solidFill>
                <a:latin typeface="Arial"/>
              </a:rPr>
              <a:t>Global feature descriptions, statistical and geometrical methods</a:t>
            </a:r>
          </a:p>
        </p:txBody>
      </p:sp>
      <p:sp>
        <p:nvSpPr>
          <p:cNvPr id="53" name="Rectangle 52"/>
          <p:cNvSpPr/>
          <p:nvPr/>
        </p:nvSpPr>
        <p:spPr>
          <a:xfrm>
            <a:off x="9284816" y="3886195"/>
            <a:ext cx="2126894" cy="30044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394544" y="3886195"/>
            <a:ext cx="1944014" cy="300445"/>
          </a:xfrm>
          <a:prstGeom prst="rect">
            <a:avLst/>
          </a:prstGeom>
          <a:noFill/>
        </p:spPr>
        <p:txBody>
          <a:bodyPr wrap="square" anchor="ctr">
            <a:spAutoFit/>
          </a:bodyPr>
          <a:lstStyle/>
          <a:p>
            <a:pPr algn="l">
              <a:spcAft>
                <a:spcPts val="400"/>
              </a:spcAft>
            </a:pPr>
            <a:r>
              <a:rPr sz="1050" b="0">
                <a:solidFill>
                  <a:srgbClr val="161B26"/>
                </a:solidFill>
                <a:latin typeface="Arial"/>
              </a:rPr>
              <a:t>Topic 03</a:t>
            </a:r>
          </a:p>
        </p:txBody>
      </p:sp>
      <p:sp>
        <p:nvSpPr>
          <p:cNvPr id="55" name="Rectangle 54"/>
          <p:cNvSpPr/>
          <p:nvPr/>
        </p:nvSpPr>
        <p:spPr>
          <a:xfrm>
            <a:off x="777240" y="4186640"/>
            <a:ext cx="850757" cy="300445"/>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86968" y="4186640"/>
            <a:ext cx="667877" cy="300445"/>
          </a:xfrm>
          <a:prstGeom prst="rect">
            <a:avLst/>
          </a:prstGeom>
          <a:noFill/>
        </p:spPr>
        <p:txBody>
          <a:bodyPr wrap="square" anchor="ctr">
            <a:spAutoFit/>
          </a:bodyPr>
          <a:lstStyle/>
          <a:p>
            <a:pPr algn="l">
              <a:spcAft>
                <a:spcPts val="400"/>
              </a:spcAft>
            </a:pPr>
            <a:r>
              <a:rPr sz="1050" b="1">
                <a:solidFill>
                  <a:srgbClr val="161B26"/>
                </a:solidFill>
                <a:latin typeface="Arial"/>
              </a:rPr>
              <a:t>K8</a:t>
            </a:r>
          </a:p>
        </p:txBody>
      </p:sp>
      <p:sp>
        <p:nvSpPr>
          <p:cNvPr id="57" name="Rectangle 56"/>
          <p:cNvSpPr/>
          <p:nvPr/>
        </p:nvSpPr>
        <p:spPr>
          <a:xfrm>
            <a:off x="1627997" y="4186640"/>
            <a:ext cx="7656819" cy="300445"/>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737725" y="4186640"/>
            <a:ext cx="7473939" cy="300445"/>
          </a:xfrm>
          <a:prstGeom prst="rect">
            <a:avLst/>
          </a:prstGeom>
          <a:noFill/>
        </p:spPr>
        <p:txBody>
          <a:bodyPr wrap="square" anchor="ctr">
            <a:spAutoFit/>
          </a:bodyPr>
          <a:lstStyle/>
          <a:p>
            <a:pPr algn="l">
              <a:spcAft>
                <a:spcPts val="400"/>
              </a:spcAft>
            </a:pPr>
            <a:r>
              <a:rPr sz="1050" b="0">
                <a:solidFill>
                  <a:srgbClr val="161B26"/>
                </a:solidFill>
                <a:latin typeface="Arial"/>
              </a:rPr>
              <a:t>Deep learning concepts</a:t>
            </a:r>
          </a:p>
        </p:txBody>
      </p:sp>
      <p:sp>
        <p:nvSpPr>
          <p:cNvPr id="59" name="Rectangle 58"/>
          <p:cNvSpPr/>
          <p:nvPr/>
        </p:nvSpPr>
        <p:spPr>
          <a:xfrm>
            <a:off x="9284816" y="4186640"/>
            <a:ext cx="2126894" cy="300445"/>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394544" y="4186640"/>
            <a:ext cx="1944014" cy="300445"/>
          </a:xfrm>
          <a:prstGeom prst="rect">
            <a:avLst/>
          </a:prstGeom>
          <a:noFill/>
        </p:spPr>
        <p:txBody>
          <a:bodyPr wrap="square" anchor="ctr">
            <a:spAutoFit/>
          </a:bodyPr>
          <a:lstStyle/>
          <a:p>
            <a:pPr algn="l">
              <a:spcAft>
                <a:spcPts val="400"/>
              </a:spcAft>
            </a:pPr>
            <a:r>
              <a:rPr sz="1050" b="0">
                <a:solidFill>
                  <a:srgbClr val="161B26"/>
                </a:solidFill>
                <a:latin typeface="Arial"/>
              </a:rPr>
              <a:t>Topic 04</a:t>
            </a:r>
          </a:p>
        </p:txBody>
      </p:sp>
      <p:sp>
        <p:nvSpPr>
          <p:cNvPr id="61" name="Rectangle 60"/>
          <p:cNvSpPr/>
          <p:nvPr/>
        </p:nvSpPr>
        <p:spPr>
          <a:xfrm>
            <a:off x="777240" y="4487085"/>
            <a:ext cx="850757" cy="30044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86968" y="4487085"/>
            <a:ext cx="667877" cy="300445"/>
          </a:xfrm>
          <a:prstGeom prst="rect">
            <a:avLst/>
          </a:prstGeom>
          <a:noFill/>
        </p:spPr>
        <p:txBody>
          <a:bodyPr wrap="square" anchor="ctr">
            <a:spAutoFit/>
          </a:bodyPr>
          <a:lstStyle/>
          <a:p>
            <a:pPr algn="l">
              <a:spcAft>
                <a:spcPts val="400"/>
              </a:spcAft>
            </a:pPr>
            <a:r>
              <a:rPr sz="1050" b="1">
                <a:solidFill>
                  <a:srgbClr val="161B26"/>
                </a:solidFill>
                <a:latin typeface="Arial"/>
              </a:rPr>
              <a:t>K9</a:t>
            </a:r>
          </a:p>
        </p:txBody>
      </p:sp>
      <p:sp>
        <p:nvSpPr>
          <p:cNvPr id="63" name="Rectangle 62"/>
          <p:cNvSpPr/>
          <p:nvPr/>
        </p:nvSpPr>
        <p:spPr>
          <a:xfrm>
            <a:off x="1627997" y="4487085"/>
            <a:ext cx="7656819" cy="30044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737725" y="4487085"/>
            <a:ext cx="7473939" cy="300445"/>
          </a:xfrm>
          <a:prstGeom prst="rect">
            <a:avLst/>
          </a:prstGeom>
          <a:noFill/>
        </p:spPr>
        <p:txBody>
          <a:bodyPr wrap="square" anchor="ctr">
            <a:spAutoFit/>
          </a:bodyPr>
          <a:lstStyle/>
          <a:p>
            <a:pPr algn="l">
              <a:spcAft>
                <a:spcPts val="400"/>
              </a:spcAft>
            </a:pPr>
            <a:r>
              <a:rPr sz="1050" b="0">
                <a:solidFill>
                  <a:srgbClr val="161B26"/>
                </a:solidFill>
                <a:latin typeface="Arial"/>
              </a:rPr>
              <a:t>Object segmentation, detection and recognition</a:t>
            </a:r>
          </a:p>
        </p:txBody>
      </p:sp>
      <p:sp>
        <p:nvSpPr>
          <p:cNvPr id="65" name="Rectangle 64"/>
          <p:cNvSpPr/>
          <p:nvPr/>
        </p:nvSpPr>
        <p:spPr>
          <a:xfrm>
            <a:off x="9284816" y="4487085"/>
            <a:ext cx="2126894" cy="30044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394544" y="4487085"/>
            <a:ext cx="1944014" cy="300445"/>
          </a:xfrm>
          <a:prstGeom prst="rect">
            <a:avLst/>
          </a:prstGeom>
          <a:noFill/>
        </p:spPr>
        <p:txBody>
          <a:bodyPr wrap="square" anchor="ctr">
            <a:spAutoFit/>
          </a:bodyPr>
          <a:lstStyle/>
          <a:p>
            <a:pPr algn="l">
              <a:spcAft>
                <a:spcPts val="400"/>
              </a:spcAft>
            </a:pPr>
            <a:r>
              <a:rPr sz="1050" b="0">
                <a:solidFill>
                  <a:srgbClr val="161B26"/>
                </a:solidFill>
                <a:latin typeface="Arial"/>
              </a:rPr>
              <a:t>Topic 04</a:t>
            </a:r>
          </a:p>
        </p:txBody>
      </p:sp>
      <p:sp>
        <p:nvSpPr>
          <p:cNvPr id="67" name="Rectangle 66"/>
          <p:cNvSpPr/>
          <p:nvPr/>
        </p:nvSpPr>
        <p:spPr>
          <a:xfrm>
            <a:off x="777240" y="4787530"/>
            <a:ext cx="850757" cy="300445"/>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86968" y="4787530"/>
            <a:ext cx="667877" cy="300445"/>
          </a:xfrm>
          <a:prstGeom prst="rect">
            <a:avLst/>
          </a:prstGeom>
          <a:noFill/>
        </p:spPr>
        <p:txBody>
          <a:bodyPr wrap="square" anchor="ctr">
            <a:spAutoFit/>
          </a:bodyPr>
          <a:lstStyle/>
          <a:p>
            <a:pPr algn="l">
              <a:spcAft>
                <a:spcPts val="400"/>
              </a:spcAft>
            </a:pPr>
            <a:r>
              <a:rPr sz="1050" b="1">
                <a:solidFill>
                  <a:srgbClr val="161B26"/>
                </a:solidFill>
                <a:latin typeface="Arial"/>
              </a:rPr>
              <a:t>K10</a:t>
            </a:r>
          </a:p>
        </p:txBody>
      </p:sp>
      <p:sp>
        <p:nvSpPr>
          <p:cNvPr id="69" name="Rectangle 68"/>
          <p:cNvSpPr/>
          <p:nvPr/>
        </p:nvSpPr>
        <p:spPr>
          <a:xfrm>
            <a:off x="1627997" y="4787530"/>
            <a:ext cx="7656819" cy="300445"/>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737725" y="4787530"/>
            <a:ext cx="7473939" cy="300445"/>
          </a:xfrm>
          <a:prstGeom prst="rect">
            <a:avLst/>
          </a:prstGeom>
          <a:noFill/>
        </p:spPr>
        <p:txBody>
          <a:bodyPr wrap="square" anchor="ctr">
            <a:spAutoFit/>
          </a:bodyPr>
          <a:lstStyle/>
          <a:p>
            <a:pPr algn="l">
              <a:spcAft>
                <a:spcPts val="400"/>
              </a:spcAft>
            </a:pPr>
            <a:r>
              <a:rPr sz="1050" b="0">
                <a:solidFill>
                  <a:srgbClr val="161B26"/>
                </a:solidFill>
                <a:latin typeface="Arial"/>
              </a:rPr>
              <a:t>Activity tracking, generative models, scene understanding and event discovery</a:t>
            </a:r>
          </a:p>
        </p:txBody>
      </p:sp>
      <p:sp>
        <p:nvSpPr>
          <p:cNvPr id="71" name="Rectangle 70"/>
          <p:cNvSpPr/>
          <p:nvPr/>
        </p:nvSpPr>
        <p:spPr>
          <a:xfrm>
            <a:off x="9284816" y="4787530"/>
            <a:ext cx="2126894" cy="300445"/>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9394544" y="4787530"/>
            <a:ext cx="1944014" cy="300445"/>
          </a:xfrm>
          <a:prstGeom prst="rect">
            <a:avLst/>
          </a:prstGeom>
          <a:noFill/>
        </p:spPr>
        <p:txBody>
          <a:bodyPr wrap="square" anchor="ctr">
            <a:spAutoFit/>
          </a:bodyPr>
          <a:lstStyle/>
          <a:p>
            <a:pPr algn="l">
              <a:spcAft>
                <a:spcPts val="400"/>
              </a:spcAft>
            </a:pPr>
            <a:r>
              <a:rPr sz="1050" b="0">
                <a:solidFill>
                  <a:srgbClr val="161B26"/>
                </a:solidFill>
                <a:latin typeface="Arial"/>
              </a:rPr>
              <a:t>Topic 04</a:t>
            </a:r>
          </a:p>
        </p:txBody>
      </p:sp>
      <p:sp>
        <p:nvSpPr>
          <p:cNvPr id="73" name="Rectangle 72"/>
          <p:cNvSpPr/>
          <p:nvPr/>
        </p:nvSpPr>
        <p:spPr>
          <a:xfrm>
            <a:off x="777240" y="5087975"/>
            <a:ext cx="850757" cy="30044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86968" y="5087975"/>
            <a:ext cx="667877" cy="300445"/>
          </a:xfrm>
          <a:prstGeom prst="rect">
            <a:avLst/>
          </a:prstGeom>
          <a:noFill/>
        </p:spPr>
        <p:txBody>
          <a:bodyPr wrap="square" anchor="ctr">
            <a:spAutoFit/>
          </a:bodyPr>
          <a:lstStyle/>
          <a:p>
            <a:pPr algn="l">
              <a:spcAft>
                <a:spcPts val="400"/>
              </a:spcAft>
            </a:pPr>
            <a:r>
              <a:rPr sz="1050" b="1">
                <a:solidFill>
                  <a:srgbClr val="161B26"/>
                </a:solidFill>
                <a:latin typeface="Arial"/>
              </a:rPr>
              <a:t>K11</a:t>
            </a:r>
          </a:p>
        </p:txBody>
      </p:sp>
      <p:sp>
        <p:nvSpPr>
          <p:cNvPr id="75" name="Rectangle 74"/>
          <p:cNvSpPr/>
          <p:nvPr/>
        </p:nvSpPr>
        <p:spPr>
          <a:xfrm>
            <a:off x="1627997" y="5087975"/>
            <a:ext cx="7656819" cy="30044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1737725" y="5087975"/>
            <a:ext cx="7473939" cy="300445"/>
          </a:xfrm>
          <a:prstGeom prst="rect">
            <a:avLst/>
          </a:prstGeom>
          <a:noFill/>
        </p:spPr>
        <p:txBody>
          <a:bodyPr wrap="square" anchor="ctr">
            <a:spAutoFit/>
          </a:bodyPr>
          <a:lstStyle/>
          <a:p>
            <a:pPr algn="l">
              <a:spcAft>
                <a:spcPts val="400"/>
              </a:spcAft>
            </a:pPr>
            <a:r>
              <a:rPr sz="1050" b="0">
                <a:solidFill>
                  <a:srgbClr val="161B26"/>
                </a:solidFill>
                <a:latin typeface="Arial"/>
              </a:rPr>
              <a:t>Vision system architecture</a:t>
            </a:r>
          </a:p>
        </p:txBody>
      </p:sp>
      <p:sp>
        <p:nvSpPr>
          <p:cNvPr id="77" name="Rectangle 76"/>
          <p:cNvSpPr/>
          <p:nvPr/>
        </p:nvSpPr>
        <p:spPr>
          <a:xfrm>
            <a:off x="9284816" y="5087975"/>
            <a:ext cx="2126894" cy="30044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9394544" y="5087975"/>
            <a:ext cx="1944014" cy="300445"/>
          </a:xfrm>
          <a:prstGeom prst="rect">
            <a:avLst/>
          </a:prstGeom>
          <a:noFill/>
        </p:spPr>
        <p:txBody>
          <a:bodyPr wrap="square" anchor="ctr">
            <a:spAutoFit/>
          </a:bodyPr>
          <a:lstStyle/>
          <a:p>
            <a:pPr algn="l">
              <a:spcAft>
                <a:spcPts val="400"/>
              </a:spcAft>
            </a:pPr>
            <a:r>
              <a:rPr sz="1050" b="0">
                <a:solidFill>
                  <a:srgbClr val="161B26"/>
                </a:solidFill>
                <a:latin typeface="Arial"/>
              </a:rPr>
              <a:t>Topic 05</a:t>
            </a:r>
          </a:p>
        </p:txBody>
      </p:sp>
      <p:sp>
        <p:nvSpPr>
          <p:cNvPr id="79" name="Rectangle 78"/>
          <p:cNvSpPr/>
          <p:nvPr/>
        </p:nvSpPr>
        <p:spPr>
          <a:xfrm>
            <a:off x="777240" y="5388420"/>
            <a:ext cx="850757" cy="300445"/>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886968" y="5388420"/>
            <a:ext cx="667877" cy="300445"/>
          </a:xfrm>
          <a:prstGeom prst="rect">
            <a:avLst/>
          </a:prstGeom>
          <a:noFill/>
        </p:spPr>
        <p:txBody>
          <a:bodyPr wrap="square" anchor="ctr">
            <a:spAutoFit/>
          </a:bodyPr>
          <a:lstStyle/>
          <a:p>
            <a:pPr algn="l">
              <a:spcAft>
                <a:spcPts val="400"/>
              </a:spcAft>
            </a:pPr>
            <a:r>
              <a:rPr sz="1050" b="1">
                <a:solidFill>
                  <a:srgbClr val="161B26"/>
                </a:solidFill>
                <a:latin typeface="Arial"/>
              </a:rPr>
              <a:t>K12</a:t>
            </a:r>
          </a:p>
        </p:txBody>
      </p:sp>
      <p:sp>
        <p:nvSpPr>
          <p:cNvPr id="81" name="Rectangle 80"/>
          <p:cNvSpPr/>
          <p:nvPr/>
        </p:nvSpPr>
        <p:spPr>
          <a:xfrm>
            <a:off x="1627997" y="5388420"/>
            <a:ext cx="7656819" cy="300445"/>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1737725" y="5388420"/>
            <a:ext cx="7473939" cy="300445"/>
          </a:xfrm>
          <a:prstGeom prst="rect">
            <a:avLst/>
          </a:prstGeom>
          <a:noFill/>
        </p:spPr>
        <p:txBody>
          <a:bodyPr wrap="square" anchor="ctr">
            <a:spAutoFit/>
          </a:bodyPr>
          <a:lstStyle/>
          <a:p>
            <a:pPr algn="l">
              <a:spcAft>
                <a:spcPts val="400"/>
              </a:spcAft>
            </a:pPr>
            <a:r>
              <a:rPr sz="1050" b="0">
                <a:solidFill>
                  <a:srgbClr val="161B26"/>
                </a:solidFill>
                <a:latin typeface="Arial"/>
              </a:rPr>
              <a:t>Vision communication protocols</a:t>
            </a:r>
          </a:p>
        </p:txBody>
      </p:sp>
      <p:sp>
        <p:nvSpPr>
          <p:cNvPr id="83" name="Rectangle 82"/>
          <p:cNvSpPr/>
          <p:nvPr/>
        </p:nvSpPr>
        <p:spPr>
          <a:xfrm>
            <a:off x="9284816" y="5388420"/>
            <a:ext cx="2126894" cy="300445"/>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9394544" y="5388420"/>
            <a:ext cx="1944014" cy="300445"/>
          </a:xfrm>
          <a:prstGeom prst="rect">
            <a:avLst/>
          </a:prstGeom>
          <a:noFill/>
        </p:spPr>
        <p:txBody>
          <a:bodyPr wrap="square" anchor="ctr">
            <a:spAutoFit/>
          </a:bodyPr>
          <a:lstStyle/>
          <a:p>
            <a:pPr algn="l">
              <a:spcAft>
                <a:spcPts val="400"/>
              </a:spcAft>
            </a:pPr>
            <a:r>
              <a:rPr sz="1050" b="0">
                <a:solidFill>
                  <a:srgbClr val="161B26"/>
                </a:solidFill>
                <a:latin typeface="Arial"/>
              </a:rPr>
              <a:t>Topic 05</a:t>
            </a:r>
          </a:p>
        </p:txBody>
      </p:sp>
      <p:sp>
        <p:nvSpPr>
          <p:cNvPr id="85" name="Rectangle 84"/>
          <p:cNvSpPr/>
          <p:nvPr/>
        </p:nvSpPr>
        <p:spPr>
          <a:xfrm>
            <a:off x="777240" y="5688865"/>
            <a:ext cx="850757" cy="30044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886968" y="5688865"/>
            <a:ext cx="667877" cy="300445"/>
          </a:xfrm>
          <a:prstGeom prst="rect">
            <a:avLst/>
          </a:prstGeom>
          <a:noFill/>
        </p:spPr>
        <p:txBody>
          <a:bodyPr wrap="square" anchor="ctr">
            <a:spAutoFit/>
          </a:bodyPr>
          <a:lstStyle/>
          <a:p>
            <a:pPr algn="l">
              <a:spcAft>
                <a:spcPts val="400"/>
              </a:spcAft>
            </a:pPr>
            <a:r>
              <a:rPr sz="1050" b="1">
                <a:solidFill>
                  <a:srgbClr val="161B26"/>
                </a:solidFill>
                <a:latin typeface="Arial"/>
              </a:rPr>
              <a:t>K13</a:t>
            </a:r>
          </a:p>
        </p:txBody>
      </p:sp>
      <p:sp>
        <p:nvSpPr>
          <p:cNvPr id="87" name="Rectangle 86"/>
          <p:cNvSpPr/>
          <p:nvPr/>
        </p:nvSpPr>
        <p:spPr>
          <a:xfrm>
            <a:off x="1627997" y="5688865"/>
            <a:ext cx="7656819" cy="30044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1737725" y="5688865"/>
            <a:ext cx="7473939" cy="300445"/>
          </a:xfrm>
          <a:prstGeom prst="rect">
            <a:avLst/>
          </a:prstGeom>
          <a:noFill/>
        </p:spPr>
        <p:txBody>
          <a:bodyPr wrap="square" anchor="ctr">
            <a:spAutoFit/>
          </a:bodyPr>
          <a:lstStyle/>
          <a:p>
            <a:pPr algn="l">
              <a:spcAft>
                <a:spcPts val="400"/>
              </a:spcAft>
            </a:pPr>
            <a:r>
              <a:rPr sz="1050" b="0">
                <a:solidFill>
                  <a:srgbClr val="161B26"/>
                </a:solidFill>
                <a:latin typeface="Arial"/>
              </a:rPr>
              <a:t>Real-world design constraints and solution options</a:t>
            </a:r>
          </a:p>
        </p:txBody>
      </p:sp>
      <p:sp>
        <p:nvSpPr>
          <p:cNvPr id="89" name="Rectangle 88"/>
          <p:cNvSpPr/>
          <p:nvPr/>
        </p:nvSpPr>
        <p:spPr>
          <a:xfrm>
            <a:off x="9284816" y="5688865"/>
            <a:ext cx="2126894" cy="30044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9394544" y="5688865"/>
            <a:ext cx="1944014" cy="300445"/>
          </a:xfrm>
          <a:prstGeom prst="rect">
            <a:avLst/>
          </a:prstGeom>
          <a:noFill/>
        </p:spPr>
        <p:txBody>
          <a:bodyPr wrap="square" anchor="ctr">
            <a:spAutoFit/>
          </a:bodyPr>
          <a:lstStyle/>
          <a:p>
            <a:pPr algn="l">
              <a:spcAft>
                <a:spcPts val="400"/>
              </a:spcAft>
            </a:pPr>
            <a:r>
              <a:rPr sz="1050" b="0">
                <a:solidFill>
                  <a:srgbClr val="161B26"/>
                </a:solidFill>
                <a:latin typeface="Arial"/>
              </a:rPr>
              <a:t>Topic 05</a:t>
            </a:r>
          </a:p>
        </p:txBody>
      </p:sp>
      <p:sp>
        <p:nvSpPr>
          <p:cNvPr id="91" name="TextBox 90"/>
          <p:cNvSpPr txBox="1"/>
          <p:nvPr/>
        </p:nvSpPr>
        <p:spPr>
          <a:xfrm>
            <a:off x="777240" y="6053328"/>
            <a:ext cx="10698480" cy="457200"/>
          </a:xfrm>
          <a:prstGeom prst="rect">
            <a:avLst/>
          </a:prstGeom>
          <a:noFill/>
        </p:spPr>
        <p:txBody>
          <a:bodyPr wrap="square" anchor="t">
            <a:spAutoFit/>
          </a:bodyPr>
          <a:lstStyle/>
          <a:p>
            <a:pPr algn="ctr">
              <a:spcAft>
                <a:spcPts val="400"/>
              </a:spcAft>
            </a:pPr>
            <a:r>
              <a:rPr sz="1200" b="0">
                <a:solidFill>
                  <a:srgbClr val="5B6372"/>
                </a:solidFill>
                <a:latin typeface="Arial"/>
              </a:rPr>
              <a:t>The Written Assessment carries exactly one question per knowledge statement, in this order.</a:t>
            </a:r>
          </a:p>
        </p:txBody>
      </p:sp>
      <p:sp>
        <p:nvSpPr>
          <p:cNvPr id="92" name="TextBox 9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93" name="TextBox 9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4" name="TextBox 9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fast">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PRACTICAL PERFORMANCE · 5 TASKS · 90 MINUTES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Assessed Abilities — A1 to A8</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850757" cy="4673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667877" cy="467360"/>
          </a:xfrm>
          <a:prstGeom prst="rect">
            <a:avLst/>
          </a:prstGeom>
          <a:noFill/>
        </p:spPr>
        <p:txBody>
          <a:bodyPr wrap="square" anchor="ctr">
            <a:spAutoFit/>
          </a:bodyPr>
          <a:lstStyle/>
          <a:p>
            <a:pPr algn="l">
              <a:spcAft>
                <a:spcPts val="400"/>
              </a:spcAft>
            </a:pPr>
            <a:r>
              <a:rPr sz="1150" b="1">
                <a:solidFill>
                  <a:srgbClr val="FFFFFF"/>
                </a:solidFill>
                <a:latin typeface="Arial"/>
              </a:rPr>
              <a:t>Code</a:t>
            </a:r>
          </a:p>
        </p:txBody>
      </p:sp>
      <p:sp>
        <p:nvSpPr>
          <p:cNvPr id="9" name="Rectangle 8"/>
          <p:cNvSpPr/>
          <p:nvPr/>
        </p:nvSpPr>
        <p:spPr>
          <a:xfrm>
            <a:off x="1627997" y="1783080"/>
            <a:ext cx="6593372" cy="4673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737725" y="1783080"/>
            <a:ext cx="6410492" cy="467360"/>
          </a:xfrm>
          <a:prstGeom prst="rect">
            <a:avLst/>
          </a:prstGeom>
          <a:noFill/>
        </p:spPr>
        <p:txBody>
          <a:bodyPr wrap="square" anchor="ctr">
            <a:spAutoFit/>
          </a:bodyPr>
          <a:lstStyle/>
          <a:p>
            <a:pPr algn="l">
              <a:spcAft>
                <a:spcPts val="400"/>
              </a:spcAft>
            </a:pPr>
            <a:r>
              <a:rPr sz="1150" b="1">
                <a:solidFill>
                  <a:srgbClr val="FFFFFF"/>
                </a:solidFill>
                <a:latin typeface="Arial"/>
              </a:rPr>
              <a:t>Ability statement</a:t>
            </a:r>
          </a:p>
        </p:txBody>
      </p:sp>
      <p:sp>
        <p:nvSpPr>
          <p:cNvPr id="11" name="Rectangle 10"/>
          <p:cNvSpPr/>
          <p:nvPr/>
        </p:nvSpPr>
        <p:spPr>
          <a:xfrm>
            <a:off x="8221369" y="1783080"/>
            <a:ext cx="3190341" cy="4673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31097" y="1783080"/>
            <a:ext cx="3007461" cy="467360"/>
          </a:xfrm>
          <a:prstGeom prst="rect">
            <a:avLst/>
          </a:prstGeom>
          <a:noFill/>
        </p:spPr>
        <p:txBody>
          <a:bodyPr wrap="square" anchor="ctr">
            <a:spAutoFit/>
          </a:bodyPr>
          <a:lstStyle/>
          <a:p>
            <a:pPr algn="l">
              <a:spcAft>
                <a:spcPts val="400"/>
              </a:spcAft>
            </a:pPr>
            <a:r>
              <a:rPr sz="1150" b="1">
                <a:solidFill>
                  <a:srgbClr val="FFFFFF"/>
                </a:solidFill>
                <a:latin typeface="Arial"/>
              </a:rPr>
              <a:t>Practised in</a:t>
            </a:r>
          </a:p>
        </p:txBody>
      </p:sp>
      <p:sp>
        <p:nvSpPr>
          <p:cNvPr id="13" name="Rectangle 12"/>
          <p:cNvSpPr/>
          <p:nvPr/>
        </p:nvSpPr>
        <p:spPr>
          <a:xfrm>
            <a:off x="777240" y="2250440"/>
            <a:ext cx="850757" cy="467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 y="2250440"/>
            <a:ext cx="667877" cy="467360"/>
          </a:xfrm>
          <a:prstGeom prst="rect">
            <a:avLst/>
          </a:prstGeom>
          <a:noFill/>
        </p:spPr>
        <p:txBody>
          <a:bodyPr wrap="square" anchor="ctr">
            <a:spAutoFit/>
          </a:bodyPr>
          <a:lstStyle/>
          <a:p>
            <a:pPr algn="l">
              <a:spcAft>
                <a:spcPts val="400"/>
              </a:spcAft>
            </a:pPr>
            <a:r>
              <a:rPr sz="1050" b="1">
                <a:solidFill>
                  <a:srgbClr val="161B26"/>
                </a:solidFill>
                <a:latin typeface="Arial"/>
              </a:rPr>
              <a:t>A1</a:t>
            </a:r>
          </a:p>
        </p:txBody>
      </p:sp>
      <p:sp>
        <p:nvSpPr>
          <p:cNvPr id="15" name="Rectangle 14"/>
          <p:cNvSpPr/>
          <p:nvPr/>
        </p:nvSpPr>
        <p:spPr>
          <a:xfrm>
            <a:off x="1627997" y="2250440"/>
            <a:ext cx="6593372" cy="467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737725" y="2250440"/>
            <a:ext cx="6410492" cy="467360"/>
          </a:xfrm>
          <a:prstGeom prst="rect">
            <a:avLst/>
          </a:prstGeom>
          <a:noFill/>
        </p:spPr>
        <p:txBody>
          <a:bodyPr wrap="square" anchor="ctr">
            <a:spAutoFit/>
          </a:bodyPr>
          <a:lstStyle/>
          <a:p>
            <a:pPr algn="l">
              <a:spcAft>
                <a:spcPts val="400"/>
              </a:spcAft>
            </a:pPr>
            <a:r>
              <a:rPr sz="1050" b="0">
                <a:solidFill>
                  <a:srgbClr val="161B26"/>
                </a:solidFill>
                <a:latin typeface="Arial"/>
              </a:rPr>
              <a:t>Identify the needs of vision systems technology in industrial applications</a:t>
            </a:r>
          </a:p>
        </p:txBody>
      </p:sp>
      <p:sp>
        <p:nvSpPr>
          <p:cNvPr id="17" name="Rectangle 16"/>
          <p:cNvSpPr/>
          <p:nvPr/>
        </p:nvSpPr>
        <p:spPr>
          <a:xfrm>
            <a:off x="8221369" y="2250440"/>
            <a:ext cx="3190341" cy="467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31097" y="2250440"/>
            <a:ext cx="3007461" cy="467360"/>
          </a:xfrm>
          <a:prstGeom prst="rect">
            <a:avLst/>
          </a:prstGeom>
          <a:noFill/>
        </p:spPr>
        <p:txBody>
          <a:bodyPr wrap="square" anchor="ctr">
            <a:spAutoFit/>
          </a:bodyPr>
          <a:lstStyle/>
          <a:p>
            <a:pPr algn="l">
              <a:spcAft>
                <a:spcPts val="400"/>
              </a:spcAft>
            </a:pPr>
            <a:r>
              <a:rPr sz="1050" b="0">
                <a:solidFill>
                  <a:srgbClr val="161B26"/>
                </a:solidFill>
                <a:latin typeface="Arial"/>
              </a:rPr>
              <a:t>Lab 01</a:t>
            </a:r>
          </a:p>
        </p:txBody>
      </p:sp>
      <p:sp>
        <p:nvSpPr>
          <p:cNvPr id="19" name="Rectangle 18"/>
          <p:cNvSpPr/>
          <p:nvPr/>
        </p:nvSpPr>
        <p:spPr>
          <a:xfrm>
            <a:off x="777240" y="2717800"/>
            <a:ext cx="850757" cy="467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2717800"/>
            <a:ext cx="667877" cy="467360"/>
          </a:xfrm>
          <a:prstGeom prst="rect">
            <a:avLst/>
          </a:prstGeom>
          <a:noFill/>
        </p:spPr>
        <p:txBody>
          <a:bodyPr wrap="square" anchor="ctr">
            <a:spAutoFit/>
          </a:bodyPr>
          <a:lstStyle/>
          <a:p>
            <a:pPr algn="l">
              <a:spcAft>
                <a:spcPts val="400"/>
              </a:spcAft>
            </a:pPr>
            <a:r>
              <a:rPr sz="1050" b="1">
                <a:solidFill>
                  <a:srgbClr val="161B26"/>
                </a:solidFill>
                <a:latin typeface="Arial"/>
              </a:rPr>
              <a:t>A2</a:t>
            </a:r>
          </a:p>
        </p:txBody>
      </p:sp>
      <p:sp>
        <p:nvSpPr>
          <p:cNvPr id="21" name="Rectangle 20"/>
          <p:cNvSpPr/>
          <p:nvPr/>
        </p:nvSpPr>
        <p:spPr>
          <a:xfrm>
            <a:off x="1627997" y="2717800"/>
            <a:ext cx="6593372" cy="467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737725" y="2717800"/>
            <a:ext cx="6410492" cy="467360"/>
          </a:xfrm>
          <a:prstGeom prst="rect">
            <a:avLst/>
          </a:prstGeom>
          <a:noFill/>
        </p:spPr>
        <p:txBody>
          <a:bodyPr wrap="square" anchor="ctr">
            <a:spAutoFit/>
          </a:bodyPr>
          <a:lstStyle/>
          <a:p>
            <a:pPr algn="l">
              <a:spcAft>
                <a:spcPts val="400"/>
              </a:spcAft>
            </a:pPr>
            <a:r>
              <a:rPr sz="1050" b="0">
                <a:solidFill>
                  <a:srgbClr val="161B26"/>
                </a:solidFill>
                <a:latin typeface="Arial"/>
              </a:rPr>
              <a:t>Apply the principles of processing, filtering and analysis methods for video data</a:t>
            </a:r>
          </a:p>
        </p:txBody>
      </p:sp>
      <p:sp>
        <p:nvSpPr>
          <p:cNvPr id="23" name="Rectangle 22"/>
          <p:cNvSpPr/>
          <p:nvPr/>
        </p:nvSpPr>
        <p:spPr>
          <a:xfrm>
            <a:off x="8221369" y="2717800"/>
            <a:ext cx="3190341" cy="467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31097" y="2717800"/>
            <a:ext cx="3007461" cy="467360"/>
          </a:xfrm>
          <a:prstGeom prst="rect">
            <a:avLst/>
          </a:prstGeom>
          <a:noFill/>
        </p:spPr>
        <p:txBody>
          <a:bodyPr wrap="square" anchor="ctr">
            <a:spAutoFit/>
          </a:bodyPr>
          <a:lstStyle/>
          <a:p>
            <a:pPr algn="l">
              <a:spcAft>
                <a:spcPts val="400"/>
              </a:spcAft>
            </a:pPr>
            <a:r>
              <a:rPr sz="1050" b="0">
                <a:solidFill>
                  <a:srgbClr val="161B26"/>
                </a:solidFill>
                <a:latin typeface="Arial"/>
              </a:rPr>
              <a:t>Lab 02, Lab 03, Lab 04, Lab 05</a:t>
            </a:r>
          </a:p>
        </p:txBody>
      </p:sp>
      <p:sp>
        <p:nvSpPr>
          <p:cNvPr id="25" name="Rectangle 24"/>
          <p:cNvSpPr/>
          <p:nvPr/>
        </p:nvSpPr>
        <p:spPr>
          <a:xfrm>
            <a:off x="777240" y="3185160"/>
            <a:ext cx="850757" cy="467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6968" y="3185160"/>
            <a:ext cx="667877" cy="467360"/>
          </a:xfrm>
          <a:prstGeom prst="rect">
            <a:avLst/>
          </a:prstGeom>
          <a:noFill/>
        </p:spPr>
        <p:txBody>
          <a:bodyPr wrap="square" anchor="ctr">
            <a:spAutoFit/>
          </a:bodyPr>
          <a:lstStyle/>
          <a:p>
            <a:pPr algn="l">
              <a:spcAft>
                <a:spcPts val="400"/>
              </a:spcAft>
            </a:pPr>
            <a:r>
              <a:rPr sz="1050" b="1">
                <a:solidFill>
                  <a:srgbClr val="161B26"/>
                </a:solidFill>
                <a:latin typeface="Arial"/>
              </a:rPr>
              <a:t>A3</a:t>
            </a:r>
          </a:p>
        </p:txBody>
      </p:sp>
      <p:sp>
        <p:nvSpPr>
          <p:cNvPr id="27" name="Rectangle 26"/>
          <p:cNvSpPr/>
          <p:nvPr/>
        </p:nvSpPr>
        <p:spPr>
          <a:xfrm>
            <a:off x="1627997" y="3185160"/>
            <a:ext cx="6593372" cy="467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737725" y="3185160"/>
            <a:ext cx="6410492" cy="467360"/>
          </a:xfrm>
          <a:prstGeom prst="rect">
            <a:avLst/>
          </a:prstGeom>
          <a:noFill/>
        </p:spPr>
        <p:txBody>
          <a:bodyPr wrap="square" anchor="ctr">
            <a:spAutoFit/>
          </a:bodyPr>
          <a:lstStyle/>
          <a:p>
            <a:pPr algn="l">
              <a:spcAft>
                <a:spcPts val="400"/>
              </a:spcAft>
            </a:pPr>
            <a:r>
              <a:rPr sz="1050" b="0">
                <a:solidFill>
                  <a:srgbClr val="161B26"/>
                </a:solidFill>
                <a:latin typeface="Arial"/>
              </a:rPr>
              <a:t>Analyse global feature descriptions</a:t>
            </a:r>
          </a:p>
        </p:txBody>
      </p:sp>
      <p:sp>
        <p:nvSpPr>
          <p:cNvPr id="29" name="Rectangle 28"/>
          <p:cNvSpPr/>
          <p:nvPr/>
        </p:nvSpPr>
        <p:spPr>
          <a:xfrm>
            <a:off x="8221369" y="3185160"/>
            <a:ext cx="3190341" cy="467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31097" y="3185160"/>
            <a:ext cx="3007461" cy="467360"/>
          </a:xfrm>
          <a:prstGeom prst="rect">
            <a:avLst/>
          </a:prstGeom>
          <a:noFill/>
        </p:spPr>
        <p:txBody>
          <a:bodyPr wrap="square" anchor="ctr">
            <a:spAutoFit/>
          </a:bodyPr>
          <a:lstStyle/>
          <a:p>
            <a:pPr algn="l">
              <a:spcAft>
                <a:spcPts val="400"/>
              </a:spcAft>
            </a:pPr>
            <a:r>
              <a:rPr sz="1050" b="0">
                <a:solidFill>
                  <a:srgbClr val="161B26"/>
                </a:solidFill>
                <a:latin typeface="Arial"/>
              </a:rPr>
              <a:t>Lab 07</a:t>
            </a:r>
          </a:p>
        </p:txBody>
      </p:sp>
      <p:sp>
        <p:nvSpPr>
          <p:cNvPr id="31" name="Rectangle 30"/>
          <p:cNvSpPr/>
          <p:nvPr/>
        </p:nvSpPr>
        <p:spPr>
          <a:xfrm>
            <a:off x="777240" y="3652520"/>
            <a:ext cx="850757" cy="467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3652520"/>
            <a:ext cx="667877" cy="467360"/>
          </a:xfrm>
          <a:prstGeom prst="rect">
            <a:avLst/>
          </a:prstGeom>
          <a:noFill/>
        </p:spPr>
        <p:txBody>
          <a:bodyPr wrap="square" anchor="ctr">
            <a:spAutoFit/>
          </a:bodyPr>
          <a:lstStyle/>
          <a:p>
            <a:pPr algn="l">
              <a:spcAft>
                <a:spcPts val="400"/>
              </a:spcAft>
            </a:pPr>
            <a:r>
              <a:rPr sz="1050" b="1">
                <a:solidFill>
                  <a:srgbClr val="161B26"/>
                </a:solidFill>
                <a:latin typeface="Arial"/>
              </a:rPr>
              <a:t>A4</a:t>
            </a:r>
          </a:p>
        </p:txBody>
      </p:sp>
      <p:sp>
        <p:nvSpPr>
          <p:cNvPr id="33" name="Rectangle 32"/>
          <p:cNvSpPr/>
          <p:nvPr/>
        </p:nvSpPr>
        <p:spPr>
          <a:xfrm>
            <a:off x="1627997" y="3652520"/>
            <a:ext cx="6593372" cy="467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737725" y="3652520"/>
            <a:ext cx="6410492" cy="467360"/>
          </a:xfrm>
          <a:prstGeom prst="rect">
            <a:avLst/>
          </a:prstGeom>
          <a:noFill/>
        </p:spPr>
        <p:txBody>
          <a:bodyPr wrap="square" anchor="ctr">
            <a:spAutoFit/>
          </a:bodyPr>
          <a:lstStyle/>
          <a:p>
            <a:pPr algn="l">
              <a:spcAft>
                <a:spcPts val="400"/>
              </a:spcAft>
            </a:pPr>
            <a:r>
              <a:rPr sz="1050" b="0">
                <a:solidFill>
                  <a:srgbClr val="161B26"/>
                </a:solidFill>
                <a:latin typeface="Arial"/>
              </a:rPr>
              <a:t>Design and implement feature extraction and representation methods</a:t>
            </a:r>
          </a:p>
        </p:txBody>
      </p:sp>
      <p:sp>
        <p:nvSpPr>
          <p:cNvPr id="35" name="Rectangle 34"/>
          <p:cNvSpPr/>
          <p:nvPr/>
        </p:nvSpPr>
        <p:spPr>
          <a:xfrm>
            <a:off x="8221369" y="3652520"/>
            <a:ext cx="3190341" cy="467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331097" y="3652520"/>
            <a:ext cx="3007461" cy="467360"/>
          </a:xfrm>
          <a:prstGeom prst="rect">
            <a:avLst/>
          </a:prstGeom>
          <a:noFill/>
        </p:spPr>
        <p:txBody>
          <a:bodyPr wrap="square" anchor="ctr">
            <a:spAutoFit/>
          </a:bodyPr>
          <a:lstStyle/>
          <a:p>
            <a:pPr algn="l">
              <a:spcAft>
                <a:spcPts val="400"/>
              </a:spcAft>
            </a:pPr>
            <a:r>
              <a:rPr sz="1050" b="0">
                <a:solidFill>
                  <a:srgbClr val="161B26"/>
                </a:solidFill>
                <a:latin typeface="Arial"/>
              </a:rPr>
              <a:t>Lab 06</a:t>
            </a:r>
          </a:p>
        </p:txBody>
      </p:sp>
      <p:sp>
        <p:nvSpPr>
          <p:cNvPr id="37" name="Rectangle 36"/>
          <p:cNvSpPr/>
          <p:nvPr/>
        </p:nvSpPr>
        <p:spPr>
          <a:xfrm>
            <a:off x="777240" y="4119880"/>
            <a:ext cx="850757" cy="467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86968" y="4119880"/>
            <a:ext cx="667877" cy="467360"/>
          </a:xfrm>
          <a:prstGeom prst="rect">
            <a:avLst/>
          </a:prstGeom>
          <a:noFill/>
        </p:spPr>
        <p:txBody>
          <a:bodyPr wrap="square" anchor="ctr">
            <a:spAutoFit/>
          </a:bodyPr>
          <a:lstStyle/>
          <a:p>
            <a:pPr algn="l">
              <a:spcAft>
                <a:spcPts val="400"/>
              </a:spcAft>
            </a:pPr>
            <a:r>
              <a:rPr sz="1050" b="1">
                <a:solidFill>
                  <a:srgbClr val="161B26"/>
                </a:solidFill>
                <a:latin typeface="Arial"/>
              </a:rPr>
              <a:t>A5</a:t>
            </a:r>
          </a:p>
        </p:txBody>
      </p:sp>
      <p:sp>
        <p:nvSpPr>
          <p:cNvPr id="39" name="Rectangle 38"/>
          <p:cNvSpPr/>
          <p:nvPr/>
        </p:nvSpPr>
        <p:spPr>
          <a:xfrm>
            <a:off x="1627997" y="4119880"/>
            <a:ext cx="6593372" cy="467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737725" y="4119880"/>
            <a:ext cx="6410492" cy="467360"/>
          </a:xfrm>
          <a:prstGeom prst="rect">
            <a:avLst/>
          </a:prstGeom>
          <a:noFill/>
        </p:spPr>
        <p:txBody>
          <a:bodyPr wrap="square" anchor="ctr">
            <a:spAutoFit/>
          </a:bodyPr>
          <a:lstStyle/>
          <a:p>
            <a:pPr algn="l">
              <a:spcAft>
                <a:spcPts val="400"/>
              </a:spcAft>
            </a:pPr>
            <a:r>
              <a:rPr sz="1050" b="0">
                <a:solidFill>
                  <a:srgbClr val="161B26"/>
                </a:solidFill>
                <a:latin typeface="Arial"/>
              </a:rPr>
              <a:t>Design and apply machine-learning based methods for object detection, object tracking and activity recognition</a:t>
            </a:r>
          </a:p>
        </p:txBody>
      </p:sp>
      <p:sp>
        <p:nvSpPr>
          <p:cNvPr id="41" name="Rectangle 40"/>
          <p:cNvSpPr/>
          <p:nvPr/>
        </p:nvSpPr>
        <p:spPr>
          <a:xfrm>
            <a:off x="8221369" y="4119880"/>
            <a:ext cx="3190341" cy="467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331097" y="4119880"/>
            <a:ext cx="3007461" cy="467360"/>
          </a:xfrm>
          <a:prstGeom prst="rect">
            <a:avLst/>
          </a:prstGeom>
          <a:noFill/>
        </p:spPr>
        <p:txBody>
          <a:bodyPr wrap="square" anchor="ctr">
            <a:spAutoFit/>
          </a:bodyPr>
          <a:lstStyle/>
          <a:p>
            <a:pPr algn="l">
              <a:spcAft>
                <a:spcPts val="400"/>
              </a:spcAft>
            </a:pPr>
            <a:r>
              <a:rPr sz="1050" b="0">
                <a:solidFill>
                  <a:srgbClr val="161B26"/>
                </a:solidFill>
                <a:latin typeface="Arial"/>
              </a:rPr>
              <a:t>Lab 08, Lab 09, Lab 11</a:t>
            </a:r>
          </a:p>
        </p:txBody>
      </p:sp>
      <p:sp>
        <p:nvSpPr>
          <p:cNvPr id="43" name="Rectangle 42"/>
          <p:cNvSpPr/>
          <p:nvPr/>
        </p:nvSpPr>
        <p:spPr>
          <a:xfrm>
            <a:off x="777240" y="4587240"/>
            <a:ext cx="850757" cy="467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86968" y="4587240"/>
            <a:ext cx="667877" cy="467360"/>
          </a:xfrm>
          <a:prstGeom prst="rect">
            <a:avLst/>
          </a:prstGeom>
          <a:noFill/>
        </p:spPr>
        <p:txBody>
          <a:bodyPr wrap="square" anchor="ctr">
            <a:spAutoFit/>
          </a:bodyPr>
          <a:lstStyle/>
          <a:p>
            <a:pPr algn="l">
              <a:spcAft>
                <a:spcPts val="400"/>
              </a:spcAft>
            </a:pPr>
            <a:r>
              <a:rPr sz="1050" b="1">
                <a:solidFill>
                  <a:srgbClr val="161B26"/>
                </a:solidFill>
                <a:latin typeface="Arial"/>
              </a:rPr>
              <a:t>A6</a:t>
            </a:r>
          </a:p>
        </p:txBody>
      </p:sp>
      <p:sp>
        <p:nvSpPr>
          <p:cNvPr id="45" name="Rectangle 44"/>
          <p:cNvSpPr/>
          <p:nvPr/>
        </p:nvSpPr>
        <p:spPr>
          <a:xfrm>
            <a:off x="1627997" y="4587240"/>
            <a:ext cx="6593372" cy="467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737725" y="4587240"/>
            <a:ext cx="6410492" cy="467360"/>
          </a:xfrm>
          <a:prstGeom prst="rect">
            <a:avLst/>
          </a:prstGeom>
          <a:noFill/>
        </p:spPr>
        <p:txBody>
          <a:bodyPr wrap="square" anchor="ctr">
            <a:spAutoFit/>
          </a:bodyPr>
          <a:lstStyle/>
          <a:p>
            <a:pPr algn="l">
              <a:spcAft>
                <a:spcPts val="400"/>
              </a:spcAft>
            </a:pPr>
            <a:r>
              <a:rPr sz="1050" b="0">
                <a:solidFill>
                  <a:srgbClr val="161B26"/>
                </a:solidFill>
                <a:latin typeface="Arial"/>
              </a:rPr>
              <a:t>Design and apply video analytics algorithms for high-level video analytics tasks</a:t>
            </a:r>
          </a:p>
        </p:txBody>
      </p:sp>
      <p:sp>
        <p:nvSpPr>
          <p:cNvPr id="47" name="Rectangle 46"/>
          <p:cNvSpPr/>
          <p:nvPr/>
        </p:nvSpPr>
        <p:spPr>
          <a:xfrm>
            <a:off x="8221369" y="4587240"/>
            <a:ext cx="3190341" cy="467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331097" y="4587240"/>
            <a:ext cx="3007461" cy="467360"/>
          </a:xfrm>
          <a:prstGeom prst="rect">
            <a:avLst/>
          </a:prstGeom>
          <a:noFill/>
        </p:spPr>
        <p:txBody>
          <a:bodyPr wrap="square" anchor="ctr">
            <a:spAutoFit/>
          </a:bodyPr>
          <a:lstStyle/>
          <a:p>
            <a:pPr algn="l">
              <a:spcAft>
                <a:spcPts val="400"/>
              </a:spcAft>
            </a:pPr>
            <a:r>
              <a:rPr sz="1050" b="0">
                <a:solidFill>
                  <a:srgbClr val="161B26"/>
                </a:solidFill>
                <a:latin typeface="Arial"/>
              </a:rPr>
              <a:t>Lab 09, Lab 10, Lab 11</a:t>
            </a:r>
          </a:p>
        </p:txBody>
      </p:sp>
      <p:sp>
        <p:nvSpPr>
          <p:cNvPr id="49" name="Rectangle 48"/>
          <p:cNvSpPr/>
          <p:nvPr/>
        </p:nvSpPr>
        <p:spPr>
          <a:xfrm>
            <a:off x="777240" y="5054600"/>
            <a:ext cx="850757" cy="467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86968" y="5054600"/>
            <a:ext cx="667877" cy="467360"/>
          </a:xfrm>
          <a:prstGeom prst="rect">
            <a:avLst/>
          </a:prstGeom>
          <a:noFill/>
        </p:spPr>
        <p:txBody>
          <a:bodyPr wrap="square" anchor="ctr">
            <a:spAutoFit/>
          </a:bodyPr>
          <a:lstStyle/>
          <a:p>
            <a:pPr algn="l">
              <a:spcAft>
                <a:spcPts val="400"/>
              </a:spcAft>
            </a:pPr>
            <a:r>
              <a:rPr sz="1050" b="1">
                <a:solidFill>
                  <a:srgbClr val="161B26"/>
                </a:solidFill>
                <a:latin typeface="Arial"/>
              </a:rPr>
              <a:t>A7</a:t>
            </a:r>
          </a:p>
        </p:txBody>
      </p:sp>
      <p:sp>
        <p:nvSpPr>
          <p:cNvPr id="51" name="Rectangle 50"/>
          <p:cNvSpPr/>
          <p:nvPr/>
        </p:nvSpPr>
        <p:spPr>
          <a:xfrm>
            <a:off x="1627997" y="5054600"/>
            <a:ext cx="6593372" cy="467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737725" y="5054600"/>
            <a:ext cx="6410492" cy="467360"/>
          </a:xfrm>
          <a:prstGeom prst="rect">
            <a:avLst/>
          </a:prstGeom>
          <a:noFill/>
        </p:spPr>
        <p:txBody>
          <a:bodyPr wrap="square" anchor="ctr">
            <a:spAutoFit/>
          </a:bodyPr>
          <a:lstStyle/>
          <a:p>
            <a:pPr algn="l">
              <a:spcAft>
                <a:spcPts val="400"/>
              </a:spcAft>
            </a:pPr>
            <a:r>
              <a:rPr sz="1050" b="0">
                <a:solidFill>
                  <a:srgbClr val="161B26"/>
                </a:solidFill>
                <a:latin typeface="Arial"/>
              </a:rPr>
              <a:t>Design the architecture of applied vision systems</a:t>
            </a:r>
          </a:p>
        </p:txBody>
      </p:sp>
      <p:sp>
        <p:nvSpPr>
          <p:cNvPr id="53" name="Rectangle 52"/>
          <p:cNvSpPr/>
          <p:nvPr/>
        </p:nvSpPr>
        <p:spPr>
          <a:xfrm>
            <a:off x="8221369" y="5054600"/>
            <a:ext cx="3190341" cy="467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331097" y="5054600"/>
            <a:ext cx="3007461" cy="467360"/>
          </a:xfrm>
          <a:prstGeom prst="rect">
            <a:avLst/>
          </a:prstGeom>
          <a:noFill/>
        </p:spPr>
        <p:txBody>
          <a:bodyPr wrap="square" anchor="ctr">
            <a:spAutoFit/>
          </a:bodyPr>
          <a:lstStyle/>
          <a:p>
            <a:pPr algn="l">
              <a:spcAft>
                <a:spcPts val="400"/>
              </a:spcAft>
            </a:pPr>
            <a:r>
              <a:rPr sz="1050" b="0">
                <a:solidFill>
                  <a:srgbClr val="161B26"/>
                </a:solidFill>
                <a:latin typeface="Arial"/>
              </a:rPr>
              <a:t>Lab 12</a:t>
            </a:r>
          </a:p>
        </p:txBody>
      </p:sp>
      <p:sp>
        <p:nvSpPr>
          <p:cNvPr id="55" name="Rectangle 54"/>
          <p:cNvSpPr/>
          <p:nvPr/>
        </p:nvSpPr>
        <p:spPr>
          <a:xfrm>
            <a:off x="777240" y="5521960"/>
            <a:ext cx="850757" cy="467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86968" y="5521960"/>
            <a:ext cx="667877" cy="467360"/>
          </a:xfrm>
          <a:prstGeom prst="rect">
            <a:avLst/>
          </a:prstGeom>
          <a:noFill/>
        </p:spPr>
        <p:txBody>
          <a:bodyPr wrap="square" anchor="ctr">
            <a:spAutoFit/>
          </a:bodyPr>
          <a:lstStyle/>
          <a:p>
            <a:pPr algn="l">
              <a:spcAft>
                <a:spcPts val="400"/>
              </a:spcAft>
            </a:pPr>
            <a:r>
              <a:rPr sz="1050" b="1">
                <a:solidFill>
                  <a:srgbClr val="161B26"/>
                </a:solidFill>
                <a:latin typeface="Arial"/>
              </a:rPr>
              <a:t>A8</a:t>
            </a:r>
          </a:p>
        </p:txBody>
      </p:sp>
      <p:sp>
        <p:nvSpPr>
          <p:cNvPr id="57" name="Rectangle 56"/>
          <p:cNvSpPr/>
          <p:nvPr/>
        </p:nvSpPr>
        <p:spPr>
          <a:xfrm>
            <a:off x="1627997" y="5521960"/>
            <a:ext cx="6593372" cy="467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737725" y="5521960"/>
            <a:ext cx="6410492" cy="467360"/>
          </a:xfrm>
          <a:prstGeom prst="rect">
            <a:avLst/>
          </a:prstGeom>
          <a:noFill/>
        </p:spPr>
        <p:txBody>
          <a:bodyPr wrap="square" anchor="ctr">
            <a:spAutoFit/>
          </a:bodyPr>
          <a:lstStyle/>
          <a:p>
            <a:pPr algn="l">
              <a:spcAft>
                <a:spcPts val="400"/>
              </a:spcAft>
            </a:pPr>
            <a:r>
              <a:rPr sz="1050" b="0">
                <a:solidFill>
                  <a:srgbClr val="161B26"/>
                </a:solidFill>
                <a:latin typeface="Arial"/>
              </a:rPr>
              <a:t>Design, develop and evaluate edge-based and cloud-based systems</a:t>
            </a:r>
          </a:p>
        </p:txBody>
      </p:sp>
      <p:sp>
        <p:nvSpPr>
          <p:cNvPr id="59" name="Rectangle 58"/>
          <p:cNvSpPr/>
          <p:nvPr/>
        </p:nvSpPr>
        <p:spPr>
          <a:xfrm>
            <a:off x="8221369" y="5521960"/>
            <a:ext cx="3190341" cy="467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331097" y="5521960"/>
            <a:ext cx="3007461" cy="467360"/>
          </a:xfrm>
          <a:prstGeom prst="rect">
            <a:avLst/>
          </a:prstGeom>
          <a:noFill/>
        </p:spPr>
        <p:txBody>
          <a:bodyPr wrap="square" anchor="ctr">
            <a:spAutoFit/>
          </a:bodyPr>
          <a:lstStyle/>
          <a:p>
            <a:pPr algn="l">
              <a:spcAft>
                <a:spcPts val="400"/>
              </a:spcAft>
            </a:pPr>
            <a:r>
              <a:rPr sz="1050" b="0">
                <a:solidFill>
                  <a:srgbClr val="161B26"/>
                </a:solidFill>
                <a:latin typeface="Arial"/>
              </a:rPr>
              <a:t>Lab 12</a:t>
            </a:r>
          </a:p>
        </p:txBody>
      </p:sp>
      <p:sp>
        <p:nvSpPr>
          <p:cNvPr id="61" name="TextBox 60"/>
          <p:cNvSpPr txBox="1"/>
          <p:nvPr/>
        </p:nvSpPr>
        <p:spPr>
          <a:xfrm>
            <a:off x="777240" y="6053328"/>
            <a:ext cx="10698480" cy="457200"/>
          </a:xfrm>
          <a:prstGeom prst="rect">
            <a:avLst/>
          </a:prstGeom>
          <a:noFill/>
        </p:spPr>
        <p:txBody>
          <a:bodyPr wrap="square" anchor="t">
            <a:spAutoFit/>
          </a:bodyPr>
          <a:lstStyle/>
          <a:p>
            <a:pPr algn="ctr">
              <a:spcAft>
                <a:spcPts val="400"/>
              </a:spcAft>
            </a:pPr>
            <a:r>
              <a:rPr sz="1200" b="0">
                <a:solidFill>
                  <a:srgbClr val="5B6372"/>
                </a:solidFill>
                <a:latin typeface="Arial"/>
              </a:rPr>
              <a:t>PP Task 1 covers A1; Task 2 covers A2 and A3; Task 3 covers A4; Task 4 covers A5 and A6; Task 5 covers A7 and A8.</a:t>
            </a:r>
          </a:p>
        </p:txBody>
      </p:sp>
      <p:sp>
        <p:nvSpPr>
          <p:cNvPr id="62" name="TextBox 6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63" name="TextBox 6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4" name="TextBox 6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fast">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BY THE END OF THIS COURSE YOU WILL BE ABLE TO</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Learning Outcomes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5455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5455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1799844"/>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179984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9482328" cy="399288"/>
          </a:xfrm>
          <a:prstGeom prst="rect">
            <a:avLst/>
          </a:prstGeom>
          <a:noFill/>
        </p:spPr>
        <p:txBody>
          <a:bodyPr wrap="square" anchor="ctr">
            <a:spAutoFit/>
          </a:bodyPr>
          <a:lstStyle/>
          <a:p>
            <a:pPr algn="l">
              <a:spcAft>
                <a:spcPts val="200"/>
              </a:spcAft>
            </a:pPr>
            <a:r>
              <a:rPr sz="1400" b="1">
                <a:solidFill>
                  <a:srgbClr val="161B26"/>
                </a:solidFill>
                <a:latin typeface="Arial"/>
              </a:rPr>
              <a:t>LO1</a:t>
            </a:r>
          </a:p>
          <a:p>
            <a:pPr algn="l">
              <a:spcAft>
                <a:spcPts val="200"/>
              </a:spcAft>
            </a:pPr>
            <a:r>
              <a:rPr sz="1100" b="0">
                <a:solidFill>
                  <a:srgbClr val="5B6372"/>
                </a:solidFill>
                <a:latin typeface="Arial"/>
              </a:rPr>
              <a:t>Understand basic vision systems concepts and applications</a:t>
            </a:r>
          </a:p>
        </p:txBody>
      </p:sp>
      <p:sp>
        <p:nvSpPr>
          <p:cNvPr id="12" name="Rectangle 11"/>
          <p:cNvSpPr/>
          <p:nvPr/>
        </p:nvSpPr>
        <p:spPr>
          <a:xfrm>
            <a:off x="777240" y="2548128"/>
            <a:ext cx="10634472" cy="5455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548128"/>
            <a:ext cx="91440" cy="5455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14984" y="256489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14984"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1709928" y="2639568"/>
            <a:ext cx="9482328" cy="399288"/>
          </a:xfrm>
          <a:prstGeom prst="rect">
            <a:avLst/>
          </a:prstGeom>
          <a:noFill/>
        </p:spPr>
        <p:txBody>
          <a:bodyPr wrap="square" anchor="ctr">
            <a:spAutoFit/>
          </a:bodyPr>
          <a:lstStyle/>
          <a:p>
            <a:pPr algn="l">
              <a:spcAft>
                <a:spcPts val="200"/>
              </a:spcAft>
            </a:pPr>
            <a:r>
              <a:rPr sz="1400" b="1">
                <a:solidFill>
                  <a:srgbClr val="161B26"/>
                </a:solidFill>
                <a:latin typeface="Arial"/>
              </a:rPr>
              <a:t>LO2</a:t>
            </a:r>
          </a:p>
          <a:p>
            <a:pPr algn="l">
              <a:spcAft>
                <a:spcPts val="200"/>
              </a:spcAft>
            </a:pPr>
            <a:r>
              <a:rPr sz="1100" b="0">
                <a:solidFill>
                  <a:srgbClr val="5B6372"/>
                </a:solidFill>
                <a:latin typeface="Arial"/>
              </a:rPr>
              <a:t>Apply image processing</a:t>
            </a:r>
          </a:p>
        </p:txBody>
      </p:sp>
      <p:sp>
        <p:nvSpPr>
          <p:cNvPr id="17" name="Rectangle 16"/>
          <p:cNvSpPr/>
          <p:nvPr/>
        </p:nvSpPr>
        <p:spPr>
          <a:xfrm>
            <a:off x="777240" y="3313176"/>
            <a:ext cx="10634472" cy="5455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5455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329940"/>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32994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04616"/>
            <a:ext cx="9482328" cy="399288"/>
          </a:xfrm>
          <a:prstGeom prst="rect">
            <a:avLst/>
          </a:prstGeom>
          <a:noFill/>
        </p:spPr>
        <p:txBody>
          <a:bodyPr wrap="square" anchor="ctr">
            <a:spAutoFit/>
          </a:bodyPr>
          <a:lstStyle/>
          <a:p>
            <a:pPr algn="l">
              <a:spcAft>
                <a:spcPts val="200"/>
              </a:spcAft>
            </a:pPr>
            <a:r>
              <a:rPr sz="1400" b="1">
                <a:solidFill>
                  <a:srgbClr val="161B26"/>
                </a:solidFill>
                <a:latin typeface="Arial"/>
              </a:rPr>
              <a:t>LO3</a:t>
            </a:r>
          </a:p>
          <a:p>
            <a:pPr algn="l">
              <a:spcAft>
                <a:spcPts val="200"/>
              </a:spcAft>
            </a:pPr>
            <a:r>
              <a:rPr sz="1100" b="0">
                <a:solidFill>
                  <a:srgbClr val="5B6372"/>
                </a:solidFill>
                <a:latin typeface="Arial"/>
              </a:rPr>
              <a:t>Implement feature extraction</a:t>
            </a:r>
          </a:p>
        </p:txBody>
      </p:sp>
      <p:sp>
        <p:nvSpPr>
          <p:cNvPr id="22" name="Rectangle 21"/>
          <p:cNvSpPr/>
          <p:nvPr/>
        </p:nvSpPr>
        <p:spPr>
          <a:xfrm>
            <a:off x="777240" y="4078224"/>
            <a:ext cx="10634472" cy="5455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78224"/>
            <a:ext cx="91440" cy="5455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14984" y="4094988"/>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14984" y="409498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1709928" y="4169664"/>
            <a:ext cx="9482328" cy="399288"/>
          </a:xfrm>
          <a:prstGeom prst="rect">
            <a:avLst/>
          </a:prstGeom>
          <a:noFill/>
        </p:spPr>
        <p:txBody>
          <a:bodyPr wrap="square" anchor="ctr">
            <a:spAutoFit/>
          </a:bodyPr>
          <a:lstStyle/>
          <a:p>
            <a:pPr algn="l">
              <a:spcAft>
                <a:spcPts val="200"/>
              </a:spcAft>
            </a:pPr>
            <a:r>
              <a:rPr sz="1400" b="1">
                <a:solidFill>
                  <a:srgbClr val="161B26"/>
                </a:solidFill>
                <a:latin typeface="Arial"/>
              </a:rPr>
              <a:t>LO4</a:t>
            </a:r>
          </a:p>
          <a:p>
            <a:pPr algn="l">
              <a:spcAft>
                <a:spcPts val="200"/>
              </a:spcAft>
            </a:pPr>
            <a:r>
              <a:rPr sz="1100" b="0">
                <a:solidFill>
                  <a:srgbClr val="5B6372"/>
                </a:solidFill>
                <a:latin typeface="Arial"/>
              </a:rPr>
              <a:t>Apply machine learning based computer vision methods</a:t>
            </a:r>
          </a:p>
        </p:txBody>
      </p:sp>
      <p:sp>
        <p:nvSpPr>
          <p:cNvPr id="27" name="Rectangle 26"/>
          <p:cNvSpPr/>
          <p:nvPr/>
        </p:nvSpPr>
        <p:spPr>
          <a:xfrm>
            <a:off x="777240" y="4843272"/>
            <a:ext cx="10634472" cy="5455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5455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4860036"/>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34712"/>
            <a:ext cx="9482328" cy="399288"/>
          </a:xfrm>
          <a:prstGeom prst="rect">
            <a:avLst/>
          </a:prstGeom>
          <a:noFill/>
        </p:spPr>
        <p:txBody>
          <a:bodyPr wrap="square" anchor="ctr">
            <a:spAutoFit/>
          </a:bodyPr>
          <a:lstStyle/>
          <a:p>
            <a:pPr algn="l">
              <a:spcAft>
                <a:spcPts val="200"/>
              </a:spcAft>
            </a:pPr>
            <a:r>
              <a:rPr sz="1400" b="1">
                <a:solidFill>
                  <a:srgbClr val="161B26"/>
                </a:solidFill>
                <a:latin typeface="Arial"/>
              </a:rPr>
              <a:t>LO5</a:t>
            </a:r>
          </a:p>
          <a:p>
            <a:pPr algn="l">
              <a:spcAft>
                <a:spcPts val="200"/>
              </a:spcAft>
            </a:pPr>
            <a:r>
              <a:rPr sz="1100" b="0">
                <a:solidFill>
                  <a:srgbClr val="5B6372"/>
                </a:solidFill>
                <a:latin typeface="Arial"/>
              </a:rPr>
              <a:t>Implement video analytics algorithms</a:t>
            </a:r>
          </a:p>
        </p:txBody>
      </p:sp>
      <p:sp>
        <p:nvSpPr>
          <p:cNvPr id="32" name="Rectangle 31"/>
          <p:cNvSpPr/>
          <p:nvPr/>
        </p:nvSpPr>
        <p:spPr>
          <a:xfrm>
            <a:off x="777240" y="5608320"/>
            <a:ext cx="10634472" cy="5455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608320"/>
            <a:ext cx="91440" cy="5455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14984" y="5625084"/>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14984" y="562508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1709928" y="5699760"/>
            <a:ext cx="9482328" cy="399288"/>
          </a:xfrm>
          <a:prstGeom prst="rect">
            <a:avLst/>
          </a:prstGeom>
          <a:noFill/>
        </p:spPr>
        <p:txBody>
          <a:bodyPr wrap="square" anchor="ctr">
            <a:spAutoFit/>
          </a:bodyPr>
          <a:lstStyle/>
          <a:p>
            <a:pPr algn="l">
              <a:spcAft>
                <a:spcPts val="200"/>
              </a:spcAft>
            </a:pPr>
            <a:r>
              <a:rPr sz="1400" b="1">
                <a:solidFill>
                  <a:srgbClr val="161B26"/>
                </a:solidFill>
                <a:latin typeface="Arial"/>
              </a:rPr>
              <a:t>LO6</a:t>
            </a:r>
          </a:p>
          <a:p>
            <a:pPr algn="l">
              <a:spcAft>
                <a:spcPts val="200"/>
              </a:spcAft>
            </a:pPr>
            <a:r>
              <a:rPr sz="1100" b="0">
                <a:solidFill>
                  <a:srgbClr val="5B6372"/>
                </a:solidFill>
                <a:latin typeface="Arial"/>
              </a:rPr>
              <a:t>Evaluate edge vs cloud-based computer vision systems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fast">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THE JOURNEY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Course Outline — Five Delivery Topics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965960"/>
            <a:ext cx="4754880" cy="365760"/>
          </a:xfrm>
          <a:prstGeom prst="rect">
            <a:avLst/>
          </a:prstGeom>
          <a:noFill/>
        </p:spPr>
        <p:txBody>
          <a:bodyPr wrap="square" anchor="t">
            <a:spAutoFit/>
          </a:bodyPr>
          <a:lstStyle/>
          <a:p>
            <a:pPr algn="l">
              <a:spcAft>
                <a:spcPts val="400"/>
              </a:spcAft>
            </a:pPr>
            <a:r>
              <a:rPr sz="1500" b="1">
                <a:solidFill>
                  <a:srgbClr val="1F6FEB"/>
                </a:solidFill>
                <a:latin typeface="Arial"/>
              </a:rPr>
              <a:t>Day 1</a:t>
            </a:r>
          </a:p>
        </p:txBody>
      </p:sp>
      <p:sp>
        <p:nvSpPr>
          <p:cNvPr id="12" name="TextBox 11"/>
          <p:cNvSpPr txBox="1"/>
          <p:nvPr/>
        </p:nvSpPr>
        <p:spPr>
          <a:xfrm>
            <a:off x="6583680" y="1965960"/>
            <a:ext cx="4572000" cy="365760"/>
          </a:xfrm>
          <a:prstGeom prst="rect">
            <a:avLst/>
          </a:prstGeom>
          <a:noFill/>
        </p:spPr>
        <p:txBody>
          <a:bodyPr wrap="square" anchor="t">
            <a:spAutoFit/>
          </a:bodyPr>
          <a:lstStyle/>
          <a:p>
            <a:pPr algn="l">
              <a:spcAft>
                <a:spcPts val="400"/>
              </a:spcAft>
            </a:pPr>
            <a:r>
              <a:rPr sz="1500" b="1">
                <a:solidFill>
                  <a:srgbClr val="10B981"/>
                </a:solidFill>
                <a:latin typeface="Arial"/>
              </a:rPr>
              <a:t>Day 2</a:t>
            </a:r>
          </a:p>
        </p:txBody>
      </p:sp>
      <p:sp>
        <p:nvSpPr>
          <p:cNvPr id="13" name="TextBox 12"/>
          <p:cNvSpPr txBox="1"/>
          <p:nvPr/>
        </p:nvSpPr>
        <p:spPr>
          <a:xfrm>
            <a:off x="1005840" y="2423160"/>
            <a:ext cx="4754880" cy="3017520"/>
          </a:xfrm>
          <a:prstGeom prst="rect">
            <a:avLst/>
          </a:prstGeom>
          <a:noFill/>
        </p:spPr>
        <p:txBody>
          <a:bodyPr wrap="square">
            <a:spAutoFit/>
          </a:bodyPr>
          <a:lstStyle/>
          <a:p>
            <a:pPr>
              <a:spcAft>
                <a:spcPts val="800"/>
              </a:spcAft>
            </a:pPr>
            <a:r>
              <a:rPr sz="1400" b="1">
                <a:solidFill>
                  <a:srgbClr val="161B26"/>
                </a:solidFill>
                <a:latin typeface="Arial"/>
              </a:rPr>
              <a:t>•  Topic 01 — AI Vision and Generative AI for Short Film Creation</a:t>
            </a:r>
          </a:p>
          <a:p>
            <a:pPr>
              <a:spcAft>
                <a:spcPts val="800"/>
              </a:spcAft>
            </a:pPr>
            <a:r>
              <a:rPr sz="1200" b="0">
                <a:solidFill>
                  <a:srgbClr val="5B6372"/>
                </a:solidFill>
                <a:latin typeface="Arial"/>
              </a:rPr>
              <a:t>–  LU1 · ELO1 · K1, K2, A1</a:t>
            </a:r>
          </a:p>
          <a:p>
            <a:pPr>
              <a:spcAft>
                <a:spcPts val="800"/>
              </a:spcAft>
            </a:pPr>
            <a:r>
              <a:rPr sz="1400" b="1">
                <a:solidFill>
                  <a:srgbClr val="161B26"/>
                </a:solidFill>
                <a:latin typeface="Arial"/>
              </a:rPr>
              <a:t>•  Topic 02 — AI Image Processing, Generation and Visual Enhancement</a:t>
            </a:r>
          </a:p>
          <a:p>
            <a:pPr>
              <a:spcAft>
                <a:spcPts val="800"/>
              </a:spcAft>
            </a:pPr>
            <a:r>
              <a:rPr sz="1200" b="0">
                <a:solidFill>
                  <a:srgbClr val="5B6372"/>
                </a:solidFill>
                <a:latin typeface="Arial"/>
              </a:rPr>
              <a:t>–  LU2 · ELO2 · K3, K4, A2</a:t>
            </a:r>
          </a:p>
          <a:p>
            <a:pPr>
              <a:spcAft>
                <a:spcPts val="800"/>
              </a:spcAft>
            </a:pPr>
            <a:r>
              <a:rPr sz="1400" b="1">
                <a:solidFill>
                  <a:srgbClr val="161B26"/>
                </a:solidFill>
                <a:latin typeface="Arial"/>
              </a:rPr>
              <a:t>•  Topic 03 — AI Visual Features, Character Consistency and Scene Design</a:t>
            </a:r>
          </a:p>
          <a:p>
            <a:pPr>
              <a:spcAft>
                <a:spcPts val="800"/>
              </a:spcAft>
            </a:pPr>
            <a:r>
              <a:rPr sz="1200" b="0">
                <a:solidFill>
                  <a:srgbClr val="5B6372"/>
                </a:solidFill>
                <a:latin typeface="Arial"/>
              </a:rPr>
              <a:t>–  LU3 · ELO3 · K5, K6, K7, A3, A4</a:t>
            </a:r>
          </a:p>
        </p:txBody>
      </p:sp>
      <p:sp>
        <p:nvSpPr>
          <p:cNvPr id="14" name="TextBox 13"/>
          <p:cNvSpPr txBox="1"/>
          <p:nvPr/>
        </p:nvSpPr>
        <p:spPr>
          <a:xfrm>
            <a:off x="6583680" y="2423160"/>
            <a:ext cx="4617720" cy="3017520"/>
          </a:xfrm>
          <a:prstGeom prst="rect">
            <a:avLst/>
          </a:prstGeom>
          <a:noFill/>
        </p:spPr>
        <p:txBody>
          <a:bodyPr wrap="square">
            <a:spAutoFit/>
          </a:bodyPr>
          <a:lstStyle/>
          <a:p>
            <a:pPr>
              <a:spcAft>
                <a:spcPts val="800"/>
              </a:spcAft>
            </a:pPr>
            <a:r>
              <a:rPr sz="1400" b="1">
                <a:solidFill>
                  <a:srgbClr val="161B26"/>
                </a:solidFill>
                <a:latin typeface="Arial"/>
              </a:rPr>
              <a:t>•  Topic 04 — AI Video Generation, Animation and Video Analytics</a:t>
            </a:r>
          </a:p>
          <a:p>
            <a:pPr>
              <a:spcAft>
                <a:spcPts val="800"/>
              </a:spcAft>
            </a:pPr>
            <a:r>
              <a:rPr sz="1200" b="0">
                <a:solidFill>
                  <a:srgbClr val="5B6372"/>
                </a:solidFill>
                <a:latin typeface="Arial"/>
              </a:rPr>
              <a:t>–  LU4 + LU5 · ELO4 + ELO5 · K8, K9, K10, A5, A6</a:t>
            </a:r>
          </a:p>
          <a:p>
            <a:pPr>
              <a:spcAft>
                <a:spcPts val="800"/>
              </a:spcAft>
            </a:pPr>
            <a:r>
              <a:rPr sz="1400" b="1">
                <a:solidFill>
                  <a:srgbClr val="161B26"/>
                </a:solidFill>
                <a:latin typeface="Arial"/>
              </a:rPr>
              <a:t>•  Topic 05 — Cloud and Edge AI Workflows for Short Film Production</a:t>
            </a:r>
          </a:p>
          <a:p>
            <a:pPr>
              <a:spcAft>
                <a:spcPts val="800"/>
              </a:spcAft>
            </a:pPr>
            <a:r>
              <a:rPr sz="1200" b="0">
                <a:solidFill>
                  <a:srgbClr val="5B6372"/>
                </a:solidFill>
                <a:latin typeface="Arial"/>
              </a:rPr>
              <a:t>–  LU6 · ELO6 · K11, K12, K13, A7, A8</a:t>
            </a:r>
          </a:p>
          <a:p>
            <a:pPr>
              <a:spcAft>
                <a:spcPts val="800"/>
              </a:spcAft>
            </a:pPr>
            <a:r>
              <a:rPr sz="1400" b="1">
                <a:solidFill>
                  <a:srgbClr val="161B26"/>
                </a:solidFill>
                <a:latin typeface="Arial"/>
              </a:rPr>
              <a:t>•  12 hands-on labs</a:t>
            </a:r>
          </a:p>
          <a:p>
            <a:pPr>
              <a:spcAft>
                <a:spcPts val="800"/>
              </a:spcAft>
            </a:pPr>
            <a:r>
              <a:rPr sz="1200" b="0">
                <a:solidFill>
                  <a:srgbClr val="5B6372"/>
                </a:solidFill>
                <a:latin typeface="Arial"/>
              </a:rPr>
              <a:t>–  One short film — The Last Ferry — built across all twelve labs</a:t>
            </a:r>
          </a:p>
        </p:txBody>
      </p:sp>
      <p:sp>
        <p:nvSpPr>
          <p:cNvPr id="15" name="TextBox 14"/>
          <p:cNvSpPr txBox="1"/>
          <p:nvPr/>
        </p:nvSpPr>
        <p:spPr>
          <a:xfrm>
            <a:off x="777240" y="5669280"/>
            <a:ext cx="10698480" cy="640080"/>
          </a:xfrm>
          <a:prstGeom prst="rect">
            <a:avLst/>
          </a:prstGeom>
          <a:noFill/>
        </p:spPr>
        <p:txBody>
          <a:bodyPr wrap="square" anchor="ctr">
            <a:spAutoFit/>
          </a:bodyPr>
          <a:lstStyle/>
          <a:p>
            <a:pPr algn="ctr">
              <a:spcAft>
                <a:spcPts val="400"/>
              </a:spcAft>
            </a:pPr>
            <a:r>
              <a:rPr sz="1250" b="0">
                <a:solidFill>
                  <a:srgbClr val="5B6372"/>
                </a:solidFill>
                <a:latin typeface="Arial"/>
              </a:rPr>
              <a:t>Five delivery topics mapped onto the six approved Learning Units. Topic 04 consolidates LU4 and LU5 concept delivery; both units keep their full practical allocation.</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fast">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DAY 1 · FILM CONCEPT, IMAGE GENERATION AND ENHANCEMENT, AND CHARAC</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Lesson Plan — Day 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169791" cy="3505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986911" cy="350520"/>
          </a:xfrm>
          <a:prstGeom prst="rect">
            <a:avLst/>
          </a:prstGeom>
          <a:noFill/>
        </p:spPr>
        <p:txBody>
          <a:bodyPr wrap="square" anchor="ctr">
            <a:spAutoFit/>
          </a:bodyPr>
          <a:lstStyle/>
          <a:p>
            <a:pPr algn="l">
              <a:spcAft>
                <a:spcPts val="400"/>
              </a:spcAft>
            </a:pPr>
            <a:r>
              <a:rPr sz="1000" b="1">
                <a:solidFill>
                  <a:srgbClr val="FFFFFF"/>
                </a:solidFill>
                <a:latin typeface="Arial"/>
              </a:rPr>
              <a:t>Time</a:t>
            </a:r>
          </a:p>
        </p:txBody>
      </p:sp>
      <p:sp>
        <p:nvSpPr>
          <p:cNvPr id="9" name="Rectangle 8"/>
          <p:cNvSpPr/>
          <p:nvPr/>
        </p:nvSpPr>
        <p:spPr>
          <a:xfrm>
            <a:off x="1947031" y="1783080"/>
            <a:ext cx="638068" cy="3505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6759" y="1783080"/>
            <a:ext cx="455188" cy="350520"/>
          </a:xfrm>
          <a:prstGeom prst="rect">
            <a:avLst/>
          </a:prstGeom>
          <a:noFill/>
        </p:spPr>
        <p:txBody>
          <a:bodyPr wrap="square" anchor="ctr">
            <a:spAutoFit/>
          </a:bodyPr>
          <a:lstStyle/>
          <a:p>
            <a:pPr algn="l">
              <a:spcAft>
                <a:spcPts val="400"/>
              </a:spcAft>
            </a:pPr>
            <a:r>
              <a:rPr sz="1000" b="1">
                <a:solidFill>
                  <a:srgbClr val="FFFFFF"/>
                </a:solidFill>
                <a:latin typeface="Arial"/>
              </a:rPr>
              <a:t>Min</a:t>
            </a:r>
          </a:p>
        </p:txBody>
      </p:sp>
      <p:sp>
        <p:nvSpPr>
          <p:cNvPr id="11" name="Rectangle 10"/>
          <p:cNvSpPr/>
          <p:nvPr/>
        </p:nvSpPr>
        <p:spPr>
          <a:xfrm>
            <a:off x="2585099" y="1783080"/>
            <a:ext cx="1063447" cy="3505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694827" y="1783080"/>
            <a:ext cx="880567" cy="350520"/>
          </a:xfrm>
          <a:prstGeom prst="rect">
            <a:avLst/>
          </a:prstGeom>
          <a:noFill/>
        </p:spPr>
        <p:txBody>
          <a:bodyPr wrap="square" anchor="ctr">
            <a:spAutoFit/>
          </a:bodyPr>
          <a:lstStyle/>
          <a:p>
            <a:pPr algn="l">
              <a:spcAft>
                <a:spcPts val="400"/>
              </a:spcAft>
            </a:pPr>
            <a:r>
              <a:rPr sz="1000" b="1">
                <a:solidFill>
                  <a:srgbClr val="FFFFFF"/>
                </a:solidFill>
                <a:latin typeface="Arial"/>
              </a:rPr>
              <a:t>Component</a:t>
            </a:r>
          </a:p>
        </p:txBody>
      </p:sp>
      <p:sp>
        <p:nvSpPr>
          <p:cNvPr id="13" name="Rectangle 12"/>
          <p:cNvSpPr/>
          <p:nvPr/>
        </p:nvSpPr>
        <p:spPr>
          <a:xfrm>
            <a:off x="3648546" y="1783080"/>
            <a:ext cx="7763164" cy="3505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58274" y="1783080"/>
            <a:ext cx="7580284" cy="350520"/>
          </a:xfrm>
          <a:prstGeom prst="rect">
            <a:avLst/>
          </a:prstGeom>
          <a:noFill/>
        </p:spPr>
        <p:txBody>
          <a:bodyPr wrap="square" anchor="ctr">
            <a:spAutoFit/>
          </a:bodyPr>
          <a:lstStyle/>
          <a:p>
            <a:pPr algn="l">
              <a:spcAft>
                <a:spcPts val="400"/>
              </a:spcAft>
            </a:pPr>
            <a:r>
              <a:rPr sz="1000" b="1">
                <a:solidFill>
                  <a:srgbClr val="FFFFFF"/>
                </a:solidFill>
                <a:latin typeface="Arial"/>
              </a:rPr>
              <a:t>Session</a:t>
            </a:r>
          </a:p>
        </p:txBody>
      </p:sp>
      <p:sp>
        <p:nvSpPr>
          <p:cNvPr id="15" name="Rectangle 14"/>
          <p:cNvSpPr/>
          <p:nvPr/>
        </p:nvSpPr>
        <p:spPr>
          <a:xfrm>
            <a:off x="777240" y="2133600"/>
            <a:ext cx="1169791" cy="35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6968" y="2133600"/>
            <a:ext cx="986911" cy="350520"/>
          </a:xfrm>
          <a:prstGeom prst="rect">
            <a:avLst/>
          </a:prstGeom>
          <a:noFill/>
        </p:spPr>
        <p:txBody>
          <a:bodyPr wrap="square" anchor="ctr">
            <a:spAutoFit/>
          </a:bodyPr>
          <a:lstStyle/>
          <a:p>
            <a:pPr algn="l">
              <a:spcAft>
                <a:spcPts val="400"/>
              </a:spcAft>
            </a:pPr>
            <a:r>
              <a:rPr sz="900" b="1">
                <a:solidFill>
                  <a:srgbClr val="161B26"/>
                </a:solidFill>
                <a:latin typeface="Arial"/>
              </a:rPr>
              <a:t>08:45–09:00</a:t>
            </a:r>
          </a:p>
        </p:txBody>
      </p:sp>
      <p:sp>
        <p:nvSpPr>
          <p:cNvPr id="17" name="Rectangle 16"/>
          <p:cNvSpPr/>
          <p:nvPr/>
        </p:nvSpPr>
        <p:spPr>
          <a:xfrm>
            <a:off x="1947031" y="2133600"/>
            <a:ext cx="638068" cy="35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056759" y="2133600"/>
            <a:ext cx="455188" cy="350520"/>
          </a:xfrm>
          <a:prstGeom prst="rect">
            <a:avLst/>
          </a:prstGeom>
          <a:noFill/>
        </p:spPr>
        <p:txBody>
          <a:bodyPr wrap="square" anchor="ctr">
            <a:spAutoFit/>
          </a:bodyPr>
          <a:lstStyle/>
          <a:p>
            <a:pPr algn="l">
              <a:spcAft>
                <a:spcPts val="400"/>
              </a:spcAft>
            </a:pPr>
            <a:r>
              <a:rPr sz="900" b="0">
                <a:solidFill>
                  <a:srgbClr val="161B26"/>
                </a:solidFill>
                <a:latin typeface="Arial"/>
              </a:rPr>
              <a:t>15</a:t>
            </a:r>
          </a:p>
        </p:txBody>
      </p:sp>
      <p:sp>
        <p:nvSpPr>
          <p:cNvPr id="19" name="Rectangle 18"/>
          <p:cNvSpPr/>
          <p:nvPr/>
        </p:nvSpPr>
        <p:spPr>
          <a:xfrm>
            <a:off x="2585099" y="2133600"/>
            <a:ext cx="1063447" cy="35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694827" y="2133600"/>
            <a:ext cx="880567" cy="350520"/>
          </a:xfrm>
          <a:prstGeom prst="rect">
            <a:avLst/>
          </a:prstGeom>
          <a:noFill/>
        </p:spPr>
        <p:txBody>
          <a:bodyPr wrap="square" anchor="ctr">
            <a:spAutoFit/>
          </a:bodyPr>
          <a:lstStyle/>
          <a:p>
            <a:pPr algn="l">
              <a:spcAft>
                <a:spcPts val="400"/>
              </a:spcAft>
            </a:pPr>
            <a:r>
              <a:rPr sz="900" b="0">
                <a:solidFill>
                  <a:srgbClr val="161B26"/>
                </a:solidFill>
                <a:latin typeface="Arial"/>
              </a:rPr>
              <a:t>ADMIN</a:t>
            </a:r>
          </a:p>
        </p:txBody>
      </p:sp>
      <p:sp>
        <p:nvSpPr>
          <p:cNvPr id="21" name="Rectangle 20"/>
          <p:cNvSpPr/>
          <p:nvPr/>
        </p:nvSpPr>
        <p:spPr>
          <a:xfrm>
            <a:off x="3648546" y="2133600"/>
            <a:ext cx="7763164" cy="35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58274" y="2133600"/>
            <a:ext cx="7580284" cy="350520"/>
          </a:xfrm>
          <a:prstGeom prst="rect">
            <a:avLst/>
          </a:prstGeom>
          <a:noFill/>
        </p:spPr>
        <p:txBody>
          <a:bodyPr wrap="square" anchor="ctr">
            <a:spAutoFit/>
          </a:bodyPr>
          <a:lstStyle/>
          <a:p>
            <a:pPr algn="l">
              <a:spcAft>
                <a:spcPts val="400"/>
              </a:spcAft>
            </a:pPr>
            <a:r>
              <a:rPr sz="900" b="0">
                <a:solidFill>
                  <a:srgbClr val="161B26"/>
                </a:solidFill>
                <a:latin typeface="Arial"/>
              </a:rPr>
              <a:t>Course welcome, attendance, introductions and LMS access; outside programme minutes</a:t>
            </a:r>
          </a:p>
        </p:txBody>
      </p:sp>
      <p:sp>
        <p:nvSpPr>
          <p:cNvPr id="23" name="Rectangle 22"/>
          <p:cNvSpPr/>
          <p:nvPr/>
        </p:nvSpPr>
        <p:spPr>
          <a:xfrm>
            <a:off x="777240" y="2484120"/>
            <a:ext cx="1169791" cy="35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6968" y="2484120"/>
            <a:ext cx="986911" cy="350520"/>
          </a:xfrm>
          <a:prstGeom prst="rect">
            <a:avLst/>
          </a:prstGeom>
          <a:noFill/>
        </p:spPr>
        <p:txBody>
          <a:bodyPr wrap="square" anchor="ctr">
            <a:spAutoFit/>
          </a:bodyPr>
          <a:lstStyle/>
          <a:p>
            <a:pPr algn="l">
              <a:spcAft>
                <a:spcPts val="400"/>
              </a:spcAft>
            </a:pPr>
            <a:r>
              <a:rPr sz="900" b="1">
                <a:solidFill>
                  <a:srgbClr val="161B26"/>
                </a:solidFill>
                <a:latin typeface="Arial"/>
              </a:rPr>
              <a:t>09:00–10:15</a:t>
            </a:r>
          </a:p>
        </p:txBody>
      </p:sp>
      <p:sp>
        <p:nvSpPr>
          <p:cNvPr id="25" name="Rectangle 24"/>
          <p:cNvSpPr/>
          <p:nvPr/>
        </p:nvSpPr>
        <p:spPr>
          <a:xfrm>
            <a:off x="1947031" y="2484120"/>
            <a:ext cx="638068" cy="35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056759" y="2484120"/>
            <a:ext cx="455188" cy="350520"/>
          </a:xfrm>
          <a:prstGeom prst="rect">
            <a:avLst/>
          </a:prstGeom>
          <a:noFill/>
        </p:spPr>
        <p:txBody>
          <a:bodyPr wrap="square" anchor="ctr">
            <a:spAutoFit/>
          </a:bodyPr>
          <a:lstStyle/>
          <a:p>
            <a:pPr algn="l">
              <a:spcAft>
                <a:spcPts val="400"/>
              </a:spcAft>
            </a:pPr>
            <a:r>
              <a:rPr sz="900" b="0">
                <a:solidFill>
                  <a:srgbClr val="161B26"/>
                </a:solidFill>
                <a:latin typeface="Arial"/>
              </a:rPr>
              <a:t>75</a:t>
            </a:r>
          </a:p>
        </p:txBody>
      </p:sp>
      <p:sp>
        <p:nvSpPr>
          <p:cNvPr id="27" name="Rectangle 26"/>
          <p:cNvSpPr/>
          <p:nvPr/>
        </p:nvSpPr>
        <p:spPr>
          <a:xfrm>
            <a:off x="2585099" y="2484120"/>
            <a:ext cx="1063447" cy="35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694827" y="2484120"/>
            <a:ext cx="880567" cy="350520"/>
          </a:xfrm>
          <a:prstGeom prst="rect">
            <a:avLst/>
          </a:prstGeom>
          <a:noFill/>
        </p:spPr>
        <p:txBody>
          <a:bodyPr wrap="square" anchor="ctr">
            <a:spAutoFit/>
          </a:bodyPr>
          <a:lstStyle/>
          <a:p>
            <a:pPr algn="l">
              <a:spcAft>
                <a:spcPts val="400"/>
              </a:spcAft>
            </a:pPr>
            <a:r>
              <a:rPr sz="900" b="0">
                <a:solidFill>
                  <a:srgbClr val="161B26"/>
                </a:solidFill>
                <a:latin typeface="Arial"/>
              </a:rPr>
              <a:t>CR</a:t>
            </a:r>
          </a:p>
        </p:txBody>
      </p:sp>
      <p:sp>
        <p:nvSpPr>
          <p:cNvPr id="29" name="Rectangle 28"/>
          <p:cNvSpPr/>
          <p:nvPr/>
        </p:nvSpPr>
        <p:spPr>
          <a:xfrm>
            <a:off x="3648546" y="2484120"/>
            <a:ext cx="7763164" cy="35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58274" y="2484120"/>
            <a:ext cx="7580284" cy="350520"/>
          </a:xfrm>
          <a:prstGeom prst="rect">
            <a:avLst/>
          </a:prstGeom>
          <a:noFill/>
        </p:spPr>
        <p:txBody>
          <a:bodyPr wrap="square" anchor="ctr">
            <a:spAutoFit/>
          </a:bodyPr>
          <a:lstStyle/>
          <a:p>
            <a:pPr algn="l">
              <a:spcAft>
                <a:spcPts val="400"/>
              </a:spcAft>
            </a:pPr>
            <a:r>
              <a:rPr sz="900" b="0">
                <a:solidFill>
                  <a:srgbClr val="161B26"/>
                </a:solidFill>
                <a:latin typeface="Arial"/>
              </a:rPr>
              <a:t>Topic1 / LU1: the AI film pipeline, how generators work, business uses; facilitated Lab01 film n</a:t>
            </a:r>
          </a:p>
        </p:txBody>
      </p:sp>
      <p:sp>
        <p:nvSpPr>
          <p:cNvPr id="31" name="Rectangle 30"/>
          <p:cNvSpPr/>
          <p:nvPr/>
        </p:nvSpPr>
        <p:spPr>
          <a:xfrm>
            <a:off x="777240" y="2834640"/>
            <a:ext cx="1169791" cy="35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2834640"/>
            <a:ext cx="986911" cy="350520"/>
          </a:xfrm>
          <a:prstGeom prst="rect">
            <a:avLst/>
          </a:prstGeom>
          <a:noFill/>
        </p:spPr>
        <p:txBody>
          <a:bodyPr wrap="square" anchor="ctr">
            <a:spAutoFit/>
          </a:bodyPr>
          <a:lstStyle/>
          <a:p>
            <a:pPr algn="l">
              <a:spcAft>
                <a:spcPts val="400"/>
              </a:spcAft>
            </a:pPr>
            <a:r>
              <a:rPr sz="900" b="1">
                <a:solidFill>
                  <a:srgbClr val="161B26"/>
                </a:solidFill>
                <a:latin typeface="Arial"/>
              </a:rPr>
              <a:t>10:15–10:30</a:t>
            </a:r>
          </a:p>
        </p:txBody>
      </p:sp>
      <p:sp>
        <p:nvSpPr>
          <p:cNvPr id="33" name="Rectangle 32"/>
          <p:cNvSpPr/>
          <p:nvPr/>
        </p:nvSpPr>
        <p:spPr>
          <a:xfrm>
            <a:off x="1947031" y="2834640"/>
            <a:ext cx="638068" cy="35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056759" y="2834640"/>
            <a:ext cx="455188" cy="350520"/>
          </a:xfrm>
          <a:prstGeom prst="rect">
            <a:avLst/>
          </a:prstGeom>
          <a:noFill/>
        </p:spPr>
        <p:txBody>
          <a:bodyPr wrap="square" anchor="ctr">
            <a:spAutoFit/>
          </a:bodyPr>
          <a:lstStyle/>
          <a:p>
            <a:pPr algn="l">
              <a:spcAft>
                <a:spcPts val="400"/>
              </a:spcAft>
            </a:pPr>
            <a:r>
              <a:rPr sz="900" b="0">
                <a:solidFill>
                  <a:srgbClr val="161B26"/>
                </a:solidFill>
                <a:latin typeface="Arial"/>
              </a:rPr>
              <a:t>15</a:t>
            </a:r>
          </a:p>
        </p:txBody>
      </p:sp>
      <p:sp>
        <p:nvSpPr>
          <p:cNvPr id="35" name="Rectangle 34"/>
          <p:cNvSpPr/>
          <p:nvPr/>
        </p:nvSpPr>
        <p:spPr>
          <a:xfrm>
            <a:off x="2585099" y="2834640"/>
            <a:ext cx="1063447" cy="35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694827" y="2834640"/>
            <a:ext cx="880567" cy="350520"/>
          </a:xfrm>
          <a:prstGeom prst="rect">
            <a:avLst/>
          </a:prstGeom>
          <a:noFill/>
        </p:spPr>
        <p:txBody>
          <a:bodyPr wrap="square" anchor="ctr">
            <a:spAutoFit/>
          </a:bodyPr>
          <a:lstStyle/>
          <a:p>
            <a:pPr algn="l">
              <a:spcAft>
                <a:spcPts val="400"/>
              </a:spcAft>
            </a:pPr>
            <a:r>
              <a:rPr sz="900" b="0">
                <a:solidFill>
                  <a:srgbClr val="161B26"/>
                </a:solidFill>
                <a:latin typeface="Arial"/>
              </a:rPr>
              <a:t>BREAK</a:t>
            </a:r>
          </a:p>
        </p:txBody>
      </p:sp>
      <p:sp>
        <p:nvSpPr>
          <p:cNvPr id="37" name="Rectangle 36"/>
          <p:cNvSpPr/>
          <p:nvPr/>
        </p:nvSpPr>
        <p:spPr>
          <a:xfrm>
            <a:off x="3648546" y="2834640"/>
            <a:ext cx="7763164" cy="35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758274" y="2834640"/>
            <a:ext cx="7580284" cy="350520"/>
          </a:xfrm>
          <a:prstGeom prst="rect">
            <a:avLst/>
          </a:prstGeom>
          <a:noFill/>
        </p:spPr>
        <p:txBody>
          <a:bodyPr wrap="square" anchor="ctr">
            <a:spAutoFit/>
          </a:bodyPr>
          <a:lstStyle/>
          <a:p>
            <a:pPr algn="l">
              <a:spcAft>
                <a:spcPts val="400"/>
              </a:spcAft>
            </a:pPr>
            <a:r>
              <a:rPr sz="900" b="0">
                <a:solidFill>
                  <a:srgbClr val="161B26"/>
                </a:solidFill>
                <a:latin typeface="Arial"/>
              </a:rPr>
              <a:t>Tea break; excluded</a:t>
            </a:r>
          </a:p>
        </p:txBody>
      </p:sp>
      <p:sp>
        <p:nvSpPr>
          <p:cNvPr id="39" name="Rectangle 38"/>
          <p:cNvSpPr/>
          <p:nvPr/>
        </p:nvSpPr>
        <p:spPr>
          <a:xfrm>
            <a:off x="777240" y="3185160"/>
            <a:ext cx="1169791" cy="35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86968" y="3185160"/>
            <a:ext cx="986911" cy="350520"/>
          </a:xfrm>
          <a:prstGeom prst="rect">
            <a:avLst/>
          </a:prstGeom>
          <a:noFill/>
        </p:spPr>
        <p:txBody>
          <a:bodyPr wrap="square" anchor="ctr">
            <a:spAutoFit/>
          </a:bodyPr>
          <a:lstStyle/>
          <a:p>
            <a:pPr algn="l">
              <a:spcAft>
                <a:spcPts val="400"/>
              </a:spcAft>
            </a:pPr>
            <a:r>
              <a:rPr sz="900" b="1">
                <a:solidFill>
                  <a:srgbClr val="161B26"/>
                </a:solidFill>
                <a:latin typeface="Arial"/>
              </a:rPr>
              <a:t>10:30–11:45</a:t>
            </a:r>
          </a:p>
        </p:txBody>
      </p:sp>
      <p:sp>
        <p:nvSpPr>
          <p:cNvPr id="41" name="Rectangle 40"/>
          <p:cNvSpPr/>
          <p:nvPr/>
        </p:nvSpPr>
        <p:spPr>
          <a:xfrm>
            <a:off x="1947031" y="3185160"/>
            <a:ext cx="638068" cy="35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056759" y="3185160"/>
            <a:ext cx="455188" cy="350520"/>
          </a:xfrm>
          <a:prstGeom prst="rect">
            <a:avLst/>
          </a:prstGeom>
          <a:noFill/>
        </p:spPr>
        <p:txBody>
          <a:bodyPr wrap="square" anchor="ctr">
            <a:spAutoFit/>
          </a:bodyPr>
          <a:lstStyle/>
          <a:p>
            <a:pPr algn="l">
              <a:spcAft>
                <a:spcPts val="400"/>
              </a:spcAft>
            </a:pPr>
            <a:r>
              <a:rPr sz="900" b="0">
                <a:solidFill>
                  <a:srgbClr val="161B26"/>
                </a:solidFill>
                <a:latin typeface="Arial"/>
              </a:rPr>
              <a:t>75</a:t>
            </a:r>
          </a:p>
        </p:txBody>
      </p:sp>
      <p:sp>
        <p:nvSpPr>
          <p:cNvPr id="43" name="Rectangle 42"/>
          <p:cNvSpPr/>
          <p:nvPr/>
        </p:nvSpPr>
        <p:spPr>
          <a:xfrm>
            <a:off x="2585099" y="3185160"/>
            <a:ext cx="1063447" cy="35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694827" y="3185160"/>
            <a:ext cx="880567" cy="350520"/>
          </a:xfrm>
          <a:prstGeom prst="rect">
            <a:avLst/>
          </a:prstGeom>
          <a:noFill/>
        </p:spPr>
        <p:txBody>
          <a:bodyPr wrap="square" anchor="ctr">
            <a:spAutoFit/>
          </a:bodyPr>
          <a:lstStyle/>
          <a:p>
            <a:pPr algn="l">
              <a:spcAft>
                <a:spcPts val="400"/>
              </a:spcAft>
            </a:pPr>
            <a:r>
              <a:rPr sz="900" b="0">
                <a:solidFill>
                  <a:srgbClr val="161B26"/>
                </a:solidFill>
                <a:latin typeface="Arial"/>
              </a:rPr>
              <a:t>CR</a:t>
            </a:r>
          </a:p>
        </p:txBody>
      </p:sp>
      <p:sp>
        <p:nvSpPr>
          <p:cNvPr id="45" name="Rectangle 44"/>
          <p:cNvSpPr/>
          <p:nvPr/>
        </p:nvSpPr>
        <p:spPr>
          <a:xfrm>
            <a:off x="3648546" y="3185160"/>
            <a:ext cx="7763164" cy="35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758274" y="3185160"/>
            <a:ext cx="7580284" cy="350520"/>
          </a:xfrm>
          <a:prstGeom prst="rect">
            <a:avLst/>
          </a:prstGeom>
          <a:noFill/>
        </p:spPr>
        <p:txBody>
          <a:bodyPr wrap="square" anchor="ctr">
            <a:spAutoFit/>
          </a:bodyPr>
          <a:lstStyle/>
          <a:p>
            <a:pPr algn="l">
              <a:spcAft>
                <a:spcPts val="400"/>
              </a:spcAft>
            </a:pPr>
            <a:r>
              <a:rPr sz="900" b="0">
                <a:solidFill>
                  <a:srgbClr val="161B26"/>
                </a:solidFill>
                <a:latin typeface="Arial"/>
              </a:rPr>
              <a:t>Topic2 / LU2: frames and formats, structured prompting, state variants, reframing, grading and e</a:t>
            </a:r>
          </a:p>
        </p:txBody>
      </p:sp>
      <p:sp>
        <p:nvSpPr>
          <p:cNvPr id="47" name="Rectangle 46"/>
          <p:cNvSpPr/>
          <p:nvPr/>
        </p:nvSpPr>
        <p:spPr>
          <a:xfrm>
            <a:off x="777240" y="3535680"/>
            <a:ext cx="1169791" cy="35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86968" y="3535680"/>
            <a:ext cx="986911" cy="350520"/>
          </a:xfrm>
          <a:prstGeom prst="rect">
            <a:avLst/>
          </a:prstGeom>
          <a:noFill/>
        </p:spPr>
        <p:txBody>
          <a:bodyPr wrap="square" anchor="ctr">
            <a:spAutoFit/>
          </a:bodyPr>
          <a:lstStyle/>
          <a:p>
            <a:pPr algn="l">
              <a:spcAft>
                <a:spcPts val="400"/>
              </a:spcAft>
            </a:pPr>
            <a:r>
              <a:rPr sz="900" b="1">
                <a:solidFill>
                  <a:srgbClr val="161B26"/>
                </a:solidFill>
                <a:latin typeface="Arial"/>
              </a:rPr>
              <a:t>11:45–12:45</a:t>
            </a:r>
          </a:p>
        </p:txBody>
      </p:sp>
      <p:sp>
        <p:nvSpPr>
          <p:cNvPr id="49" name="Rectangle 48"/>
          <p:cNvSpPr/>
          <p:nvPr/>
        </p:nvSpPr>
        <p:spPr>
          <a:xfrm>
            <a:off x="1947031" y="3535680"/>
            <a:ext cx="638068" cy="35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056759" y="3535680"/>
            <a:ext cx="455188" cy="350520"/>
          </a:xfrm>
          <a:prstGeom prst="rect">
            <a:avLst/>
          </a:prstGeom>
          <a:noFill/>
        </p:spPr>
        <p:txBody>
          <a:bodyPr wrap="square" anchor="ctr">
            <a:spAutoFit/>
          </a:bodyPr>
          <a:lstStyle/>
          <a:p>
            <a:pPr algn="l">
              <a:spcAft>
                <a:spcPts val="400"/>
              </a:spcAft>
            </a:pPr>
            <a:r>
              <a:rPr sz="900" b="0">
                <a:solidFill>
                  <a:srgbClr val="161B26"/>
                </a:solidFill>
                <a:latin typeface="Arial"/>
              </a:rPr>
              <a:t>60</a:t>
            </a:r>
          </a:p>
        </p:txBody>
      </p:sp>
      <p:sp>
        <p:nvSpPr>
          <p:cNvPr id="51" name="Rectangle 50"/>
          <p:cNvSpPr/>
          <p:nvPr/>
        </p:nvSpPr>
        <p:spPr>
          <a:xfrm>
            <a:off x="2585099" y="3535680"/>
            <a:ext cx="1063447" cy="35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694827" y="3535680"/>
            <a:ext cx="880567" cy="350520"/>
          </a:xfrm>
          <a:prstGeom prst="rect">
            <a:avLst/>
          </a:prstGeom>
          <a:noFill/>
        </p:spPr>
        <p:txBody>
          <a:bodyPr wrap="square" anchor="ctr">
            <a:spAutoFit/>
          </a:bodyPr>
          <a:lstStyle/>
          <a:p>
            <a:pPr algn="l">
              <a:spcAft>
                <a:spcPts val="400"/>
              </a:spcAft>
            </a:pPr>
            <a:r>
              <a:rPr sz="900" b="0">
                <a:solidFill>
                  <a:srgbClr val="161B26"/>
                </a:solidFill>
                <a:latin typeface="Arial"/>
              </a:rPr>
              <a:t>PP</a:t>
            </a:r>
          </a:p>
        </p:txBody>
      </p:sp>
      <p:sp>
        <p:nvSpPr>
          <p:cNvPr id="53" name="Rectangle 52"/>
          <p:cNvSpPr/>
          <p:nvPr/>
        </p:nvSpPr>
        <p:spPr>
          <a:xfrm>
            <a:off x="3648546" y="3535680"/>
            <a:ext cx="7763164" cy="35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758274" y="3535680"/>
            <a:ext cx="7580284" cy="350520"/>
          </a:xfrm>
          <a:prstGeom prst="rect">
            <a:avLst/>
          </a:prstGeom>
          <a:noFill/>
        </p:spPr>
        <p:txBody>
          <a:bodyPr wrap="square" anchor="ctr">
            <a:spAutoFit/>
          </a:bodyPr>
          <a:lstStyle/>
          <a:p>
            <a:pPr algn="l">
              <a:spcAft>
                <a:spcPts val="400"/>
              </a:spcAft>
            </a:pPr>
            <a:r>
              <a:rPr sz="900" b="0">
                <a:solidFill>
                  <a:srgbClr val="161B26"/>
                </a:solidFill>
                <a:latin typeface="Arial"/>
              </a:rPr>
              <a:t>LU2 practical: Labs02,03,04,05 core exercises, 15 minutes each; extensions completed after class</a:t>
            </a:r>
          </a:p>
        </p:txBody>
      </p:sp>
      <p:sp>
        <p:nvSpPr>
          <p:cNvPr id="55" name="Rectangle 54"/>
          <p:cNvSpPr/>
          <p:nvPr/>
        </p:nvSpPr>
        <p:spPr>
          <a:xfrm>
            <a:off x="777240" y="3886200"/>
            <a:ext cx="1169791" cy="35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86968" y="3886200"/>
            <a:ext cx="986911" cy="350520"/>
          </a:xfrm>
          <a:prstGeom prst="rect">
            <a:avLst/>
          </a:prstGeom>
          <a:noFill/>
        </p:spPr>
        <p:txBody>
          <a:bodyPr wrap="square" anchor="ctr">
            <a:spAutoFit/>
          </a:bodyPr>
          <a:lstStyle/>
          <a:p>
            <a:pPr algn="l">
              <a:spcAft>
                <a:spcPts val="400"/>
              </a:spcAft>
            </a:pPr>
            <a:r>
              <a:rPr sz="900" b="1">
                <a:solidFill>
                  <a:srgbClr val="161B26"/>
                </a:solidFill>
                <a:latin typeface="Arial"/>
              </a:rPr>
              <a:t>12:45–13:45</a:t>
            </a:r>
          </a:p>
        </p:txBody>
      </p:sp>
      <p:sp>
        <p:nvSpPr>
          <p:cNvPr id="57" name="Rectangle 56"/>
          <p:cNvSpPr/>
          <p:nvPr/>
        </p:nvSpPr>
        <p:spPr>
          <a:xfrm>
            <a:off x="1947031" y="3886200"/>
            <a:ext cx="638068" cy="35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056759" y="3886200"/>
            <a:ext cx="455188" cy="350520"/>
          </a:xfrm>
          <a:prstGeom prst="rect">
            <a:avLst/>
          </a:prstGeom>
          <a:noFill/>
        </p:spPr>
        <p:txBody>
          <a:bodyPr wrap="square" anchor="ctr">
            <a:spAutoFit/>
          </a:bodyPr>
          <a:lstStyle/>
          <a:p>
            <a:pPr algn="l">
              <a:spcAft>
                <a:spcPts val="400"/>
              </a:spcAft>
            </a:pPr>
            <a:r>
              <a:rPr sz="900" b="0">
                <a:solidFill>
                  <a:srgbClr val="161B26"/>
                </a:solidFill>
                <a:latin typeface="Arial"/>
              </a:rPr>
              <a:t>60</a:t>
            </a:r>
          </a:p>
        </p:txBody>
      </p:sp>
      <p:sp>
        <p:nvSpPr>
          <p:cNvPr id="59" name="Rectangle 58"/>
          <p:cNvSpPr/>
          <p:nvPr/>
        </p:nvSpPr>
        <p:spPr>
          <a:xfrm>
            <a:off x="2585099" y="3886200"/>
            <a:ext cx="1063447" cy="35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2694827" y="3886200"/>
            <a:ext cx="880567" cy="350520"/>
          </a:xfrm>
          <a:prstGeom prst="rect">
            <a:avLst/>
          </a:prstGeom>
          <a:noFill/>
        </p:spPr>
        <p:txBody>
          <a:bodyPr wrap="square" anchor="ctr">
            <a:spAutoFit/>
          </a:bodyPr>
          <a:lstStyle/>
          <a:p>
            <a:pPr algn="l">
              <a:spcAft>
                <a:spcPts val="400"/>
              </a:spcAft>
            </a:pPr>
            <a:r>
              <a:rPr sz="900" b="0">
                <a:solidFill>
                  <a:srgbClr val="161B26"/>
                </a:solidFill>
                <a:latin typeface="Arial"/>
              </a:rPr>
              <a:t>LUNCH</a:t>
            </a:r>
          </a:p>
        </p:txBody>
      </p:sp>
      <p:sp>
        <p:nvSpPr>
          <p:cNvPr id="61" name="Rectangle 60"/>
          <p:cNvSpPr/>
          <p:nvPr/>
        </p:nvSpPr>
        <p:spPr>
          <a:xfrm>
            <a:off x="3648546" y="3886200"/>
            <a:ext cx="7763164" cy="35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3758274" y="3886200"/>
            <a:ext cx="7580284" cy="350520"/>
          </a:xfrm>
          <a:prstGeom prst="rect">
            <a:avLst/>
          </a:prstGeom>
          <a:noFill/>
        </p:spPr>
        <p:txBody>
          <a:bodyPr wrap="square" anchor="ctr">
            <a:spAutoFit/>
          </a:bodyPr>
          <a:lstStyle/>
          <a:p>
            <a:pPr algn="l">
              <a:spcAft>
                <a:spcPts val="400"/>
              </a:spcAft>
            </a:pPr>
            <a:r>
              <a:rPr sz="900" b="0">
                <a:solidFill>
                  <a:srgbClr val="161B26"/>
                </a:solidFill>
                <a:latin typeface="Arial"/>
              </a:rPr>
              <a:t>Lunch; excluded</a:t>
            </a:r>
          </a:p>
        </p:txBody>
      </p:sp>
      <p:sp>
        <p:nvSpPr>
          <p:cNvPr id="63" name="Rectangle 62"/>
          <p:cNvSpPr/>
          <p:nvPr/>
        </p:nvSpPr>
        <p:spPr>
          <a:xfrm>
            <a:off x="777240" y="4236720"/>
            <a:ext cx="1169791" cy="35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86968" y="4236720"/>
            <a:ext cx="986911" cy="350520"/>
          </a:xfrm>
          <a:prstGeom prst="rect">
            <a:avLst/>
          </a:prstGeom>
          <a:noFill/>
        </p:spPr>
        <p:txBody>
          <a:bodyPr wrap="square" anchor="ctr">
            <a:spAutoFit/>
          </a:bodyPr>
          <a:lstStyle/>
          <a:p>
            <a:pPr algn="l">
              <a:spcAft>
                <a:spcPts val="400"/>
              </a:spcAft>
            </a:pPr>
            <a:r>
              <a:rPr sz="900" b="1">
                <a:solidFill>
                  <a:srgbClr val="161B26"/>
                </a:solidFill>
                <a:latin typeface="Arial"/>
              </a:rPr>
              <a:t>13:45–15:00</a:t>
            </a:r>
          </a:p>
        </p:txBody>
      </p:sp>
      <p:sp>
        <p:nvSpPr>
          <p:cNvPr id="65" name="Rectangle 64"/>
          <p:cNvSpPr/>
          <p:nvPr/>
        </p:nvSpPr>
        <p:spPr>
          <a:xfrm>
            <a:off x="1947031" y="4236720"/>
            <a:ext cx="638068" cy="35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2056759" y="4236720"/>
            <a:ext cx="455188" cy="350520"/>
          </a:xfrm>
          <a:prstGeom prst="rect">
            <a:avLst/>
          </a:prstGeom>
          <a:noFill/>
        </p:spPr>
        <p:txBody>
          <a:bodyPr wrap="square" anchor="ctr">
            <a:spAutoFit/>
          </a:bodyPr>
          <a:lstStyle/>
          <a:p>
            <a:pPr algn="l">
              <a:spcAft>
                <a:spcPts val="400"/>
              </a:spcAft>
            </a:pPr>
            <a:r>
              <a:rPr sz="900" b="0">
                <a:solidFill>
                  <a:srgbClr val="161B26"/>
                </a:solidFill>
                <a:latin typeface="Arial"/>
              </a:rPr>
              <a:t>75</a:t>
            </a:r>
          </a:p>
        </p:txBody>
      </p:sp>
      <p:sp>
        <p:nvSpPr>
          <p:cNvPr id="67" name="Rectangle 66"/>
          <p:cNvSpPr/>
          <p:nvPr/>
        </p:nvSpPr>
        <p:spPr>
          <a:xfrm>
            <a:off x="2585099" y="4236720"/>
            <a:ext cx="1063447" cy="35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2694827" y="4236720"/>
            <a:ext cx="880567" cy="350520"/>
          </a:xfrm>
          <a:prstGeom prst="rect">
            <a:avLst/>
          </a:prstGeom>
          <a:noFill/>
        </p:spPr>
        <p:txBody>
          <a:bodyPr wrap="square" anchor="ctr">
            <a:spAutoFit/>
          </a:bodyPr>
          <a:lstStyle/>
          <a:p>
            <a:pPr algn="l">
              <a:spcAft>
                <a:spcPts val="400"/>
              </a:spcAft>
            </a:pPr>
            <a:r>
              <a:rPr sz="900" b="0">
                <a:solidFill>
                  <a:srgbClr val="161B26"/>
                </a:solidFill>
                <a:latin typeface="Arial"/>
              </a:rPr>
              <a:t>CR</a:t>
            </a:r>
          </a:p>
        </p:txBody>
      </p:sp>
      <p:sp>
        <p:nvSpPr>
          <p:cNvPr id="69" name="Rectangle 68"/>
          <p:cNvSpPr/>
          <p:nvPr/>
        </p:nvSpPr>
        <p:spPr>
          <a:xfrm>
            <a:off x="3648546" y="4236720"/>
            <a:ext cx="7763164" cy="35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3758274" y="4236720"/>
            <a:ext cx="7580284" cy="350520"/>
          </a:xfrm>
          <a:prstGeom prst="rect">
            <a:avLst/>
          </a:prstGeom>
          <a:noFill/>
        </p:spPr>
        <p:txBody>
          <a:bodyPr wrap="square" anchor="ctr">
            <a:spAutoFit/>
          </a:bodyPr>
          <a:lstStyle/>
          <a:p>
            <a:pPr algn="l">
              <a:spcAft>
                <a:spcPts val="400"/>
              </a:spcAft>
            </a:pPr>
            <a:r>
              <a:rPr sz="900" b="0">
                <a:solidFill>
                  <a:srgbClr val="161B26"/>
                </a:solidFill>
                <a:latin typeface="Arial"/>
              </a:rPr>
              <a:t>Topic3 / LU3: character sheets, local and global features, look bible, shot design (K5,K6,K7)</a:t>
            </a:r>
          </a:p>
        </p:txBody>
      </p:sp>
      <p:sp>
        <p:nvSpPr>
          <p:cNvPr id="71" name="Rectangle 70"/>
          <p:cNvSpPr/>
          <p:nvPr/>
        </p:nvSpPr>
        <p:spPr>
          <a:xfrm>
            <a:off x="777240" y="4587240"/>
            <a:ext cx="1169791" cy="35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86968" y="4587240"/>
            <a:ext cx="986911" cy="350520"/>
          </a:xfrm>
          <a:prstGeom prst="rect">
            <a:avLst/>
          </a:prstGeom>
          <a:noFill/>
        </p:spPr>
        <p:txBody>
          <a:bodyPr wrap="square" anchor="ctr">
            <a:spAutoFit/>
          </a:bodyPr>
          <a:lstStyle/>
          <a:p>
            <a:pPr algn="l">
              <a:spcAft>
                <a:spcPts val="400"/>
              </a:spcAft>
            </a:pPr>
            <a:r>
              <a:rPr sz="900" b="1">
                <a:solidFill>
                  <a:srgbClr val="161B26"/>
                </a:solidFill>
                <a:latin typeface="Arial"/>
              </a:rPr>
              <a:t>15:00–15:15</a:t>
            </a:r>
          </a:p>
        </p:txBody>
      </p:sp>
      <p:sp>
        <p:nvSpPr>
          <p:cNvPr id="73" name="Rectangle 72"/>
          <p:cNvSpPr/>
          <p:nvPr/>
        </p:nvSpPr>
        <p:spPr>
          <a:xfrm>
            <a:off x="1947031" y="4587240"/>
            <a:ext cx="638068" cy="35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2056759" y="4587240"/>
            <a:ext cx="455188" cy="350520"/>
          </a:xfrm>
          <a:prstGeom prst="rect">
            <a:avLst/>
          </a:prstGeom>
          <a:noFill/>
        </p:spPr>
        <p:txBody>
          <a:bodyPr wrap="square" anchor="ctr">
            <a:spAutoFit/>
          </a:bodyPr>
          <a:lstStyle/>
          <a:p>
            <a:pPr algn="l">
              <a:spcAft>
                <a:spcPts val="400"/>
              </a:spcAft>
            </a:pPr>
            <a:r>
              <a:rPr sz="900" b="0">
                <a:solidFill>
                  <a:srgbClr val="161B26"/>
                </a:solidFill>
                <a:latin typeface="Arial"/>
              </a:rPr>
              <a:t>15</a:t>
            </a:r>
          </a:p>
        </p:txBody>
      </p:sp>
      <p:sp>
        <p:nvSpPr>
          <p:cNvPr id="75" name="Rectangle 74"/>
          <p:cNvSpPr/>
          <p:nvPr/>
        </p:nvSpPr>
        <p:spPr>
          <a:xfrm>
            <a:off x="2585099" y="4587240"/>
            <a:ext cx="1063447" cy="35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2694827" y="4587240"/>
            <a:ext cx="880567" cy="350520"/>
          </a:xfrm>
          <a:prstGeom prst="rect">
            <a:avLst/>
          </a:prstGeom>
          <a:noFill/>
        </p:spPr>
        <p:txBody>
          <a:bodyPr wrap="square" anchor="ctr">
            <a:spAutoFit/>
          </a:bodyPr>
          <a:lstStyle/>
          <a:p>
            <a:pPr algn="l">
              <a:spcAft>
                <a:spcPts val="400"/>
              </a:spcAft>
            </a:pPr>
            <a:r>
              <a:rPr sz="900" b="0">
                <a:solidFill>
                  <a:srgbClr val="161B26"/>
                </a:solidFill>
                <a:latin typeface="Arial"/>
              </a:rPr>
              <a:t>BREAK</a:t>
            </a:r>
          </a:p>
        </p:txBody>
      </p:sp>
      <p:sp>
        <p:nvSpPr>
          <p:cNvPr id="77" name="Rectangle 76"/>
          <p:cNvSpPr/>
          <p:nvPr/>
        </p:nvSpPr>
        <p:spPr>
          <a:xfrm>
            <a:off x="3648546" y="4587240"/>
            <a:ext cx="7763164" cy="35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3758274" y="4587240"/>
            <a:ext cx="7580284" cy="350520"/>
          </a:xfrm>
          <a:prstGeom prst="rect">
            <a:avLst/>
          </a:prstGeom>
          <a:noFill/>
        </p:spPr>
        <p:txBody>
          <a:bodyPr wrap="square" anchor="ctr">
            <a:spAutoFit/>
          </a:bodyPr>
          <a:lstStyle/>
          <a:p>
            <a:pPr algn="l">
              <a:spcAft>
                <a:spcPts val="400"/>
              </a:spcAft>
            </a:pPr>
            <a:r>
              <a:rPr sz="900" b="0">
                <a:solidFill>
                  <a:srgbClr val="161B26"/>
                </a:solidFill>
                <a:latin typeface="Arial"/>
              </a:rPr>
              <a:t>Tea break; excluded</a:t>
            </a:r>
          </a:p>
        </p:txBody>
      </p:sp>
      <p:sp>
        <p:nvSpPr>
          <p:cNvPr id="79" name="Rectangle 78"/>
          <p:cNvSpPr/>
          <p:nvPr/>
        </p:nvSpPr>
        <p:spPr>
          <a:xfrm>
            <a:off x="777240" y="4937760"/>
            <a:ext cx="1169791" cy="35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886968" y="4937760"/>
            <a:ext cx="986911" cy="350520"/>
          </a:xfrm>
          <a:prstGeom prst="rect">
            <a:avLst/>
          </a:prstGeom>
          <a:noFill/>
        </p:spPr>
        <p:txBody>
          <a:bodyPr wrap="square" anchor="ctr">
            <a:spAutoFit/>
          </a:bodyPr>
          <a:lstStyle/>
          <a:p>
            <a:pPr algn="l">
              <a:spcAft>
                <a:spcPts val="400"/>
              </a:spcAft>
            </a:pPr>
            <a:r>
              <a:rPr sz="900" b="1">
                <a:solidFill>
                  <a:srgbClr val="161B26"/>
                </a:solidFill>
                <a:latin typeface="Arial"/>
              </a:rPr>
              <a:t>15:15–16:15</a:t>
            </a:r>
          </a:p>
        </p:txBody>
      </p:sp>
      <p:sp>
        <p:nvSpPr>
          <p:cNvPr id="81" name="Rectangle 80"/>
          <p:cNvSpPr/>
          <p:nvPr/>
        </p:nvSpPr>
        <p:spPr>
          <a:xfrm>
            <a:off x="1947031" y="4937760"/>
            <a:ext cx="638068" cy="35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2056759" y="4937760"/>
            <a:ext cx="455188" cy="350520"/>
          </a:xfrm>
          <a:prstGeom prst="rect">
            <a:avLst/>
          </a:prstGeom>
          <a:noFill/>
        </p:spPr>
        <p:txBody>
          <a:bodyPr wrap="square" anchor="ctr">
            <a:spAutoFit/>
          </a:bodyPr>
          <a:lstStyle/>
          <a:p>
            <a:pPr algn="l">
              <a:spcAft>
                <a:spcPts val="400"/>
              </a:spcAft>
            </a:pPr>
            <a:r>
              <a:rPr sz="900" b="0">
                <a:solidFill>
                  <a:srgbClr val="161B26"/>
                </a:solidFill>
                <a:latin typeface="Arial"/>
              </a:rPr>
              <a:t>60</a:t>
            </a:r>
          </a:p>
        </p:txBody>
      </p:sp>
      <p:sp>
        <p:nvSpPr>
          <p:cNvPr id="83" name="Rectangle 82"/>
          <p:cNvSpPr/>
          <p:nvPr/>
        </p:nvSpPr>
        <p:spPr>
          <a:xfrm>
            <a:off x="2585099" y="4937760"/>
            <a:ext cx="1063447" cy="35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2694827" y="4937760"/>
            <a:ext cx="880567" cy="350520"/>
          </a:xfrm>
          <a:prstGeom prst="rect">
            <a:avLst/>
          </a:prstGeom>
          <a:noFill/>
        </p:spPr>
        <p:txBody>
          <a:bodyPr wrap="square" anchor="ctr">
            <a:spAutoFit/>
          </a:bodyPr>
          <a:lstStyle/>
          <a:p>
            <a:pPr algn="l">
              <a:spcAft>
                <a:spcPts val="400"/>
              </a:spcAft>
            </a:pPr>
            <a:r>
              <a:rPr sz="900" b="0">
                <a:solidFill>
                  <a:srgbClr val="161B26"/>
                </a:solidFill>
                <a:latin typeface="Arial"/>
              </a:rPr>
              <a:t>PP</a:t>
            </a:r>
          </a:p>
        </p:txBody>
      </p:sp>
      <p:sp>
        <p:nvSpPr>
          <p:cNvPr id="85" name="Rectangle 84"/>
          <p:cNvSpPr/>
          <p:nvPr/>
        </p:nvSpPr>
        <p:spPr>
          <a:xfrm>
            <a:off x="3648546" y="4937760"/>
            <a:ext cx="7763164" cy="35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3758274" y="4937760"/>
            <a:ext cx="7580284" cy="350520"/>
          </a:xfrm>
          <a:prstGeom prst="rect">
            <a:avLst/>
          </a:prstGeom>
          <a:noFill/>
        </p:spPr>
        <p:txBody>
          <a:bodyPr wrap="square" anchor="ctr">
            <a:spAutoFit/>
          </a:bodyPr>
          <a:lstStyle/>
          <a:p>
            <a:pPr algn="l">
              <a:spcAft>
                <a:spcPts val="400"/>
              </a:spcAft>
            </a:pPr>
            <a:r>
              <a:rPr sz="900" b="0">
                <a:solidFill>
                  <a:srgbClr val="161B26"/>
                </a:solidFill>
                <a:latin typeface="Arial"/>
              </a:rPr>
              <a:t>LU3 practical: Labs06 and07, 30 minutes each (A3,A4)</a:t>
            </a:r>
          </a:p>
        </p:txBody>
      </p:sp>
      <p:sp>
        <p:nvSpPr>
          <p:cNvPr id="87" name="Rectangle 86"/>
          <p:cNvSpPr/>
          <p:nvPr/>
        </p:nvSpPr>
        <p:spPr>
          <a:xfrm>
            <a:off x="777240" y="5288280"/>
            <a:ext cx="1169791" cy="35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886968" y="5288280"/>
            <a:ext cx="986911" cy="350520"/>
          </a:xfrm>
          <a:prstGeom prst="rect">
            <a:avLst/>
          </a:prstGeom>
          <a:noFill/>
        </p:spPr>
        <p:txBody>
          <a:bodyPr wrap="square" anchor="ctr">
            <a:spAutoFit/>
          </a:bodyPr>
          <a:lstStyle/>
          <a:p>
            <a:pPr algn="l">
              <a:spcAft>
                <a:spcPts val="400"/>
              </a:spcAft>
            </a:pPr>
            <a:r>
              <a:rPr sz="900" b="1">
                <a:solidFill>
                  <a:srgbClr val="161B26"/>
                </a:solidFill>
                <a:latin typeface="Arial"/>
              </a:rPr>
              <a:t>16:15–17:30</a:t>
            </a:r>
          </a:p>
        </p:txBody>
      </p:sp>
      <p:sp>
        <p:nvSpPr>
          <p:cNvPr id="89" name="Rectangle 88"/>
          <p:cNvSpPr/>
          <p:nvPr/>
        </p:nvSpPr>
        <p:spPr>
          <a:xfrm>
            <a:off x="1947031" y="5288280"/>
            <a:ext cx="638068" cy="35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2056759" y="5288280"/>
            <a:ext cx="455188" cy="350520"/>
          </a:xfrm>
          <a:prstGeom prst="rect">
            <a:avLst/>
          </a:prstGeom>
          <a:noFill/>
        </p:spPr>
        <p:txBody>
          <a:bodyPr wrap="square" anchor="ctr">
            <a:spAutoFit/>
          </a:bodyPr>
          <a:lstStyle/>
          <a:p>
            <a:pPr algn="l">
              <a:spcAft>
                <a:spcPts val="400"/>
              </a:spcAft>
            </a:pPr>
            <a:r>
              <a:rPr sz="900" b="0">
                <a:solidFill>
                  <a:srgbClr val="161B26"/>
                </a:solidFill>
                <a:latin typeface="Arial"/>
              </a:rPr>
              <a:t>75</a:t>
            </a:r>
          </a:p>
        </p:txBody>
      </p:sp>
      <p:sp>
        <p:nvSpPr>
          <p:cNvPr id="91" name="Rectangle 90"/>
          <p:cNvSpPr/>
          <p:nvPr/>
        </p:nvSpPr>
        <p:spPr>
          <a:xfrm>
            <a:off x="2585099" y="5288280"/>
            <a:ext cx="1063447" cy="35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2694827" y="5288280"/>
            <a:ext cx="880567" cy="350520"/>
          </a:xfrm>
          <a:prstGeom prst="rect">
            <a:avLst/>
          </a:prstGeom>
          <a:noFill/>
        </p:spPr>
        <p:txBody>
          <a:bodyPr wrap="square" anchor="ctr">
            <a:spAutoFit/>
          </a:bodyPr>
          <a:lstStyle/>
          <a:p>
            <a:pPr algn="l">
              <a:spcAft>
                <a:spcPts val="400"/>
              </a:spcAft>
            </a:pPr>
            <a:r>
              <a:rPr sz="900" b="0">
                <a:solidFill>
                  <a:srgbClr val="161B26"/>
                </a:solidFill>
                <a:latin typeface="Arial"/>
              </a:rPr>
              <a:t>CR</a:t>
            </a:r>
          </a:p>
        </p:txBody>
      </p:sp>
      <p:sp>
        <p:nvSpPr>
          <p:cNvPr id="93" name="Rectangle 92"/>
          <p:cNvSpPr/>
          <p:nvPr/>
        </p:nvSpPr>
        <p:spPr>
          <a:xfrm>
            <a:off x="3648546" y="5288280"/>
            <a:ext cx="7763164" cy="35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3758274" y="5288280"/>
            <a:ext cx="7580284" cy="350520"/>
          </a:xfrm>
          <a:prstGeom prst="rect">
            <a:avLst/>
          </a:prstGeom>
          <a:noFill/>
        </p:spPr>
        <p:txBody>
          <a:bodyPr wrap="square" anchor="ctr">
            <a:spAutoFit/>
          </a:bodyPr>
          <a:lstStyle/>
          <a:p>
            <a:pPr algn="l">
              <a:spcAft>
                <a:spcPts val="400"/>
              </a:spcAft>
            </a:pPr>
            <a:r>
              <a:rPr sz="900" b="0">
                <a:solidFill>
                  <a:srgbClr val="161B26"/>
                </a:solidFill>
                <a:latin typeface="Arial"/>
              </a:rPr>
              <a:t>Topic4 / LU4: deep video models, shot prompting, continuity controls, cast detection and evaluat</a:t>
            </a:r>
          </a:p>
        </p:txBody>
      </p:sp>
      <p:sp>
        <p:nvSpPr>
          <p:cNvPr id="95" name="Rectangle 94"/>
          <p:cNvSpPr/>
          <p:nvPr/>
        </p:nvSpPr>
        <p:spPr>
          <a:xfrm>
            <a:off x="777240" y="5638800"/>
            <a:ext cx="1169791" cy="35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886968" y="5638800"/>
            <a:ext cx="986911" cy="350520"/>
          </a:xfrm>
          <a:prstGeom prst="rect">
            <a:avLst/>
          </a:prstGeom>
          <a:noFill/>
        </p:spPr>
        <p:txBody>
          <a:bodyPr wrap="square" anchor="ctr">
            <a:spAutoFit/>
          </a:bodyPr>
          <a:lstStyle/>
          <a:p>
            <a:pPr algn="l">
              <a:spcAft>
                <a:spcPts val="400"/>
              </a:spcAft>
            </a:pPr>
            <a:r>
              <a:rPr sz="900" b="1">
                <a:solidFill>
                  <a:srgbClr val="161B26"/>
                </a:solidFill>
                <a:latin typeface="Arial"/>
              </a:rPr>
              <a:t>17:30–18:30</a:t>
            </a:r>
          </a:p>
        </p:txBody>
      </p:sp>
      <p:sp>
        <p:nvSpPr>
          <p:cNvPr id="97" name="Rectangle 96"/>
          <p:cNvSpPr/>
          <p:nvPr/>
        </p:nvSpPr>
        <p:spPr>
          <a:xfrm>
            <a:off x="1947031" y="5638800"/>
            <a:ext cx="638068" cy="35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2056759" y="5638800"/>
            <a:ext cx="455188" cy="350520"/>
          </a:xfrm>
          <a:prstGeom prst="rect">
            <a:avLst/>
          </a:prstGeom>
          <a:noFill/>
        </p:spPr>
        <p:txBody>
          <a:bodyPr wrap="square" anchor="ctr">
            <a:spAutoFit/>
          </a:bodyPr>
          <a:lstStyle/>
          <a:p>
            <a:pPr algn="l">
              <a:spcAft>
                <a:spcPts val="400"/>
              </a:spcAft>
            </a:pPr>
            <a:r>
              <a:rPr sz="900" b="0">
                <a:solidFill>
                  <a:srgbClr val="161B26"/>
                </a:solidFill>
                <a:latin typeface="Arial"/>
              </a:rPr>
              <a:t>60</a:t>
            </a:r>
          </a:p>
        </p:txBody>
      </p:sp>
      <p:sp>
        <p:nvSpPr>
          <p:cNvPr id="99" name="Rectangle 98"/>
          <p:cNvSpPr/>
          <p:nvPr/>
        </p:nvSpPr>
        <p:spPr>
          <a:xfrm>
            <a:off x="2585099" y="5638800"/>
            <a:ext cx="1063447" cy="35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2694827" y="5638800"/>
            <a:ext cx="880567" cy="350520"/>
          </a:xfrm>
          <a:prstGeom prst="rect">
            <a:avLst/>
          </a:prstGeom>
          <a:noFill/>
        </p:spPr>
        <p:txBody>
          <a:bodyPr wrap="square" anchor="ctr">
            <a:spAutoFit/>
          </a:bodyPr>
          <a:lstStyle/>
          <a:p>
            <a:pPr algn="l">
              <a:spcAft>
                <a:spcPts val="400"/>
              </a:spcAft>
            </a:pPr>
            <a:r>
              <a:rPr sz="900" b="0">
                <a:solidFill>
                  <a:srgbClr val="161B26"/>
                </a:solidFill>
                <a:latin typeface="Arial"/>
              </a:rPr>
              <a:t>PP</a:t>
            </a:r>
          </a:p>
        </p:txBody>
      </p:sp>
      <p:sp>
        <p:nvSpPr>
          <p:cNvPr id="101" name="Rectangle 100"/>
          <p:cNvSpPr/>
          <p:nvPr/>
        </p:nvSpPr>
        <p:spPr>
          <a:xfrm>
            <a:off x="3648546" y="5638800"/>
            <a:ext cx="7763164" cy="35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3758274" y="5638800"/>
            <a:ext cx="7580284" cy="350520"/>
          </a:xfrm>
          <a:prstGeom prst="rect">
            <a:avLst/>
          </a:prstGeom>
          <a:noFill/>
        </p:spPr>
        <p:txBody>
          <a:bodyPr wrap="square" anchor="ctr">
            <a:spAutoFit/>
          </a:bodyPr>
          <a:lstStyle/>
          <a:p>
            <a:pPr algn="l">
              <a:spcAft>
                <a:spcPts val="400"/>
              </a:spcAft>
            </a:pPr>
            <a:r>
              <a:rPr sz="900" b="0">
                <a:solidFill>
                  <a:srgbClr val="161B26"/>
                </a:solidFill>
                <a:latin typeface="Arial"/>
              </a:rPr>
              <a:t>LU4 practical part1: Lab08 cast-presence detection and evaluation (A5)</a:t>
            </a:r>
          </a:p>
        </p:txBody>
      </p:sp>
      <p:sp>
        <p:nvSpPr>
          <p:cNvPr id="103" name="TextBox 102"/>
          <p:cNvSpPr txBox="1"/>
          <p:nvPr/>
        </p:nvSpPr>
        <p:spPr>
          <a:xfrm>
            <a:off x="777240" y="6053328"/>
            <a:ext cx="10698480" cy="457200"/>
          </a:xfrm>
          <a:prstGeom prst="rect">
            <a:avLst/>
          </a:prstGeom>
          <a:noFill/>
        </p:spPr>
        <p:txBody>
          <a:bodyPr wrap="square" anchor="t">
            <a:spAutoFit/>
          </a:bodyPr>
          <a:lstStyle/>
          <a:p>
            <a:pPr algn="ctr">
              <a:spcAft>
                <a:spcPts val="400"/>
              </a:spcAft>
            </a:pPr>
            <a:r>
              <a:rPr sz="1200" b="0">
                <a:solidFill>
                  <a:srgbClr val="5B6372"/>
                </a:solidFill>
                <a:latin typeface="Arial"/>
              </a:rPr>
              <a:t>Programme minutes on Day 1: 480 (classroom facilitation + practical + assessment). Lunch, tea breaks and administration are additional, non-instructional time.</a:t>
            </a:r>
          </a:p>
        </p:txBody>
      </p:sp>
      <p:sp>
        <p:nvSpPr>
          <p:cNvPr id="104" name="TextBox 10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105" name="TextBox 10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6" name="TextBox 10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fast">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DAY 2 · VIDEO GENERATION AND ANALYTICS, SOUND AND FINISHING, CLOUD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Lesson Plan — Day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169791" cy="32355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986911" cy="323556"/>
          </a:xfrm>
          <a:prstGeom prst="rect">
            <a:avLst/>
          </a:prstGeom>
          <a:noFill/>
        </p:spPr>
        <p:txBody>
          <a:bodyPr wrap="square" anchor="ctr">
            <a:spAutoFit/>
          </a:bodyPr>
          <a:lstStyle/>
          <a:p>
            <a:pPr algn="l">
              <a:spcAft>
                <a:spcPts val="400"/>
              </a:spcAft>
            </a:pPr>
            <a:r>
              <a:rPr sz="1000" b="1">
                <a:solidFill>
                  <a:srgbClr val="FFFFFF"/>
                </a:solidFill>
                <a:latin typeface="Arial"/>
              </a:rPr>
              <a:t>Time</a:t>
            </a:r>
          </a:p>
        </p:txBody>
      </p:sp>
      <p:sp>
        <p:nvSpPr>
          <p:cNvPr id="9" name="Rectangle 8"/>
          <p:cNvSpPr/>
          <p:nvPr/>
        </p:nvSpPr>
        <p:spPr>
          <a:xfrm>
            <a:off x="1947031" y="1783080"/>
            <a:ext cx="638068" cy="32355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6759" y="1783080"/>
            <a:ext cx="455188" cy="323556"/>
          </a:xfrm>
          <a:prstGeom prst="rect">
            <a:avLst/>
          </a:prstGeom>
          <a:noFill/>
        </p:spPr>
        <p:txBody>
          <a:bodyPr wrap="square" anchor="ctr">
            <a:spAutoFit/>
          </a:bodyPr>
          <a:lstStyle/>
          <a:p>
            <a:pPr algn="l">
              <a:spcAft>
                <a:spcPts val="400"/>
              </a:spcAft>
            </a:pPr>
            <a:r>
              <a:rPr sz="1000" b="1">
                <a:solidFill>
                  <a:srgbClr val="FFFFFF"/>
                </a:solidFill>
                <a:latin typeface="Arial"/>
              </a:rPr>
              <a:t>Min</a:t>
            </a:r>
          </a:p>
        </p:txBody>
      </p:sp>
      <p:sp>
        <p:nvSpPr>
          <p:cNvPr id="11" name="Rectangle 10"/>
          <p:cNvSpPr/>
          <p:nvPr/>
        </p:nvSpPr>
        <p:spPr>
          <a:xfrm>
            <a:off x="2585099" y="1783080"/>
            <a:ext cx="1063447" cy="32355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694827" y="1783080"/>
            <a:ext cx="880567" cy="323556"/>
          </a:xfrm>
          <a:prstGeom prst="rect">
            <a:avLst/>
          </a:prstGeom>
          <a:noFill/>
        </p:spPr>
        <p:txBody>
          <a:bodyPr wrap="square" anchor="ctr">
            <a:spAutoFit/>
          </a:bodyPr>
          <a:lstStyle/>
          <a:p>
            <a:pPr algn="l">
              <a:spcAft>
                <a:spcPts val="400"/>
              </a:spcAft>
            </a:pPr>
            <a:r>
              <a:rPr sz="1000" b="1">
                <a:solidFill>
                  <a:srgbClr val="FFFFFF"/>
                </a:solidFill>
                <a:latin typeface="Arial"/>
              </a:rPr>
              <a:t>Component</a:t>
            </a:r>
          </a:p>
        </p:txBody>
      </p:sp>
      <p:sp>
        <p:nvSpPr>
          <p:cNvPr id="13" name="Rectangle 12"/>
          <p:cNvSpPr/>
          <p:nvPr/>
        </p:nvSpPr>
        <p:spPr>
          <a:xfrm>
            <a:off x="3648546" y="1783080"/>
            <a:ext cx="7763164" cy="32355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58274" y="1783080"/>
            <a:ext cx="7580284" cy="323556"/>
          </a:xfrm>
          <a:prstGeom prst="rect">
            <a:avLst/>
          </a:prstGeom>
          <a:noFill/>
        </p:spPr>
        <p:txBody>
          <a:bodyPr wrap="square" anchor="ctr">
            <a:spAutoFit/>
          </a:bodyPr>
          <a:lstStyle/>
          <a:p>
            <a:pPr algn="l">
              <a:spcAft>
                <a:spcPts val="400"/>
              </a:spcAft>
            </a:pPr>
            <a:r>
              <a:rPr sz="1000" b="1">
                <a:solidFill>
                  <a:srgbClr val="FFFFFF"/>
                </a:solidFill>
                <a:latin typeface="Arial"/>
              </a:rPr>
              <a:t>Session</a:t>
            </a:r>
          </a:p>
        </p:txBody>
      </p:sp>
      <p:sp>
        <p:nvSpPr>
          <p:cNvPr id="15" name="Rectangle 14"/>
          <p:cNvSpPr/>
          <p:nvPr/>
        </p:nvSpPr>
        <p:spPr>
          <a:xfrm>
            <a:off x="777240" y="2106636"/>
            <a:ext cx="1169791"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6968" y="2106636"/>
            <a:ext cx="986911" cy="323556"/>
          </a:xfrm>
          <a:prstGeom prst="rect">
            <a:avLst/>
          </a:prstGeom>
          <a:noFill/>
        </p:spPr>
        <p:txBody>
          <a:bodyPr wrap="square" anchor="ctr">
            <a:spAutoFit/>
          </a:bodyPr>
          <a:lstStyle/>
          <a:p>
            <a:pPr algn="l">
              <a:spcAft>
                <a:spcPts val="400"/>
              </a:spcAft>
            </a:pPr>
            <a:r>
              <a:rPr sz="900" b="1">
                <a:solidFill>
                  <a:srgbClr val="161B26"/>
                </a:solidFill>
                <a:latin typeface="Arial"/>
              </a:rPr>
              <a:t>08:45–09:00</a:t>
            </a:r>
          </a:p>
        </p:txBody>
      </p:sp>
      <p:sp>
        <p:nvSpPr>
          <p:cNvPr id="17" name="Rectangle 16"/>
          <p:cNvSpPr/>
          <p:nvPr/>
        </p:nvSpPr>
        <p:spPr>
          <a:xfrm>
            <a:off x="1947031" y="2106636"/>
            <a:ext cx="638068"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056759" y="2106636"/>
            <a:ext cx="455188" cy="323556"/>
          </a:xfrm>
          <a:prstGeom prst="rect">
            <a:avLst/>
          </a:prstGeom>
          <a:noFill/>
        </p:spPr>
        <p:txBody>
          <a:bodyPr wrap="square" anchor="ctr">
            <a:spAutoFit/>
          </a:bodyPr>
          <a:lstStyle/>
          <a:p>
            <a:pPr algn="l">
              <a:spcAft>
                <a:spcPts val="400"/>
              </a:spcAft>
            </a:pPr>
            <a:r>
              <a:rPr sz="900" b="0">
                <a:solidFill>
                  <a:srgbClr val="161B26"/>
                </a:solidFill>
                <a:latin typeface="Arial"/>
              </a:rPr>
              <a:t>15</a:t>
            </a:r>
          </a:p>
        </p:txBody>
      </p:sp>
      <p:sp>
        <p:nvSpPr>
          <p:cNvPr id="19" name="Rectangle 18"/>
          <p:cNvSpPr/>
          <p:nvPr/>
        </p:nvSpPr>
        <p:spPr>
          <a:xfrm>
            <a:off x="2585099" y="2106636"/>
            <a:ext cx="1063447"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694827" y="2106636"/>
            <a:ext cx="880567" cy="323556"/>
          </a:xfrm>
          <a:prstGeom prst="rect">
            <a:avLst/>
          </a:prstGeom>
          <a:noFill/>
        </p:spPr>
        <p:txBody>
          <a:bodyPr wrap="square" anchor="ctr">
            <a:spAutoFit/>
          </a:bodyPr>
          <a:lstStyle/>
          <a:p>
            <a:pPr algn="l">
              <a:spcAft>
                <a:spcPts val="400"/>
              </a:spcAft>
            </a:pPr>
            <a:r>
              <a:rPr sz="900" b="0">
                <a:solidFill>
                  <a:srgbClr val="161B26"/>
                </a:solidFill>
                <a:latin typeface="Arial"/>
              </a:rPr>
              <a:t>ADMIN</a:t>
            </a:r>
          </a:p>
        </p:txBody>
      </p:sp>
      <p:sp>
        <p:nvSpPr>
          <p:cNvPr id="21" name="Rectangle 20"/>
          <p:cNvSpPr/>
          <p:nvPr/>
        </p:nvSpPr>
        <p:spPr>
          <a:xfrm>
            <a:off x="3648546" y="2106636"/>
            <a:ext cx="7763164"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58274" y="2106636"/>
            <a:ext cx="7580284" cy="323556"/>
          </a:xfrm>
          <a:prstGeom prst="rect">
            <a:avLst/>
          </a:prstGeom>
          <a:noFill/>
        </p:spPr>
        <p:txBody>
          <a:bodyPr wrap="square" anchor="ctr">
            <a:spAutoFit/>
          </a:bodyPr>
          <a:lstStyle/>
          <a:p>
            <a:pPr algn="l">
              <a:spcAft>
                <a:spcPts val="400"/>
              </a:spcAft>
            </a:pPr>
            <a:r>
              <a:rPr sz="900" b="0">
                <a:solidFill>
                  <a:srgbClr val="161B26"/>
                </a:solidFill>
                <a:latin typeface="Arial"/>
              </a:rPr>
              <a:t>Attendance and technical setup; outside programme minutes</a:t>
            </a:r>
          </a:p>
        </p:txBody>
      </p:sp>
      <p:sp>
        <p:nvSpPr>
          <p:cNvPr id="23" name="Rectangle 22"/>
          <p:cNvSpPr/>
          <p:nvPr/>
        </p:nvSpPr>
        <p:spPr>
          <a:xfrm>
            <a:off x="777240" y="2430192"/>
            <a:ext cx="1169791"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6968" y="2430192"/>
            <a:ext cx="986911" cy="323556"/>
          </a:xfrm>
          <a:prstGeom prst="rect">
            <a:avLst/>
          </a:prstGeom>
          <a:noFill/>
        </p:spPr>
        <p:txBody>
          <a:bodyPr wrap="square" anchor="ctr">
            <a:spAutoFit/>
          </a:bodyPr>
          <a:lstStyle/>
          <a:p>
            <a:pPr algn="l">
              <a:spcAft>
                <a:spcPts val="400"/>
              </a:spcAft>
            </a:pPr>
            <a:r>
              <a:rPr sz="900" b="1">
                <a:solidFill>
                  <a:srgbClr val="161B26"/>
                </a:solidFill>
                <a:latin typeface="Arial"/>
              </a:rPr>
              <a:t>09:00–10:00</a:t>
            </a:r>
          </a:p>
        </p:txBody>
      </p:sp>
      <p:sp>
        <p:nvSpPr>
          <p:cNvPr id="25" name="Rectangle 24"/>
          <p:cNvSpPr/>
          <p:nvPr/>
        </p:nvSpPr>
        <p:spPr>
          <a:xfrm>
            <a:off x="1947031" y="2430192"/>
            <a:ext cx="638068"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056759" y="2430192"/>
            <a:ext cx="455188" cy="323556"/>
          </a:xfrm>
          <a:prstGeom prst="rect">
            <a:avLst/>
          </a:prstGeom>
          <a:noFill/>
        </p:spPr>
        <p:txBody>
          <a:bodyPr wrap="square" anchor="ctr">
            <a:spAutoFit/>
          </a:bodyPr>
          <a:lstStyle/>
          <a:p>
            <a:pPr algn="l">
              <a:spcAft>
                <a:spcPts val="400"/>
              </a:spcAft>
            </a:pPr>
            <a:r>
              <a:rPr sz="900" b="0">
                <a:solidFill>
                  <a:srgbClr val="161B26"/>
                </a:solidFill>
                <a:latin typeface="Arial"/>
              </a:rPr>
              <a:t>60</a:t>
            </a:r>
          </a:p>
        </p:txBody>
      </p:sp>
      <p:sp>
        <p:nvSpPr>
          <p:cNvPr id="27" name="Rectangle 26"/>
          <p:cNvSpPr/>
          <p:nvPr/>
        </p:nvSpPr>
        <p:spPr>
          <a:xfrm>
            <a:off x="2585099" y="2430192"/>
            <a:ext cx="1063447"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694827" y="2430192"/>
            <a:ext cx="880567" cy="323556"/>
          </a:xfrm>
          <a:prstGeom prst="rect">
            <a:avLst/>
          </a:prstGeom>
          <a:noFill/>
        </p:spPr>
        <p:txBody>
          <a:bodyPr wrap="square" anchor="ctr">
            <a:spAutoFit/>
          </a:bodyPr>
          <a:lstStyle/>
          <a:p>
            <a:pPr algn="l">
              <a:spcAft>
                <a:spcPts val="400"/>
              </a:spcAft>
            </a:pPr>
            <a:r>
              <a:rPr sz="900" b="0">
                <a:solidFill>
                  <a:srgbClr val="161B26"/>
                </a:solidFill>
                <a:latin typeface="Arial"/>
              </a:rPr>
              <a:t>PP</a:t>
            </a:r>
          </a:p>
        </p:txBody>
      </p:sp>
      <p:sp>
        <p:nvSpPr>
          <p:cNvPr id="29" name="Rectangle 28"/>
          <p:cNvSpPr/>
          <p:nvPr/>
        </p:nvSpPr>
        <p:spPr>
          <a:xfrm>
            <a:off x="3648546" y="2430192"/>
            <a:ext cx="7763164"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58274" y="2430192"/>
            <a:ext cx="7580284" cy="323556"/>
          </a:xfrm>
          <a:prstGeom prst="rect">
            <a:avLst/>
          </a:prstGeom>
          <a:noFill/>
        </p:spPr>
        <p:txBody>
          <a:bodyPr wrap="square" anchor="ctr">
            <a:spAutoFit/>
          </a:bodyPr>
          <a:lstStyle/>
          <a:p>
            <a:pPr algn="l">
              <a:spcAft>
                <a:spcPts val="400"/>
              </a:spcAft>
            </a:pPr>
            <a:r>
              <a:rPr sz="900" b="0">
                <a:solidFill>
                  <a:srgbClr val="161B26"/>
                </a:solidFill>
                <a:latin typeface="Arial"/>
              </a:rPr>
              <a:t>LU4 practical part2: Lab09 storyboard-to-shot prompts and Lab11 sound, captions and export, 30 m</a:t>
            </a:r>
          </a:p>
        </p:txBody>
      </p:sp>
      <p:sp>
        <p:nvSpPr>
          <p:cNvPr id="31" name="Rectangle 30"/>
          <p:cNvSpPr/>
          <p:nvPr/>
        </p:nvSpPr>
        <p:spPr>
          <a:xfrm>
            <a:off x="777240" y="2753748"/>
            <a:ext cx="1169791"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2753748"/>
            <a:ext cx="986911" cy="323556"/>
          </a:xfrm>
          <a:prstGeom prst="rect">
            <a:avLst/>
          </a:prstGeom>
          <a:noFill/>
        </p:spPr>
        <p:txBody>
          <a:bodyPr wrap="square" anchor="ctr">
            <a:spAutoFit/>
          </a:bodyPr>
          <a:lstStyle/>
          <a:p>
            <a:pPr algn="l">
              <a:spcAft>
                <a:spcPts val="400"/>
              </a:spcAft>
            </a:pPr>
            <a:r>
              <a:rPr sz="900" b="1">
                <a:solidFill>
                  <a:srgbClr val="161B26"/>
                </a:solidFill>
                <a:latin typeface="Arial"/>
              </a:rPr>
              <a:t>10:00–10:15</a:t>
            </a:r>
          </a:p>
        </p:txBody>
      </p:sp>
      <p:sp>
        <p:nvSpPr>
          <p:cNvPr id="33" name="Rectangle 32"/>
          <p:cNvSpPr/>
          <p:nvPr/>
        </p:nvSpPr>
        <p:spPr>
          <a:xfrm>
            <a:off x="1947031" y="2753748"/>
            <a:ext cx="638068"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056759" y="2753748"/>
            <a:ext cx="455188" cy="323556"/>
          </a:xfrm>
          <a:prstGeom prst="rect">
            <a:avLst/>
          </a:prstGeom>
          <a:noFill/>
        </p:spPr>
        <p:txBody>
          <a:bodyPr wrap="square" anchor="ctr">
            <a:spAutoFit/>
          </a:bodyPr>
          <a:lstStyle/>
          <a:p>
            <a:pPr algn="l">
              <a:spcAft>
                <a:spcPts val="400"/>
              </a:spcAft>
            </a:pPr>
            <a:r>
              <a:rPr sz="900" b="0">
                <a:solidFill>
                  <a:srgbClr val="161B26"/>
                </a:solidFill>
                <a:latin typeface="Arial"/>
              </a:rPr>
              <a:t>15</a:t>
            </a:r>
          </a:p>
        </p:txBody>
      </p:sp>
      <p:sp>
        <p:nvSpPr>
          <p:cNvPr id="35" name="Rectangle 34"/>
          <p:cNvSpPr/>
          <p:nvPr/>
        </p:nvSpPr>
        <p:spPr>
          <a:xfrm>
            <a:off x="2585099" y="2753748"/>
            <a:ext cx="1063447"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694827" y="2753748"/>
            <a:ext cx="880567" cy="323556"/>
          </a:xfrm>
          <a:prstGeom prst="rect">
            <a:avLst/>
          </a:prstGeom>
          <a:noFill/>
        </p:spPr>
        <p:txBody>
          <a:bodyPr wrap="square" anchor="ctr">
            <a:spAutoFit/>
          </a:bodyPr>
          <a:lstStyle/>
          <a:p>
            <a:pPr algn="l">
              <a:spcAft>
                <a:spcPts val="400"/>
              </a:spcAft>
            </a:pPr>
            <a:r>
              <a:rPr sz="900" b="0">
                <a:solidFill>
                  <a:srgbClr val="161B26"/>
                </a:solidFill>
                <a:latin typeface="Arial"/>
              </a:rPr>
              <a:t>BREAK</a:t>
            </a:r>
          </a:p>
        </p:txBody>
      </p:sp>
      <p:sp>
        <p:nvSpPr>
          <p:cNvPr id="37" name="Rectangle 36"/>
          <p:cNvSpPr/>
          <p:nvPr/>
        </p:nvSpPr>
        <p:spPr>
          <a:xfrm>
            <a:off x="3648546" y="2753748"/>
            <a:ext cx="7763164"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758274" y="2753748"/>
            <a:ext cx="7580284" cy="323556"/>
          </a:xfrm>
          <a:prstGeom prst="rect">
            <a:avLst/>
          </a:prstGeom>
          <a:noFill/>
        </p:spPr>
        <p:txBody>
          <a:bodyPr wrap="square" anchor="ctr">
            <a:spAutoFit/>
          </a:bodyPr>
          <a:lstStyle/>
          <a:p>
            <a:pPr algn="l">
              <a:spcAft>
                <a:spcPts val="400"/>
              </a:spcAft>
            </a:pPr>
            <a:r>
              <a:rPr sz="900" b="0">
                <a:solidFill>
                  <a:srgbClr val="161B26"/>
                </a:solidFill>
                <a:latin typeface="Arial"/>
              </a:rPr>
              <a:t>Tea break; excluded</a:t>
            </a:r>
          </a:p>
        </p:txBody>
      </p:sp>
      <p:sp>
        <p:nvSpPr>
          <p:cNvPr id="39" name="Rectangle 38"/>
          <p:cNvSpPr/>
          <p:nvPr/>
        </p:nvSpPr>
        <p:spPr>
          <a:xfrm>
            <a:off x="777240" y="3077304"/>
            <a:ext cx="1169791"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86968" y="3077304"/>
            <a:ext cx="986911" cy="323556"/>
          </a:xfrm>
          <a:prstGeom prst="rect">
            <a:avLst/>
          </a:prstGeom>
          <a:noFill/>
        </p:spPr>
        <p:txBody>
          <a:bodyPr wrap="square" anchor="ctr">
            <a:spAutoFit/>
          </a:bodyPr>
          <a:lstStyle/>
          <a:p>
            <a:pPr algn="l">
              <a:spcAft>
                <a:spcPts val="400"/>
              </a:spcAft>
            </a:pPr>
            <a:r>
              <a:rPr sz="900" b="1">
                <a:solidFill>
                  <a:srgbClr val="161B26"/>
                </a:solidFill>
                <a:latin typeface="Arial"/>
              </a:rPr>
              <a:t>10:15–11:30</a:t>
            </a:r>
          </a:p>
        </p:txBody>
      </p:sp>
      <p:sp>
        <p:nvSpPr>
          <p:cNvPr id="41" name="Rectangle 40"/>
          <p:cNvSpPr/>
          <p:nvPr/>
        </p:nvSpPr>
        <p:spPr>
          <a:xfrm>
            <a:off x="1947031" y="3077304"/>
            <a:ext cx="638068"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056759" y="3077304"/>
            <a:ext cx="455188" cy="323556"/>
          </a:xfrm>
          <a:prstGeom prst="rect">
            <a:avLst/>
          </a:prstGeom>
          <a:noFill/>
        </p:spPr>
        <p:txBody>
          <a:bodyPr wrap="square" anchor="ctr">
            <a:spAutoFit/>
          </a:bodyPr>
          <a:lstStyle/>
          <a:p>
            <a:pPr algn="l">
              <a:spcAft>
                <a:spcPts val="400"/>
              </a:spcAft>
            </a:pPr>
            <a:r>
              <a:rPr sz="900" b="0">
                <a:solidFill>
                  <a:srgbClr val="161B26"/>
                </a:solidFill>
                <a:latin typeface="Arial"/>
              </a:rPr>
              <a:t>75</a:t>
            </a:r>
          </a:p>
        </p:txBody>
      </p:sp>
      <p:sp>
        <p:nvSpPr>
          <p:cNvPr id="43" name="Rectangle 42"/>
          <p:cNvSpPr/>
          <p:nvPr/>
        </p:nvSpPr>
        <p:spPr>
          <a:xfrm>
            <a:off x="2585099" y="3077304"/>
            <a:ext cx="1063447"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694827" y="3077304"/>
            <a:ext cx="880567" cy="323556"/>
          </a:xfrm>
          <a:prstGeom prst="rect">
            <a:avLst/>
          </a:prstGeom>
          <a:noFill/>
        </p:spPr>
        <p:txBody>
          <a:bodyPr wrap="square" anchor="ctr">
            <a:spAutoFit/>
          </a:bodyPr>
          <a:lstStyle/>
          <a:p>
            <a:pPr algn="l">
              <a:spcAft>
                <a:spcPts val="400"/>
              </a:spcAft>
            </a:pPr>
            <a:r>
              <a:rPr sz="900" b="0">
                <a:solidFill>
                  <a:srgbClr val="161B26"/>
                </a:solidFill>
                <a:latin typeface="Arial"/>
              </a:rPr>
              <a:t>CR</a:t>
            </a:r>
          </a:p>
        </p:txBody>
      </p:sp>
      <p:sp>
        <p:nvSpPr>
          <p:cNvPr id="45" name="Rectangle 44"/>
          <p:cNvSpPr/>
          <p:nvPr/>
        </p:nvSpPr>
        <p:spPr>
          <a:xfrm>
            <a:off x="3648546" y="3077304"/>
            <a:ext cx="7763164"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758274" y="3077304"/>
            <a:ext cx="7580284" cy="323556"/>
          </a:xfrm>
          <a:prstGeom prst="rect">
            <a:avLst/>
          </a:prstGeom>
          <a:noFill/>
        </p:spPr>
        <p:txBody>
          <a:bodyPr wrap="square" anchor="ctr">
            <a:spAutoFit/>
          </a:bodyPr>
          <a:lstStyle/>
          <a:p>
            <a:pPr algn="l">
              <a:spcAft>
                <a:spcPts val="400"/>
              </a:spcAft>
            </a:pPr>
            <a:r>
              <a:rPr sz="900" b="0">
                <a:solidFill>
                  <a:srgbClr val="161B26"/>
                </a:solidFill>
                <a:latin typeface="Arial"/>
              </a:rPr>
              <a:t>Topic4 / LU5: temporal coherence, cuts, motion, tracking, drift and event analytics (K10)</a:t>
            </a:r>
          </a:p>
        </p:txBody>
      </p:sp>
      <p:sp>
        <p:nvSpPr>
          <p:cNvPr id="47" name="Rectangle 46"/>
          <p:cNvSpPr/>
          <p:nvPr/>
        </p:nvSpPr>
        <p:spPr>
          <a:xfrm>
            <a:off x="777240" y="3400860"/>
            <a:ext cx="1169791"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86968" y="3400860"/>
            <a:ext cx="986911" cy="323556"/>
          </a:xfrm>
          <a:prstGeom prst="rect">
            <a:avLst/>
          </a:prstGeom>
          <a:noFill/>
        </p:spPr>
        <p:txBody>
          <a:bodyPr wrap="square" anchor="ctr">
            <a:spAutoFit/>
          </a:bodyPr>
          <a:lstStyle/>
          <a:p>
            <a:pPr algn="l">
              <a:spcAft>
                <a:spcPts val="400"/>
              </a:spcAft>
            </a:pPr>
            <a:r>
              <a:rPr sz="900" b="1">
                <a:solidFill>
                  <a:srgbClr val="161B26"/>
                </a:solidFill>
                <a:latin typeface="Arial"/>
              </a:rPr>
              <a:t>11:30–12:30</a:t>
            </a:r>
          </a:p>
        </p:txBody>
      </p:sp>
      <p:sp>
        <p:nvSpPr>
          <p:cNvPr id="49" name="Rectangle 48"/>
          <p:cNvSpPr/>
          <p:nvPr/>
        </p:nvSpPr>
        <p:spPr>
          <a:xfrm>
            <a:off x="1947031" y="3400860"/>
            <a:ext cx="638068"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056759" y="3400860"/>
            <a:ext cx="455188" cy="323556"/>
          </a:xfrm>
          <a:prstGeom prst="rect">
            <a:avLst/>
          </a:prstGeom>
          <a:noFill/>
        </p:spPr>
        <p:txBody>
          <a:bodyPr wrap="square" anchor="ctr">
            <a:spAutoFit/>
          </a:bodyPr>
          <a:lstStyle/>
          <a:p>
            <a:pPr algn="l">
              <a:spcAft>
                <a:spcPts val="400"/>
              </a:spcAft>
            </a:pPr>
            <a:r>
              <a:rPr sz="900" b="0">
                <a:solidFill>
                  <a:srgbClr val="161B26"/>
                </a:solidFill>
                <a:latin typeface="Arial"/>
              </a:rPr>
              <a:t>60</a:t>
            </a:r>
          </a:p>
        </p:txBody>
      </p:sp>
      <p:sp>
        <p:nvSpPr>
          <p:cNvPr id="51" name="Rectangle 50"/>
          <p:cNvSpPr/>
          <p:nvPr/>
        </p:nvSpPr>
        <p:spPr>
          <a:xfrm>
            <a:off x="2585099" y="3400860"/>
            <a:ext cx="1063447"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694827" y="3400860"/>
            <a:ext cx="880567" cy="323556"/>
          </a:xfrm>
          <a:prstGeom prst="rect">
            <a:avLst/>
          </a:prstGeom>
          <a:noFill/>
        </p:spPr>
        <p:txBody>
          <a:bodyPr wrap="square" anchor="ctr">
            <a:spAutoFit/>
          </a:bodyPr>
          <a:lstStyle/>
          <a:p>
            <a:pPr algn="l">
              <a:spcAft>
                <a:spcPts val="400"/>
              </a:spcAft>
            </a:pPr>
            <a:r>
              <a:rPr sz="900" b="0">
                <a:solidFill>
                  <a:srgbClr val="161B26"/>
                </a:solidFill>
                <a:latin typeface="Arial"/>
              </a:rPr>
              <a:t>PP</a:t>
            </a:r>
          </a:p>
        </p:txBody>
      </p:sp>
      <p:sp>
        <p:nvSpPr>
          <p:cNvPr id="53" name="Rectangle 52"/>
          <p:cNvSpPr/>
          <p:nvPr/>
        </p:nvSpPr>
        <p:spPr>
          <a:xfrm>
            <a:off x="3648546" y="3400860"/>
            <a:ext cx="7763164"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758274" y="3400860"/>
            <a:ext cx="7580284" cy="323556"/>
          </a:xfrm>
          <a:prstGeom prst="rect">
            <a:avLst/>
          </a:prstGeom>
          <a:noFill/>
        </p:spPr>
        <p:txBody>
          <a:bodyPr wrap="square" anchor="ctr">
            <a:spAutoFit/>
          </a:bodyPr>
          <a:lstStyle/>
          <a:p>
            <a:pPr algn="l">
              <a:spcAft>
                <a:spcPts val="400"/>
              </a:spcAft>
            </a:pPr>
            <a:r>
              <a:rPr sz="900" b="0">
                <a:solidFill>
                  <a:srgbClr val="161B26"/>
                </a:solidFill>
                <a:latin typeface="Arial"/>
              </a:rPr>
              <a:t>LU5 practical: Lab10 shot, motion and continuity analytics (A6)</a:t>
            </a:r>
          </a:p>
        </p:txBody>
      </p:sp>
      <p:sp>
        <p:nvSpPr>
          <p:cNvPr id="55" name="Rectangle 54"/>
          <p:cNvSpPr/>
          <p:nvPr/>
        </p:nvSpPr>
        <p:spPr>
          <a:xfrm>
            <a:off x="777240" y="3724416"/>
            <a:ext cx="1169791"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86968" y="3724416"/>
            <a:ext cx="986911" cy="323556"/>
          </a:xfrm>
          <a:prstGeom prst="rect">
            <a:avLst/>
          </a:prstGeom>
          <a:noFill/>
        </p:spPr>
        <p:txBody>
          <a:bodyPr wrap="square" anchor="ctr">
            <a:spAutoFit/>
          </a:bodyPr>
          <a:lstStyle/>
          <a:p>
            <a:pPr algn="l">
              <a:spcAft>
                <a:spcPts val="400"/>
              </a:spcAft>
            </a:pPr>
            <a:r>
              <a:rPr sz="900" b="1">
                <a:solidFill>
                  <a:srgbClr val="161B26"/>
                </a:solidFill>
                <a:latin typeface="Arial"/>
              </a:rPr>
              <a:t>12:30–13:30</a:t>
            </a:r>
          </a:p>
        </p:txBody>
      </p:sp>
      <p:sp>
        <p:nvSpPr>
          <p:cNvPr id="57" name="Rectangle 56"/>
          <p:cNvSpPr/>
          <p:nvPr/>
        </p:nvSpPr>
        <p:spPr>
          <a:xfrm>
            <a:off x="1947031" y="3724416"/>
            <a:ext cx="638068"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056759" y="3724416"/>
            <a:ext cx="455188" cy="323556"/>
          </a:xfrm>
          <a:prstGeom prst="rect">
            <a:avLst/>
          </a:prstGeom>
          <a:noFill/>
        </p:spPr>
        <p:txBody>
          <a:bodyPr wrap="square" anchor="ctr">
            <a:spAutoFit/>
          </a:bodyPr>
          <a:lstStyle/>
          <a:p>
            <a:pPr algn="l">
              <a:spcAft>
                <a:spcPts val="400"/>
              </a:spcAft>
            </a:pPr>
            <a:r>
              <a:rPr sz="900" b="0">
                <a:solidFill>
                  <a:srgbClr val="161B26"/>
                </a:solidFill>
                <a:latin typeface="Arial"/>
              </a:rPr>
              <a:t>60</a:t>
            </a:r>
          </a:p>
        </p:txBody>
      </p:sp>
      <p:sp>
        <p:nvSpPr>
          <p:cNvPr id="59" name="Rectangle 58"/>
          <p:cNvSpPr/>
          <p:nvPr/>
        </p:nvSpPr>
        <p:spPr>
          <a:xfrm>
            <a:off x="2585099" y="3724416"/>
            <a:ext cx="1063447"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2694827" y="3724416"/>
            <a:ext cx="880567" cy="323556"/>
          </a:xfrm>
          <a:prstGeom prst="rect">
            <a:avLst/>
          </a:prstGeom>
          <a:noFill/>
        </p:spPr>
        <p:txBody>
          <a:bodyPr wrap="square" anchor="ctr">
            <a:spAutoFit/>
          </a:bodyPr>
          <a:lstStyle/>
          <a:p>
            <a:pPr algn="l">
              <a:spcAft>
                <a:spcPts val="400"/>
              </a:spcAft>
            </a:pPr>
            <a:r>
              <a:rPr sz="900" b="0">
                <a:solidFill>
                  <a:srgbClr val="161B26"/>
                </a:solidFill>
                <a:latin typeface="Arial"/>
              </a:rPr>
              <a:t>LUNCH</a:t>
            </a:r>
          </a:p>
        </p:txBody>
      </p:sp>
      <p:sp>
        <p:nvSpPr>
          <p:cNvPr id="61" name="Rectangle 60"/>
          <p:cNvSpPr/>
          <p:nvPr/>
        </p:nvSpPr>
        <p:spPr>
          <a:xfrm>
            <a:off x="3648546" y="3724416"/>
            <a:ext cx="7763164"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3758274" y="3724416"/>
            <a:ext cx="7580284" cy="323556"/>
          </a:xfrm>
          <a:prstGeom prst="rect">
            <a:avLst/>
          </a:prstGeom>
          <a:noFill/>
        </p:spPr>
        <p:txBody>
          <a:bodyPr wrap="square" anchor="ctr">
            <a:spAutoFit/>
          </a:bodyPr>
          <a:lstStyle/>
          <a:p>
            <a:pPr algn="l">
              <a:spcAft>
                <a:spcPts val="400"/>
              </a:spcAft>
            </a:pPr>
            <a:r>
              <a:rPr sz="900" b="0">
                <a:solidFill>
                  <a:srgbClr val="161B26"/>
                </a:solidFill>
                <a:latin typeface="Arial"/>
              </a:rPr>
              <a:t>Lunch; excluded</a:t>
            </a:r>
          </a:p>
        </p:txBody>
      </p:sp>
      <p:sp>
        <p:nvSpPr>
          <p:cNvPr id="63" name="Rectangle 62"/>
          <p:cNvSpPr/>
          <p:nvPr/>
        </p:nvSpPr>
        <p:spPr>
          <a:xfrm>
            <a:off x="777240" y="4047972"/>
            <a:ext cx="1169791"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86968" y="4047972"/>
            <a:ext cx="986911" cy="323556"/>
          </a:xfrm>
          <a:prstGeom prst="rect">
            <a:avLst/>
          </a:prstGeom>
          <a:noFill/>
        </p:spPr>
        <p:txBody>
          <a:bodyPr wrap="square" anchor="ctr">
            <a:spAutoFit/>
          </a:bodyPr>
          <a:lstStyle/>
          <a:p>
            <a:pPr algn="l">
              <a:spcAft>
                <a:spcPts val="400"/>
              </a:spcAft>
            </a:pPr>
            <a:r>
              <a:rPr sz="900" b="1">
                <a:solidFill>
                  <a:srgbClr val="161B26"/>
                </a:solidFill>
                <a:latin typeface="Arial"/>
              </a:rPr>
              <a:t>13:30–14:45</a:t>
            </a:r>
          </a:p>
        </p:txBody>
      </p:sp>
      <p:sp>
        <p:nvSpPr>
          <p:cNvPr id="65" name="Rectangle 64"/>
          <p:cNvSpPr/>
          <p:nvPr/>
        </p:nvSpPr>
        <p:spPr>
          <a:xfrm>
            <a:off x="1947031" y="4047972"/>
            <a:ext cx="638068"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2056759" y="4047972"/>
            <a:ext cx="455188" cy="323556"/>
          </a:xfrm>
          <a:prstGeom prst="rect">
            <a:avLst/>
          </a:prstGeom>
          <a:noFill/>
        </p:spPr>
        <p:txBody>
          <a:bodyPr wrap="square" anchor="ctr">
            <a:spAutoFit/>
          </a:bodyPr>
          <a:lstStyle/>
          <a:p>
            <a:pPr algn="l">
              <a:spcAft>
                <a:spcPts val="400"/>
              </a:spcAft>
            </a:pPr>
            <a:r>
              <a:rPr sz="900" b="0">
                <a:solidFill>
                  <a:srgbClr val="161B26"/>
                </a:solidFill>
                <a:latin typeface="Arial"/>
              </a:rPr>
              <a:t>75</a:t>
            </a:r>
          </a:p>
        </p:txBody>
      </p:sp>
      <p:sp>
        <p:nvSpPr>
          <p:cNvPr id="67" name="Rectangle 66"/>
          <p:cNvSpPr/>
          <p:nvPr/>
        </p:nvSpPr>
        <p:spPr>
          <a:xfrm>
            <a:off x="2585099" y="4047972"/>
            <a:ext cx="1063447"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2694827" y="4047972"/>
            <a:ext cx="880567" cy="323556"/>
          </a:xfrm>
          <a:prstGeom prst="rect">
            <a:avLst/>
          </a:prstGeom>
          <a:noFill/>
        </p:spPr>
        <p:txBody>
          <a:bodyPr wrap="square" anchor="ctr">
            <a:spAutoFit/>
          </a:bodyPr>
          <a:lstStyle/>
          <a:p>
            <a:pPr algn="l">
              <a:spcAft>
                <a:spcPts val="400"/>
              </a:spcAft>
            </a:pPr>
            <a:r>
              <a:rPr sz="900" b="0">
                <a:solidFill>
                  <a:srgbClr val="161B26"/>
                </a:solidFill>
                <a:latin typeface="Arial"/>
              </a:rPr>
              <a:t>CR</a:t>
            </a:r>
          </a:p>
        </p:txBody>
      </p:sp>
      <p:sp>
        <p:nvSpPr>
          <p:cNvPr id="69" name="Rectangle 68"/>
          <p:cNvSpPr/>
          <p:nvPr/>
        </p:nvSpPr>
        <p:spPr>
          <a:xfrm>
            <a:off x="3648546" y="4047972"/>
            <a:ext cx="7763164"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3758274" y="4047972"/>
            <a:ext cx="7580284" cy="323556"/>
          </a:xfrm>
          <a:prstGeom prst="rect">
            <a:avLst/>
          </a:prstGeom>
          <a:noFill/>
        </p:spPr>
        <p:txBody>
          <a:bodyPr wrap="square" anchor="ctr">
            <a:spAutoFit/>
          </a:bodyPr>
          <a:lstStyle/>
          <a:p>
            <a:pPr algn="l">
              <a:spcAft>
                <a:spcPts val="400"/>
              </a:spcAft>
            </a:pPr>
            <a:r>
              <a:rPr sz="900" b="0">
                <a:solidFill>
                  <a:srgbClr val="161B26"/>
                </a:solidFill>
                <a:latin typeface="Arial"/>
              </a:rPr>
              <a:t>Topic5 / LU6: production architectures, protocols, constraints and cloud-versus-local trade-offs</a:t>
            </a:r>
          </a:p>
        </p:txBody>
      </p:sp>
      <p:sp>
        <p:nvSpPr>
          <p:cNvPr id="71" name="Rectangle 70"/>
          <p:cNvSpPr/>
          <p:nvPr/>
        </p:nvSpPr>
        <p:spPr>
          <a:xfrm>
            <a:off x="777240" y="4371528"/>
            <a:ext cx="1169791"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86968" y="4371528"/>
            <a:ext cx="986911" cy="323556"/>
          </a:xfrm>
          <a:prstGeom prst="rect">
            <a:avLst/>
          </a:prstGeom>
          <a:noFill/>
        </p:spPr>
        <p:txBody>
          <a:bodyPr wrap="square" anchor="ctr">
            <a:spAutoFit/>
          </a:bodyPr>
          <a:lstStyle/>
          <a:p>
            <a:pPr algn="l">
              <a:spcAft>
                <a:spcPts val="400"/>
              </a:spcAft>
            </a:pPr>
            <a:r>
              <a:rPr sz="900" b="1">
                <a:solidFill>
                  <a:srgbClr val="161B26"/>
                </a:solidFill>
                <a:latin typeface="Arial"/>
              </a:rPr>
              <a:t>14:45–15:00</a:t>
            </a:r>
          </a:p>
        </p:txBody>
      </p:sp>
      <p:sp>
        <p:nvSpPr>
          <p:cNvPr id="73" name="Rectangle 72"/>
          <p:cNvSpPr/>
          <p:nvPr/>
        </p:nvSpPr>
        <p:spPr>
          <a:xfrm>
            <a:off x="1947031" y="4371528"/>
            <a:ext cx="638068"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2056759" y="4371528"/>
            <a:ext cx="455188" cy="323556"/>
          </a:xfrm>
          <a:prstGeom prst="rect">
            <a:avLst/>
          </a:prstGeom>
          <a:noFill/>
        </p:spPr>
        <p:txBody>
          <a:bodyPr wrap="square" anchor="ctr">
            <a:spAutoFit/>
          </a:bodyPr>
          <a:lstStyle/>
          <a:p>
            <a:pPr algn="l">
              <a:spcAft>
                <a:spcPts val="400"/>
              </a:spcAft>
            </a:pPr>
            <a:r>
              <a:rPr sz="900" b="0">
                <a:solidFill>
                  <a:srgbClr val="161B26"/>
                </a:solidFill>
                <a:latin typeface="Arial"/>
              </a:rPr>
              <a:t>15</a:t>
            </a:r>
          </a:p>
        </p:txBody>
      </p:sp>
      <p:sp>
        <p:nvSpPr>
          <p:cNvPr id="75" name="Rectangle 74"/>
          <p:cNvSpPr/>
          <p:nvPr/>
        </p:nvSpPr>
        <p:spPr>
          <a:xfrm>
            <a:off x="2585099" y="4371528"/>
            <a:ext cx="1063447"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2694827" y="4371528"/>
            <a:ext cx="880567" cy="323556"/>
          </a:xfrm>
          <a:prstGeom prst="rect">
            <a:avLst/>
          </a:prstGeom>
          <a:noFill/>
        </p:spPr>
        <p:txBody>
          <a:bodyPr wrap="square" anchor="ctr">
            <a:spAutoFit/>
          </a:bodyPr>
          <a:lstStyle/>
          <a:p>
            <a:pPr algn="l">
              <a:spcAft>
                <a:spcPts val="400"/>
              </a:spcAft>
            </a:pPr>
            <a:r>
              <a:rPr sz="900" b="0">
                <a:solidFill>
                  <a:srgbClr val="161B26"/>
                </a:solidFill>
                <a:latin typeface="Arial"/>
              </a:rPr>
              <a:t>BREAK</a:t>
            </a:r>
          </a:p>
        </p:txBody>
      </p:sp>
      <p:sp>
        <p:nvSpPr>
          <p:cNvPr id="77" name="Rectangle 76"/>
          <p:cNvSpPr/>
          <p:nvPr/>
        </p:nvSpPr>
        <p:spPr>
          <a:xfrm>
            <a:off x="3648546" y="4371528"/>
            <a:ext cx="7763164"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3758274" y="4371528"/>
            <a:ext cx="7580284" cy="323556"/>
          </a:xfrm>
          <a:prstGeom prst="rect">
            <a:avLst/>
          </a:prstGeom>
          <a:noFill/>
        </p:spPr>
        <p:txBody>
          <a:bodyPr wrap="square" anchor="ctr">
            <a:spAutoFit/>
          </a:bodyPr>
          <a:lstStyle/>
          <a:p>
            <a:pPr algn="l">
              <a:spcAft>
                <a:spcPts val="400"/>
              </a:spcAft>
            </a:pPr>
            <a:r>
              <a:rPr sz="900" b="0">
                <a:solidFill>
                  <a:srgbClr val="161B26"/>
                </a:solidFill>
                <a:latin typeface="Arial"/>
              </a:rPr>
              <a:t>Tea break; excluded</a:t>
            </a:r>
          </a:p>
        </p:txBody>
      </p:sp>
      <p:sp>
        <p:nvSpPr>
          <p:cNvPr id="79" name="Rectangle 78"/>
          <p:cNvSpPr/>
          <p:nvPr/>
        </p:nvSpPr>
        <p:spPr>
          <a:xfrm>
            <a:off x="777240" y="4695084"/>
            <a:ext cx="1169791"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886968" y="4695084"/>
            <a:ext cx="986911" cy="323556"/>
          </a:xfrm>
          <a:prstGeom prst="rect">
            <a:avLst/>
          </a:prstGeom>
          <a:noFill/>
        </p:spPr>
        <p:txBody>
          <a:bodyPr wrap="square" anchor="ctr">
            <a:spAutoFit/>
          </a:bodyPr>
          <a:lstStyle/>
          <a:p>
            <a:pPr algn="l">
              <a:spcAft>
                <a:spcPts val="400"/>
              </a:spcAft>
            </a:pPr>
            <a:r>
              <a:rPr sz="900" b="1">
                <a:solidFill>
                  <a:srgbClr val="161B26"/>
                </a:solidFill>
                <a:latin typeface="Arial"/>
              </a:rPr>
              <a:t>15:00–16:00</a:t>
            </a:r>
          </a:p>
        </p:txBody>
      </p:sp>
      <p:sp>
        <p:nvSpPr>
          <p:cNvPr id="81" name="Rectangle 80"/>
          <p:cNvSpPr/>
          <p:nvPr/>
        </p:nvSpPr>
        <p:spPr>
          <a:xfrm>
            <a:off x="1947031" y="4695084"/>
            <a:ext cx="638068"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2056759" y="4695084"/>
            <a:ext cx="455188" cy="323556"/>
          </a:xfrm>
          <a:prstGeom prst="rect">
            <a:avLst/>
          </a:prstGeom>
          <a:noFill/>
        </p:spPr>
        <p:txBody>
          <a:bodyPr wrap="square" anchor="ctr">
            <a:spAutoFit/>
          </a:bodyPr>
          <a:lstStyle/>
          <a:p>
            <a:pPr algn="l">
              <a:spcAft>
                <a:spcPts val="400"/>
              </a:spcAft>
            </a:pPr>
            <a:r>
              <a:rPr sz="900" b="0">
                <a:solidFill>
                  <a:srgbClr val="161B26"/>
                </a:solidFill>
                <a:latin typeface="Arial"/>
              </a:rPr>
              <a:t>60</a:t>
            </a:r>
          </a:p>
        </p:txBody>
      </p:sp>
      <p:sp>
        <p:nvSpPr>
          <p:cNvPr id="83" name="Rectangle 82"/>
          <p:cNvSpPr/>
          <p:nvPr/>
        </p:nvSpPr>
        <p:spPr>
          <a:xfrm>
            <a:off x="2585099" y="4695084"/>
            <a:ext cx="1063447"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2694827" y="4695084"/>
            <a:ext cx="880567" cy="323556"/>
          </a:xfrm>
          <a:prstGeom prst="rect">
            <a:avLst/>
          </a:prstGeom>
          <a:noFill/>
        </p:spPr>
        <p:txBody>
          <a:bodyPr wrap="square" anchor="ctr">
            <a:spAutoFit/>
          </a:bodyPr>
          <a:lstStyle/>
          <a:p>
            <a:pPr algn="l">
              <a:spcAft>
                <a:spcPts val="400"/>
              </a:spcAft>
            </a:pPr>
            <a:r>
              <a:rPr sz="900" b="0">
                <a:solidFill>
                  <a:srgbClr val="161B26"/>
                </a:solidFill>
                <a:latin typeface="Arial"/>
              </a:rPr>
              <a:t>PP</a:t>
            </a:r>
          </a:p>
        </p:txBody>
      </p:sp>
      <p:sp>
        <p:nvSpPr>
          <p:cNvPr id="85" name="Rectangle 84"/>
          <p:cNvSpPr/>
          <p:nvPr/>
        </p:nvSpPr>
        <p:spPr>
          <a:xfrm>
            <a:off x="3648546" y="4695084"/>
            <a:ext cx="7763164"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3758274" y="4695084"/>
            <a:ext cx="7580284" cy="323556"/>
          </a:xfrm>
          <a:prstGeom prst="rect">
            <a:avLst/>
          </a:prstGeom>
          <a:noFill/>
        </p:spPr>
        <p:txBody>
          <a:bodyPr wrap="square" anchor="ctr">
            <a:spAutoFit/>
          </a:bodyPr>
          <a:lstStyle/>
          <a:p>
            <a:pPr algn="l">
              <a:spcAft>
                <a:spcPts val="400"/>
              </a:spcAft>
            </a:pPr>
            <a:r>
              <a:rPr sz="900" b="0">
                <a:solidFill>
                  <a:srgbClr val="161B26"/>
                </a:solidFill>
                <a:latin typeface="Arial"/>
              </a:rPr>
              <a:t>LU6 practical: Lab12 cloud, local and hybrid production architecture evaluation (A7,A8)</a:t>
            </a:r>
          </a:p>
        </p:txBody>
      </p:sp>
      <p:sp>
        <p:nvSpPr>
          <p:cNvPr id="87" name="Rectangle 86"/>
          <p:cNvSpPr/>
          <p:nvPr/>
        </p:nvSpPr>
        <p:spPr>
          <a:xfrm>
            <a:off x="777240" y="5018640"/>
            <a:ext cx="1169791"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886968" y="5018640"/>
            <a:ext cx="986911" cy="323556"/>
          </a:xfrm>
          <a:prstGeom prst="rect">
            <a:avLst/>
          </a:prstGeom>
          <a:noFill/>
        </p:spPr>
        <p:txBody>
          <a:bodyPr wrap="square" anchor="ctr">
            <a:spAutoFit/>
          </a:bodyPr>
          <a:lstStyle/>
          <a:p>
            <a:pPr algn="l">
              <a:spcAft>
                <a:spcPts val="400"/>
              </a:spcAft>
            </a:pPr>
            <a:r>
              <a:rPr sz="900" b="1">
                <a:solidFill>
                  <a:srgbClr val="161B26"/>
                </a:solidFill>
                <a:latin typeface="Arial"/>
              </a:rPr>
              <a:t>16:00–16:10</a:t>
            </a:r>
          </a:p>
        </p:txBody>
      </p:sp>
      <p:sp>
        <p:nvSpPr>
          <p:cNvPr id="89" name="Rectangle 88"/>
          <p:cNvSpPr/>
          <p:nvPr/>
        </p:nvSpPr>
        <p:spPr>
          <a:xfrm>
            <a:off x="1947031" y="5018640"/>
            <a:ext cx="638068"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2056759" y="5018640"/>
            <a:ext cx="455188" cy="323556"/>
          </a:xfrm>
          <a:prstGeom prst="rect">
            <a:avLst/>
          </a:prstGeom>
          <a:noFill/>
        </p:spPr>
        <p:txBody>
          <a:bodyPr wrap="square" anchor="ctr">
            <a:spAutoFit/>
          </a:bodyPr>
          <a:lstStyle/>
          <a:p>
            <a:pPr algn="l">
              <a:spcAft>
                <a:spcPts val="400"/>
              </a:spcAft>
            </a:pPr>
            <a:r>
              <a:rPr sz="900" b="0">
                <a:solidFill>
                  <a:srgbClr val="161B26"/>
                </a:solidFill>
                <a:latin typeface="Arial"/>
              </a:rPr>
              <a:t>10</a:t>
            </a:r>
          </a:p>
        </p:txBody>
      </p:sp>
      <p:sp>
        <p:nvSpPr>
          <p:cNvPr id="91" name="Rectangle 90"/>
          <p:cNvSpPr/>
          <p:nvPr/>
        </p:nvSpPr>
        <p:spPr>
          <a:xfrm>
            <a:off x="2585099" y="5018640"/>
            <a:ext cx="1063447"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2694827" y="5018640"/>
            <a:ext cx="880567" cy="323556"/>
          </a:xfrm>
          <a:prstGeom prst="rect">
            <a:avLst/>
          </a:prstGeom>
          <a:noFill/>
        </p:spPr>
        <p:txBody>
          <a:bodyPr wrap="square" anchor="ctr">
            <a:spAutoFit/>
          </a:bodyPr>
          <a:lstStyle/>
          <a:p>
            <a:pPr algn="l">
              <a:spcAft>
                <a:spcPts val="400"/>
              </a:spcAft>
            </a:pPr>
            <a:r>
              <a:rPr sz="900" b="0">
                <a:solidFill>
                  <a:srgbClr val="161B26"/>
                </a:solidFill>
                <a:latin typeface="Arial"/>
              </a:rPr>
              <a:t>ADMIN</a:t>
            </a:r>
          </a:p>
        </p:txBody>
      </p:sp>
      <p:sp>
        <p:nvSpPr>
          <p:cNvPr id="93" name="Rectangle 92"/>
          <p:cNvSpPr/>
          <p:nvPr/>
        </p:nvSpPr>
        <p:spPr>
          <a:xfrm>
            <a:off x="3648546" y="5018640"/>
            <a:ext cx="7763164"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3758274" y="5018640"/>
            <a:ext cx="7580284" cy="323556"/>
          </a:xfrm>
          <a:prstGeom prst="rect">
            <a:avLst/>
          </a:prstGeom>
          <a:noFill/>
        </p:spPr>
        <p:txBody>
          <a:bodyPr wrap="square" anchor="ctr">
            <a:spAutoFit/>
          </a:bodyPr>
          <a:lstStyle/>
          <a:p>
            <a:pPr algn="l">
              <a:spcAft>
                <a:spcPts val="400"/>
              </a:spcAft>
            </a:pPr>
            <a:r>
              <a:rPr sz="900" b="0">
                <a:solidFill>
                  <a:srgbClr val="161B26"/>
                </a:solidFill>
                <a:latin typeface="Arial"/>
              </a:rPr>
              <a:t>Assessment briefing and attendance; outside programme minutes</a:t>
            </a:r>
          </a:p>
        </p:txBody>
      </p:sp>
      <p:sp>
        <p:nvSpPr>
          <p:cNvPr id="95" name="Rectangle 94"/>
          <p:cNvSpPr/>
          <p:nvPr/>
        </p:nvSpPr>
        <p:spPr>
          <a:xfrm>
            <a:off x="777240" y="5342196"/>
            <a:ext cx="1169791"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886968" y="5342196"/>
            <a:ext cx="986911" cy="323556"/>
          </a:xfrm>
          <a:prstGeom prst="rect">
            <a:avLst/>
          </a:prstGeom>
          <a:noFill/>
        </p:spPr>
        <p:txBody>
          <a:bodyPr wrap="square" anchor="ctr">
            <a:spAutoFit/>
          </a:bodyPr>
          <a:lstStyle/>
          <a:p>
            <a:pPr algn="l">
              <a:spcAft>
                <a:spcPts val="400"/>
              </a:spcAft>
            </a:pPr>
            <a:r>
              <a:rPr sz="900" b="1">
                <a:solidFill>
                  <a:srgbClr val="161B26"/>
                </a:solidFill>
                <a:latin typeface="Arial"/>
              </a:rPr>
              <a:t>16:10–17:10</a:t>
            </a:r>
          </a:p>
        </p:txBody>
      </p:sp>
      <p:sp>
        <p:nvSpPr>
          <p:cNvPr id="97" name="Rectangle 96"/>
          <p:cNvSpPr/>
          <p:nvPr/>
        </p:nvSpPr>
        <p:spPr>
          <a:xfrm>
            <a:off x="1947031" y="5342196"/>
            <a:ext cx="638068"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2056759" y="5342196"/>
            <a:ext cx="455188" cy="323556"/>
          </a:xfrm>
          <a:prstGeom prst="rect">
            <a:avLst/>
          </a:prstGeom>
          <a:noFill/>
        </p:spPr>
        <p:txBody>
          <a:bodyPr wrap="square" anchor="ctr">
            <a:spAutoFit/>
          </a:bodyPr>
          <a:lstStyle/>
          <a:p>
            <a:pPr algn="l">
              <a:spcAft>
                <a:spcPts val="400"/>
              </a:spcAft>
            </a:pPr>
            <a:r>
              <a:rPr sz="900" b="0">
                <a:solidFill>
                  <a:srgbClr val="161B26"/>
                </a:solidFill>
                <a:latin typeface="Arial"/>
              </a:rPr>
              <a:t>60</a:t>
            </a:r>
          </a:p>
        </p:txBody>
      </p:sp>
      <p:sp>
        <p:nvSpPr>
          <p:cNvPr id="99" name="Rectangle 98"/>
          <p:cNvSpPr/>
          <p:nvPr/>
        </p:nvSpPr>
        <p:spPr>
          <a:xfrm>
            <a:off x="2585099" y="5342196"/>
            <a:ext cx="1063447"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2694827" y="5342196"/>
            <a:ext cx="880567" cy="323556"/>
          </a:xfrm>
          <a:prstGeom prst="rect">
            <a:avLst/>
          </a:prstGeom>
          <a:noFill/>
        </p:spPr>
        <p:txBody>
          <a:bodyPr wrap="square" anchor="ctr">
            <a:spAutoFit/>
          </a:bodyPr>
          <a:lstStyle/>
          <a:p>
            <a:pPr algn="l">
              <a:spcAft>
                <a:spcPts val="400"/>
              </a:spcAft>
            </a:pPr>
            <a:r>
              <a:rPr sz="900" b="0">
                <a:solidFill>
                  <a:srgbClr val="161B26"/>
                </a:solidFill>
                <a:latin typeface="Arial"/>
              </a:rPr>
              <a:t>AS</a:t>
            </a:r>
          </a:p>
        </p:txBody>
      </p:sp>
      <p:sp>
        <p:nvSpPr>
          <p:cNvPr id="101" name="Rectangle 100"/>
          <p:cNvSpPr/>
          <p:nvPr/>
        </p:nvSpPr>
        <p:spPr>
          <a:xfrm>
            <a:off x="3648546" y="5342196"/>
            <a:ext cx="7763164"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3758274" y="5342196"/>
            <a:ext cx="7580284" cy="323556"/>
          </a:xfrm>
          <a:prstGeom prst="rect">
            <a:avLst/>
          </a:prstGeom>
          <a:noFill/>
        </p:spPr>
        <p:txBody>
          <a:bodyPr wrap="square" anchor="ctr">
            <a:spAutoFit/>
          </a:bodyPr>
          <a:lstStyle/>
          <a:p>
            <a:pPr algn="l">
              <a:spcAft>
                <a:spcPts val="400"/>
              </a:spcAft>
            </a:pPr>
            <a:r>
              <a:rPr sz="900" b="0">
                <a:solidFill>
                  <a:srgbClr val="161B26"/>
                </a:solidFill>
                <a:latin typeface="Arial"/>
              </a:rPr>
              <a:t>Written Assessment: 13 open-ended questions, K1-K13, individual/open book</a:t>
            </a:r>
          </a:p>
        </p:txBody>
      </p:sp>
      <p:sp>
        <p:nvSpPr>
          <p:cNvPr id="103" name="Rectangle 102"/>
          <p:cNvSpPr/>
          <p:nvPr/>
        </p:nvSpPr>
        <p:spPr>
          <a:xfrm>
            <a:off x="777240" y="5665752"/>
            <a:ext cx="1169791"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886968" y="5665752"/>
            <a:ext cx="986911" cy="323556"/>
          </a:xfrm>
          <a:prstGeom prst="rect">
            <a:avLst/>
          </a:prstGeom>
          <a:noFill/>
        </p:spPr>
        <p:txBody>
          <a:bodyPr wrap="square" anchor="ctr">
            <a:spAutoFit/>
          </a:bodyPr>
          <a:lstStyle/>
          <a:p>
            <a:pPr algn="l">
              <a:spcAft>
                <a:spcPts val="400"/>
              </a:spcAft>
            </a:pPr>
            <a:r>
              <a:rPr sz="900" b="1">
                <a:solidFill>
                  <a:srgbClr val="161B26"/>
                </a:solidFill>
                <a:latin typeface="Arial"/>
              </a:rPr>
              <a:t>17:10–18:40</a:t>
            </a:r>
          </a:p>
        </p:txBody>
      </p:sp>
      <p:sp>
        <p:nvSpPr>
          <p:cNvPr id="105" name="Rectangle 104"/>
          <p:cNvSpPr/>
          <p:nvPr/>
        </p:nvSpPr>
        <p:spPr>
          <a:xfrm>
            <a:off x="1947031" y="5665752"/>
            <a:ext cx="638068"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2056759" y="5665752"/>
            <a:ext cx="455188" cy="323556"/>
          </a:xfrm>
          <a:prstGeom prst="rect">
            <a:avLst/>
          </a:prstGeom>
          <a:noFill/>
        </p:spPr>
        <p:txBody>
          <a:bodyPr wrap="square" anchor="ctr">
            <a:spAutoFit/>
          </a:bodyPr>
          <a:lstStyle/>
          <a:p>
            <a:pPr algn="l">
              <a:spcAft>
                <a:spcPts val="400"/>
              </a:spcAft>
            </a:pPr>
            <a:r>
              <a:rPr sz="900" b="0">
                <a:solidFill>
                  <a:srgbClr val="161B26"/>
                </a:solidFill>
                <a:latin typeface="Arial"/>
              </a:rPr>
              <a:t>90</a:t>
            </a:r>
          </a:p>
        </p:txBody>
      </p:sp>
      <p:sp>
        <p:nvSpPr>
          <p:cNvPr id="107" name="Rectangle 106"/>
          <p:cNvSpPr/>
          <p:nvPr/>
        </p:nvSpPr>
        <p:spPr>
          <a:xfrm>
            <a:off x="2585099" y="5665752"/>
            <a:ext cx="1063447"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2694827" y="5665752"/>
            <a:ext cx="880567" cy="323556"/>
          </a:xfrm>
          <a:prstGeom prst="rect">
            <a:avLst/>
          </a:prstGeom>
          <a:noFill/>
        </p:spPr>
        <p:txBody>
          <a:bodyPr wrap="square" anchor="ctr">
            <a:spAutoFit/>
          </a:bodyPr>
          <a:lstStyle/>
          <a:p>
            <a:pPr algn="l">
              <a:spcAft>
                <a:spcPts val="400"/>
              </a:spcAft>
            </a:pPr>
            <a:r>
              <a:rPr sz="900" b="0">
                <a:solidFill>
                  <a:srgbClr val="161B26"/>
                </a:solidFill>
                <a:latin typeface="Arial"/>
              </a:rPr>
              <a:t>AS</a:t>
            </a:r>
          </a:p>
        </p:txBody>
      </p:sp>
      <p:sp>
        <p:nvSpPr>
          <p:cNvPr id="109" name="Rectangle 108"/>
          <p:cNvSpPr/>
          <p:nvPr/>
        </p:nvSpPr>
        <p:spPr>
          <a:xfrm>
            <a:off x="3648546" y="5665752"/>
            <a:ext cx="7763164"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3758274" y="5665752"/>
            <a:ext cx="7580284" cy="323556"/>
          </a:xfrm>
          <a:prstGeom prst="rect">
            <a:avLst/>
          </a:prstGeom>
          <a:noFill/>
        </p:spPr>
        <p:txBody>
          <a:bodyPr wrap="square" anchor="ctr">
            <a:spAutoFit/>
          </a:bodyPr>
          <a:lstStyle/>
          <a:p>
            <a:pPr algn="l">
              <a:spcAft>
                <a:spcPts val="400"/>
              </a:spcAft>
            </a:pPr>
            <a:r>
              <a:rPr sz="900" b="0">
                <a:solidFill>
                  <a:srgbClr val="161B26"/>
                </a:solidFill>
                <a:latin typeface="Arial"/>
              </a:rPr>
              <a:t>Practical Performance: five tasks, A1-A8, individual/open book; submission and sign-off</a:t>
            </a:r>
          </a:p>
        </p:txBody>
      </p:sp>
      <p:sp>
        <p:nvSpPr>
          <p:cNvPr id="111" name="TextBox 110"/>
          <p:cNvSpPr txBox="1"/>
          <p:nvPr/>
        </p:nvSpPr>
        <p:spPr>
          <a:xfrm>
            <a:off x="777240" y="6053328"/>
            <a:ext cx="10698480" cy="457200"/>
          </a:xfrm>
          <a:prstGeom prst="rect">
            <a:avLst/>
          </a:prstGeom>
          <a:noFill/>
        </p:spPr>
        <p:txBody>
          <a:bodyPr wrap="square" anchor="t">
            <a:spAutoFit/>
          </a:bodyPr>
          <a:lstStyle/>
          <a:p>
            <a:pPr algn="ctr">
              <a:spcAft>
                <a:spcPts val="400"/>
              </a:spcAft>
            </a:pPr>
            <a:r>
              <a:rPr sz="1200" b="0">
                <a:solidFill>
                  <a:srgbClr val="5B6372"/>
                </a:solidFill>
                <a:latin typeface="Arial"/>
              </a:rPr>
              <a:t>Programme minutes on Day 2: 480 (classroom facilitation + practical + assessment). Lunch, tea breaks and administration are additional, non-instructional time.</a:t>
            </a:r>
          </a:p>
        </p:txBody>
      </p:sp>
      <p:sp>
        <p:nvSpPr>
          <p:cNvPr id="112" name="TextBox 1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113" name="TextBox 1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4" name="TextBox 1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fast">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APPROVED COURSE PROPOSAL CA-WSQ-2020-013290 · PART 4 SECTION 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Programme Hours — 16 Hours Reconciled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6675120" cy="3977639"/>
        </p:xfrm>
        <a:graphic>
          <a:graphicData uri="http://schemas.openxmlformats.org/drawingml/2006/chart">
            <c:chart xmlns:c="http://schemas.openxmlformats.org/drawingml/2006/chart" r:id="rId2"/>
          </a:graphicData>
        </a:graphic>
      </p:graphicFrame>
      <p:sp>
        <p:nvSpPr>
          <p:cNvPr id="8" name="Rectangle 7"/>
          <p:cNvSpPr/>
          <p:nvPr/>
        </p:nvSpPr>
        <p:spPr>
          <a:xfrm>
            <a:off x="7680960" y="1783080"/>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80960" y="1783080"/>
            <a:ext cx="82296" cy="87096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82128" y="1783080"/>
            <a:ext cx="3346704" cy="870965"/>
          </a:xfrm>
          <a:prstGeom prst="rect">
            <a:avLst/>
          </a:prstGeom>
          <a:noFill/>
        </p:spPr>
        <p:txBody>
          <a:bodyPr wrap="square" anchor="ctr">
            <a:spAutoFit/>
          </a:bodyPr>
          <a:lstStyle/>
          <a:p>
            <a:pPr algn="l">
              <a:spcAft>
                <a:spcPts val="200"/>
              </a:spcAft>
            </a:pPr>
            <a:r>
              <a:rPr sz="1250" b="1">
                <a:solidFill>
                  <a:srgbClr val="1F6FEB"/>
                </a:solidFill>
                <a:latin typeface="Arial"/>
              </a:rPr>
              <a:t>450 min classroom</a:t>
            </a:r>
          </a:p>
          <a:p>
            <a:pPr algn="l">
              <a:spcAft>
                <a:spcPts val="200"/>
              </a:spcAft>
            </a:pPr>
            <a:r>
              <a:rPr sz="1100" b="0">
                <a:solidFill>
                  <a:srgbClr val="161B26"/>
                </a:solidFill>
                <a:latin typeface="Arial"/>
              </a:rPr>
              <a:t>7.5 hours across the five topics, 75 min per approved Learning Unit.</a:t>
            </a:r>
          </a:p>
        </p:txBody>
      </p:sp>
      <p:sp>
        <p:nvSpPr>
          <p:cNvPr id="11" name="Rectangle 10"/>
          <p:cNvSpPr/>
          <p:nvPr/>
        </p:nvSpPr>
        <p:spPr>
          <a:xfrm>
            <a:off x="7680960" y="2818637"/>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680960" y="2818637"/>
            <a:ext cx="82296" cy="87096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82128" y="2818637"/>
            <a:ext cx="3346704" cy="870965"/>
          </a:xfrm>
          <a:prstGeom prst="rect">
            <a:avLst/>
          </a:prstGeom>
          <a:noFill/>
        </p:spPr>
        <p:txBody>
          <a:bodyPr wrap="square" anchor="ctr">
            <a:spAutoFit/>
          </a:bodyPr>
          <a:lstStyle/>
          <a:p>
            <a:pPr algn="l">
              <a:spcAft>
                <a:spcPts val="200"/>
              </a:spcAft>
            </a:pPr>
            <a:r>
              <a:rPr sz="1250" b="1">
                <a:solidFill>
                  <a:srgbClr val="10B981"/>
                </a:solidFill>
                <a:latin typeface="Arial"/>
              </a:rPr>
              <a:t>360 min practical</a:t>
            </a:r>
          </a:p>
          <a:p>
            <a:pPr algn="l">
              <a:spcAft>
                <a:spcPts val="200"/>
              </a:spcAft>
            </a:pPr>
            <a:r>
              <a:rPr sz="1100" b="0">
                <a:solidFill>
                  <a:srgbClr val="161B26"/>
                </a:solidFill>
                <a:latin typeface="Arial"/>
              </a:rPr>
              <a:t>6 hours across 12 labs: 0 / 60 / 60 / 180 / 60 by topic.</a:t>
            </a:r>
          </a:p>
        </p:txBody>
      </p:sp>
      <p:sp>
        <p:nvSpPr>
          <p:cNvPr id="14" name="Rectangle 13"/>
          <p:cNvSpPr/>
          <p:nvPr/>
        </p:nvSpPr>
        <p:spPr>
          <a:xfrm>
            <a:off x="7680960" y="3854194"/>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680960" y="3854194"/>
            <a:ext cx="82296" cy="870965"/>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82128" y="3854194"/>
            <a:ext cx="3346704" cy="870965"/>
          </a:xfrm>
          <a:prstGeom prst="rect">
            <a:avLst/>
          </a:prstGeom>
          <a:noFill/>
        </p:spPr>
        <p:txBody>
          <a:bodyPr wrap="square" anchor="ctr">
            <a:spAutoFit/>
          </a:bodyPr>
          <a:lstStyle/>
          <a:p>
            <a:pPr algn="l">
              <a:spcAft>
                <a:spcPts val="200"/>
              </a:spcAft>
            </a:pPr>
            <a:r>
              <a:rPr sz="1250" b="1">
                <a:solidFill>
                  <a:srgbClr val="7C3AED"/>
                </a:solidFill>
                <a:latin typeface="Arial"/>
              </a:rPr>
              <a:t>150 min assessment</a:t>
            </a:r>
          </a:p>
          <a:p>
            <a:pPr algn="l">
              <a:spcAft>
                <a:spcPts val="200"/>
              </a:spcAft>
            </a:pPr>
            <a:r>
              <a:rPr sz="1100" b="0">
                <a:solidFill>
                  <a:srgbClr val="161B26"/>
                </a:solidFill>
                <a:latin typeface="Arial"/>
              </a:rPr>
              <a:t>WA 60 min + PP 90 min = 2.5 h, per the registered Assessment Plan.</a:t>
            </a:r>
          </a:p>
        </p:txBody>
      </p:sp>
      <p:sp>
        <p:nvSpPr>
          <p:cNvPr id="17" name="Rectangle 16"/>
          <p:cNvSpPr/>
          <p:nvPr/>
        </p:nvSpPr>
        <p:spPr>
          <a:xfrm>
            <a:off x="7680960" y="4889751"/>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0" y="4889751"/>
            <a:ext cx="82296" cy="870965"/>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82128" y="4889751"/>
            <a:ext cx="3346704" cy="870965"/>
          </a:xfrm>
          <a:prstGeom prst="rect">
            <a:avLst/>
          </a:prstGeom>
          <a:noFill/>
        </p:spPr>
        <p:txBody>
          <a:bodyPr wrap="square" anchor="ctr">
            <a:spAutoFit/>
          </a:bodyPr>
          <a:lstStyle/>
          <a:p>
            <a:pPr algn="l">
              <a:spcAft>
                <a:spcPts val="200"/>
              </a:spcAft>
            </a:pPr>
            <a:r>
              <a:rPr sz="1250" b="1">
                <a:solidFill>
                  <a:srgbClr val="F59E0B"/>
                </a:solidFill>
                <a:latin typeface="Arial"/>
              </a:rPr>
              <a:t>Breaks are additional</a:t>
            </a:r>
          </a:p>
          <a:p>
            <a:pPr algn="l">
              <a:spcAft>
                <a:spcPts val="200"/>
              </a:spcAft>
            </a:pPr>
            <a:r>
              <a:rPr sz="1100" b="0">
                <a:solidFill>
                  <a:srgbClr val="161B26"/>
                </a:solidFill>
                <a:latin typeface="Arial"/>
              </a:rPr>
              <a:t>1-hour lunch, two 15-minute tea breaks and the administration block sit outside the 960 programme minutes.</a:t>
            </a:r>
          </a:p>
        </p:txBody>
      </p:sp>
      <p:sp>
        <p:nvSpPr>
          <p:cNvPr id="20" name="Rectangle 19"/>
          <p:cNvSpPr/>
          <p:nvPr/>
        </p:nvSpPr>
        <p:spPr>
          <a:xfrm>
            <a:off x="777240" y="5925312"/>
            <a:ext cx="1417320"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925312"/>
            <a:ext cx="1417320" cy="310896"/>
          </a:xfrm>
          <a:prstGeom prst="rect">
            <a:avLst/>
          </a:prstGeom>
          <a:noFill/>
        </p:spPr>
        <p:txBody>
          <a:bodyPr wrap="square" anchor="ctr">
            <a:spAutoFit/>
          </a:bodyPr>
          <a:lstStyle/>
          <a:p>
            <a:pPr algn="ctr">
              <a:spcAft>
                <a:spcPts val="400"/>
              </a:spcAft>
            </a:pPr>
            <a:r>
              <a:rPr sz="1050" b="1">
                <a:solidFill>
                  <a:srgbClr val="FFFFFF"/>
                </a:solidFill>
                <a:latin typeface="Arial"/>
              </a:rPr>
              <a:t>MEASURED</a:t>
            </a:r>
          </a:p>
        </p:txBody>
      </p:sp>
      <p:sp>
        <p:nvSpPr>
          <p:cNvPr id="22" name="TextBox 21"/>
          <p:cNvSpPr txBox="1"/>
          <p:nvPr/>
        </p:nvSpPr>
        <p:spPr>
          <a:xfrm>
            <a:off x="2331720" y="5925312"/>
            <a:ext cx="9098280" cy="457200"/>
          </a:xfrm>
          <a:prstGeom prst="rect">
            <a:avLst/>
          </a:prstGeom>
          <a:noFill/>
        </p:spPr>
        <p:txBody>
          <a:bodyPr wrap="square" anchor="ctr">
            <a:spAutoFit/>
          </a:bodyPr>
          <a:lstStyle/>
          <a:p>
            <a:pPr algn="l">
              <a:spcAft>
                <a:spcPts val="400"/>
              </a:spcAft>
            </a:pPr>
            <a:r>
              <a:rPr sz="1150" b="0">
                <a:solidFill>
                  <a:srgbClr val="5B6372"/>
                </a:solidFill>
                <a:latin typeface="Arial"/>
              </a:rPr>
              <a:t>Column totals taken from the approved course proposal: 7.5 h classroom facilitation + 6 h practical + 2.5 h assessment = 16 h (960 min). The Lesson Plan schedule sums to exactly these figures.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fast">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EVERY FOLDER IS INDEPENDENTLY USABLE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The 12 Hands-On Labs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31723" cy="32355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348843" cy="323556"/>
          </a:xfrm>
          <a:prstGeom prst="rect">
            <a:avLst/>
          </a:prstGeom>
          <a:noFill/>
        </p:spPr>
        <p:txBody>
          <a:bodyPr wrap="square" anchor="ctr">
            <a:spAutoFit/>
          </a:bodyPr>
          <a:lstStyle/>
          <a:p>
            <a:pPr algn="l">
              <a:spcAft>
                <a:spcPts val="400"/>
              </a:spcAft>
            </a:pPr>
            <a:r>
              <a:rPr sz="1000" b="1">
                <a:solidFill>
                  <a:srgbClr val="FFFFFF"/>
                </a:solidFill>
                <a:latin typeface="Arial"/>
              </a:rPr>
              <a:t>Lab</a:t>
            </a:r>
          </a:p>
        </p:txBody>
      </p:sp>
      <p:sp>
        <p:nvSpPr>
          <p:cNvPr id="9" name="Rectangle 8"/>
          <p:cNvSpPr/>
          <p:nvPr/>
        </p:nvSpPr>
        <p:spPr>
          <a:xfrm>
            <a:off x="1308963" y="1783080"/>
            <a:ext cx="5423580" cy="32355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18691" y="1783080"/>
            <a:ext cx="5240700" cy="323556"/>
          </a:xfrm>
          <a:prstGeom prst="rect">
            <a:avLst/>
          </a:prstGeom>
          <a:noFill/>
        </p:spPr>
        <p:txBody>
          <a:bodyPr wrap="square" anchor="ctr">
            <a:spAutoFit/>
          </a:bodyPr>
          <a:lstStyle/>
          <a:p>
            <a:pPr algn="l">
              <a:spcAft>
                <a:spcPts val="400"/>
              </a:spcAft>
            </a:pPr>
            <a:r>
              <a:rPr sz="1000" b="1">
                <a:solidFill>
                  <a:srgbClr val="FFFFFF"/>
                </a:solidFill>
                <a:latin typeface="Arial"/>
              </a:rPr>
              <a:t>Title</a:t>
            </a:r>
          </a:p>
        </p:txBody>
      </p:sp>
      <p:sp>
        <p:nvSpPr>
          <p:cNvPr id="11" name="Rectangle 10"/>
          <p:cNvSpPr/>
          <p:nvPr/>
        </p:nvSpPr>
        <p:spPr>
          <a:xfrm>
            <a:off x="6732543" y="1783080"/>
            <a:ext cx="744413" cy="32355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42271" y="1783080"/>
            <a:ext cx="561533" cy="323556"/>
          </a:xfrm>
          <a:prstGeom prst="rect">
            <a:avLst/>
          </a:prstGeom>
          <a:noFill/>
        </p:spPr>
        <p:txBody>
          <a:bodyPr wrap="square" anchor="ctr">
            <a:spAutoFit/>
          </a:bodyPr>
          <a:lstStyle/>
          <a:p>
            <a:pPr algn="l">
              <a:spcAft>
                <a:spcPts val="400"/>
              </a:spcAft>
            </a:pPr>
            <a:r>
              <a:rPr sz="1000" b="1">
                <a:solidFill>
                  <a:srgbClr val="FFFFFF"/>
                </a:solidFill>
                <a:latin typeface="Arial"/>
              </a:rPr>
              <a:t>Topic</a:t>
            </a:r>
          </a:p>
        </p:txBody>
      </p:sp>
      <p:sp>
        <p:nvSpPr>
          <p:cNvPr id="13" name="Rectangle 12"/>
          <p:cNvSpPr/>
          <p:nvPr/>
        </p:nvSpPr>
        <p:spPr>
          <a:xfrm>
            <a:off x="7476956" y="1783080"/>
            <a:ext cx="1063447" cy="32355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6684" y="1783080"/>
            <a:ext cx="880567" cy="323556"/>
          </a:xfrm>
          <a:prstGeom prst="rect">
            <a:avLst/>
          </a:prstGeom>
          <a:noFill/>
        </p:spPr>
        <p:txBody>
          <a:bodyPr wrap="square" anchor="ctr">
            <a:spAutoFit/>
          </a:bodyPr>
          <a:lstStyle/>
          <a:p>
            <a:pPr algn="l">
              <a:spcAft>
                <a:spcPts val="400"/>
              </a:spcAft>
            </a:pPr>
            <a:r>
              <a:rPr sz="1000" b="1">
                <a:solidFill>
                  <a:srgbClr val="FFFFFF"/>
                </a:solidFill>
                <a:latin typeface="Arial"/>
              </a:rPr>
              <a:t>A</a:t>
            </a:r>
          </a:p>
        </p:txBody>
      </p:sp>
      <p:sp>
        <p:nvSpPr>
          <p:cNvPr id="15" name="Rectangle 14"/>
          <p:cNvSpPr/>
          <p:nvPr/>
        </p:nvSpPr>
        <p:spPr>
          <a:xfrm>
            <a:off x="8540403" y="1783080"/>
            <a:ext cx="1807860" cy="32355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50131" y="1783080"/>
            <a:ext cx="1624980" cy="323556"/>
          </a:xfrm>
          <a:prstGeom prst="rect">
            <a:avLst/>
          </a:prstGeom>
          <a:noFill/>
        </p:spPr>
        <p:txBody>
          <a:bodyPr wrap="square" anchor="ctr">
            <a:spAutoFit/>
          </a:bodyPr>
          <a:lstStyle/>
          <a:p>
            <a:pPr algn="l">
              <a:spcAft>
                <a:spcPts val="400"/>
              </a:spcAft>
            </a:pPr>
            <a:r>
              <a:rPr sz="1000" b="1">
                <a:solidFill>
                  <a:srgbClr val="FFFFFF"/>
                </a:solidFill>
                <a:latin typeface="Arial"/>
              </a:rPr>
              <a:t>K</a:t>
            </a:r>
          </a:p>
        </p:txBody>
      </p:sp>
      <p:sp>
        <p:nvSpPr>
          <p:cNvPr id="17" name="Rectangle 16"/>
          <p:cNvSpPr/>
          <p:nvPr/>
        </p:nvSpPr>
        <p:spPr>
          <a:xfrm>
            <a:off x="10348263" y="1783080"/>
            <a:ext cx="1063447" cy="32355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57991" y="1783080"/>
            <a:ext cx="880567" cy="323556"/>
          </a:xfrm>
          <a:prstGeom prst="rect">
            <a:avLst/>
          </a:prstGeom>
          <a:noFill/>
        </p:spPr>
        <p:txBody>
          <a:bodyPr wrap="square" anchor="ctr">
            <a:spAutoFit/>
          </a:bodyPr>
          <a:lstStyle/>
          <a:p>
            <a:pPr algn="l">
              <a:spcAft>
                <a:spcPts val="400"/>
              </a:spcAft>
            </a:pPr>
            <a:r>
              <a:rPr sz="1000" b="1">
                <a:solidFill>
                  <a:srgbClr val="FFFFFF"/>
                </a:solidFill>
                <a:latin typeface="Arial"/>
              </a:rPr>
              <a:t>In class</a:t>
            </a:r>
          </a:p>
        </p:txBody>
      </p:sp>
      <p:sp>
        <p:nvSpPr>
          <p:cNvPr id="19" name="Rectangle 18"/>
          <p:cNvSpPr/>
          <p:nvPr/>
        </p:nvSpPr>
        <p:spPr>
          <a:xfrm>
            <a:off x="777240" y="2106636"/>
            <a:ext cx="531723"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2106636"/>
            <a:ext cx="348843" cy="323556"/>
          </a:xfrm>
          <a:prstGeom prst="rect">
            <a:avLst/>
          </a:prstGeom>
          <a:noFill/>
        </p:spPr>
        <p:txBody>
          <a:bodyPr wrap="square" anchor="ctr">
            <a:spAutoFit/>
          </a:bodyPr>
          <a:lstStyle/>
          <a:p>
            <a:pPr algn="l">
              <a:spcAft>
                <a:spcPts val="400"/>
              </a:spcAft>
            </a:pPr>
            <a:r>
              <a:rPr sz="900" b="1">
                <a:solidFill>
                  <a:srgbClr val="161B26"/>
                </a:solidFill>
                <a:latin typeface="Arial"/>
              </a:rPr>
              <a:t>01</a:t>
            </a:r>
          </a:p>
        </p:txBody>
      </p:sp>
      <p:sp>
        <p:nvSpPr>
          <p:cNvPr id="21" name="Rectangle 20"/>
          <p:cNvSpPr/>
          <p:nvPr/>
        </p:nvSpPr>
        <p:spPr>
          <a:xfrm>
            <a:off x="1308963" y="2106636"/>
            <a:ext cx="5423580"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418691" y="2106636"/>
            <a:ext cx="5240700" cy="323556"/>
          </a:xfrm>
          <a:prstGeom prst="rect">
            <a:avLst/>
          </a:prstGeom>
          <a:noFill/>
        </p:spPr>
        <p:txBody>
          <a:bodyPr wrap="square" anchor="ctr">
            <a:spAutoFit/>
          </a:bodyPr>
          <a:lstStyle/>
          <a:p>
            <a:pPr algn="l">
              <a:spcAft>
                <a:spcPts val="400"/>
              </a:spcAft>
            </a:pPr>
            <a:r>
              <a:rPr sz="900" b="0">
                <a:solidFill>
                  <a:srgbClr val="161B26"/>
                </a:solidFill>
                <a:latin typeface="Arial"/>
              </a:rPr>
              <a:t>Film Needs Analysis and AI Production Pipeline Specification</a:t>
            </a:r>
          </a:p>
        </p:txBody>
      </p:sp>
      <p:sp>
        <p:nvSpPr>
          <p:cNvPr id="23" name="Rectangle 22"/>
          <p:cNvSpPr/>
          <p:nvPr/>
        </p:nvSpPr>
        <p:spPr>
          <a:xfrm>
            <a:off x="6732543" y="2106636"/>
            <a:ext cx="744413"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42271" y="2106636"/>
            <a:ext cx="561533" cy="323556"/>
          </a:xfrm>
          <a:prstGeom prst="rect">
            <a:avLst/>
          </a:prstGeom>
          <a:noFill/>
        </p:spPr>
        <p:txBody>
          <a:bodyPr wrap="square" anchor="ctr">
            <a:spAutoFit/>
          </a:bodyPr>
          <a:lstStyle/>
          <a:p>
            <a:pPr algn="l">
              <a:spcAft>
                <a:spcPts val="400"/>
              </a:spcAft>
            </a:pPr>
            <a:r>
              <a:rPr sz="900" b="0">
                <a:solidFill>
                  <a:srgbClr val="161B26"/>
                </a:solidFill>
                <a:latin typeface="Arial"/>
              </a:rPr>
              <a:t>01</a:t>
            </a:r>
          </a:p>
        </p:txBody>
      </p:sp>
      <p:sp>
        <p:nvSpPr>
          <p:cNvPr id="25" name="Rectangle 24"/>
          <p:cNvSpPr/>
          <p:nvPr/>
        </p:nvSpPr>
        <p:spPr>
          <a:xfrm>
            <a:off x="7476956" y="2106636"/>
            <a:ext cx="1063447"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86684" y="2106636"/>
            <a:ext cx="880567" cy="323556"/>
          </a:xfrm>
          <a:prstGeom prst="rect">
            <a:avLst/>
          </a:prstGeom>
          <a:noFill/>
        </p:spPr>
        <p:txBody>
          <a:bodyPr wrap="square" anchor="ctr">
            <a:spAutoFit/>
          </a:bodyPr>
          <a:lstStyle/>
          <a:p>
            <a:pPr algn="l">
              <a:spcAft>
                <a:spcPts val="400"/>
              </a:spcAft>
            </a:pPr>
            <a:r>
              <a:rPr sz="900" b="0">
                <a:solidFill>
                  <a:srgbClr val="161B26"/>
                </a:solidFill>
                <a:latin typeface="Arial"/>
              </a:rPr>
              <a:t>A1</a:t>
            </a:r>
          </a:p>
        </p:txBody>
      </p:sp>
      <p:sp>
        <p:nvSpPr>
          <p:cNvPr id="27" name="Rectangle 26"/>
          <p:cNvSpPr/>
          <p:nvPr/>
        </p:nvSpPr>
        <p:spPr>
          <a:xfrm>
            <a:off x="8540403" y="2106636"/>
            <a:ext cx="1807860"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650131" y="2106636"/>
            <a:ext cx="1624980" cy="323556"/>
          </a:xfrm>
          <a:prstGeom prst="rect">
            <a:avLst/>
          </a:prstGeom>
          <a:noFill/>
        </p:spPr>
        <p:txBody>
          <a:bodyPr wrap="square" anchor="ctr">
            <a:spAutoFit/>
          </a:bodyPr>
          <a:lstStyle/>
          <a:p>
            <a:pPr algn="l">
              <a:spcAft>
                <a:spcPts val="400"/>
              </a:spcAft>
            </a:pPr>
            <a:r>
              <a:rPr sz="900" b="0">
                <a:solidFill>
                  <a:srgbClr val="161B26"/>
                </a:solidFill>
                <a:latin typeface="Arial"/>
              </a:rPr>
              <a:t>K1, K2</a:t>
            </a:r>
          </a:p>
        </p:txBody>
      </p:sp>
      <p:sp>
        <p:nvSpPr>
          <p:cNvPr id="29" name="Rectangle 28"/>
          <p:cNvSpPr/>
          <p:nvPr/>
        </p:nvSpPr>
        <p:spPr>
          <a:xfrm>
            <a:off x="10348263" y="2106636"/>
            <a:ext cx="1063447"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457991" y="2106636"/>
            <a:ext cx="880567" cy="323556"/>
          </a:xfrm>
          <a:prstGeom prst="rect">
            <a:avLst/>
          </a:prstGeom>
          <a:noFill/>
        </p:spPr>
        <p:txBody>
          <a:bodyPr wrap="square" anchor="ctr">
            <a:spAutoFit/>
          </a:bodyPr>
          <a:lstStyle/>
          <a:p>
            <a:pPr algn="l">
              <a:spcAft>
                <a:spcPts val="400"/>
              </a:spcAft>
            </a:pPr>
            <a:r>
              <a:rPr sz="900" b="0">
                <a:solidFill>
                  <a:srgbClr val="161B26"/>
                </a:solidFill>
                <a:latin typeface="Arial"/>
              </a:rPr>
              <a:t>in LU1</a:t>
            </a:r>
          </a:p>
        </p:txBody>
      </p:sp>
      <p:sp>
        <p:nvSpPr>
          <p:cNvPr id="31" name="Rectangle 30"/>
          <p:cNvSpPr/>
          <p:nvPr/>
        </p:nvSpPr>
        <p:spPr>
          <a:xfrm>
            <a:off x="777240" y="2430192"/>
            <a:ext cx="531723"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2430192"/>
            <a:ext cx="348843" cy="323556"/>
          </a:xfrm>
          <a:prstGeom prst="rect">
            <a:avLst/>
          </a:prstGeom>
          <a:noFill/>
        </p:spPr>
        <p:txBody>
          <a:bodyPr wrap="square" anchor="ctr">
            <a:spAutoFit/>
          </a:bodyPr>
          <a:lstStyle/>
          <a:p>
            <a:pPr algn="l">
              <a:spcAft>
                <a:spcPts val="400"/>
              </a:spcAft>
            </a:pPr>
            <a:r>
              <a:rPr sz="900" b="1">
                <a:solidFill>
                  <a:srgbClr val="161B26"/>
                </a:solidFill>
                <a:latin typeface="Arial"/>
              </a:rPr>
              <a:t>02</a:t>
            </a:r>
          </a:p>
        </p:txBody>
      </p:sp>
      <p:sp>
        <p:nvSpPr>
          <p:cNvPr id="33" name="Rectangle 32"/>
          <p:cNvSpPr/>
          <p:nvPr/>
        </p:nvSpPr>
        <p:spPr>
          <a:xfrm>
            <a:off x="1308963" y="2430192"/>
            <a:ext cx="5423580"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418691" y="2430192"/>
            <a:ext cx="5240700" cy="323556"/>
          </a:xfrm>
          <a:prstGeom prst="rect">
            <a:avLst/>
          </a:prstGeom>
          <a:noFill/>
        </p:spPr>
        <p:txBody>
          <a:bodyPr wrap="square" anchor="ctr">
            <a:spAutoFit/>
          </a:bodyPr>
          <a:lstStyle/>
          <a:p>
            <a:pPr algn="l">
              <a:spcAft>
                <a:spcPts val="400"/>
              </a:spcAft>
            </a:pPr>
            <a:r>
              <a:rPr sz="900" b="0">
                <a:solidFill>
                  <a:srgbClr val="161B26"/>
                </a:solidFill>
                <a:latin typeface="Arial"/>
              </a:rPr>
              <a:t>Frames, Formats and Aspect Ratios for Film Delivery</a:t>
            </a:r>
          </a:p>
        </p:txBody>
      </p:sp>
      <p:sp>
        <p:nvSpPr>
          <p:cNvPr id="35" name="Rectangle 34"/>
          <p:cNvSpPr/>
          <p:nvPr/>
        </p:nvSpPr>
        <p:spPr>
          <a:xfrm>
            <a:off x="6732543" y="2430192"/>
            <a:ext cx="744413"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42271" y="2430192"/>
            <a:ext cx="561533" cy="323556"/>
          </a:xfrm>
          <a:prstGeom prst="rect">
            <a:avLst/>
          </a:prstGeom>
          <a:noFill/>
        </p:spPr>
        <p:txBody>
          <a:bodyPr wrap="square" anchor="ctr">
            <a:spAutoFit/>
          </a:bodyPr>
          <a:lstStyle/>
          <a:p>
            <a:pPr algn="l">
              <a:spcAft>
                <a:spcPts val="400"/>
              </a:spcAft>
            </a:pPr>
            <a:r>
              <a:rPr sz="900" b="0">
                <a:solidFill>
                  <a:srgbClr val="161B26"/>
                </a:solidFill>
                <a:latin typeface="Arial"/>
              </a:rPr>
              <a:t>02</a:t>
            </a:r>
          </a:p>
        </p:txBody>
      </p:sp>
      <p:sp>
        <p:nvSpPr>
          <p:cNvPr id="37" name="Rectangle 36"/>
          <p:cNvSpPr/>
          <p:nvPr/>
        </p:nvSpPr>
        <p:spPr>
          <a:xfrm>
            <a:off x="7476956" y="2430192"/>
            <a:ext cx="1063447"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586684" y="2430192"/>
            <a:ext cx="880567" cy="323556"/>
          </a:xfrm>
          <a:prstGeom prst="rect">
            <a:avLst/>
          </a:prstGeom>
          <a:noFill/>
        </p:spPr>
        <p:txBody>
          <a:bodyPr wrap="square" anchor="ctr">
            <a:spAutoFit/>
          </a:bodyPr>
          <a:lstStyle/>
          <a:p>
            <a:pPr algn="l">
              <a:spcAft>
                <a:spcPts val="400"/>
              </a:spcAft>
            </a:pPr>
            <a:r>
              <a:rPr sz="900" b="0">
                <a:solidFill>
                  <a:srgbClr val="161B26"/>
                </a:solidFill>
                <a:latin typeface="Arial"/>
              </a:rPr>
              <a:t>A2</a:t>
            </a:r>
          </a:p>
        </p:txBody>
      </p:sp>
      <p:sp>
        <p:nvSpPr>
          <p:cNvPr id="39" name="Rectangle 38"/>
          <p:cNvSpPr/>
          <p:nvPr/>
        </p:nvSpPr>
        <p:spPr>
          <a:xfrm>
            <a:off x="8540403" y="2430192"/>
            <a:ext cx="1807860"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0131" y="2430192"/>
            <a:ext cx="1624980" cy="323556"/>
          </a:xfrm>
          <a:prstGeom prst="rect">
            <a:avLst/>
          </a:prstGeom>
          <a:noFill/>
        </p:spPr>
        <p:txBody>
          <a:bodyPr wrap="square" anchor="ctr">
            <a:spAutoFit/>
          </a:bodyPr>
          <a:lstStyle/>
          <a:p>
            <a:pPr algn="l">
              <a:spcAft>
                <a:spcPts val="400"/>
              </a:spcAft>
            </a:pPr>
            <a:r>
              <a:rPr sz="900" b="0">
                <a:solidFill>
                  <a:srgbClr val="161B26"/>
                </a:solidFill>
                <a:latin typeface="Arial"/>
              </a:rPr>
              <a:t>K3</a:t>
            </a:r>
          </a:p>
        </p:txBody>
      </p:sp>
      <p:sp>
        <p:nvSpPr>
          <p:cNvPr id="41" name="Rectangle 40"/>
          <p:cNvSpPr/>
          <p:nvPr/>
        </p:nvSpPr>
        <p:spPr>
          <a:xfrm>
            <a:off x="10348263" y="2430192"/>
            <a:ext cx="1063447"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457991" y="2430192"/>
            <a:ext cx="880567" cy="323556"/>
          </a:xfrm>
          <a:prstGeom prst="rect">
            <a:avLst/>
          </a:prstGeom>
          <a:noFill/>
        </p:spPr>
        <p:txBody>
          <a:bodyPr wrap="square" anchor="ctr">
            <a:spAutoFit/>
          </a:bodyPr>
          <a:lstStyle/>
          <a:p>
            <a:pPr algn="l">
              <a:spcAft>
                <a:spcPts val="400"/>
              </a:spcAft>
            </a:pPr>
            <a:r>
              <a:rPr sz="900" b="0">
                <a:solidFill>
                  <a:srgbClr val="161B26"/>
                </a:solidFill>
                <a:latin typeface="Arial"/>
              </a:rPr>
              <a:t>15 min</a:t>
            </a:r>
          </a:p>
        </p:txBody>
      </p:sp>
      <p:sp>
        <p:nvSpPr>
          <p:cNvPr id="43" name="Rectangle 42"/>
          <p:cNvSpPr/>
          <p:nvPr/>
        </p:nvSpPr>
        <p:spPr>
          <a:xfrm>
            <a:off x="777240" y="2753748"/>
            <a:ext cx="531723"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86968" y="2753748"/>
            <a:ext cx="348843" cy="323556"/>
          </a:xfrm>
          <a:prstGeom prst="rect">
            <a:avLst/>
          </a:prstGeom>
          <a:noFill/>
        </p:spPr>
        <p:txBody>
          <a:bodyPr wrap="square" anchor="ctr">
            <a:spAutoFit/>
          </a:bodyPr>
          <a:lstStyle/>
          <a:p>
            <a:pPr algn="l">
              <a:spcAft>
                <a:spcPts val="400"/>
              </a:spcAft>
            </a:pPr>
            <a:r>
              <a:rPr sz="900" b="1">
                <a:solidFill>
                  <a:srgbClr val="161B26"/>
                </a:solidFill>
                <a:latin typeface="Arial"/>
              </a:rPr>
              <a:t>03</a:t>
            </a:r>
          </a:p>
        </p:txBody>
      </p:sp>
      <p:sp>
        <p:nvSpPr>
          <p:cNvPr id="45" name="Rectangle 44"/>
          <p:cNvSpPr/>
          <p:nvPr/>
        </p:nvSpPr>
        <p:spPr>
          <a:xfrm>
            <a:off x="1308963" y="2753748"/>
            <a:ext cx="5423580"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418691" y="2753748"/>
            <a:ext cx="5240700" cy="323556"/>
          </a:xfrm>
          <a:prstGeom prst="rect">
            <a:avLst/>
          </a:prstGeom>
          <a:noFill/>
        </p:spPr>
        <p:txBody>
          <a:bodyPr wrap="square" anchor="ctr">
            <a:spAutoFit/>
          </a:bodyPr>
          <a:lstStyle/>
          <a:p>
            <a:pPr algn="l">
              <a:spcAft>
                <a:spcPts val="400"/>
              </a:spcAft>
            </a:pPr>
            <a:r>
              <a:rPr sz="900" b="0">
                <a:solidFill>
                  <a:srgbClr val="161B26"/>
                </a:solidFill>
                <a:latin typeface="Arial"/>
              </a:rPr>
              <a:t>Structured Prompting for Cinematic Stills</a:t>
            </a:r>
          </a:p>
        </p:txBody>
      </p:sp>
      <p:sp>
        <p:nvSpPr>
          <p:cNvPr id="47" name="Rectangle 46"/>
          <p:cNvSpPr/>
          <p:nvPr/>
        </p:nvSpPr>
        <p:spPr>
          <a:xfrm>
            <a:off x="6732543" y="2753748"/>
            <a:ext cx="744413"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842271" y="2753748"/>
            <a:ext cx="561533" cy="323556"/>
          </a:xfrm>
          <a:prstGeom prst="rect">
            <a:avLst/>
          </a:prstGeom>
          <a:noFill/>
        </p:spPr>
        <p:txBody>
          <a:bodyPr wrap="square" anchor="ctr">
            <a:spAutoFit/>
          </a:bodyPr>
          <a:lstStyle/>
          <a:p>
            <a:pPr algn="l">
              <a:spcAft>
                <a:spcPts val="400"/>
              </a:spcAft>
            </a:pPr>
            <a:r>
              <a:rPr sz="900" b="0">
                <a:solidFill>
                  <a:srgbClr val="161B26"/>
                </a:solidFill>
                <a:latin typeface="Arial"/>
              </a:rPr>
              <a:t>02</a:t>
            </a:r>
          </a:p>
        </p:txBody>
      </p:sp>
      <p:sp>
        <p:nvSpPr>
          <p:cNvPr id="49" name="Rectangle 48"/>
          <p:cNvSpPr/>
          <p:nvPr/>
        </p:nvSpPr>
        <p:spPr>
          <a:xfrm>
            <a:off x="7476956" y="2753748"/>
            <a:ext cx="1063447"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586684" y="2753748"/>
            <a:ext cx="880567" cy="323556"/>
          </a:xfrm>
          <a:prstGeom prst="rect">
            <a:avLst/>
          </a:prstGeom>
          <a:noFill/>
        </p:spPr>
        <p:txBody>
          <a:bodyPr wrap="square" anchor="ctr">
            <a:spAutoFit/>
          </a:bodyPr>
          <a:lstStyle/>
          <a:p>
            <a:pPr algn="l">
              <a:spcAft>
                <a:spcPts val="400"/>
              </a:spcAft>
            </a:pPr>
            <a:r>
              <a:rPr sz="900" b="0">
                <a:solidFill>
                  <a:srgbClr val="161B26"/>
                </a:solidFill>
                <a:latin typeface="Arial"/>
              </a:rPr>
              <a:t>A2</a:t>
            </a:r>
          </a:p>
        </p:txBody>
      </p:sp>
      <p:sp>
        <p:nvSpPr>
          <p:cNvPr id="51" name="Rectangle 50"/>
          <p:cNvSpPr/>
          <p:nvPr/>
        </p:nvSpPr>
        <p:spPr>
          <a:xfrm>
            <a:off x="8540403" y="2753748"/>
            <a:ext cx="1807860"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650131" y="2753748"/>
            <a:ext cx="1624980" cy="323556"/>
          </a:xfrm>
          <a:prstGeom prst="rect">
            <a:avLst/>
          </a:prstGeom>
          <a:noFill/>
        </p:spPr>
        <p:txBody>
          <a:bodyPr wrap="square" anchor="ctr">
            <a:spAutoFit/>
          </a:bodyPr>
          <a:lstStyle/>
          <a:p>
            <a:pPr algn="l">
              <a:spcAft>
                <a:spcPts val="400"/>
              </a:spcAft>
            </a:pPr>
            <a:r>
              <a:rPr sz="900" b="0">
                <a:solidFill>
                  <a:srgbClr val="161B26"/>
                </a:solidFill>
                <a:latin typeface="Arial"/>
              </a:rPr>
              <a:t>K3, K4</a:t>
            </a:r>
          </a:p>
        </p:txBody>
      </p:sp>
      <p:sp>
        <p:nvSpPr>
          <p:cNvPr id="53" name="Rectangle 52"/>
          <p:cNvSpPr/>
          <p:nvPr/>
        </p:nvSpPr>
        <p:spPr>
          <a:xfrm>
            <a:off x="10348263" y="2753748"/>
            <a:ext cx="1063447"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457991" y="2753748"/>
            <a:ext cx="880567" cy="323556"/>
          </a:xfrm>
          <a:prstGeom prst="rect">
            <a:avLst/>
          </a:prstGeom>
          <a:noFill/>
        </p:spPr>
        <p:txBody>
          <a:bodyPr wrap="square" anchor="ctr">
            <a:spAutoFit/>
          </a:bodyPr>
          <a:lstStyle/>
          <a:p>
            <a:pPr algn="l">
              <a:spcAft>
                <a:spcPts val="400"/>
              </a:spcAft>
            </a:pPr>
            <a:r>
              <a:rPr sz="900" b="0">
                <a:solidFill>
                  <a:srgbClr val="161B26"/>
                </a:solidFill>
                <a:latin typeface="Arial"/>
              </a:rPr>
              <a:t>15 min</a:t>
            </a:r>
          </a:p>
        </p:txBody>
      </p:sp>
      <p:sp>
        <p:nvSpPr>
          <p:cNvPr id="55" name="Rectangle 54"/>
          <p:cNvSpPr/>
          <p:nvPr/>
        </p:nvSpPr>
        <p:spPr>
          <a:xfrm>
            <a:off x="777240" y="3077304"/>
            <a:ext cx="531723"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86968" y="3077304"/>
            <a:ext cx="348843" cy="323556"/>
          </a:xfrm>
          <a:prstGeom prst="rect">
            <a:avLst/>
          </a:prstGeom>
          <a:noFill/>
        </p:spPr>
        <p:txBody>
          <a:bodyPr wrap="square" anchor="ctr">
            <a:spAutoFit/>
          </a:bodyPr>
          <a:lstStyle/>
          <a:p>
            <a:pPr algn="l">
              <a:spcAft>
                <a:spcPts val="400"/>
              </a:spcAft>
            </a:pPr>
            <a:r>
              <a:rPr sz="900" b="1">
                <a:solidFill>
                  <a:srgbClr val="161B26"/>
                </a:solidFill>
                <a:latin typeface="Arial"/>
              </a:rPr>
              <a:t>04</a:t>
            </a:r>
          </a:p>
        </p:txBody>
      </p:sp>
      <p:sp>
        <p:nvSpPr>
          <p:cNvPr id="57" name="Rectangle 56"/>
          <p:cNvSpPr/>
          <p:nvPr/>
        </p:nvSpPr>
        <p:spPr>
          <a:xfrm>
            <a:off x="1308963" y="3077304"/>
            <a:ext cx="5423580"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418691" y="3077304"/>
            <a:ext cx="5240700" cy="323556"/>
          </a:xfrm>
          <a:prstGeom prst="rect">
            <a:avLst/>
          </a:prstGeom>
          <a:noFill/>
        </p:spPr>
        <p:txBody>
          <a:bodyPr wrap="square" anchor="ctr">
            <a:spAutoFit/>
          </a:bodyPr>
          <a:lstStyle/>
          <a:p>
            <a:pPr algn="l">
              <a:spcAft>
                <a:spcPts val="400"/>
              </a:spcAft>
            </a:pPr>
            <a:r>
              <a:rPr sz="900" b="0">
                <a:solidFill>
                  <a:srgbClr val="161B26"/>
                </a:solidFill>
                <a:latin typeface="Arial"/>
              </a:rPr>
              <a:t>State Variants, Clean-Up and Reframing with Masks</a:t>
            </a:r>
          </a:p>
        </p:txBody>
      </p:sp>
      <p:sp>
        <p:nvSpPr>
          <p:cNvPr id="59" name="Rectangle 58"/>
          <p:cNvSpPr/>
          <p:nvPr/>
        </p:nvSpPr>
        <p:spPr>
          <a:xfrm>
            <a:off x="6732543" y="3077304"/>
            <a:ext cx="744413"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842271" y="3077304"/>
            <a:ext cx="561533" cy="323556"/>
          </a:xfrm>
          <a:prstGeom prst="rect">
            <a:avLst/>
          </a:prstGeom>
          <a:noFill/>
        </p:spPr>
        <p:txBody>
          <a:bodyPr wrap="square" anchor="ctr">
            <a:spAutoFit/>
          </a:bodyPr>
          <a:lstStyle/>
          <a:p>
            <a:pPr algn="l">
              <a:spcAft>
                <a:spcPts val="400"/>
              </a:spcAft>
            </a:pPr>
            <a:r>
              <a:rPr sz="900" b="0">
                <a:solidFill>
                  <a:srgbClr val="161B26"/>
                </a:solidFill>
                <a:latin typeface="Arial"/>
              </a:rPr>
              <a:t>02</a:t>
            </a:r>
          </a:p>
        </p:txBody>
      </p:sp>
      <p:sp>
        <p:nvSpPr>
          <p:cNvPr id="61" name="Rectangle 60"/>
          <p:cNvSpPr/>
          <p:nvPr/>
        </p:nvSpPr>
        <p:spPr>
          <a:xfrm>
            <a:off x="7476956" y="3077304"/>
            <a:ext cx="1063447"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586684" y="3077304"/>
            <a:ext cx="880567" cy="323556"/>
          </a:xfrm>
          <a:prstGeom prst="rect">
            <a:avLst/>
          </a:prstGeom>
          <a:noFill/>
        </p:spPr>
        <p:txBody>
          <a:bodyPr wrap="square" anchor="ctr">
            <a:spAutoFit/>
          </a:bodyPr>
          <a:lstStyle/>
          <a:p>
            <a:pPr algn="l">
              <a:spcAft>
                <a:spcPts val="400"/>
              </a:spcAft>
            </a:pPr>
            <a:r>
              <a:rPr sz="900" b="0">
                <a:solidFill>
                  <a:srgbClr val="161B26"/>
                </a:solidFill>
                <a:latin typeface="Arial"/>
              </a:rPr>
              <a:t>A2</a:t>
            </a:r>
          </a:p>
        </p:txBody>
      </p:sp>
      <p:sp>
        <p:nvSpPr>
          <p:cNvPr id="63" name="Rectangle 62"/>
          <p:cNvSpPr/>
          <p:nvPr/>
        </p:nvSpPr>
        <p:spPr>
          <a:xfrm>
            <a:off x="8540403" y="3077304"/>
            <a:ext cx="1807860"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650131" y="3077304"/>
            <a:ext cx="1624980" cy="323556"/>
          </a:xfrm>
          <a:prstGeom prst="rect">
            <a:avLst/>
          </a:prstGeom>
          <a:noFill/>
        </p:spPr>
        <p:txBody>
          <a:bodyPr wrap="square" anchor="ctr">
            <a:spAutoFit/>
          </a:bodyPr>
          <a:lstStyle/>
          <a:p>
            <a:pPr algn="l">
              <a:spcAft>
                <a:spcPts val="400"/>
              </a:spcAft>
            </a:pPr>
            <a:r>
              <a:rPr sz="900" b="0">
                <a:solidFill>
                  <a:srgbClr val="161B26"/>
                </a:solidFill>
                <a:latin typeface="Arial"/>
              </a:rPr>
              <a:t>K4</a:t>
            </a:r>
          </a:p>
        </p:txBody>
      </p:sp>
      <p:sp>
        <p:nvSpPr>
          <p:cNvPr id="65" name="Rectangle 64"/>
          <p:cNvSpPr/>
          <p:nvPr/>
        </p:nvSpPr>
        <p:spPr>
          <a:xfrm>
            <a:off x="10348263" y="3077304"/>
            <a:ext cx="1063447"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0457991" y="3077304"/>
            <a:ext cx="880567" cy="323556"/>
          </a:xfrm>
          <a:prstGeom prst="rect">
            <a:avLst/>
          </a:prstGeom>
          <a:noFill/>
        </p:spPr>
        <p:txBody>
          <a:bodyPr wrap="square" anchor="ctr">
            <a:spAutoFit/>
          </a:bodyPr>
          <a:lstStyle/>
          <a:p>
            <a:pPr algn="l">
              <a:spcAft>
                <a:spcPts val="400"/>
              </a:spcAft>
            </a:pPr>
            <a:r>
              <a:rPr sz="900" b="0">
                <a:solidFill>
                  <a:srgbClr val="161B26"/>
                </a:solidFill>
                <a:latin typeface="Arial"/>
              </a:rPr>
              <a:t>15 min</a:t>
            </a:r>
          </a:p>
        </p:txBody>
      </p:sp>
      <p:sp>
        <p:nvSpPr>
          <p:cNvPr id="67" name="Rectangle 66"/>
          <p:cNvSpPr/>
          <p:nvPr/>
        </p:nvSpPr>
        <p:spPr>
          <a:xfrm>
            <a:off x="777240" y="3400860"/>
            <a:ext cx="531723"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86968" y="3400860"/>
            <a:ext cx="348843" cy="323556"/>
          </a:xfrm>
          <a:prstGeom prst="rect">
            <a:avLst/>
          </a:prstGeom>
          <a:noFill/>
        </p:spPr>
        <p:txBody>
          <a:bodyPr wrap="square" anchor="ctr">
            <a:spAutoFit/>
          </a:bodyPr>
          <a:lstStyle/>
          <a:p>
            <a:pPr algn="l">
              <a:spcAft>
                <a:spcPts val="400"/>
              </a:spcAft>
            </a:pPr>
            <a:r>
              <a:rPr sz="900" b="1">
                <a:solidFill>
                  <a:srgbClr val="161B26"/>
                </a:solidFill>
                <a:latin typeface="Arial"/>
              </a:rPr>
              <a:t>05</a:t>
            </a:r>
          </a:p>
        </p:txBody>
      </p:sp>
      <p:sp>
        <p:nvSpPr>
          <p:cNvPr id="69" name="Rectangle 68"/>
          <p:cNvSpPr/>
          <p:nvPr/>
        </p:nvSpPr>
        <p:spPr>
          <a:xfrm>
            <a:off x="1308963" y="3400860"/>
            <a:ext cx="5423580"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418691" y="3400860"/>
            <a:ext cx="5240700" cy="323556"/>
          </a:xfrm>
          <a:prstGeom prst="rect">
            <a:avLst/>
          </a:prstGeom>
          <a:noFill/>
        </p:spPr>
        <p:txBody>
          <a:bodyPr wrap="square" anchor="ctr">
            <a:spAutoFit/>
          </a:bodyPr>
          <a:lstStyle/>
          <a:p>
            <a:pPr algn="l">
              <a:spcAft>
                <a:spcPts val="400"/>
              </a:spcAft>
            </a:pPr>
            <a:r>
              <a:rPr sz="900" b="0">
                <a:solidFill>
                  <a:srgbClr val="161B26"/>
                </a:solidFill>
                <a:latin typeface="Arial"/>
              </a:rPr>
              <a:t>Cinematic Grading and Enhancement Measured with PSNR and…</a:t>
            </a:r>
          </a:p>
        </p:txBody>
      </p:sp>
      <p:sp>
        <p:nvSpPr>
          <p:cNvPr id="71" name="Rectangle 70"/>
          <p:cNvSpPr/>
          <p:nvPr/>
        </p:nvSpPr>
        <p:spPr>
          <a:xfrm>
            <a:off x="6732543" y="3400860"/>
            <a:ext cx="744413"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842271" y="3400860"/>
            <a:ext cx="561533" cy="323556"/>
          </a:xfrm>
          <a:prstGeom prst="rect">
            <a:avLst/>
          </a:prstGeom>
          <a:noFill/>
        </p:spPr>
        <p:txBody>
          <a:bodyPr wrap="square" anchor="ctr">
            <a:spAutoFit/>
          </a:bodyPr>
          <a:lstStyle/>
          <a:p>
            <a:pPr algn="l">
              <a:spcAft>
                <a:spcPts val="400"/>
              </a:spcAft>
            </a:pPr>
            <a:r>
              <a:rPr sz="900" b="0">
                <a:solidFill>
                  <a:srgbClr val="161B26"/>
                </a:solidFill>
                <a:latin typeface="Arial"/>
              </a:rPr>
              <a:t>02</a:t>
            </a:r>
          </a:p>
        </p:txBody>
      </p:sp>
      <p:sp>
        <p:nvSpPr>
          <p:cNvPr id="73" name="Rectangle 72"/>
          <p:cNvSpPr/>
          <p:nvPr/>
        </p:nvSpPr>
        <p:spPr>
          <a:xfrm>
            <a:off x="7476956" y="3400860"/>
            <a:ext cx="1063447"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7586684" y="3400860"/>
            <a:ext cx="880567" cy="323556"/>
          </a:xfrm>
          <a:prstGeom prst="rect">
            <a:avLst/>
          </a:prstGeom>
          <a:noFill/>
        </p:spPr>
        <p:txBody>
          <a:bodyPr wrap="square" anchor="ctr">
            <a:spAutoFit/>
          </a:bodyPr>
          <a:lstStyle/>
          <a:p>
            <a:pPr algn="l">
              <a:spcAft>
                <a:spcPts val="400"/>
              </a:spcAft>
            </a:pPr>
            <a:r>
              <a:rPr sz="900" b="0">
                <a:solidFill>
                  <a:srgbClr val="161B26"/>
                </a:solidFill>
                <a:latin typeface="Arial"/>
              </a:rPr>
              <a:t>A2</a:t>
            </a:r>
          </a:p>
        </p:txBody>
      </p:sp>
      <p:sp>
        <p:nvSpPr>
          <p:cNvPr id="75" name="Rectangle 74"/>
          <p:cNvSpPr/>
          <p:nvPr/>
        </p:nvSpPr>
        <p:spPr>
          <a:xfrm>
            <a:off x="8540403" y="3400860"/>
            <a:ext cx="1807860"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650131" y="3400860"/>
            <a:ext cx="1624980" cy="323556"/>
          </a:xfrm>
          <a:prstGeom prst="rect">
            <a:avLst/>
          </a:prstGeom>
          <a:noFill/>
        </p:spPr>
        <p:txBody>
          <a:bodyPr wrap="square" anchor="ctr">
            <a:spAutoFit/>
          </a:bodyPr>
          <a:lstStyle/>
          <a:p>
            <a:pPr algn="l">
              <a:spcAft>
                <a:spcPts val="400"/>
              </a:spcAft>
            </a:pPr>
            <a:r>
              <a:rPr sz="900" b="0">
                <a:solidFill>
                  <a:srgbClr val="161B26"/>
                </a:solidFill>
                <a:latin typeface="Arial"/>
              </a:rPr>
              <a:t>K4</a:t>
            </a:r>
          </a:p>
        </p:txBody>
      </p:sp>
      <p:sp>
        <p:nvSpPr>
          <p:cNvPr id="77" name="Rectangle 76"/>
          <p:cNvSpPr/>
          <p:nvPr/>
        </p:nvSpPr>
        <p:spPr>
          <a:xfrm>
            <a:off x="10348263" y="3400860"/>
            <a:ext cx="1063447"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0457991" y="3400860"/>
            <a:ext cx="880567" cy="323556"/>
          </a:xfrm>
          <a:prstGeom prst="rect">
            <a:avLst/>
          </a:prstGeom>
          <a:noFill/>
        </p:spPr>
        <p:txBody>
          <a:bodyPr wrap="square" anchor="ctr">
            <a:spAutoFit/>
          </a:bodyPr>
          <a:lstStyle/>
          <a:p>
            <a:pPr algn="l">
              <a:spcAft>
                <a:spcPts val="400"/>
              </a:spcAft>
            </a:pPr>
            <a:r>
              <a:rPr sz="900" b="0">
                <a:solidFill>
                  <a:srgbClr val="161B26"/>
                </a:solidFill>
                <a:latin typeface="Arial"/>
              </a:rPr>
              <a:t>15 min</a:t>
            </a:r>
          </a:p>
        </p:txBody>
      </p:sp>
      <p:sp>
        <p:nvSpPr>
          <p:cNvPr id="79" name="Rectangle 78"/>
          <p:cNvSpPr/>
          <p:nvPr/>
        </p:nvSpPr>
        <p:spPr>
          <a:xfrm>
            <a:off x="777240" y="3724416"/>
            <a:ext cx="531723"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886968" y="3724416"/>
            <a:ext cx="348843" cy="323556"/>
          </a:xfrm>
          <a:prstGeom prst="rect">
            <a:avLst/>
          </a:prstGeom>
          <a:noFill/>
        </p:spPr>
        <p:txBody>
          <a:bodyPr wrap="square" anchor="ctr">
            <a:spAutoFit/>
          </a:bodyPr>
          <a:lstStyle/>
          <a:p>
            <a:pPr algn="l">
              <a:spcAft>
                <a:spcPts val="400"/>
              </a:spcAft>
            </a:pPr>
            <a:r>
              <a:rPr sz="900" b="1">
                <a:solidFill>
                  <a:srgbClr val="161B26"/>
                </a:solidFill>
                <a:latin typeface="Arial"/>
              </a:rPr>
              <a:t>06</a:t>
            </a:r>
          </a:p>
        </p:txBody>
      </p:sp>
      <p:sp>
        <p:nvSpPr>
          <p:cNvPr id="81" name="Rectangle 80"/>
          <p:cNvSpPr/>
          <p:nvPr/>
        </p:nvSpPr>
        <p:spPr>
          <a:xfrm>
            <a:off x="1308963" y="3724416"/>
            <a:ext cx="5423580"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1418691" y="3724416"/>
            <a:ext cx="5240700" cy="323556"/>
          </a:xfrm>
          <a:prstGeom prst="rect">
            <a:avLst/>
          </a:prstGeom>
          <a:noFill/>
        </p:spPr>
        <p:txBody>
          <a:bodyPr wrap="square" anchor="ctr">
            <a:spAutoFit/>
          </a:bodyPr>
          <a:lstStyle/>
          <a:p>
            <a:pPr algn="l">
              <a:spcAft>
                <a:spcPts val="400"/>
              </a:spcAft>
            </a:pPr>
            <a:r>
              <a:rPr sz="900" b="0">
                <a:solidFill>
                  <a:srgbClr val="161B26"/>
                </a:solidFill>
                <a:latin typeface="Arial"/>
              </a:rPr>
              <a:t>Character Reference Sheets and Consistency Features</a:t>
            </a:r>
          </a:p>
        </p:txBody>
      </p:sp>
      <p:sp>
        <p:nvSpPr>
          <p:cNvPr id="83" name="Rectangle 82"/>
          <p:cNvSpPr/>
          <p:nvPr/>
        </p:nvSpPr>
        <p:spPr>
          <a:xfrm>
            <a:off x="6732543" y="3724416"/>
            <a:ext cx="744413"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6842271" y="3724416"/>
            <a:ext cx="561533" cy="323556"/>
          </a:xfrm>
          <a:prstGeom prst="rect">
            <a:avLst/>
          </a:prstGeom>
          <a:noFill/>
        </p:spPr>
        <p:txBody>
          <a:bodyPr wrap="square" anchor="ctr">
            <a:spAutoFit/>
          </a:bodyPr>
          <a:lstStyle/>
          <a:p>
            <a:pPr algn="l">
              <a:spcAft>
                <a:spcPts val="400"/>
              </a:spcAft>
            </a:pPr>
            <a:r>
              <a:rPr sz="900" b="0">
                <a:solidFill>
                  <a:srgbClr val="161B26"/>
                </a:solidFill>
                <a:latin typeface="Arial"/>
              </a:rPr>
              <a:t>03</a:t>
            </a:r>
          </a:p>
        </p:txBody>
      </p:sp>
      <p:sp>
        <p:nvSpPr>
          <p:cNvPr id="85" name="Rectangle 84"/>
          <p:cNvSpPr/>
          <p:nvPr/>
        </p:nvSpPr>
        <p:spPr>
          <a:xfrm>
            <a:off x="7476956" y="3724416"/>
            <a:ext cx="1063447"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7586684" y="3724416"/>
            <a:ext cx="880567" cy="323556"/>
          </a:xfrm>
          <a:prstGeom prst="rect">
            <a:avLst/>
          </a:prstGeom>
          <a:noFill/>
        </p:spPr>
        <p:txBody>
          <a:bodyPr wrap="square" anchor="ctr">
            <a:spAutoFit/>
          </a:bodyPr>
          <a:lstStyle/>
          <a:p>
            <a:pPr algn="l">
              <a:spcAft>
                <a:spcPts val="400"/>
              </a:spcAft>
            </a:pPr>
            <a:r>
              <a:rPr sz="900" b="0">
                <a:solidFill>
                  <a:srgbClr val="161B26"/>
                </a:solidFill>
                <a:latin typeface="Arial"/>
              </a:rPr>
              <a:t>A4</a:t>
            </a:r>
          </a:p>
        </p:txBody>
      </p:sp>
      <p:sp>
        <p:nvSpPr>
          <p:cNvPr id="87" name="Rectangle 86"/>
          <p:cNvSpPr/>
          <p:nvPr/>
        </p:nvSpPr>
        <p:spPr>
          <a:xfrm>
            <a:off x="8540403" y="3724416"/>
            <a:ext cx="1807860"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8650131" y="3724416"/>
            <a:ext cx="1624980" cy="323556"/>
          </a:xfrm>
          <a:prstGeom prst="rect">
            <a:avLst/>
          </a:prstGeom>
          <a:noFill/>
        </p:spPr>
        <p:txBody>
          <a:bodyPr wrap="square" anchor="ctr">
            <a:spAutoFit/>
          </a:bodyPr>
          <a:lstStyle/>
          <a:p>
            <a:pPr algn="l">
              <a:spcAft>
                <a:spcPts val="400"/>
              </a:spcAft>
            </a:pPr>
            <a:r>
              <a:rPr sz="900" b="0">
                <a:solidFill>
                  <a:srgbClr val="161B26"/>
                </a:solidFill>
                <a:latin typeface="Arial"/>
              </a:rPr>
              <a:t>K5, K6</a:t>
            </a:r>
          </a:p>
        </p:txBody>
      </p:sp>
      <p:sp>
        <p:nvSpPr>
          <p:cNvPr id="89" name="Rectangle 88"/>
          <p:cNvSpPr/>
          <p:nvPr/>
        </p:nvSpPr>
        <p:spPr>
          <a:xfrm>
            <a:off x="10348263" y="3724416"/>
            <a:ext cx="1063447"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10457991" y="3724416"/>
            <a:ext cx="880567" cy="323556"/>
          </a:xfrm>
          <a:prstGeom prst="rect">
            <a:avLst/>
          </a:prstGeom>
          <a:noFill/>
        </p:spPr>
        <p:txBody>
          <a:bodyPr wrap="square" anchor="ctr">
            <a:spAutoFit/>
          </a:bodyPr>
          <a:lstStyle/>
          <a:p>
            <a:pPr algn="l">
              <a:spcAft>
                <a:spcPts val="400"/>
              </a:spcAft>
            </a:pPr>
            <a:r>
              <a:rPr sz="900" b="0">
                <a:solidFill>
                  <a:srgbClr val="161B26"/>
                </a:solidFill>
                <a:latin typeface="Arial"/>
              </a:rPr>
              <a:t>30 min</a:t>
            </a:r>
          </a:p>
        </p:txBody>
      </p:sp>
      <p:sp>
        <p:nvSpPr>
          <p:cNvPr id="91" name="Rectangle 90"/>
          <p:cNvSpPr/>
          <p:nvPr/>
        </p:nvSpPr>
        <p:spPr>
          <a:xfrm>
            <a:off x="777240" y="4047972"/>
            <a:ext cx="531723"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886968" y="4047972"/>
            <a:ext cx="348843" cy="323556"/>
          </a:xfrm>
          <a:prstGeom prst="rect">
            <a:avLst/>
          </a:prstGeom>
          <a:noFill/>
        </p:spPr>
        <p:txBody>
          <a:bodyPr wrap="square" anchor="ctr">
            <a:spAutoFit/>
          </a:bodyPr>
          <a:lstStyle/>
          <a:p>
            <a:pPr algn="l">
              <a:spcAft>
                <a:spcPts val="400"/>
              </a:spcAft>
            </a:pPr>
            <a:r>
              <a:rPr sz="900" b="1">
                <a:solidFill>
                  <a:srgbClr val="161B26"/>
                </a:solidFill>
                <a:latin typeface="Arial"/>
              </a:rPr>
              <a:t>07</a:t>
            </a:r>
          </a:p>
        </p:txBody>
      </p:sp>
      <p:sp>
        <p:nvSpPr>
          <p:cNvPr id="93" name="Rectangle 92"/>
          <p:cNvSpPr/>
          <p:nvPr/>
        </p:nvSpPr>
        <p:spPr>
          <a:xfrm>
            <a:off x="1308963" y="4047972"/>
            <a:ext cx="5423580"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1418691" y="4047972"/>
            <a:ext cx="5240700" cy="323556"/>
          </a:xfrm>
          <a:prstGeom prst="rect">
            <a:avLst/>
          </a:prstGeom>
          <a:noFill/>
        </p:spPr>
        <p:txBody>
          <a:bodyPr wrap="square" anchor="ctr">
            <a:spAutoFit/>
          </a:bodyPr>
          <a:lstStyle/>
          <a:p>
            <a:pPr algn="l">
              <a:spcAft>
                <a:spcPts val="400"/>
              </a:spcAft>
            </a:pPr>
            <a:r>
              <a:rPr sz="900" b="0">
                <a:solidFill>
                  <a:srgbClr val="161B26"/>
                </a:solidFill>
                <a:latin typeface="Arial"/>
              </a:rPr>
              <a:t>Look Bible and Scene Continuity with Global Descriptors</a:t>
            </a:r>
          </a:p>
        </p:txBody>
      </p:sp>
      <p:sp>
        <p:nvSpPr>
          <p:cNvPr id="95" name="Rectangle 94"/>
          <p:cNvSpPr/>
          <p:nvPr/>
        </p:nvSpPr>
        <p:spPr>
          <a:xfrm>
            <a:off x="6732543" y="4047972"/>
            <a:ext cx="744413"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6842271" y="4047972"/>
            <a:ext cx="561533" cy="323556"/>
          </a:xfrm>
          <a:prstGeom prst="rect">
            <a:avLst/>
          </a:prstGeom>
          <a:noFill/>
        </p:spPr>
        <p:txBody>
          <a:bodyPr wrap="square" anchor="ctr">
            <a:spAutoFit/>
          </a:bodyPr>
          <a:lstStyle/>
          <a:p>
            <a:pPr algn="l">
              <a:spcAft>
                <a:spcPts val="400"/>
              </a:spcAft>
            </a:pPr>
            <a:r>
              <a:rPr sz="900" b="0">
                <a:solidFill>
                  <a:srgbClr val="161B26"/>
                </a:solidFill>
                <a:latin typeface="Arial"/>
              </a:rPr>
              <a:t>03</a:t>
            </a:r>
          </a:p>
        </p:txBody>
      </p:sp>
      <p:sp>
        <p:nvSpPr>
          <p:cNvPr id="97" name="Rectangle 96"/>
          <p:cNvSpPr/>
          <p:nvPr/>
        </p:nvSpPr>
        <p:spPr>
          <a:xfrm>
            <a:off x="7476956" y="4047972"/>
            <a:ext cx="1063447"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7586684" y="4047972"/>
            <a:ext cx="880567" cy="323556"/>
          </a:xfrm>
          <a:prstGeom prst="rect">
            <a:avLst/>
          </a:prstGeom>
          <a:noFill/>
        </p:spPr>
        <p:txBody>
          <a:bodyPr wrap="square" anchor="ctr">
            <a:spAutoFit/>
          </a:bodyPr>
          <a:lstStyle/>
          <a:p>
            <a:pPr algn="l">
              <a:spcAft>
                <a:spcPts val="400"/>
              </a:spcAft>
            </a:pPr>
            <a:r>
              <a:rPr sz="900" b="0">
                <a:solidFill>
                  <a:srgbClr val="161B26"/>
                </a:solidFill>
                <a:latin typeface="Arial"/>
              </a:rPr>
              <a:t>A3</a:t>
            </a:r>
          </a:p>
        </p:txBody>
      </p:sp>
      <p:sp>
        <p:nvSpPr>
          <p:cNvPr id="99" name="Rectangle 98"/>
          <p:cNvSpPr/>
          <p:nvPr/>
        </p:nvSpPr>
        <p:spPr>
          <a:xfrm>
            <a:off x="8540403" y="4047972"/>
            <a:ext cx="1807860"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8650131" y="4047972"/>
            <a:ext cx="1624980" cy="323556"/>
          </a:xfrm>
          <a:prstGeom prst="rect">
            <a:avLst/>
          </a:prstGeom>
          <a:noFill/>
        </p:spPr>
        <p:txBody>
          <a:bodyPr wrap="square" anchor="ctr">
            <a:spAutoFit/>
          </a:bodyPr>
          <a:lstStyle/>
          <a:p>
            <a:pPr algn="l">
              <a:spcAft>
                <a:spcPts val="400"/>
              </a:spcAft>
            </a:pPr>
            <a:r>
              <a:rPr sz="900" b="0">
                <a:solidFill>
                  <a:srgbClr val="161B26"/>
                </a:solidFill>
                <a:latin typeface="Arial"/>
              </a:rPr>
              <a:t>K7</a:t>
            </a:r>
          </a:p>
        </p:txBody>
      </p:sp>
      <p:sp>
        <p:nvSpPr>
          <p:cNvPr id="101" name="Rectangle 100"/>
          <p:cNvSpPr/>
          <p:nvPr/>
        </p:nvSpPr>
        <p:spPr>
          <a:xfrm>
            <a:off x="10348263" y="4047972"/>
            <a:ext cx="1063447"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10457991" y="4047972"/>
            <a:ext cx="880567" cy="323556"/>
          </a:xfrm>
          <a:prstGeom prst="rect">
            <a:avLst/>
          </a:prstGeom>
          <a:noFill/>
        </p:spPr>
        <p:txBody>
          <a:bodyPr wrap="square" anchor="ctr">
            <a:spAutoFit/>
          </a:bodyPr>
          <a:lstStyle/>
          <a:p>
            <a:pPr algn="l">
              <a:spcAft>
                <a:spcPts val="400"/>
              </a:spcAft>
            </a:pPr>
            <a:r>
              <a:rPr sz="900" b="0">
                <a:solidFill>
                  <a:srgbClr val="161B26"/>
                </a:solidFill>
                <a:latin typeface="Arial"/>
              </a:rPr>
              <a:t>30 min</a:t>
            </a:r>
          </a:p>
        </p:txBody>
      </p:sp>
      <p:sp>
        <p:nvSpPr>
          <p:cNvPr id="103" name="Rectangle 102"/>
          <p:cNvSpPr/>
          <p:nvPr/>
        </p:nvSpPr>
        <p:spPr>
          <a:xfrm>
            <a:off x="777240" y="4371528"/>
            <a:ext cx="531723"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886968" y="4371528"/>
            <a:ext cx="348843" cy="323556"/>
          </a:xfrm>
          <a:prstGeom prst="rect">
            <a:avLst/>
          </a:prstGeom>
          <a:noFill/>
        </p:spPr>
        <p:txBody>
          <a:bodyPr wrap="square" anchor="ctr">
            <a:spAutoFit/>
          </a:bodyPr>
          <a:lstStyle/>
          <a:p>
            <a:pPr algn="l">
              <a:spcAft>
                <a:spcPts val="400"/>
              </a:spcAft>
            </a:pPr>
            <a:r>
              <a:rPr sz="900" b="1">
                <a:solidFill>
                  <a:srgbClr val="161B26"/>
                </a:solidFill>
                <a:latin typeface="Arial"/>
              </a:rPr>
              <a:t>08</a:t>
            </a:r>
          </a:p>
        </p:txBody>
      </p:sp>
      <p:sp>
        <p:nvSpPr>
          <p:cNvPr id="105" name="Rectangle 104"/>
          <p:cNvSpPr/>
          <p:nvPr/>
        </p:nvSpPr>
        <p:spPr>
          <a:xfrm>
            <a:off x="1308963" y="4371528"/>
            <a:ext cx="5423580"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1418691" y="4371528"/>
            <a:ext cx="5240700" cy="323556"/>
          </a:xfrm>
          <a:prstGeom prst="rect">
            <a:avLst/>
          </a:prstGeom>
          <a:noFill/>
        </p:spPr>
        <p:txBody>
          <a:bodyPr wrap="square" anchor="ctr">
            <a:spAutoFit/>
          </a:bodyPr>
          <a:lstStyle/>
          <a:p>
            <a:pPr algn="l">
              <a:spcAft>
                <a:spcPts val="400"/>
              </a:spcAft>
            </a:pPr>
            <a:r>
              <a:rPr sz="900" b="0">
                <a:solidFill>
                  <a:srgbClr val="161B26"/>
                </a:solidFill>
                <a:latin typeface="Arial"/>
              </a:rPr>
              <a:t>Cast-Presence Detection and Detector Evaluation</a:t>
            </a:r>
          </a:p>
        </p:txBody>
      </p:sp>
      <p:sp>
        <p:nvSpPr>
          <p:cNvPr id="107" name="Rectangle 106"/>
          <p:cNvSpPr/>
          <p:nvPr/>
        </p:nvSpPr>
        <p:spPr>
          <a:xfrm>
            <a:off x="6732543" y="4371528"/>
            <a:ext cx="744413"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6842271" y="4371528"/>
            <a:ext cx="561533" cy="323556"/>
          </a:xfrm>
          <a:prstGeom prst="rect">
            <a:avLst/>
          </a:prstGeom>
          <a:noFill/>
        </p:spPr>
        <p:txBody>
          <a:bodyPr wrap="square" anchor="ctr">
            <a:spAutoFit/>
          </a:bodyPr>
          <a:lstStyle/>
          <a:p>
            <a:pPr algn="l">
              <a:spcAft>
                <a:spcPts val="400"/>
              </a:spcAft>
            </a:pPr>
            <a:r>
              <a:rPr sz="900" b="0">
                <a:solidFill>
                  <a:srgbClr val="161B26"/>
                </a:solidFill>
                <a:latin typeface="Arial"/>
              </a:rPr>
              <a:t>04</a:t>
            </a:r>
          </a:p>
        </p:txBody>
      </p:sp>
      <p:sp>
        <p:nvSpPr>
          <p:cNvPr id="109" name="Rectangle 108"/>
          <p:cNvSpPr/>
          <p:nvPr/>
        </p:nvSpPr>
        <p:spPr>
          <a:xfrm>
            <a:off x="7476956" y="4371528"/>
            <a:ext cx="1063447"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7586684" y="4371528"/>
            <a:ext cx="880567" cy="323556"/>
          </a:xfrm>
          <a:prstGeom prst="rect">
            <a:avLst/>
          </a:prstGeom>
          <a:noFill/>
        </p:spPr>
        <p:txBody>
          <a:bodyPr wrap="square" anchor="ctr">
            <a:spAutoFit/>
          </a:bodyPr>
          <a:lstStyle/>
          <a:p>
            <a:pPr algn="l">
              <a:spcAft>
                <a:spcPts val="400"/>
              </a:spcAft>
            </a:pPr>
            <a:r>
              <a:rPr sz="900" b="0">
                <a:solidFill>
                  <a:srgbClr val="161B26"/>
                </a:solidFill>
                <a:latin typeface="Arial"/>
              </a:rPr>
              <a:t>A5</a:t>
            </a:r>
          </a:p>
        </p:txBody>
      </p:sp>
      <p:sp>
        <p:nvSpPr>
          <p:cNvPr id="111" name="Rectangle 110"/>
          <p:cNvSpPr/>
          <p:nvPr/>
        </p:nvSpPr>
        <p:spPr>
          <a:xfrm>
            <a:off x="8540403" y="4371528"/>
            <a:ext cx="1807860"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8650131" y="4371528"/>
            <a:ext cx="1624980" cy="323556"/>
          </a:xfrm>
          <a:prstGeom prst="rect">
            <a:avLst/>
          </a:prstGeom>
          <a:noFill/>
        </p:spPr>
        <p:txBody>
          <a:bodyPr wrap="square" anchor="ctr">
            <a:spAutoFit/>
          </a:bodyPr>
          <a:lstStyle/>
          <a:p>
            <a:pPr algn="l">
              <a:spcAft>
                <a:spcPts val="400"/>
              </a:spcAft>
            </a:pPr>
            <a:r>
              <a:rPr sz="900" b="0">
                <a:solidFill>
                  <a:srgbClr val="161B26"/>
                </a:solidFill>
                <a:latin typeface="Arial"/>
              </a:rPr>
              <a:t>K8, K9</a:t>
            </a:r>
          </a:p>
        </p:txBody>
      </p:sp>
      <p:sp>
        <p:nvSpPr>
          <p:cNvPr id="113" name="Rectangle 112"/>
          <p:cNvSpPr/>
          <p:nvPr/>
        </p:nvSpPr>
        <p:spPr>
          <a:xfrm>
            <a:off x="10348263" y="4371528"/>
            <a:ext cx="1063447"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10457991" y="4371528"/>
            <a:ext cx="880567" cy="323556"/>
          </a:xfrm>
          <a:prstGeom prst="rect">
            <a:avLst/>
          </a:prstGeom>
          <a:noFill/>
        </p:spPr>
        <p:txBody>
          <a:bodyPr wrap="square" anchor="ctr">
            <a:spAutoFit/>
          </a:bodyPr>
          <a:lstStyle/>
          <a:p>
            <a:pPr algn="l">
              <a:spcAft>
                <a:spcPts val="400"/>
              </a:spcAft>
            </a:pPr>
            <a:r>
              <a:rPr sz="900" b="0">
                <a:solidFill>
                  <a:srgbClr val="161B26"/>
                </a:solidFill>
                <a:latin typeface="Arial"/>
              </a:rPr>
              <a:t>60 min</a:t>
            </a:r>
          </a:p>
        </p:txBody>
      </p:sp>
      <p:sp>
        <p:nvSpPr>
          <p:cNvPr id="115" name="Rectangle 114"/>
          <p:cNvSpPr/>
          <p:nvPr/>
        </p:nvSpPr>
        <p:spPr>
          <a:xfrm>
            <a:off x="777240" y="4695084"/>
            <a:ext cx="531723"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886968" y="4695084"/>
            <a:ext cx="348843" cy="323556"/>
          </a:xfrm>
          <a:prstGeom prst="rect">
            <a:avLst/>
          </a:prstGeom>
          <a:noFill/>
        </p:spPr>
        <p:txBody>
          <a:bodyPr wrap="square" anchor="ctr">
            <a:spAutoFit/>
          </a:bodyPr>
          <a:lstStyle/>
          <a:p>
            <a:pPr algn="l">
              <a:spcAft>
                <a:spcPts val="400"/>
              </a:spcAft>
            </a:pPr>
            <a:r>
              <a:rPr sz="900" b="1">
                <a:solidFill>
                  <a:srgbClr val="161B26"/>
                </a:solidFill>
                <a:latin typeface="Arial"/>
              </a:rPr>
              <a:t>09</a:t>
            </a:r>
          </a:p>
        </p:txBody>
      </p:sp>
      <p:sp>
        <p:nvSpPr>
          <p:cNvPr id="117" name="Rectangle 116"/>
          <p:cNvSpPr/>
          <p:nvPr/>
        </p:nvSpPr>
        <p:spPr>
          <a:xfrm>
            <a:off x="1308963" y="4695084"/>
            <a:ext cx="5423580"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1418691" y="4695084"/>
            <a:ext cx="5240700" cy="323556"/>
          </a:xfrm>
          <a:prstGeom prst="rect">
            <a:avLst/>
          </a:prstGeom>
          <a:noFill/>
        </p:spPr>
        <p:txBody>
          <a:bodyPr wrap="square" anchor="ctr">
            <a:spAutoFit/>
          </a:bodyPr>
          <a:lstStyle/>
          <a:p>
            <a:pPr algn="l">
              <a:spcAft>
                <a:spcPts val="400"/>
              </a:spcAft>
            </a:pPr>
            <a:r>
              <a:rPr sz="900" b="0">
                <a:solidFill>
                  <a:srgbClr val="161B26"/>
                </a:solidFill>
                <a:latin typeface="Arial"/>
              </a:rPr>
              <a:t>Storyboard to Shot Prompts, Start and End Frames, and the…</a:t>
            </a:r>
          </a:p>
        </p:txBody>
      </p:sp>
      <p:sp>
        <p:nvSpPr>
          <p:cNvPr id="119" name="Rectangle 118"/>
          <p:cNvSpPr/>
          <p:nvPr/>
        </p:nvSpPr>
        <p:spPr>
          <a:xfrm>
            <a:off x="6732543" y="4695084"/>
            <a:ext cx="744413"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6842271" y="4695084"/>
            <a:ext cx="561533" cy="323556"/>
          </a:xfrm>
          <a:prstGeom prst="rect">
            <a:avLst/>
          </a:prstGeom>
          <a:noFill/>
        </p:spPr>
        <p:txBody>
          <a:bodyPr wrap="square" anchor="ctr">
            <a:spAutoFit/>
          </a:bodyPr>
          <a:lstStyle/>
          <a:p>
            <a:pPr algn="l">
              <a:spcAft>
                <a:spcPts val="400"/>
              </a:spcAft>
            </a:pPr>
            <a:r>
              <a:rPr sz="900" b="0">
                <a:solidFill>
                  <a:srgbClr val="161B26"/>
                </a:solidFill>
                <a:latin typeface="Arial"/>
              </a:rPr>
              <a:t>04</a:t>
            </a:r>
          </a:p>
        </p:txBody>
      </p:sp>
      <p:sp>
        <p:nvSpPr>
          <p:cNvPr id="121" name="Rectangle 120"/>
          <p:cNvSpPr/>
          <p:nvPr/>
        </p:nvSpPr>
        <p:spPr>
          <a:xfrm>
            <a:off x="7476956" y="4695084"/>
            <a:ext cx="1063447"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7586684" y="4695084"/>
            <a:ext cx="880567" cy="323556"/>
          </a:xfrm>
          <a:prstGeom prst="rect">
            <a:avLst/>
          </a:prstGeom>
          <a:noFill/>
        </p:spPr>
        <p:txBody>
          <a:bodyPr wrap="square" anchor="ctr">
            <a:spAutoFit/>
          </a:bodyPr>
          <a:lstStyle/>
          <a:p>
            <a:pPr algn="l">
              <a:spcAft>
                <a:spcPts val="400"/>
              </a:spcAft>
            </a:pPr>
            <a:r>
              <a:rPr sz="900" b="0">
                <a:solidFill>
                  <a:srgbClr val="161B26"/>
                </a:solidFill>
                <a:latin typeface="Arial"/>
              </a:rPr>
              <a:t>A5, A6</a:t>
            </a:r>
          </a:p>
        </p:txBody>
      </p:sp>
      <p:sp>
        <p:nvSpPr>
          <p:cNvPr id="123" name="Rectangle 122"/>
          <p:cNvSpPr/>
          <p:nvPr/>
        </p:nvSpPr>
        <p:spPr>
          <a:xfrm>
            <a:off x="8540403" y="4695084"/>
            <a:ext cx="1807860"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8650131" y="4695084"/>
            <a:ext cx="1624980" cy="323556"/>
          </a:xfrm>
          <a:prstGeom prst="rect">
            <a:avLst/>
          </a:prstGeom>
          <a:noFill/>
        </p:spPr>
        <p:txBody>
          <a:bodyPr wrap="square" anchor="ctr">
            <a:spAutoFit/>
          </a:bodyPr>
          <a:lstStyle/>
          <a:p>
            <a:pPr algn="l">
              <a:spcAft>
                <a:spcPts val="400"/>
              </a:spcAft>
            </a:pPr>
            <a:r>
              <a:rPr sz="900" b="0">
                <a:solidFill>
                  <a:srgbClr val="161B26"/>
                </a:solidFill>
                <a:latin typeface="Arial"/>
              </a:rPr>
              <a:t>K8, K10</a:t>
            </a:r>
          </a:p>
        </p:txBody>
      </p:sp>
      <p:sp>
        <p:nvSpPr>
          <p:cNvPr id="125" name="Rectangle 124"/>
          <p:cNvSpPr/>
          <p:nvPr/>
        </p:nvSpPr>
        <p:spPr>
          <a:xfrm>
            <a:off x="10348263" y="4695084"/>
            <a:ext cx="1063447"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10457991" y="4695084"/>
            <a:ext cx="880567" cy="323556"/>
          </a:xfrm>
          <a:prstGeom prst="rect">
            <a:avLst/>
          </a:prstGeom>
          <a:noFill/>
        </p:spPr>
        <p:txBody>
          <a:bodyPr wrap="square" anchor="ctr">
            <a:spAutoFit/>
          </a:bodyPr>
          <a:lstStyle/>
          <a:p>
            <a:pPr algn="l">
              <a:spcAft>
                <a:spcPts val="400"/>
              </a:spcAft>
            </a:pPr>
            <a:r>
              <a:rPr sz="900" b="0">
                <a:solidFill>
                  <a:srgbClr val="161B26"/>
                </a:solidFill>
                <a:latin typeface="Arial"/>
              </a:rPr>
              <a:t>30 min</a:t>
            </a:r>
          </a:p>
        </p:txBody>
      </p:sp>
      <p:sp>
        <p:nvSpPr>
          <p:cNvPr id="127" name="Rectangle 126"/>
          <p:cNvSpPr/>
          <p:nvPr/>
        </p:nvSpPr>
        <p:spPr>
          <a:xfrm>
            <a:off x="777240" y="5018640"/>
            <a:ext cx="531723"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886968" y="5018640"/>
            <a:ext cx="348843" cy="323556"/>
          </a:xfrm>
          <a:prstGeom prst="rect">
            <a:avLst/>
          </a:prstGeom>
          <a:noFill/>
        </p:spPr>
        <p:txBody>
          <a:bodyPr wrap="square" anchor="ctr">
            <a:spAutoFit/>
          </a:bodyPr>
          <a:lstStyle/>
          <a:p>
            <a:pPr algn="l">
              <a:spcAft>
                <a:spcPts val="400"/>
              </a:spcAft>
            </a:pPr>
            <a:r>
              <a:rPr sz="900" b="1">
                <a:solidFill>
                  <a:srgbClr val="161B26"/>
                </a:solidFill>
                <a:latin typeface="Arial"/>
              </a:rPr>
              <a:t>10</a:t>
            </a:r>
          </a:p>
        </p:txBody>
      </p:sp>
      <p:sp>
        <p:nvSpPr>
          <p:cNvPr id="129" name="Rectangle 128"/>
          <p:cNvSpPr/>
          <p:nvPr/>
        </p:nvSpPr>
        <p:spPr>
          <a:xfrm>
            <a:off x="1308963" y="5018640"/>
            <a:ext cx="5423580"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1418691" y="5018640"/>
            <a:ext cx="5240700" cy="323556"/>
          </a:xfrm>
          <a:prstGeom prst="rect">
            <a:avLst/>
          </a:prstGeom>
          <a:noFill/>
        </p:spPr>
        <p:txBody>
          <a:bodyPr wrap="square" anchor="ctr">
            <a:spAutoFit/>
          </a:bodyPr>
          <a:lstStyle/>
          <a:p>
            <a:pPr algn="l">
              <a:spcAft>
                <a:spcPts val="400"/>
              </a:spcAft>
            </a:pPr>
            <a:r>
              <a:rPr sz="900" b="0">
                <a:solidFill>
                  <a:srgbClr val="161B26"/>
                </a:solidFill>
                <a:latin typeface="Arial"/>
              </a:rPr>
              <a:t>Shot, Motion and Continuity Analytics on the Assembled…</a:t>
            </a:r>
          </a:p>
        </p:txBody>
      </p:sp>
      <p:sp>
        <p:nvSpPr>
          <p:cNvPr id="131" name="Rectangle 130"/>
          <p:cNvSpPr/>
          <p:nvPr/>
        </p:nvSpPr>
        <p:spPr>
          <a:xfrm>
            <a:off x="6732543" y="5018640"/>
            <a:ext cx="744413"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6842271" y="5018640"/>
            <a:ext cx="561533" cy="323556"/>
          </a:xfrm>
          <a:prstGeom prst="rect">
            <a:avLst/>
          </a:prstGeom>
          <a:noFill/>
        </p:spPr>
        <p:txBody>
          <a:bodyPr wrap="square" anchor="ctr">
            <a:spAutoFit/>
          </a:bodyPr>
          <a:lstStyle/>
          <a:p>
            <a:pPr algn="l">
              <a:spcAft>
                <a:spcPts val="400"/>
              </a:spcAft>
            </a:pPr>
            <a:r>
              <a:rPr sz="900" b="0">
                <a:solidFill>
                  <a:srgbClr val="161B26"/>
                </a:solidFill>
                <a:latin typeface="Arial"/>
              </a:rPr>
              <a:t>04</a:t>
            </a:r>
          </a:p>
        </p:txBody>
      </p:sp>
      <p:sp>
        <p:nvSpPr>
          <p:cNvPr id="133" name="Rectangle 132"/>
          <p:cNvSpPr/>
          <p:nvPr/>
        </p:nvSpPr>
        <p:spPr>
          <a:xfrm>
            <a:off x="7476956" y="5018640"/>
            <a:ext cx="1063447"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7586684" y="5018640"/>
            <a:ext cx="880567" cy="323556"/>
          </a:xfrm>
          <a:prstGeom prst="rect">
            <a:avLst/>
          </a:prstGeom>
          <a:noFill/>
        </p:spPr>
        <p:txBody>
          <a:bodyPr wrap="square" anchor="ctr">
            <a:spAutoFit/>
          </a:bodyPr>
          <a:lstStyle/>
          <a:p>
            <a:pPr algn="l">
              <a:spcAft>
                <a:spcPts val="400"/>
              </a:spcAft>
            </a:pPr>
            <a:r>
              <a:rPr sz="900" b="0">
                <a:solidFill>
                  <a:srgbClr val="161B26"/>
                </a:solidFill>
                <a:latin typeface="Arial"/>
              </a:rPr>
              <a:t>A6</a:t>
            </a:r>
          </a:p>
        </p:txBody>
      </p:sp>
      <p:sp>
        <p:nvSpPr>
          <p:cNvPr id="135" name="Rectangle 134"/>
          <p:cNvSpPr/>
          <p:nvPr/>
        </p:nvSpPr>
        <p:spPr>
          <a:xfrm>
            <a:off x="8540403" y="5018640"/>
            <a:ext cx="1807860"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8650131" y="5018640"/>
            <a:ext cx="1624980" cy="323556"/>
          </a:xfrm>
          <a:prstGeom prst="rect">
            <a:avLst/>
          </a:prstGeom>
          <a:noFill/>
        </p:spPr>
        <p:txBody>
          <a:bodyPr wrap="square" anchor="ctr">
            <a:spAutoFit/>
          </a:bodyPr>
          <a:lstStyle/>
          <a:p>
            <a:pPr algn="l">
              <a:spcAft>
                <a:spcPts val="400"/>
              </a:spcAft>
            </a:pPr>
            <a:r>
              <a:rPr sz="900" b="0">
                <a:solidFill>
                  <a:srgbClr val="161B26"/>
                </a:solidFill>
                <a:latin typeface="Arial"/>
              </a:rPr>
              <a:t>K10</a:t>
            </a:r>
          </a:p>
        </p:txBody>
      </p:sp>
      <p:sp>
        <p:nvSpPr>
          <p:cNvPr id="137" name="Rectangle 136"/>
          <p:cNvSpPr/>
          <p:nvPr/>
        </p:nvSpPr>
        <p:spPr>
          <a:xfrm>
            <a:off x="10348263" y="5018640"/>
            <a:ext cx="1063447"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10457991" y="5018640"/>
            <a:ext cx="880567" cy="323556"/>
          </a:xfrm>
          <a:prstGeom prst="rect">
            <a:avLst/>
          </a:prstGeom>
          <a:noFill/>
        </p:spPr>
        <p:txBody>
          <a:bodyPr wrap="square" anchor="ctr">
            <a:spAutoFit/>
          </a:bodyPr>
          <a:lstStyle/>
          <a:p>
            <a:pPr algn="l">
              <a:spcAft>
                <a:spcPts val="400"/>
              </a:spcAft>
            </a:pPr>
            <a:r>
              <a:rPr sz="900" b="0">
                <a:solidFill>
                  <a:srgbClr val="161B26"/>
                </a:solidFill>
                <a:latin typeface="Arial"/>
              </a:rPr>
              <a:t>60 min</a:t>
            </a:r>
          </a:p>
        </p:txBody>
      </p:sp>
      <p:sp>
        <p:nvSpPr>
          <p:cNvPr id="139" name="Rectangle 138"/>
          <p:cNvSpPr/>
          <p:nvPr/>
        </p:nvSpPr>
        <p:spPr>
          <a:xfrm>
            <a:off x="777240" y="5342196"/>
            <a:ext cx="531723"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886968" y="5342196"/>
            <a:ext cx="348843" cy="323556"/>
          </a:xfrm>
          <a:prstGeom prst="rect">
            <a:avLst/>
          </a:prstGeom>
          <a:noFill/>
        </p:spPr>
        <p:txBody>
          <a:bodyPr wrap="square" anchor="ctr">
            <a:spAutoFit/>
          </a:bodyPr>
          <a:lstStyle/>
          <a:p>
            <a:pPr algn="l">
              <a:spcAft>
                <a:spcPts val="400"/>
              </a:spcAft>
            </a:pPr>
            <a:r>
              <a:rPr sz="900" b="1">
                <a:solidFill>
                  <a:srgbClr val="161B26"/>
                </a:solidFill>
                <a:latin typeface="Arial"/>
              </a:rPr>
              <a:t>11</a:t>
            </a:r>
          </a:p>
        </p:txBody>
      </p:sp>
      <p:sp>
        <p:nvSpPr>
          <p:cNvPr id="141" name="Rectangle 140"/>
          <p:cNvSpPr/>
          <p:nvPr/>
        </p:nvSpPr>
        <p:spPr>
          <a:xfrm>
            <a:off x="1308963" y="5342196"/>
            <a:ext cx="5423580"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1418691" y="5342196"/>
            <a:ext cx="5240700" cy="323556"/>
          </a:xfrm>
          <a:prstGeom prst="rect">
            <a:avLst/>
          </a:prstGeom>
          <a:noFill/>
        </p:spPr>
        <p:txBody>
          <a:bodyPr wrap="square" anchor="ctr">
            <a:spAutoFit/>
          </a:bodyPr>
          <a:lstStyle/>
          <a:p>
            <a:pPr algn="l">
              <a:spcAft>
                <a:spcPts val="400"/>
              </a:spcAft>
            </a:pPr>
            <a:r>
              <a:rPr sz="900" b="0">
                <a:solidFill>
                  <a:srgbClr val="161B26"/>
                </a:solidFill>
                <a:latin typeface="Arial"/>
              </a:rPr>
              <a:t>Voiceover, Music, Captions and the Final Export Ladder</a:t>
            </a:r>
          </a:p>
        </p:txBody>
      </p:sp>
      <p:sp>
        <p:nvSpPr>
          <p:cNvPr id="143" name="Rectangle 142"/>
          <p:cNvSpPr/>
          <p:nvPr/>
        </p:nvSpPr>
        <p:spPr>
          <a:xfrm>
            <a:off x="6732543" y="5342196"/>
            <a:ext cx="744413"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6842271" y="5342196"/>
            <a:ext cx="561533" cy="323556"/>
          </a:xfrm>
          <a:prstGeom prst="rect">
            <a:avLst/>
          </a:prstGeom>
          <a:noFill/>
        </p:spPr>
        <p:txBody>
          <a:bodyPr wrap="square" anchor="ctr">
            <a:spAutoFit/>
          </a:bodyPr>
          <a:lstStyle/>
          <a:p>
            <a:pPr algn="l">
              <a:spcAft>
                <a:spcPts val="400"/>
              </a:spcAft>
            </a:pPr>
            <a:r>
              <a:rPr sz="900" b="0">
                <a:solidFill>
                  <a:srgbClr val="161B26"/>
                </a:solidFill>
                <a:latin typeface="Arial"/>
              </a:rPr>
              <a:t>04</a:t>
            </a:r>
          </a:p>
        </p:txBody>
      </p:sp>
      <p:sp>
        <p:nvSpPr>
          <p:cNvPr id="145" name="Rectangle 144"/>
          <p:cNvSpPr/>
          <p:nvPr/>
        </p:nvSpPr>
        <p:spPr>
          <a:xfrm>
            <a:off x="7476956" y="5342196"/>
            <a:ext cx="1063447"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7586684" y="5342196"/>
            <a:ext cx="880567" cy="323556"/>
          </a:xfrm>
          <a:prstGeom prst="rect">
            <a:avLst/>
          </a:prstGeom>
          <a:noFill/>
        </p:spPr>
        <p:txBody>
          <a:bodyPr wrap="square" anchor="ctr">
            <a:spAutoFit/>
          </a:bodyPr>
          <a:lstStyle/>
          <a:p>
            <a:pPr algn="l">
              <a:spcAft>
                <a:spcPts val="400"/>
              </a:spcAft>
            </a:pPr>
            <a:r>
              <a:rPr sz="900" b="0">
                <a:solidFill>
                  <a:srgbClr val="161B26"/>
                </a:solidFill>
                <a:latin typeface="Arial"/>
              </a:rPr>
              <a:t>A5, A6</a:t>
            </a:r>
          </a:p>
        </p:txBody>
      </p:sp>
      <p:sp>
        <p:nvSpPr>
          <p:cNvPr id="147" name="Rectangle 146"/>
          <p:cNvSpPr/>
          <p:nvPr/>
        </p:nvSpPr>
        <p:spPr>
          <a:xfrm>
            <a:off x="8540403" y="5342196"/>
            <a:ext cx="1807860"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8650131" y="5342196"/>
            <a:ext cx="1624980" cy="323556"/>
          </a:xfrm>
          <a:prstGeom prst="rect">
            <a:avLst/>
          </a:prstGeom>
          <a:noFill/>
        </p:spPr>
        <p:txBody>
          <a:bodyPr wrap="square" anchor="ctr">
            <a:spAutoFit/>
          </a:bodyPr>
          <a:lstStyle/>
          <a:p>
            <a:pPr algn="l">
              <a:spcAft>
                <a:spcPts val="400"/>
              </a:spcAft>
            </a:pPr>
            <a:r>
              <a:rPr sz="900" b="0">
                <a:solidFill>
                  <a:srgbClr val="161B26"/>
                </a:solidFill>
                <a:latin typeface="Arial"/>
              </a:rPr>
              <a:t>K9, K10</a:t>
            </a:r>
          </a:p>
        </p:txBody>
      </p:sp>
      <p:sp>
        <p:nvSpPr>
          <p:cNvPr id="149" name="Rectangle 148"/>
          <p:cNvSpPr/>
          <p:nvPr/>
        </p:nvSpPr>
        <p:spPr>
          <a:xfrm>
            <a:off x="10348263" y="5342196"/>
            <a:ext cx="1063447" cy="3235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10457991" y="5342196"/>
            <a:ext cx="880567" cy="323556"/>
          </a:xfrm>
          <a:prstGeom prst="rect">
            <a:avLst/>
          </a:prstGeom>
          <a:noFill/>
        </p:spPr>
        <p:txBody>
          <a:bodyPr wrap="square" anchor="ctr">
            <a:spAutoFit/>
          </a:bodyPr>
          <a:lstStyle/>
          <a:p>
            <a:pPr algn="l">
              <a:spcAft>
                <a:spcPts val="400"/>
              </a:spcAft>
            </a:pPr>
            <a:r>
              <a:rPr sz="900" b="0">
                <a:solidFill>
                  <a:srgbClr val="161B26"/>
                </a:solidFill>
                <a:latin typeface="Arial"/>
              </a:rPr>
              <a:t>30 min</a:t>
            </a:r>
          </a:p>
        </p:txBody>
      </p:sp>
      <p:sp>
        <p:nvSpPr>
          <p:cNvPr id="151" name="Rectangle 150"/>
          <p:cNvSpPr/>
          <p:nvPr/>
        </p:nvSpPr>
        <p:spPr>
          <a:xfrm>
            <a:off x="777240" y="5665752"/>
            <a:ext cx="531723"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886968" y="5665752"/>
            <a:ext cx="348843" cy="323556"/>
          </a:xfrm>
          <a:prstGeom prst="rect">
            <a:avLst/>
          </a:prstGeom>
          <a:noFill/>
        </p:spPr>
        <p:txBody>
          <a:bodyPr wrap="square" anchor="ctr">
            <a:spAutoFit/>
          </a:bodyPr>
          <a:lstStyle/>
          <a:p>
            <a:pPr algn="l">
              <a:spcAft>
                <a:spcPts val="400"/>
              </a:spcAft>
            </a:pPr>
            <a:r>
              <a:rPr sz="900" b="1">
                <a:solidFill>
                  <a:srgbClr val="161B26"/>
                </a:solidFill>
                <a:latin typeface="Arial"/>
              </a:rPr>
              <a:t>12</a:t>
            </a:r>
          </a:p>
        </p:txBody>
      </p:sp>
      <p:sp>
        <p:nvSpPr>
          <p:cNvPr id="153" name="Rectangle 152"/>
          <p:cNvSpPr/>
          <p:nvPr/>
        </p:nvSpPr>
        <p:spPr>
          <a:xfrm>
            <a:off x="1308963" y="5665752"/>
            <a:ext cx="5423580"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1418691" y="5665752"/>
            <a:ext cx="5240700" cy="323556"/>
          </a:xfrm>
          <a:prstGeom prst="rect">
            <a:avLst/>
          </a:prstGeom>
          <a:noFill/>
        </p:spPr>
        <p:txBody>
          <a:bodyPr wrap="square" anchor="ctr">
            <a:spAutoFit/>
          </a:bodyPr>
          <a:lstStyle/>
          <a:p>
            <a:pPr algn="l">
              <a:spcAft>
                <a:spcPts val="400"/>
              </a:spcAft>
            </a:pPr>
            <a:r>
              <a:rPr sz="900" b="0">
                <a:solidFill>
                  <a:srgbClr val="161B26"/>
                </a:solidFill>
                <a:latin typeface="Arial"/>
              </a:rPr>
              <a:t>Cloud, Local and Hybrid Production Architecture Evaluation</a:t>
            </a:r>
          </a:p>
        </p:txBody>
      </p:sp>
      <p:sp>
        <p:nvSpPr>
          <p:cNvPr id="155" name="Rectangle 154"/>
          <p:cNvSpPr/>
          <p:nvPr/>
        </p:nvSpPr>
        <p:spPr>
          <a:xfrm>
            <a:off x="6732543" y="5665752"/>
            <a:ext cx="744413"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6842271" y="5665752"/>
            <a:ext cx="561533" cy="323556"/>
          </a:xfrm>
          <a:prstGeom prst="rect">
            <a:avLst/>
          </a:prstGeom>
          <a:noFill/>
        </p:spPr>
        <p:txBody>
          <a:bodyPr wrap="square" anchor="ctr">
            <a:spAutoFit/>
          </a:bodyPr>
          <a:lstStyle/>
          <a:p>
            <a:pPr algn="l">
              <a:spcAft>
                <a:spcPts val="400"/>
              </a:spcAft>
            </a:pPr>
            <a:r>
              <a:rPr sz="900" b="0">
                <a:solidFill>
                  <a:srgbClr val="161B26"/>
                </a:solidFill>
                <a:latin typeface="Arial"/>
              </a:rPr>
              <a:t>05</a:t>
            </a:r>
          </a:p>
        </p:txBody>
      </p:sp>
      <p:sp>
        <p:nvSpPr>
          <p:cNvPr id="157" name="Rectangle 156"/>
          <p:cNvSpPr/>
          <p:nvPr/>
        </p:nvSpPr>
        <p:spPr>
          <a:xfrm>
            <a:off x="7476956" y="5665752"/>
            <a:ext cx="1063447"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7586684" y="5665752"/>
            <a:ext cx="880567" cy="323556"/>
          </a:xfrm>
          <a:prstGeom prst="rect">
            <a:avLst/>
          </a:prstGeom>
          <a:noFill/>
        </p:spPr>
        <p:txBody>
          <a:bodyPr wrap="square" anchor="ctr">
            <a:spAutoFit/>
          </a:bodyPr>
          <a:lstStyle/>
          <a:p>
            <a:pPr algn="l">
              <a:spcAft>
                <a:spcPts val="400"/>
              </a:spcAft>
            </a:pPr>
            <a:r>
              <a:rPr sz="900" b="0">
                <a:solidFill>
                  <a:srgbClr val="161B26"/>
                </a:solidFill>
                <a:latin typeface="Arial"/>
              </a:rPr>
              <a:t>A7, A8</a:t>
            </a:r>
          </a:p>
        </p:txBody>
      </p:sp>
      <p:sp>
        <p:nvSpPr>
          <p:cNvPr id="159" name="Rectangle 158"/>
          <p:cNvSpPr/>
          <p:nvPr/>
        </p:nvSpPr>
        <p:spPr>
          <a:xfrm>
            <a:off x="8540403" y="5665752"/>
            <a:ext cx="1807860"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8650131" y="5665752"/>
            <a:ext cx="1624980" cy="323556"/>
          </a:xfrm>
          <a:prstGeom prst="rect">
            <a:avLst/>
          </a:prstGeom>
          <a:noFill/>
        </p:spPr>
        <p:txBody>
          <a:bodyPr wrap="square" anchor="ctr">
            <a:spAutoFit/>
          </a:bodyPr>
          <a:lstStyle/>
          <a:p>
            <a:pPr algn="l">
              <a:spcAft>
                <a:spcPts val="400"/>
              </a:spcAft>
            </a:pPr>
            <a:r>
              <a:rPr sz="900" b="0">
                <a:solidFill>
                  <a:srgbClr val="161B26"/>
                </a:solidFill>
                <a:latin typeface="Arial"/>
              </a:rPr>
              <a:t>K11, K12, K13</a:t>
            </a:r>
          </a:p>
        </p:txBody>
      </p:sp>
      <p:sp>
        <p:nvSpPr>
          <p:cNvPr id="161" name="Rectangle 160"/>
          <p:cNvSpPr/>
          <p:nvPr/>
        </p:nvSpPr>
        <p:spPr>
          <a:xfrm>
            <a:off x="10348263" y="5665752"/>
            <a:ext cx="1063447" cy="32355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10457991" y="5665752"/>
            <a:ext cx="880567" cy="323556"/>
          </a:xfrm>
          <a:prstGeom prst="rect">
            <a:avLst/>
          </a:prstGeom>
          <a:noFill/>
        </p:spPr>
        <p:txBody>
          <a:bodyPr wrap="square" anchor="ctr">
            <a:spAutoFit/>
          </a:bodyPr>
          <a:lstStyle/>
          <a:p>
            <a:pPr algn="l">
              <a:spcAft>
                <a:spcPts val="400"/>
              </a:spcAft>
            </a:pPr>
            <a:r>
              <a:rPr sz="900" b="0">
                <a:solidFill>
                  <a:srgbClr val="161B26"/>
                </a:solidFill>
                <a:latin typeface="Arial"/>
              </a:rPr>
              <a:t>60 min</a:t>
            </a:r>
          </a:p>
        </p:txBody>
      </p:sp>
      <p:sp>
        <p:nvSpPr>
          <p:cNvPr id="163" name="TextBox 162"/>
          <p:cNvSpPr txBox="1"/>
          <p:nvPr/>
        </p:nvSpPr>
        <p:spPr>
          <a:xfrm>
            <a:off x="777240" y="6053328"/>
            <a:ext cx="10698480" cy="457200"/>
          </a:xfrm>
          <a:prstGeom prst="rect">
            <a:avLst/>
          </a:prstGeom>
          <a:noFill/>
        </p:spPr>
        <p:txBody>
          <a:bodyPr wrap="square" anchor="t">
            <a:spAutoFit/>
          </a:bodyPr>
          <a:lstStyle/>
          <a:p>
            <a:pPr algn="ctr">
              <a:spcAft>
                <a:spcPts val="400"/>
              </a:spcAft>
            </a:pPr>
            <a:r>
              <a:rPr sz="1200" b="0">
                <a:solidFill>
                  <a:srgbClr val="5B6372"/>
                </a:solidFill>
                <a:latin typeface="Arial"/>
              </a:rPr>
              <a:t>Each lab folder carries its own numbered steps, data, local media, prompt pack, expected outputs, evidence checklist and troubleshooting. No lab needs a paid service; generation steps are optional extensions.</a:t>
            </a:r>
          </a:p>
        </p:txBody>
      </p:sp>
      <p:sp>
        <p:nvSpPr>
          <p:cNvPr id="164" name="TextBox 16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165" name="TextBox 16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6" name="TextBox 16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fast">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TARGET LEARNER PROFILE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Entry Requirements and Who This Is For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823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64336"/>
          </a:xfrm>
          <a:prstGeom prst="rect">
            <a:avLst/>
          </a:prstGeom>
          <a:noFill/>
        </p:spPr>
        <p:txBody>
          <a:bodyPr wrap="square" anchor="ctr">
            <a:spAutoFit/>
          </a:bodyPr>
          <a:lstStyle/>
          <a:p>
            <a:pPr algn="l">
              <a:spcAft>
                <a:spcPts val="200"/>
              </a:spcAft>
            </a:pPr>
            <a:r>
              <a:rPr sz="1400" b="1">
                <a:solidFill>
                  <a:srgbClr val="161B26"/>
                </a:solidFill>
                <a:latin typeface="Arial"/>
              </a:rPr>
              <a:t>Knowledge and skills</a:t>
            </a:r>
          </a:p>
          <a:p>
            <a:pPr algn="l">
              <a:spcAft>
                <a:spcPts val="200"/>
              </a:spcAft>
            </a:pPr>
            <a:r>
              <a:rPr sz="1100" b="0">
                <a:solidFill>
                  <a:srgbClr val="5B6372"/>
                </a:solidFill>
                <a:latin typeface="Arial"/>
              </a:rPr>
              <a:t>Computer literacy at ICAS Level 2; minimum 3 GCE 'O' Levels including English, or WPL Level 5.</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8236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64336"/>
          </a:xfrm>
          <a:prstGeom prst="rect">
            <a:avLst/>
          </a:prstGeom>
          <a:noFill/>
        </p:spPr>
        <p:txBody>
          <a:bodyPr wrap="square" anchor="ctr">
            <a:spAutoFit/>
          </a:bodyPr>
          <a:lstStyle/>
          <a:p>
            <a:pPr algn="l">
              <a:spcAft>
                <a:spcPts val="200"/>
              </a:spcAft>
            </a:pPr>
            <a:r>
              <a:rPr sz="1400" b="1">
                <a:solidFill>
                  <a:srgbClr val="161B26"/>
                </a:solidFill>
                <a:latin typeface="Arial"/>
              </a:rPr>
              <a:t>Experience</a:t>
            </a:r>
          </a:p>
          <a:p>
            <a:pPr algn="l">
              <a:spcAft>
                <a:spcPts val="200"/>
              </a:spcAft>
            </a:pPr>
            <a:r>
              <a:rPr sz="1100" b="0">
                <a:solidFill>
                  <a:srgbClr val="5B6372"/>
                </a:solidFill>
                <a:latin typeface="Arial"/>
              </a:rPr>
              <a:t>Minimum 1 year of working experience; minimum 18 years of age.</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04616"/>
            <a:ext cx="4027932" cy="1164336"/>
          </a:xfrm>
          <a:prstGeom prst="rect">
            <a:avLst/>
          </a:prstGeom>
          <a:noFill/>
        </p:spPr>
        <p:txBody>
          <a:bodyPr wrap="square" anchor="ctr">
            <a:spAutoFit/>
          </a:bodyPr>
          <a:lstStyle/>
          <a:p>
            <a:pPr algn="l">
              <a:spcAft>
                <a:spcPts val="200"/>
              </a:spcAft>
            </a:pPr>
            <a:r>
              <a:rPr sz="1400" b="1">
                <a:solidFill>
                  <a:srgbClr val="161B26"/>
                </a:solidFill>
                <a:latin typeface="Arial"/>
              </a:rPr>
              <a:t>Technical</a:t>
            </a:r>
          </a:p>
          <a:p>
            <a:pPr algn="l">
              <a:spcAft>
                <a:spcPts val="200"/>
              </a:spcAft>
            </a:pPr>
            <a:r>
              <a:rPr sz="1100" b="0">
                <a:solidFill>
                  <a:srgbClr val="5B6372"/>
                </a:solidFill>
                <a:latin typeface="Arial"/>
              </a:rPr>
              <a:t>Windows or Mac laptop, a modern browser, and Python 3 with opencv-python and NumPy. FFmpeg and AI tool accounts are optional.</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04616"/>
            <a:ext cx="4027932" cy="1164336"/>
          </a:xfrm>
          <a:prstGeom prst="rect">
            <a:avLst/>
          </a:prstGeom>
          <a:noFill/>
        </p:spPr>
        <p:txBody>
          <a:bodyPr wrap="square" anchor="ctr">
            <a:spAutoFit/>
          </a:bodyPr>
          <a:lstStyle/>
          <a:p>
            <a:pPr algn="l">
              <a:spcAft>
                <a:spcPts val="200"/>
              </a:spcAft>
            </a:pPr>
            <a:r>
              <a:rPr sz="1400" b="1">
                <a:solidFill>
                  <a:srgbClr val="161B26"/>
                </a:solidFill>
                <a:latin typeface="Arial"/>
              </a:rPr>
              <a:t>Coding</a:t>
            </a:r>
          </a:p>
          <a:p>
            <a:pPr algn="l">
              <a:spcAft>
                <a:spcPts val="200"/>
              </a:spcAft>
            </a:pPr>
            <a:r>
              <a:rPr sz="1100" b="0">
                <a:solidFill>
                  <a:srgbClr val="5B6372"/>
                </a:solidFill>
                <a:latin typeface="Arial"/>
              </a:rPr>
              <a:t>Basic Python is helpful but not assumed — every lab script is supplied, run and explained step by step.</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256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34712"/>
            <a:ext cx="4027932" cy="1164336"/>
          </a:xfrm>
          <a:prstGeom prst="rect">
            <a:avLst/>
          </a:prstGeom>
          <a:noFill/>
        </p:spPr>
        <p:txBody>
          <a:bodyPr wrap="square" anchor="ctr">
            <a:spAutoFit/>
          </a:bodyPr>
          <a:lstStyle/>
          <a:p>
            <a:pPr algn="l">
              <a:spcAft>
                <a:spcPts val="200"/>
              </a:spcAft>
            </a:pPr>
            <a:r>
              <a:rPr sz="1400" b="1">
                <a:solidFill>
                  <a:srgbClr val="161B26"/>
                </a:solidFill>
                <a:latin typeface="Arial"/>
              </a:rPr>
              <a:t>Typical roles</a:t>
            </a:r>
          </a:p>
          <a:p>
            <a:pPr algn="l">
              <a:spcAft>
                <a:spcPts val="200"/>
              </a:spcAft>
            </a:pPr>
            <a:r>
              <a:rPr sz="1100" b="0">
                <a:solidFill>
                  <a:srgbClr val="5B6372"/>
                </a:solidFill>
                <a:latin typeface="Arial"/>
              </a:rPr>
              <a:t>Content creator, digital marketer, social media manager, video editor, multimedia producer, brand and communications executive, trainer and instructional designer.</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256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34712"/>
            <a:ext cx="4027932" cy="1164336"/>
          </a:xfrm>
          <a:prstGeom prst="rect">
            <a:avLst/>
          </a:prstGeom>
          <a:noFill/>
        </p:spPr>
        <p:txBody>
          <a:bodyPr wrap="square" anchor="ctr">
            <a:spAutoFit/>
          </a:bodyPr>
          <a:lstStyle/>
          <a:p>
            <a:pPr algn="l">
              <a:spcAft>
                <a:spcPts val="200"/>
              </a:spcAft>
            </a:pPr>
            <a:r>
              <a:rPr sz="1400" b="1">
                <a:solidFill>
                  <a:srgbClr val="161B26"/>
                </a:solidFill>
                <a:latin typeface="Arial"/>
              </a:rPr>
              <a:t>What you leave with</a:t>
            </a:r>
          </a:p>
          <a:p>
            <a:pPr algn="l">
              <a:spcAft>
                <a:spcPts val="200"/>
              </a:spcAft>
            </a:pPr>
            <a:r>
              <a:rPr sz="1100" b="0">
                <a:solidFill>
                  <a:srgbClr val="5B6372"/>
                </a:solidFill>
                <a:latin typeface="Arial"/>
              </a:rPr>
              <a:t>A planned, storyboarded and finished short film, a reusable prompt library, and quality checks for every shot you generate.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fast">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BEFORE THE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Briefing for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b="0">
                <a:solidFill>
                  <a:srgbClr val="161B26"/>
                </a:solidFill>
                <a:latin typeface="Arial"/>
              </a:rPr>
              <a:t>•  Place phones and all other materials under the table or on the floor.</a:t>
            </a:r>
          </a:p>
          <a:p>
            <a:pPr>
              <a:spcAft>
                <a:spcPts val="1000"/>
              </a:spcAft>
            </a:pPr>
            <a:r>
              <a:rPr sz="1600" b="0">
                <a:solidFill>
                  <a:srgbClr val="161B26"/>
                </a:solidFill>
                <a:latin typeface="Arial"/>
              </a:rPr>
              <a:t>•  No photographs and no recording of assessment scripts.</a:t>
            </a:r>
          </a:p>
          <a:p>
            <a:pPr>
              <a:spcAft>
                <a:spcPts val="1000"/>
              </a:spcAft>
            </a:pPr>
            <a:r>
              <a:rPr sz="1600" b="0">
                <a:solidFill>
                  <a:srgbClr val="161B26"/>
                </a:solidFill>
                <a:latin typeface="Arial"/>
              </a:rPr>
              <a:t>•  No discussion during the assessment.</a:t>
            </a:r>
          </a:p>
          <a:p>
            <a:pPr>
              <a:spcAft>
                <a:spcPts val="1000"/>
              </a:spcAft>
            </a:pPr>
            <a:r>
              <a:rPr sz="1600" b="0">
                <a:solidFill>
                  <a:srgbClr val="161B26"/>
                </a:solidFill>
                <a:latin typeface="Arial"/>
              </a:rPr>
              <a:t>•  Use a black or blue pen for any hard-copy response.</a:t>
            </a:r>
          </a:p>
          <a:p>
            <a:pPr>
              <a:spcAft>
                <a:spcPts val="1000"/>
              </a:spcAft>
            </a:pPr>
            <a:r>
              <a:rPr sz="1600" b="0">
                <a:solidFill>
                  <a:srgbClr val="161B26"/>
                </a:solidFill>
                <a:latin typeface="Arial"/>
              </a:rPr>
              <a:t>•  No liquid paper and no correction tape.</a:t>
            </a:r>
          </a:p>
          <a:p>
            <a:pPr>
              <a:spcAft>
                <a:spcPts val="1000"/>
              </a:spcAft>
            </a:pPr>
            <a:r>
              <a:rPr sz="1600" b="0">
                <a:solidFill>
                  <a:srgbClr val="161B26"/>
                </a:solidFill>
                <a:latin typeface="Arial"/>
              </a:rPr>
              <a:t>•  Assessment scripts are collected when time is up.</a:t>
            </a:r>
          </a:p>
          <a:p>
            <a:pPr>
              <a:spcAft>
                <a:spcPts val="1000"/>
              </a:spcAft>
            </a:pPr>
            <a:r>
              <a:rPr sz="1600" b="0">
                <a:solidFill>
                  <a:srgbClr val="161B26"/>
                </a:solidFill>
                <a:latin typeface="Arial"/>
              </a:rPr>
              <a:t>•  Take the Assessment digital attendance before the paper starts.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fast">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REGISTERED ASSESSMENT PLAN · TGS-2020505925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Final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12689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1944014" cy="1051560"/>
          </a:xfrm>
          <a:prstGeom prst="rect">
            <a:avLst/>
          </a:prstGeom>
          <a:noFill/>
        </p:spPr>
        <p:txBody>
          <a:bodyPr wrap="square" anchor="ctr">
            <a:spAutoFit/>
          </a:bodyPr>
          <a:lstStyle/>
          <a:p>
            <a:pPr algn="l">
              <a:spcAft>
                <a:spcPts val="400"/>
              </a:spcAft>
            </a:pPr>
            <a:r>
              <a:rPr sz="1100" b="1">
                <a:solidFill>
                  <a:srgbClr val="FFFFFF"/>
                </a:solidFill>
                <a:latin typeface="Arial"/>
              </a:rPr>
              <a:t>Instrument</a:t>
            </a:r>
          </a:p>
        </p:txBody>
      </p:sp>
      <p:sp>
        <p:nvSpPr>
          <p:cNvPr id="9" name="Rectangle 8"/>
          <p:cNvSpPr/>
          <p:nvPr/>
        </p:nvSpPr>
        <p:spPr>
          <a:xfrm>
            <a:off x="2904134" y="1783080"/>
            <a:ext cx="4891857"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13862" y="1783080"/>
            <a:ext cx="4708977" cy="1051560"/>
          </a:xfrm>
          <a:prstGeom prst="rect">
            <a:avLst/>
          </a:prstGeom>
          <a:noFill/>
        </p:spPr>
        <p:txBody>
          <a:bodyPr wrap="square" anchor="ctr">
            <a:spAutoFit/>
          </a:bodyPr>
          <a:lstStyle/>
          <a:p>
            <a:pPr algn="l">
              <a:spcAft>
                <a:spcPts val="400"/>
              </a:spcAft>
            </a:pPr>
            <a:r>
              <a:rPr sz="1100" b="1">
                <a:solidFill>
                  <a:srgbClr val="FFFFFF"/>
                </a:solidFill>
                <a:latin typeface="Arial"/>
              </a:rPr>
              <a:t>Covers</a:t>
            </a:r>
          </a:p>
        </p:txBody>
      </p:sp>
      <p:sp>
        <p:nvSpPr>
          <p:cNvPr id="11" name="Rectangle 10"/>
          <p:cNvSpPr/>
          <p:nvPr/>
        </p:nvSpPr>
        <p:spPr>
          <a:xfrm>
            <a:off x="7795991" y="1783080"/>
            <a:ext cx="1276136"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05719" y="1783080"/>
            <a:ext cx="1093256" cy="1051560"/>
          </a:xfrm>
          <a:prstGeom prst="rect">
            <a:avLst/>
          </a:prstGeom>
          <a:noFill/>
        </p:spPr>
        <p:txBody>
          <a:bodyPr wrap="square" anchor="ctr">
            <a:spAutoFit/>
          </a:bodyPr>
          <a:lstStyle/>
          <a:p>
            <a:pPr algn="l">
              <a:spcAft>
                <a:spcPts val="400"/>
              </a:spcAft>
            </a:pPr>
            <a:r>
              <a:rPr sz="1100" b="1">
                <a:solidFill>
                  <a:srgbClr val="FFFFFF"/>
                </a:solidFill>
                <a:latin typeface="Arial"/>
              </a:rPr>
              <a:t>Duration</a:t>
            </a:r>
          </a:p>
        </p:txBody>
      </p:sp>
      <p:sp>
        <p:nvSpPr>
          <p:cNvPr id="13" name="Rectangle 12"/>
          <p:cNvSpPr/>
          <p:nvPr/>
        </p:nvSpPr>
        <p:spPr>
          <a:xfrm>
            <a:off x="9072127" y="1783080"/>
            <a:ext cx="2339583"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81855" y="1783080"/>
            <a:ext cx="2156703" cy="1051560"/>
          </a:xfrm>
          <a:prstGeom prst="rect">
            <a:avLst/>
          </a:prstGeom>
          <a:noFill/>
        </p:spPr>
        <p:txBody>
          <a:bodyPr wrap="square" anchor="ctr">
            <a:spAutoFit/>
          </a:bodyPr>
          <a:lstStyle/>
          <a:p>
            <a:pPr algn="l">
              <a:spcAft>
                <a:spcPts val="400"/>
              </a:spcAft>
            </a:pPr>
            <a:r>
              <a:rPr sz="1100" b="1">
                <a:solidFill>
                  <a:srgbClr val="FFFFFF"/>
                </a:solidFill>
                <a:latin typeface="Arial"/>
              </a:rPr>
              <a:t>Format</a:t>
            </a:r>
          </a:p>
        </p:txBody>
      </p:sp>
      <p:sp>
        <p:nvSpPr>
          <p:cNvPr id="15" name="Rectangle 14"/>
          <p:cNvSpPr/>
          <p:nvPr/>
        </p:nvSpPr>
        <p:spPr>
          <a:xfrm>
            <a:off x="777240" y="2834640"/>
            <a:ext cx="2126894" cy="10515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6968" y="2834640"/>
            <a:ext cx="1944014" cy="1051560"/>
          </a:xfrm>
          <a:prstGeom prst="rect">
            <a:avLst/>
          </a:prstGeom>
          <a:noFill/>
        </p:spPr>
        <p:txBody>
          <a:bodyPr wrap="square" anchor="ctr">
            <a:spAutoFit/>
          </a:bodyPr>
          <a:lstStyle/>
          <a:p>
            <a:pPr algn="l">
              <a:spcAft>
                <a:spcPts val="400"/>
              </a:spcAft>
            </a:pPr>
            <a:r>
              <a:rPr sz="1000" b="1">
                <a:solidFill>
                  <a:srgbClr val="161B26"/>
                </a:solidFill>
                <a:latin typeface="Arial"/>
              </a:rPr>
              <a:t>Written Assessment WA(Q&amp;A)</a:t>
            </a:r>
          </a:p>
        </p:txBody>
      </p:sp>
      <p:sp>
        <p:nvSpPr>
          <p:cNvPr id="17" name="Rectangle 16"/>
          <p:cNvSpPr/>
          <p:nvPr/>
        </p:nvSpPr>
        <p:spPr>
          <a:xfrm>
            <a:off x="2904134" y="2834640"/>
            <a:ext cx="4891857" cy="10515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13862" y="2834640"/>
            <a:ext cx="4708977" cy="1051560"/>
          </a:xfrm>
          <a:prstGeom prst="rect">
            <a:avLst/>
          </a:prstGeom>
          <a:noFill/>
        </p:spPr>
        <p:txBody>
          <a:bodyPr wrap="square" anchor="ctr">
            <a:spAutoFit/>
          </a:bodyPr>
          <a:lstStyle/>
          <a:p>
            <a:pPr algn="l">
              <a:spcAft>
                <a:spcPts val="400"/>
              </a:spcAft>
            </a:pPr>
            <a:r>
              <a:rPr sz="1000" b="0">
                <a:solidFill>
                  <a:srgbClr val="161B26"/>
                </a:solidFill>
                <a:latin typeface="Arial"/>
              </a:rPr>
              <a:t>K1 to K13 — 13 open-ended short-answer questions, one per knowledge statement</a:t>
            </a:r>
          </a:p>
        </p:txBody>
      </p:sp>
      <p:sp>
        <p:nvSpPr>
          <p:cNvPr id="19" name="Rectangle 18"/>
          <p:cNvSpPr/>
          <p:nvPr/>
        </p:nvSpPr>
        <p:spPr>
          <a:xfrm>
            <a:off x="7795991" y="2834640"/>
            <a:ext cx="1276136" cy="10515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05719" y="2834640"/>
            <a:ext cx="1093256" cy="1051560"/>
          </a:xfrm>
          <a:prstGeom prst="rect">
            <a:avLst/>
          </a:prstGeom>
          <a:noFill/>
        </p:spPr>
        <p:txBody>
          <a:bodyPr wrap="square" anchor="ctr">
            <a:spAutoFit/>
          </a:bodyPr>
          <a:lstStyle/>
          <a:p>
            <a:pPr algn="l">
              <a:spcAft>
                <a:spcPts val="400"/>
              </a:spcAft>
            </a:pPr>
            <a:r>
              <a:rPr sz="1000" b="0">
                <a:solidFill>
                  <a:srgbClr val="161B26"/>
                </a:solidFill>
                <a:latin typeface="Arial"/>
              </a:rPr>
              <a:t>60 min</a:t>
            </a:r>
          </a:p>
        </p:txBody>
      </p:sp>
      <p:sp>
        <p:nvSpPr>
          <p:cNvPr id="21" name="Rectangle 20"/>
          <p:cNvSpPr/>
          <p:nvPr/>
        </p:nvSpPr>
        <p:spPr>
          <a:xfrm>
            <a:off x="9072127" y="2834640"/>
            <a:ext cx="2339583" cy="10515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81855" y="2834640"/>
            <a:ext cx="2156703" cy="1051560"/>
          </a:xfrm>
          <a:prstGeom prst="rect">
            <a:avLst/>
          </a:prstGeom>
          <a:noFill/>
        </p:spPr>
        <p:txBody>
          <a:bodyPr wrap="square" anchor="ctr">
            <a:spAutoFit/>
          </a:bodyPr>
          <a:lstStyle/>
          <a:p>
            <a:pPr algn="l">
              <a:spcAft>
                <a:spcPts val="400"/>
              </a:spcAft>
            </a:pPr>
            <a:r>
              <a:rPr sz="1000" b="0">
                <a:solidFill>
                  <a:srgbClr val="161B26"/>
                </a:solidFill>
                <a:latin typeface="Arial"/>
              </a:rPr>
              <a:t>Individual, summative, open book</a:t>
            </a:r>
          </a:p>
        </p:txBody>
      </p:sp>
      <p:sp>
        <p:nvSpPr>
          <p:cNvPr id="23" name="Rectangle 22"/>
          <p:cNvSpPr/>
          <p:nvPr/>
        </p:nvSpPr>
        <p:spPr>
          <a:xfrm>
            <a:off x="777240" y="3886200"/>
            <a:ext cx="2126894" cy="1051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6968" y="3886200"/>
            <a:ext cx="1944014" cy="1051560"/>
          </a:xfrm>
          <a:prstGeom prst="rect">
            <a:avLst/>
          </a:prstGeom>
          <a:noFill/>
        </p:spPr>
        <p:txBody>
          <a:bodyPr wrap="square" anchor="ctr">
            <a:spAutoFit/>
          </a:bodyPr>
          <a:lstStyle/>
          <a:p>
            <a:pPr algn="l">
              <a:spcAft>
                <a:spcPts val="400"/>
              </a:spcAft>
            </a:pPr>
            <a:r>
              <a:rPr sz="1000" b="1">
                <a:solidFill>
                  <a:srgbClr val="161B26"/>
                </a:solidFill>
                <a:latin typeface="Arial"/>
              </a:rPr>
              <a:t>Practical Performance (PP)</a:t>
            </a:r>
          </a:p>
        </p:txBody>
      </p:sp>
      <p:sp>
        <p:nvSpPr>
          <p:cNvPr id="25" name="Rectangle 24"/>
          <p:cNvSpPr/>
          <p:nvPr/>
        </p:nvSpPr>
        <p:spPr>
          <a:xfrm>
            <a:off x="2904134" y="3886200"/>
            <a:ext cx="4891857" cy="1051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013862" y="3886200"/>
            <a:ext cx="4708977" cy="1051560"/>
          </a:xfrm>
          <a:prstGeom prst="rect">
            <a:avLst/>
          </a:prstGeom>
          <a:noFill/>
        </p:spPr>
        <p:txBody>
          <a:bodyPr wrap="square" anchor="ctr">
            <a:spAutoFit/>
          </a:bodyPr>
          <a:lstStyle/>
          <a:p>
            <a:pPr algn="l">
              <a:spcAft>
                <a:spcPts val="400"/>
              </a:spcAft>
            </a:pPr>
            <a:r>
              <a:rPr sz="1000" b="0">
                <a:solidFill>
                  <a:srgbClr val="161B26"/>
                </a:solidFill>
                <a:latin typeface="Arial"/>
              </a:rPr>
              <a:t>A1 to A8 — 5 scenario-based tasks (Task 1: A1 · Task 2: A2, A3 · Task 3: A4 · Task 4: A5, A6 · Task 5: A7, A8)</a:t>
            </a:r>
          </a:p>
        </p:txBody>
      </p:sp>
      <p:sp>
        <p:nvSpPr>
          <p:cNvPr id="27" name="Rectangle 26"/>
          <p:cNvSpPr/>
          <p:nvPr/>
        </p:nvSpPr>
        <p:spPr>
          <a:xfrm>
            <a:off x="7795991" y="3886200"/>
            <a:ext cx="1276136" cy="1051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5719" y="3886200"/>
            <a:ext cx="1093256" cy="1051560"/>
          </a:xfrm>
          <a:prstGeom prst="rect">
            <a:avLst/>
          </a:prstGeom>
          <a:noFill/>
        </p:spPr>
        <p:txBody>
          <a:bodyPr wrap="square" anchor="ctr">
            <a:spAutoFit/>
          </a:bodyPr>
          <a:lstStyle/>
          <a:p>
            <a:pPr algn="l">
              <a:spcAft>
                <a:spcPts val="400"/>
              </a:spcAft>
            </a:pPr>
            <a:r>
              <a:rPr sz="1000" b="0">
                <a:solidFill>
                  <a:srgbClr val="161B26"/>
                </a:solidFill>
                <a:latin typeface="Arial"/>
              </a:rPr>
              <a:t>90 min</a:t>
            </a:r>
          </a:p>
        </p:txBody>
      </p:sp>
      <p:sp>
        <p:nvSpPr>
          <p:cNvPr id="29" name="Rectangle 28"/>
          <p:cNvSpPr/>
          <p:nvPr/>
        </p:nvSpPr>
        <p:spPr>
          <a:xfrm>
            <a:off x="9072127" y="3886200"/>
            <a:ext cx="2339583" cy="1051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81855" y="3886200"/>
            <a:ext cx="2156703" cy="1051560"/>
          </a:xfrm>
          <a:prstGeom prst="rect">
            <a:avLst/>
          </a:prstGeom>
          <a:noFill/>
        </p:spPr>
        <p:txBody>
          <a:bodyPr wrap="square" anchor="ctr">
            <a:spAutoFit/>
          </a:bodyPr>
          <a:lstStyle/>
          <a:p>
            <a:pPr algn="l">
              <a:spcAft>
                <a:spcPts val="400"/>
              </a:spcAft>
            </a:pPr>
            <a:r>
              <a:rPr sz="1000" b="0">
                <a:solidFill>
                  <a:srgbClr val="161B26"/>
                </a:solidFill>
                <a:latin typeface="Arial"/>
              </a:rPr>
              <a:t>Individual, summative, open book</a:t>
            </a:r>
          </a:p>
        </p:txBody>
      </p:sp>
      <p:sp>
        <p:nvSpPr>
          <p:cNvPr id="31" name="Rectangle 30"/>
          <p:cNvSpPr/>
          <p:nvPr/>
        </p:nvSpPr>
        <p:spPr>
          <a:xfrm>
            <a:off x="777240" y="4937760"/>
            <a:ext cx="2126894" cy="10515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4937760"/>
            <a:ext cx="1944014" cy="1051560"/>
          </a:xfrm>
          <a:prstGeom prst="rect">
            <a:avLst/>
          </a:prstGeom>
          <a:noFill/>
        </p:spPr>
        <p:txBody>
          <a:bodyPr wrap="square" anchor="ctr">
            <a:spAutoFit/>
          </a:bodyPr>
          <a:lstStyle/>
          <a:p>
            <a:pPr algn="l">
              <a:spcAft>
                <a:spcPts val="400"/>
              </a:spcAft>
            </a:pPr>
            <a:r>
              <a:rPr sz="1000" b="1">
                <a:solidFill>
                  <a:srgbClr val="161B26"/>
                </a:solidFill>
                <a:latin typeface="Arial"/>
              </a:rPr>
              <a:t>Total</a:t>
            </a:r>
          </a:p>
        </p:txBody>
      </p:sp>
      <p:sp>
        <p:nvSpPr>
          <p:cNvPr id="33" name="Rectangle 32"/>
          <p:cNvSpPr/>
          <p:nvPr/>
        </p:nvSpPr>
        <p:spPr>
          <a:xfrm>
            <a:off x="2904134" y="4937760"/>
            <a:ext cx="4891857" cy="10515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013862" y="4937760"/>
            <a:ext cx="4708977" cy="1051560"/>
          </a:xfrm>
          <a:prstGeom prst="rect">
            <a:avLst/>
          </a:prstGeom>
          <a:noFill/>
        </p:spPr>
        <p:txBody>
          <a:bodyPr wrap="square" anchor="ctr">
            <a:spAutoFit/>
          </a:bodyPr>
          <a:lstStyle/>
          <a:p>
            <a:pPr algn="l">
              <a:spcAft>
                <a:spcPts val="400"/>
              </a:spcAft>
            </a:pPr>
            <a:r>
              <a:rPr sz="1000" b="0">
                <a:solidFill>
                  <a:srgbClr val="161B26"/>
                </a:solidFill>
                <a:latin typeface="Arial"/>
              </a:rPr>
              <a:t>Full TSC coverage; assessor-to-candidate ratio 1:3 to 1:10</a:t>
            </a:r>
          </a:p>
        </p:txBody>
      </p:sp>
      <p:sp>
        <p:nvSpPr>
          <p:cNvPr id="35" name="Rectangle 34"/>
          <p:cNvSpPr/>
          <p:nvPr/>
        </p:nvSpPr>
        <p:spPr>
          <a:xfrm>
            <a:off x="7795991" y="4937760"/>
            <a:ext cx="1276136" cy="10515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05719" y="4937760"/>
            <a:ext cx="1093256" cy="1051560"/>
          </a:xfrm>
          <a:prstGeom prst="rect">
            <a:avLst/>
          </a:prstGeom>
          <a:noFill/>
        </p:spPr>
        <p:txBody>
          <a:bodyPr wrap="square" anchor="ctr">
            <a:spAutoFit/>
          </a:bodyPr>
          <a:lstStyle/>
          <a:p>
            <a:pPr algn="l">
              <a:spcAft>
                <a:spcPts val="400"/>
              </a:spcAft>
            </a:pPr>
            <a:r>
              <a:rPr sz="1000" b="0">
                <a:solidFill>
                  <a:srgbClr val="161B26"/>
                </a:solidFill>
                <a:latin typeface="Arial"/>
              </a:rPr>
              <a:t>2.5 hours</a:t>
            </a:r>
          </a:p>
        </p:txBody>
      </p:sp>
      <p:sp>
        <p:nvSpPr>
          <p:cNvPr id="37" name="Rectangle 36"/>
          <p:cNvSpPr/>
          <p:nvPr/>
        </p:nvSpPr>
        <p:spPr>
          <a:xfrm>
            <a:off x="9072127" y="4937760"/>
            <a:ext cx="2339583" cy="10515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81855" y="4937760"/>
            <a:ext cx="2156703" cy="1051560"/>
          </a:xfrm>
          <a:prstGeom prst="rect">
            <a:avLst/>
          </a:prstGeom>
          <a:noFill/>
        </p:spPr>
        <p:txBody>
          <a:bodyPr wrap="square" anchor="ctr">
            <a:spAutoFit/>
          </a:bodyPr>
          <a:lstStyle/>
          <a:p>
            <a:pPr algn="l">
              <a:spcAft>
                <a:spcPts val="400"/>
              </a:spcAft>
            </a:pPr>
            <a:r>
              <a:rPr sz="1000" b="0">
                <a:solidFill>
                  <a:srgbClr val="161B26"/>
                </a:solidFill>
                <a:latin typeface="Arial"/>
              </a:rPr>
              <a:t>Day 2, from 16:10</a:t>
            </a:r>
          </a:p>
        </p:txBody>
      </p:sp>
      <p:sp>
        <p:nvSpPr>
          <p:cNvPr id="39" name="TextBox 38"/>
          <p:cNvSpPr txBox="1"/>
          <p:nvPr/>
        </p:nvSpPr>
        <p:spPr>
          <a:xfrm>
            <a:off x="777240" y="6053328"/>
            <a:ext cx="10698480" cy="457200"/>
          </a:xfrm>
          <a:prstGeom prst="rect">
            <a:avLst/>
          </a:prstGeom>
          <a:noFill/>
        </p:spPr>
        <p:txBody>
          <a:bodyPr wrap="square" anchor="t">
            <a:spAutoFit/>
          </a:bodyPr>
          <a:lstStyle/>
          <a:p>
            <a:pPr algn="ctr">
              <a:spcAft>
                <a:spcPts val="400"/>
              </a:spcAft>
            </a:pPr>
            <a:r>
              <a:rPr sz="1200" b="0">
                <a:solidFill>
                  <a:srgbClr val="5B6372"/>
                </a:solidFill>
                <a:latin typeface="Arial"/>
              </a:rPr>
              <a:t>Open book means the slides, the Learner Guide and approved course materials only. A minimum 75% attendance record and a 'Competent' outcome are both required for funding. An appeal process is available.</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fast">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PREPARE FOR THE WRITTEN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Practice Exam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577840" cy="4114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5577840" cy="457200"/>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1832" y="1975104"/>
            <a:ext cx="164592" cy="16459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97864" y="1975104"/>
            <a:ext cx="164592" cy="16459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453896" y="1975104"/>
            <a:ext cx="164592" cy="16459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74520" y="1911096"/>
            <a:ext cx="4206240" cy="2926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002536" y="1911096"/>
            <a:ext cx="3931920" cy="292608"/>
          </a:xfrm>
          <a:prstGeom prst="rect">
            <a:avLst/>
          </a:prstGeom>
          <a:noFill/>
        </p:spPr>
        <p:txBody>
          <a:bodyPr wrap="square" anchor="ctr">
            <a:spAutoFit/>
          </a:bodyPr>
          <a:lstStyle/>
          <a:p>
            <a:pPr algn="l">
              <a:spcAft>
                <a:spcPts val="400"/>
              </a:spcAft>
            </a:pPr>
            <a:r>
              <a:rPr sz="1200" b="1">
                <a:solidFill>
                  <a:srgbClr val="1F6FEB"/>
                </a:solidFill>
                <a:latin typeface="Arial"/>
              </a:rPr>
              <a:t>https://exams.tertiaryinfotech.com/</a:t>
            </a:r>
          </a:p>
        </p:txBody>
      </p:sp>
      <p:sp>
        <p:nvSpPr>
          <p:cNvPr id="14" name="Rectangle 13"/>
          <p:cNvSpPr/>
          <p:nvPr/>
        </p:nvSpPr>
        <p:spPr>
          <a:xfrm>
            <a:off x="978408" y="2468880"/>
            <a:ext cx="5175504" cy="6583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61288" y="2468880"/>
            <a:ext cx="4809744" cy="658368"/>
          </a:xfrm>
          <a:prstGeom prst="rect">
            <a:avLst/>
          </a:prstGeom>
          <a:noFill/>
        </p:spPr>
        <p:txBody>
          <a:bodyPr wrap="square" anchor="ctr">
            <a:spAutoFit/>
          </a:bodyPr>
          <a:lstStyle/>
          <a:p>
            <a:pPr algn="l">
              <a:spcAft>
                <a:spcPts val="200"/>
              </a:spcAft>
            </a:pPr>
            <a:r>
              <a:rPr sz="1400" b="1">
                <a:solidFill>
                  <a:srgbClr val="FFFFFF"/>
                </a:solidFill>
                <a:latin typeface="Arial"/>
              </a:rPr>
              <a:t>Tertiary Infotech Practice Exams</a:t>
            </a:r>
          </a:p>
          <a:p>
            <a:pPr algn="l">
              <a:spcAft>
                <a:spcPts val="200"/>
              </a:spcAft>
            </a:pPr>
            <a:r>
              <a:rPr sz="1050" b="0">
                <a:solidFill>
                  <a:srgbClr val="B3D4FF"/>
                </a:solidFill>
                <a:latin typeface="Arial"/>
              </a:rPr>
              <a:t>Self-paced · open-ended · unlimited attempts</a:t>
            </a:r>
          </a:p>
        </p:txBody>
      </p:sp>
      <p:sp>
        <p:nvSpPr>
          <p:cNvPr id="16" name="Rectangle 15"/>
          <p:cNvSpPr/>
          <p:nvPr/>
        </p:nvSpPr>
        <p:spPr>
          <a:xfrm>
            <a:off x="978408" y="3291840"/>
            <a:ext cx="5175504" cy="475488"/>
          </a:xfrm>
          <a:prstGeom prst="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61288" y="3291840"/>
            <a:ext cx="4809744" cy="475488"/>
          </a:xfrm>
          <a:prstGeom prst="rect">
            <a:avLst/>
          </a:prstGeom>
          <a:noFill/>
        </p:spPr>
        <p:txBody>
          <a:bodyPr wrap="square" anchor="ctr">
            <a:spAutoFit/>
          </a:bodyPr>
          <a:lstStyle/>
          <a:p>
            <a:pPr algn="l">
              <a:spcAft>
                <a:spcPts val="400"/>
              </a:spcAft>
            </a:pPr>
            <a:r>
              <a:rPr sz="1200" b="1">
                <a:solidFill>
                  <a:srgbClr val="1F6FEB"/>
                </a:solidFill>
                <a:latin typeface="Arial"/>
              </a:rPr>
              <a:t>Create Short Video Film using AI — practice questions</a:t>
            </a:r>
          </a:p>
        </p:txBody>
      </p:sp>
      <p:sp>
        <p:nvSpPr>
          <p:cNvPr id="18" name="Rectangle 17"/>
          <p:cNvSpPr/>
          <p:nvPr/>
        </p:nvSpPr>
        <p:spPr>
          <a:xfrm>
            <a:off x="978408" y="3858768"/>
            <a:ext cx="5175504"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61288" y="3858768"/>
            <a:ext cx="4809744" cy="475488"/>
          </a:xfrm>
          <a:prstGeom prst="rect">
            <a:avLst/>
          </a:prstGeom>
          <a:noFill/>
        </p:spPr>
        <p:txBody>
          <a:bodyPr wrap="square" anchor="ctr">
            <a:spAutoFit/>
          </a:bodyPr>
          <a:lstStyle/>
          <a:p>
            <a:pPr algn="l">
              <a:spcAft>
                <a:spcPts val="400"/>
              </a:spcAft>
            </a:pPr>
            <a:r>
              <a:rPr sz="1200" b="0">
                <a:solidFill>
                  <a:srgbClr val="161B26"/>
                </a:solidFill>
                <a:latin typeface="Arial"/>
              </a:rPr>
              <a:t>Topic 01–02 · knowledge check   ▶</a:t>
            </a:r>
          </a:p>
        </p:txBody>
      </p:sp>
      <p:sp>
        <p:nvSpPr>
          <p:cNvPr id="20" name="Rectangle 19"/>
          <p:cNvSpPr/>
          <p:nvPr/>
        </p:nvSpPr>
        <p:spPr>
          <a:xfrm>
            <a:off x="978408" y="4425696"/>
            <a:ext cx="5175504"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61288" y="4425696"/>
            <a:ext cx="4809744" cy="475488"/>
          </a:xfrm>
          <a:prstGeom prst="rect">
            <a:avLst/>
          </a:prstGeom>
          <a:noFill/>
        </p:spPr>
        <p:txBody>
          <a:bodyPr wrap="square" anchor="ctr">
            <a:spAutoFit/>
          </a:bodyPr>
          <a:lstStyle/>
          <a:p>
            <a:pPr algn="l">
              <a:spcAft>
                <a:spcPts val="400"/>
              </a:spcAft>
            </a:pPr>
            <a:r>
              <a:rPr sz="1200" b="0">
                <a:solidFill>
                  <a:srgbClr val="161B26"/>
                </a:solidFill>
                <a:latin typeface="Arial"/>
              </a:rPr>
              <a:t>Topic 03 · knowledge check   ▶</a:t>
            </a:r>
          </a:p>
        </p:txBody>
      </p:sp>
      <p:sp>
        <p:nvSpPr>
          <p:cNvPr id="22" name="Rectangle 21"/>
          <p:cNvSpPr/>
          <p:nvPr/>
        </p:nvSpPr>
        <p:spPr>
          <a:xfrm>
            <a:off x="978408" y="4992624"/>
            <a:ext cx="5175504"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61288" y="4992624"/>
            <a:ext cx="4809744" cy="475488"/>
          </a:xfrm>
          <a:prstGeom prst="rect">
            <a:avLst/>
          </a:prstGeom>
          <a:noFill/>
        </p:spPr>
        <p:txBody>
          <a:bodyPr wrap="square" anchor="ctr">
            <a:spAutoFit/>
          </a:bodyPr>
          <a:lstStyle/>
          <a:p>
            <a:pPr algn="l">
              <a:spcAft>
                <a:spcPts val="400"/>
              </a:spcAft>
            </a:pPr>
            <a:r>
              <a:rPr sz="1200" b="0">
                <a:solidFill>
                  <a:srgbClr val="161B26"/>
                </a:solidFill>
                <a:latin typeface="Arial"/>
              </a:rPr>
              <a:t>Topic 04 · knowledge check   ▶</a:t>
            </a:r>
          </a:p>
        </p:txBody>
      </p:sp>
      <p:sp>
        <p:nvSpPr>
          <p:cNvPr id="24" name="Rectangle 23"/>
          <p:cNvSpPr/>
          <p:nvPr/>
        </p:nvSpPr>
        <p:spPr>
          <a:xfrm>
            <a:off x="978408" y="5559552"/>
            <a:ext cx="5175504"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61288" y="5559552"/>
            <a:ext cx="4809744" cy="475488"/>
          </a:xfrm>
          <a:prstGeom prst="rect">
            <a:avLst/>
          </a:prstGeom>
          <a:noFill/>
        </p:spPr>
        <p:txBody>
          <a:bodyPr wrap="square" anchor="ctr">
            <a:spAutoFit/>
          </a:bodyPr>
          <a:lstStyle/>
          <a:p>
            <a:pPr algn="l">
              <a:spcAft>
                <a:spcPts val="400"/>
              </a:spcAft>
            </a:pPr>
            <a:r>
              <a:rPr sz="1200" b="0">
                <a:solidFill>
                  <a:srgbClr val="161B26"/>
                </a:solidFill>
                <a:latin typeface="Arial"/>
              </a:rPr>
              <a:t>Topic 05 · knowledge check   ▶</a:t>
            </a:r>
          </a:p>
        </p:txBody>
      </p:sp>
      <p:sp>
        <p:nvSpPr>
          <p:cNvPr id="26" name="Rectangle 25"/>
          <p:cNvSpPr/>
          <p:nvPr/>
        </p:nvSpPr>
        <p:spPr>
          <a:xfrm>
            <a:off x="6675120" y="1828800"/>
            <a:ext cx="4754880" cy="9052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675120" y="1828800"/>
            <a:ext cx="82296" cy="90525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858000" y="2071116"/>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0" y="2071116"/>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30" name="TextBox 29"/>
          <p:cNvSpPr txBox="1"/>
          <p:nvPr/>
        </p:nvSpPr>
        <p:spPr>
          <a:xfrm>
            <a:off x="7443216" y="1828800"/>
            <a:ext cx="3803904" cy="905256"/>
          </a:xfrm>
          <a:prstGeom prst="rect">
            <a:avLst/>
          </a:prstGeom>
          <a:noFill/>
        </p:spPr>
        <p:txBody>
          <a:bodyPr wrap="square" anchor="ctr">
            <a:spAutoFit/>
          </a:bodyPr>
          <a:lstStyle/>
          <a:p>
            <a:pPr algn="l">
              <a:spcAft>
                <a:spcPts val="200"/>
              </a:spcAft>
            </a:pPr>
            <a:r>
              <a:rPr sz="1300" b="1">
                <a:solidFill>
                  <a:srgbClr val="1F6FEB"/>
                </a:solidFill>
                <a:latin typeface="Arial"/>
              </a:rPr>
              <a:t>Open the portal</a:t>
            </a:r>
          </a:p>
          <a:p>
            <a:pPr algn="l">
              <a:spcAft>
                <a:spcPts val="200"/>
              </a:spcAft>
            </a:pPr>
            <a:r>
              <a:rPr sz="1100" b="0">
                <a:solidFill>
                  <a:srgbClr val="161B26"/>
                </a:solidFill>
                <a:latin typeface="Arial"/>
              </a:rPr>
              <a:t>exams.tertiaryinfotech.com — sign in with your registered email.</a:t>
            </a:r>
          </a:p>
        </p:txBody>
      </p:sp>
      <p:sp>
        <p:nvSpPr>
          <p:cNvPr id="31" name="Rectangle 30"/>
          <p:cNvSpPr/>
          <p:nvPr/>
        </p:nvSpPr>
        <p:spPr>
          <a:xfrm>
            <a:off x="6675120" y="2898648"/>
            <a:ext cx="4754880" cy="9052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675120" y="2898648"/>
            <a:ext cx="82296" cy="9052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858000" y="31409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0" y="3140964"/>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35" name="TextBox 34"/>
          <p:cNvSpPr txBox="1"/>
          <p:nvPr/>
        </p:nvSpPr>
        <p:spPr>
          <a:xfrm>
            <a:off x="7443216" y="2898648"/>
            <a:ext cx="3803904" cy="905256"/>
          </a:xfrm>
          <a:prstGeom prst="rect">
            <a:avLst/>
          </a:prstGeom>
          <a:noFill/>
        </p:spPr>
        <p:txBody>
          <a:bodyPr wrap="square" anchor="ctr">
            <a:spAutoFit/>
          </a:bodyPr>
          <a:lstStyle/>
          <a:p>
            <a:pPr algn="l">
              <a:spcAft>
                <a:spcPts val="200"/>
              </a:spcAft>
            </a:pPr>
            <a:r>
              <a:rPr sz="1300" b="1">
                <a:solidFill>
                  <a:srgbClr val="10B981"/>
                </a:solidFill>
                <a:latin typeface="Arial"/>
              </a:rPr>
              <a:t>Choose this course</a:t>
            </a:r>
          </a:p>
          <a:p>
            <a:pPr algn="l">
              <a:spcAft>
                <a:spcPts val="200"/>
              </a:spcAft>
            </a:pPr>
            <a:r>
              <a:rPr sz="1100" b="0">
                <a:solidFill>
                  <a:srgbClr val="161B26"/>
                </a:solidFill>
                <a:latin typeface="Arial"/>
              </a:rPr>
              <a:t>Select the practice set for this course.</a:t>
            </a:r>
          </a:p>
        </p:txBody>
      </p:sp>
      <p:sp>
        <p:nvSpPr>
          <p:cNvPr id="36" name="Rectangle 35"/>
          <p:cNvSpPr/>
          <p:nvPr/>
        </p:nvSpPr>
        <p:spPr>
          <a:xfrm>
            <a:off x="6675120" y="3968496"/>
            <a:ext cx="4754880" cy="9052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675120" y="3968496"/>
            <a:ext cx="82296" cy="90525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858000" y="4210812"/>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858000" y="4210812"/>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40" name="TextBox 39"/>
          <p:cNvSpPr txBox="1"/>
          <p:nvPr/>
        </p:nvSpPr>
        <p:spPr>
          <a:xfrm>
            <a:off x="7443216" y="3968496"/>
            <a:ext cx="3803904" cy="905256"/>
          </a:xfrm>
          <a:prstGeom prst="rect">
            <a:avLst/>
          </a:prstGeom>
          <a:noFill/>
        </p:spPr>
        <p:txBody>
          <a:bodyPr wrap="square" anchor="ctr">
            <a:spAutoFit/>
          </a:bodyPr>
          <a:lstStyle/>
          <a:p>
            <a:pPr algn="l">
              <a:spcAft>
                <a:spcPts val="200"/>
              </a:spcAft>
            </a:pPr>
            <a:r>
              <a:rPr sz="1300" b="1">
                <a:solidFill>
                  <a:srgbClr val="7C3AED"/>
                </a:solidFill>
                <a:latin typeface="Arial"/>
              </a:rPr>
              <a:t>Answer in your own words</a:t>
            </a:r>
          </a:p>
          <a:p>
            <a:pPr algn="l">
              <a:spcAft>
                <a:spcPts val="200"/>
              </a:spcAft>
            </a:pPr>
            <a:r>
              <a:rPr sz="1100" b="0">
                <a:solidFill>
                  <a:srgbClr val="161B26"/>
                </a:solidFill>
                <a:latin typeface="Arial"/>
              </a:rPr>
              <a:t>Open-ended questions, like the real Written Assessment.</a:t>
            </a:r>
          </a:p>
        </p:txBody>
      </p:sp>
      <p:sp>
        <p:nvSpPr>
          <p:cNvPr id="41" name="Rectangle 40"/>
          <p:cNvSpPr/>
          <p:nvPr/>
        </p:nvSpPr>
        <p:spPr>
          <a:xfrm>
            <a:off x="6675120" y="5038344"/>
            <a:ext cx="4754880" cy="9052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675120" y="5038344"/>
            <a:ext cx="82296" cy="90525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6858000" y="5280660"/>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858000" y="52806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45" name="TextBox 44"/>
          <p:cNvSpPr txBox="1"/>
          <p:nvPr/>
        </p:nvSpPr>
        <p:spPr>
          <a:xfrm>
            <a:off x="7443216" y="5038344"/>
            <a:ext cx="3803904" cy="905256"/>
          </a:xfrm>
          <a:prstGeom prst="rect">
            <a:avLst/>
          </a:prstGeom>
          <a:noFill/>
        </p:spPr>
        <p:txBody>
          <a:bodyPr wrap="square" anchor="ctr">
            <a:spAutoFit/>
          </a:bodyPr>
          <a:lstStyle/>
          <a:p>
            <a:pPr algn="l">
              <a:spcAft>
                <a:spcPts val="200"/>
              </a:spcAft>
            </a:pPr>
            <a:r>
              <a:rPr sz="1300" b="1">
                <a:solidFill>
                  <a:srgbClr val="F59E0B"/>
                </a:solidFill>
                <a:latin typeface="Arial"/>
              </a:rPr>
              <a:t>Review</a:t>
            </a:r>
          </a:p>
          <a:p>
            <a:pPr algn="l">
              <a:spcAft>
                <a:spcPts val="200"/>
              </a:spcAft>
            </a:pPr>
            <a:r>
              <a:rPr sz="1100" b="0">
                <a:solidFill>
                  <a:srgbClr val="161B26"/>
                </a:solidFill>
                <a:latin typeface="Arial"/>
              </a:rPr>
              <a:t>Compare with the slides and Learner Guide; revisit weak topics.</a:t>
            </a:r>
          </a:p>
        </p:txBody>
      </p:sp>
      <p:sp>
        <p:nvSpPr>
          <p:cNvPr id="46" name="TextBox 45"/>
          <p:cNvSpPr txBox="1"/>
          <p:nvPr/>
        </p:nvSpPr>
        <p:spPr>
          <a:xfrm>
            <a:off x="777240" y="6035040"/>
            <a:ext cx="10698480" cy="365760"/>
          </a:xfrm>
          <a:prstGeom prst="rect">
            <a:avLst/>
          </a:prstGeom>
          <a:noFill/>
        </p:spPr>
        <p:txBody>
          <a:bodyPr wrap="square" anchor="t">
            <a:spAutoFit/>
          </a:bodyPr>
          <a:lstStyle/>
          <a:p>
            <a:pPr algn="ctr">
              <a:spcAft>
                <a:spcPts val="400"/>
              </a:spcAft>
            </a:pPr>
            <a:r>
              <a:rPr sz="1250" b="0">
                <a:solidFill>
                  <a:srgbClr val="5B6372"/>
                </a:solidFill>
                <a:latin typeface="Arial"/>
              </a:rPr>
              <a:t>Practice questions are for preparation only; they are not the assessment paper and are not graded.</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fast">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240280"/>
            <a:ext cx="1878177" cy="288036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50568" y="260604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50568" y="260604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1" name="TextBox 10"/>
          <p:cNvSpPr txBox="1"/>
          <p:nvPr/>
        </p:nvSpPr>
        <p:spPr>
          <a:xfrm>
            <a:off x="905256" y="3611880"/>
            <a:ext cx="1622145" cy="1399032"/>
          </a:xfrm>
          <a:prstGeom prst="rect">
            <a:avLst/>
          </a:prstGeom>
          <a:noFill/>
        </p:spPr>
        <p:txBody>
          <a:bodyPr wrap="square" anchor="t">
            <a:spAutoFit/>
          </a:bodyPr>
          <a:lstStyle/>
          <a:p>
            <a:pPr algn="ctr">
              <a:spcAft>
                <a:spcPts val="400"/>
              </a:spcAft>
            </a:pPr>
            <a:r>
              <a:rPr sz="1250" b="0">
                <a:solidFill>
                  <a:srgbClr val="161B26"/>
                </a:solidFill>
                <a:latin typeface="Arial"/>
              </a:rPr>
              <a:t>TRAQOM survey — scan the QR code on the LMS</a:t>
            </a:r>
          </a:p>
        </p:txBody>
      </p:sp>
      <p:cxnSp>
        <p:nvCxnSpPr>
          <p:cNvPr id="12" name="Connector 11"/>
          <p:cNvCxnSpPr/>
          <p:nvPr/>
        </p:nvCxnSpPr>
        <p:spPr>
          <a:xfrm>
            <a:off x="2691993" y="3680460"/>
            <a:ext cx="237744" cy="0"/>
          </a:xfrm>
          <a:prstGeom prst="line">
            <a:avLst/>
          </a:prstGeom>
          <a:ln w="22225">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66313" y="2240280"/>
            <a:ext cx="1878177" cy="288036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9641" y="260604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9641" y="260604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7" name="TextBox 16"/>
          <p:cNvSpPr txBox="1"/>
          <p:nvPr/>
        </p:nvSpPr>
        <p:spPr>
          <a:xfrm>
            <a:off x="3094329" y="3611880"/>
            <a:ext cx="1622145" cy="1399032"/>
          </a:xfrm>
          <a:prstGeom prst="rect">
            <a:avLst/>
          </a:prstGeom>
          <a:noFill/>
        </p:spPr>
        <p:txBody>
          <a:bodyPr wrap="square" anchor="t">
            <a:spAutoFit/>
          </a:bodyPr>
          <a:lstStyle/>
          <a:p>
            <a:pPr algn="ctr">
              <a:spcAft>
                <a:spcPts val="400"/>
              </a:spcAft>
            </a:pPr>
            <a:r>
              <a:rPr sz="1250" b="0">
                <a:solidFill>
                  <a:srgbClr val="161B26"/>
                </a:solidFill>
                <a:latin typeface="Arial"/>
              </a:rPr>
              <a:t>Assessment digital attendance — scan the SSG QR</a:t>
            </a:r>
          </a:p>
        </p:txBody>
      </p:sp>
      <p:cxnSp>
        <p:nvCxnSpPr>
          <p:cNvPr id="18" name="Connector 17"/>
          <p:cNvCxnSpPr/>
          <p:nvPr/>
        </p:nvCxnSpPr>
        <p:spPr>
          <a:xfrm>
            <a:off x="4881066" y="3680460"/>
            <a:ext cx="237744" cy="0"/>
          </a:xfrm>
          <a:prstGeom prst="line">
            <a:avLst/>
          </a:prstGeom>
          <a:ln w="22225">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155386" y="2240280"/>
            <a:ext cx="1878177" cy="288036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28714" y="260604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28714" y="260604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3" name="TextBox 22"/>
          <p:cNvSpPr txBox="1"/>
          <p:nvPr/>
        </p:nvSpPr>
        <p:spPr>
          <a:xfrm>
            <a:off x="5283402" y="3611880"/>
            <a:ext cx="1622145" cy="1399032"/>
          </a:xfrm>
          <a:prstGeom prst="rect">
            <a:avLst/>
          </a:prstGeom>
          <a:noFill/>
        </p:spPr>
        <p:txBody>
          <a:bodyPr wrap="square" anchor="t">
            <a:spAutoFit/>
          </a:bodyPr>
          <a:lstStyle/>
          <a:p>
            <a:pPr algn="ctr">
              <a:spcAft>
                <a:spcPts val="400"/>
              </a:spcAft>
            </a:pPr>
            <a:r>
              <a:rPr sz="1250" b="0">
                <a:solidFill>
                  <a:srgbClr val="161B26"/>
                </a:solidFill>
                <a:latin typeface="Arial"/>
              </a:rPr>
              <a:t>Sit WA(Q&amp;A) 60 min, then PP 90 min — open book</a:t>
            </a:r>
          </a:p>
        </p:txBody>
      </p:sp>
      <p:cxnSp>
        <p:nvCxnSpPr>
          <p:cNvPr id="24" name="Connector 23"/>
          <p:cNvCxnSpPr/>
          <p:nvPr/>
        </p:nvCxnSpPr>
        <p:spPr>
          <a:xfrm>
            <a:off x="7070139" y="3680460"/>
            <a:ext cx="237744" cy="0"/>
          </a:xfrm>
          <a:prstGeom prst="line">
            <a:avLst/>
          </a:prstGeom>
          <a:ln w="22225">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44459" y="2240280"/>
            <a:ext cx="1878177" cy="288036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17787" y="260604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17787" y="260604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9" name="TextBox 28"/>
          <p:cNvSpPr txBox="1"/>
          <p:nvPr/>
        </p:nvSpPr>
        <p:spPr>
          <a:xfrm>
            <a:off x="7472475" y="3611880"/>
            <a:ext cx="1622145" cy="1399032"/>
          </a:xfrm>
          <a:prstGeom prst="rect">
            <a:avLst/>
          </a:prstGeom>
          <a:noFill/>
        </p:spPr>
        <p:txBody>
          <a:bodyPr wrap="square" anchor="t">
            <a:spAutoFit/>
          </a:bodyPr>
          <a:lstStyle/>
          <a:p>
            <a:pPr algn="ctr">
              <a:spcAft>
                <a:spcPts val="400"/>
              </a:spcAft>
            </a:pPr>
            <a:r>
              <a:rPr sz="1250" b="0">
                <a:solidFill>
                  <a:srgbClr val="161B26"/>
                </a:solidFill>
                <a:latin typeface="Arial"/>
              </a:rPr>
              <a:t>Submit your answers on the LMS</a:t>
            </a:r>
          </a:p>
        </p:txBody>
      </p:sp>
      <p:cxnSp>
        <p:nvCxnSpPr>
          <p:cNvPr id="30" name="Connector 29"/>
          <p:cNvCxnSpPr/>
          <p:nvPr/>
        </p:nvCxnSpPr>
        <p:spPr>
          <a:xfrm>
            <a:off x="9259212" y="3680460"/>
            <a:ext cx="237744" cy="0"/>
          </a:xfrm>
          <a:prstGeom prst="line">
            <a:avLst/>
          </a:prstGeom>
          <a:ln w="22225">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533532" y="2240280"/>
            <a:ext cx="1878177" cy="288036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106860" y="260604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106860" y="260604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5" name="TextBox 34"/>
          <p:cNvSpPr txBox="1"/>
          <p:nvPr/>
        </p:nvSpPr>
        <p:spPr>
          <a:xfrm>
            <a:off x="9661548" y="3611880"/>
            <a:ext cx="1622145" cy="1399032"/>
          </a:xfrm>
          <a:prstGeom prst="rect">
            <a:avLst/>
          </a:prstGeom>
          <a:noFill/>
        </p:spPr>
        <p:txBody>
          <a:bodyPr wrap="square" anchor="t">
            <a:spAutoFit/>
          </a:bodyPr>
          <a:lstStyle/>
          <a:p>
            <a:pPr algn="ctr">
              <a:spcAft>
                <a:spcPts val="400"/>
              </a:spcAft>
            </a:pPr>
            <a:r>
              <a:rPr sz="1250" b="0">
                <a:solidFill>
                  <a:srgbClr val="161B26"/>
                </a:solidFill>
                <a:latin typeface="Arial"/>
              </a:rPr>
              <a:t>Sign the Assessment Summary Record</a:t>
            </a:r>
          </a:p>
        </p:txBody>
      </p:sp>
      <p:sp>
        <p:nvSpPr>
          <p:cNvPr id="36" name="TextBox 35"/>
          <p:cNvSpPr txBox="1"/>
          <p:nvPr/>
        </p:nvSpPr>
        <p:spPr>
          <a:xfrm>
            <a:off x="777240" y="5394960"/>
            <a:ext cx="10698480" cy="731520"/>
          </a:xfrm>
          <a:prstGeom prst="rect">
            <a:avLst/>
          </a:prstGeom>
          <a:noFill/>
        </p:spPr>
        <p:txBody>
          <a:bodyPr wrap="square" anchor="t">
            <a:spAutoFit/>
          </a:bodyPr>
          <a:lstStyle/>
          <a:p>
            <a:pPr algn="ctr">
              <a:spcAft>
                <a:spcPts val="400"/>
              </a:spcAft>
            </a:pPr>
            <a:r>
              <a:rPr sz="1300" b="0">
                <a:solidFill>
                  <a:srgbClr val="5B6372"/>
                </a:solidFill>
                <a:latin typeface="Arial"/>
              </a:rPr>
              <a:t>Both instruments are open book and both are individual. The assessor records C or NYC against every knowledge and ability statement.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fast">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7C3AED"/>
                </a:solidFill>
                <a:latin typeface="Arial"/>
              </a:rPr>
              <a:t>EVIDENCE DISCIPLINE · APPLIES TO EVERY CHART AND TABLE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How Every Figure in This Deck Is Labelled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6489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929384"/>
          </a:xfrm>
          <a:prstGeom prst="rect">
            <a:avLst/>
          </a:prstGeom>
          <a:noFill/>
        </p:spPr>
        <p:txBody>
          <a:bodyPr wrap="square" anchor="ctr">
            <a:spAutoFit/>
          </a:bodyPr>
          <a:lstStyle/>
          <a:p>
            <a:pPr algn="l">
              <a:spcAft>
                <a:spcPts val="200"/>
              </a:spcAft>
            </a:pPr>
            <a:r>
              <a:rPr sz="1400" b="1">
                <a:solidFill>
                  <a:srgbClr val="161B26"/>
                </a:solidFill>
                <a:latin typeface="Arial"/>
              </a:rPr>
              <a:t>MEASURED</a:t>
            </a:r>
          </a:p>
          <a:p>
            <a:pPr algn="l">
              <a:spcAft>
                <a:spcPts val="200"/>
              </a:spcAft>
            </a:pPr>
            <a:r>
              <a:rPr sz="1100" b="0">
                <a:solidFill>
                  <a:srgbClr val="5B6372"/>
                </a:solidFill>
                <a:latin typeface="Arial"/>
              </a:rPr>
              <a:t>Timed or counted on stated hardware or data, with the sample size and the percentile given. Most numbers in this deck come from the labs you will run.</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6489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929384"/>
          </a:xfrm>
          <a:prstGeom prst="rect">
            <a:avLst/>
          </a:prstGeom>
          <a:noFill/>
        </p:spPr>
        <p:txBody>
          <a:bodyPr wrap="square" anchor="ctr">
            <a:spAutoFit/>
          </a:bodyPr>
          <a:lstStyle/>
          <a:p>
            <a:pPr algn="l">
              <a:spcAft>
                <a:spcPts val="200"/>
              </a:spcAft>
            </a:pPr>
            <a:r>
              <a:rPr sz="1400" b="1">
                <a:solidFill>
                  <a:srgbClr val="161B26"/>
                </a:solidFill>
                <a:latin typeface="Arial"/>
              </a:rPr>
              <a:t>MODELLED</a:t>
            </a:r>
          </a:p>
          <a:p>
            <a:pPr algn="l">
              <a:spcAft>
                <a:spcPts val="200"/>
              </a:spcAft>
            </a:pPr>
            <a:r>
              <a:rPr sz="1100" b="0">
                <a:solidFill>
                  <a:srgbClr val="5B6372"/>
                </a:solidFill>
                <a:latin typeface="Arial"/>
              </a:rPr>
              <a:t>Derived from a documented relationship, with the relationship shown — for example diffusion latency proportional to S steps, or to S x F for F video frames.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0036"/>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69664"/>
            <a:ext cx="4027932" cy="1929384"/>
          </a:xfrm>
          <a:prstGeom prst="rect">
            <a:avLst/>
          </a:prstGeom>
          <a:noFill/>
        </p:spPr>
        <p:txBody>
          <a:bodyPr wrap="square" anchor="ctr">
            <a:spAutoFit/>
          </a:bodyPr>
          <a:lstStyle/>
          <a:p>
            <a:pPr algn="l">
              <a:spcAft>
                <a:spcPts val="200"/>
              </a:spcAft>
            </a:pPr>
            <a:r>
              <a:rPr sz="1400" b="1">
                <a:solidFill>
                  <a:srgbClr val="161B26"/>
                </a:solidFill>
                <a:latin typeface="Arial"/>
              </a:rPr>
              <a:t>PUBLISHED</a:t>
            </a:r>
          </a:p>
          <a:p>
            <a:pPr algn="l">
              <a:spcAft>
                <a:spcPts val="200"/>
              </a:spcAft>
            </a:pPr>
            <a:r>
              <a:rPr sz="1100" b="0">
                <a:solidFill>
                  <a:srgbClr val="5B6372"/>
                </a:solidFill>
                <a:latin typeface="Arial"/>
              </a:rPr>
              <a:t>Reported in a cited source, with the source and its page range named on the slide and in the source register.</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60036"/>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69664"/>
            <a:ext cx="4027932" cy="1929384"/>
          </a:xfrm>
          <a:prstGeom prst="rect">
            <a:avLst/>
          </a:prstGeom>
          <a:noFill/>
        </p:spPr>
        <p:txBody>
          <a:bodyPr wrap="square" anchor="ctr">
            <a:spAutoFit/>
          </a:bodyPr>
          <a:lstStyle/>
          <a:p>
            <a:pPr algn="l">
              <a:spcAft>
                <a:spcPts val="200"/>
              </a:spcAft>
            </a:pPr>
            <a:r>
              <a:rPr sz="1400" b="1">
                <a:solidFill>
                  <a:srgbClr val="161B26"/>
                </a:solidFill>
                <a:latin typeface="Arial"/>
              </a:rPr>
              <a:t>ILLUSTRATIVE</a:t>
            </a:r>
          </a:p>
          <a:p>
            <a:pPr algn="l">
              <a:spcAft>
                <a:spcPts val="200"/>
              </a:spcAft>
            </a:pPr>
            <a:r>
              <a:rPr sz="1100" b="0">
                <a:solidFill>
                  <a:srgbClr val="5B6372"/>
                </a:solidFill>
                <a:latin typeface="Arial"/>
              </a:rPr>
              <a:t>Assumed values used to show the shape of a relationship. Never a quotation, never a forecast, and never to be lifted into a client document.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fast">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0B981"/>
                </a:solidFill>
                <a:latin typeface="Arial"/>
              </a:rPr>
              <a:t>LABEL THE ARTEFACT, NOT JUST THE INTENT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Provenance Rules for Every Asset You Touch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6489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929384"/>
          </a:xfrm>
          <a:prstGeom prst="rect">
            <a:avLst/>
          </a:prstGeom>
          <a:noFill/>
        </p:spPr>
        <p:txBody>
          <a:bodyPr wrap="square" anchor="ctr">
            <a:spAutoFit/>
          </a:bodyPr>
          <a:lstStyle/>
          <a:p>
            <a:pPr algn="l">
              <a:spcAft>
                <a:spcPts val="200"/>
              </a:spcAft>
            </a:pPr>
            <a:r>
              <a:rPr sz="1400" b="1">
                <a:solidFill>
                  <a:srgbClr val="161B26"/>
                </a:solidFill>
                <a:latin typeface="Arial"/>
              </a:rPr>
              <a:t>SIMULATED</a:t>
            </a:r>
          </a:p>
          <a:p>
            <a:pPr algn="l">
              <a:spcAft>
                <a:spcPts val="200"/>
              </a:spcAft>
            </a:pPr>
            <a:r>
              <a:rPr sz="1100" b="0">
                <a:solidFill>
                  <a:srgbClr val="5B6372"/>
                </a:solidFill>
                <a:latin typeface="Arial"/>
              </a:rPr>
              <a:t>The course illustrations of The Last Ferry: deterministic OpenCV drawings with a burned-in banner. Never described as a photograph or as model output.</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6489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929384"/>
          </a:xfrm>
          <a:prstGeom prst="rect">
            <a:avLst/>
          </a:prstGeom>
          <a:noFill/>
        </p:spPr>
        <p:txBody>
          <a:bodyPr wrap="square" anchor="ctr">
            <a:spAutoFit/>
          </a:bodyPr>
          <a:lstStyle/>
          <a:p>
            <a:pPr algn="l">
              <a:spcAft>
                <a:spcPts val="200"/>
              </a:spcAft>
            </a:pPr>
            <a:r>
              <a:rPr sz="1400" b="1">
                <a:solidFill>
                  <a:srgbClr val="161B26"/>
                </a:solidFill>
                <a:latin typeface="Arial"/>
              </a:rPr>
              <a:t>AI-GENERATED</a:t>
            </a:r>
          </a:p>
          <a:p>
            <a:pPr algn="l">
              <a:spcAft>
                <a:spcPts val="200"/>
              </a:spcAft>
            </a:pPr>
            <a:r>
              <a:rPr sz="1100" b="0">
                <a:solidFill>
                  <a:srgbClr val="5B6372"/>
                </a:solidFill>
                <a:latin typeface="Arial"/>
              </a:rPr>
              <a:t>Kept unchanged with a record of the tool, model ID, date and exact prompt. Many generators also embed a watermark such as SynthID.</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0036"/>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69664"/>
            <a:ext cx="4027932" cy="1929384"/>
          </a:xfrm>
          <a:prstGeom prst="rect">
            <a:avLst/>
          </a:prstGeom>
          <a:noFill/>
        </p:spPr>
        <p:txBody>
          <a:bodyPr wrap="square" anchor="ctr">
            <a:spAutoFit/>
          </a:bodyPr>
          <a:lstStyle/>
          <a:p>
            <a:pPr algn="l">
              <a:spcAft>
                <a:spcPts val="200"/>
              </a:spcAft>
            </a:pPr>
            <a:r>
              <a:rPr sz="1400" b="1">
                <a:solidFill>
                  <a:srgbClr val="161B26"/>
                </a:solidFill>
                <a:latin typeface="Arial"/>
              </a:rPr>
              <a:t>ANIMATIC</a:t>
            </a:r>
          </a:p>
          <a:p>
            <a:pPr algn="l">
              <a:spcAft>
                <a:spcPts val="200"/>
              </a:spcAft>
            </a:pPr>
            <a:r>
              <a:rPr sz="1100" b="0">
                <a:solidFill>
                  <a:srgbClr val="5B6372"/>
                </a:solidFill>
                <a:latin typeface="Arial"/>
              </a:rPr>
              <a:t>Storyboard keyframes timed to the voiceover and labelled on every frame. It fixes timing before credits are spent; it is never submitted as a generated film.</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60036"/>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69664"/>
            <a:ext cx="4027932" cy="1929384"/>
          </a:xfrm>
          <a:prstGeom prst="rect">
            <a:avLst/>
          </a:prstGeom>
          <a:noFill/>
        </p:spPr>
        <p:txBody>
          <a:bodyPr wrap="square" anchor="ctr">
            <a:spAutoFit/>
          </a:bodyPr>
          <a:lstStyle/>
          <a:p>
            <a:pPr algn="l">
              <a:spcAft>
                <a:spcPts val="200"/>
              </a:spcAft>
            </a:pPr>
            <a:r>
              <a:rPr sz="1400" b="1">
                <a:solidFill>
                  <a:srgbClr val="161B26"/>
                </a:solidFill>
                <a:latin typeface="Arial"/>
              </a:rPr>
              <a:t>DERIVATIVES</a:t>
            </a:r>
          </a:p>
          <a:p>
            <a:pPr algn="l">
              <a:spcAft>
                <a:spcPts val="200"/>
              </a:spcAft>
            </a:pPr>
            <a:r>
              <a:rPr sz="1100" b="0">
                <a:solidFill>
                  <a:srgbClr val="5B6372"/>
                </a:solidFill>
                <a:latin typeface="Arial"/>
              </a:rPr>
              <a:t>A crop, reframe or grade of a labelled asset carries the same label. The label travels with the pixels.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fast">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700" b="1">
                <a:solidFill>
                  <a:srgbClr val="1F6FEB"/>
                </a:solidFill>
                <a:latin typeface="Arial"/>
              </a:rPr>
              <a:t>TOPIC 01</a:t>
            </a:r>
          </a:p>
        </p:txBody>
      </p:sp>
      <p:sp>
        <p:nvSpPr>
          <p:cNvPr id="6" name="TextBox 5"/>
          <p:cNvSpPr txBox="1"/>
          <p:nvPr/>
        </p:nvSpPr>
        <p:spPr>
          <a:xfrm>
            <a:off x="1143000" y="2743200"/>
            <a:ext cx="9144000" cy="1463040"/>
          </a:xfrm>
          <a:prstGeom prst="rect">
            <a:avLst/>
          </a:prstGeom>
          <a:noFill/>
        </p:spPr>
        <p:txBody>
          <a:bodyPr wrap="square" anchor="t">
            <a:spAutoFit/>
          </a:bodyPr>
          <a:lstStyle/>
          <a:p>
            <a:pPr algn="l">
              <a:spcAft>
                <a:spcPts val="400"/>
              </a:spcAft>
            </a:pPr>
            <a:r>
              <a:rPr sz="3000" b="1">
                <a:solidFill>
                  <a:srgbClr val="161B26"/>
                </a:solidFill>
                <a:latin typeface="Arial"/>
              </a:rPr>
              <a:t>AI Vision and Generative AI for Short Film Creation</a:t>
            </a:r>
          </a:p>
        </p:txBody>
      </p:sp>
      <p:sp>
        <p:nvSpPr>
          <p:cNvPr id="7" name="TextBox 6"/>
          <p:cNvSpPr txBox="1"/>
          <p:nvPr/>
        </p:nvSpPr>
        <p:spPr>
          <a:xfrm>
            <a:off x="1161288" y="4297680"/>
            <a:ext cx="9692640" cy="1280160"/>
          </a:xfrm>
          <a:prstGeom prst="rect">
            <a:avLst/>
          </a:prstGeom>
          <a:noFill/>
        </p:spPr>
        <p:txBody>
          <a:bodyPr wrap="square" anchor="t">
            <a:spAutoFit/>
          </a:bodyPr>
          <a:lstStyle/>
          <a:p>
            <a:pPr algn="l">
              <a:spcAft>
                <a:spcPts val="400"/>
              </a:spcAft>
            </a:pPr>
            <a:r>
              <a:rPr sz="1400" b="0">
                <a:solidFill>
                  <a:srgbClr val="5B6372"/>
                </a:solidFill>
                <a:latin typeface="Arial"/>
              </a:rPr>
              <a:t>The AI film pipeline as a vision system · how image and video generators work — diffusion, diffusion transformers, VAEs and GANs · text-to-image, image-to-video and text-to-video · reference-first production · business applications and the need test</a:t>
            </a:r>
          </a:p>
        </p:txBody>
      </p:sp>
      <p:sp>
        <p:nvSpPr>
          <p:cNvPr id="8" name="TextBox 7"/>
          <p:cNvSpPr txBox="1"/>
          <p:nvPr/>
        </p:nvSpPr>
        <p:spPr>
          <a:xfrm>
            <a:off x="9326880" y="640080"/>
            <a:ext cx="2377440" cy="1463040"/>
          </a:xfrm>
          <a:prstGeom prst="rect">
            <a:avLst/>
          </a:prstGeom>
          <a:noFill/>
        </p:spPr>
        <p:txBody>
          <a:bodyPr wrap="square" anchor="t">
            <a:spAutoFit/>
          </a:bodyPr>
          <a:lstStyle/>
          <a:p>
            <a:pPr algn="r">
              <a:spcAft>
                <a:spcPts val="400"/>
              </a:spcAft>
            </a:pPr>
            <a:r>
              <a:rPr sz="68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fast">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LU1 · ELO1 · K1, K2, A1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Key Concepts — Topic 01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823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An AI film pipeline is a vision system with a synthesis stage</a:t>
            </a:r>
          </a:p>
          <a:p>
            <a:pPr algn="l">
              <a:spcAft>
                <a:spcPts val="200"/>
              </a:spcAft>
            </a:pPr>
            <a:r>
              <a:rPr sz="1000" b="0">
                <a:solidFill>
                  <a:srgbClr val="5B6372"/>
                </a:solidFill>
                <a:latin typeface="Arial"/>
              </a:rPr>
              <a:t>Sense (scripts, references, footage) -&gt; represent (frames, latents, formats) -&gt; analyse (continuity and quality measurements) -&gt; decide (approve, regenerate, re-edit) -&gt; synthesise (generate the next shot). Generation adds the last stage; it does not remove the first four.</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8236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64336"/>
          </a:xfrm>
          <a:prstGeom prst="rect">
            <a:avLst/>
          </a:prstGeom>
          <a:noFill/>
        </p:spPr>
        <p:txBody>
          <a:bodyPr wrap="square" anchor="ctr">
            <a:spAutoFit/>
          </a:bodyPr>
          <a:lstStyle/>
          <a:p>
            <a:pPr algn="l">
              <a:spcAft>
                <a:spcPts val="200"/>
              </a:spcAft>
            </a:pPr>
            <a:r>
              <a:rPr sz="1350" b="1">
                <a:solidFill>
                  <a:srgbClr val="161B26"/>
                </a:solidFill>
                <a:latin typeface="Arial"/>
              </a:rPr>
              <a:t>Generators model p(frames | condition)</a:t>
            </a:r>
          </a:p>
          <a:p>
            <a:pPr algn="l">
              <a:spcAft>
                <a:spcPts val="200"/>
              </a:spcAft>
            </a:pPr>
            <a:r>
              <a:rPr sz="1050" b="0">
                <a:solidFill>
                  <a:srgbClr val="5B6372"/>
                </a:solidFill>
                <a:latin typeface="Arial"/>
              </a:rPr>
              <a:t>Text-to-image, image-to-video and text-to-video differ only in the condition. The more the condition fixes — a character sheet, a location plate, a start frame — the less the model has to invent, and the less it drifts.</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04616"/>
            <a:ext cx="4027932" cy="1164336"/>
          </a:xfrm>
          <a:prstGeom prst="rect">
            <a:avLst/>
          </a:prstGeom>
          <a:noFill/>
        </p:spPr>
        <p:txBody>
          <a:bodyPr wrap="square" anchor="ctr">
            <a:spAutoFit/>
          </a:bodyPr>
          <a:lstStyle/>
          <a:p>
            <a:pPr algn="l">
              <a:spcAft>
                <a:spcPts val="200"/>
              </a:spcAft>
            </a:pPr>
            <a:r>
              <a:rPr sz="1350" b="1">
                <a:solidFill>
                  <a:srgbClr val="161B26"/>
                </a:solidFill>
                <a:latin typeface="Arial"/>
              </a:rPr>
              <a:t>Today's video models are diffusion transformers</a:t>
            </a:r>
          </a:p>
          <a:p>
            <a:pPr algn="l">
              <a:spcAft>
                <a:spcPts val="200"/>
              </a:spcAft>
            </a:pPr>
            <a:r>
              <a:rPr sz="1050" b="0">
                <a:solidFill>
                  <a:srgbClr val="5B6372"/>
                </a:solidFill>
                <a:latin typeface="Arial"/>
              </a:rPr>
              <a:t>A VAE compresses frames to a latent; a transformer denoises spatiotemporal patches over S steps, guided by text and image conditions. GANs survive mainly as fast upscalers and face restorers. Each family fails in a recognisable way.</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04616"/>
            <a:ext cx="4027932" cy="1164336"/>
          </a:xfrm>
          <a:prstGeom prst="rect">
            <a:avLst/>
          </a:prstGeom>
          <a:noFill/>
        </p:spPr>
        <p:txBody>
          <a:bodyPr wrap="square" anchor="ctr">
            <a:spAutoFit/>
          </a:bodyPr>
          <a:lstStyle/>
          <a:p>
            <a:pPr algn="l">
              <a:spcAft>
                <a:spcPts val="200"/>
              </a:spcAft>
            </a:pPr>
            <a:r>
              <a:rPr sz="1350" b="1">
                <a:solidFill>
                  <a:srgbClr val="161B26"/>
                </a:solidFill>
                <a:latin typeface="Arial"/>
              </a:rPr>
              <a:t>Reference-first beats prompt-first</a:t>
            </a:r>
          </a:p>
          <a:p>
            <a:pPr algn="l">
              <a:spcAft>
                <a:spcPts val="200"/>
              </a:spcAft>
            </a:pPr>
            <a:r>
              <a:rPr sz="1050" b="0">
                <a:solidFill>
                  <a:srgbClr val="5B6372"/>
                </a:solidFill>
                <a:latin typeface="Arial"/>
              </a:rPr>
              <a:t>Beginners send a story straight to a video model and reroll for hours. Professionals build character, location and prop references first, so the video model has nothing left to guess. Most of the quality is decided before the first clip is generated.</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256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34712"/>
            <a:ext cx="4027932" cy="1164336"/>
          </a:xfrm>
          <a:prstGeom prst="rect">
            <a:avLst/>
          </a:prstGeom>
          <a:noFill/>
        </p:spPr>
        <p:txBody>
          <a:bodyPr wrap="square" anchor="ctr">
            <a:spAutoFit/>
          </a:bodyPr>
          <a:lstStyle/>
          <a:p>
            <a:pPr algn="l">
              <a:spcAft>
                <a:spcPts val="200"/>
              </a:spcAft>
            </a:pPr>
            <a:r>
              <a:rPr sz="1350" b="1">
                <a:solidFill>
                  <a:srgbClr val="161B26"/>
                </a:solidFill>
                <a:latin typeface="Arial"/>
              </a:rPr>
              <a:t>Business value comes from repeatable short-form storytelling</a:t>
            </a:r>
          </a:p>
          <a:p>
            <a:pPr algn="l">
              <a:spcAft>
                <a:spcPts val="200"/>
              </a:spcAft>
            </a:pPr>
            <a:r>
              <a:rPr sz="1050" b="0">
                <a:solidFill>
                  <a:srgbClr val="5B6372"/>
                </a:solidFill>
                <a:latin typeface="Arial"/>
              </a:rPr>
              <a:t>Brand films, product teasers, training micro-dramas, social series, pitch previsualisation and event recaps. Value comes from volume, speed to first cut and the ability to iterate a story without re-shooting.</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256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34712"/>
            <a:ext cx="4027932" cy="1164336"/>
          </a:xfrm>
          <a:prstGeom prst="rect">
            <a:avLst/>
          </a:prstGeom>
          <a:noFill/>
        </p:spPr>
        <p:txBody>
          <a:bodyPr wrap="square" anchor="ctr">
            <a:spAutoFit/>
          </a:bodyPr>
          <a:lstStyle/>
          <a:p>
            <a:pPr algn="l">
              <a:spcAft>
                <a:spcPts val="200"/>
              </a:spcAft>
            </a:pPr>
            <a:r>
              <a:rPr sz="1350" b="1">
                <a:solidFill>
                  <a:srgbClr val="161B26"/>
                </a:solidFill>
                <a:latin typeface="Arial"/>
              </a:rPr>
              <a:t>The need test decides the workflow, not the hype</a:t>
            </a:r>
          </a:p>
          <a:p>
            <a:pPr algn="l">
              <a:spcAft>
                <a:spcPts val="200"/>
              </a:spcAft>
            </a:pPr>
            <a:r>
              <a:rPr sz="1050" b="0">
                <a:solidFill>
                  <a:srgbClr val="5B6372"/>
                </a:solidFill>
                <a:latin typeface="Arial"/>
              </a:rPr>
              <a:t>Score each film idea on volume, repeatability, turnaround, review tolerance, likeness/rights risk and cost gap. Then choose: an all-in-one agent (fast, less control), a multi-tool pipeline (control, consistency) or a live shoot.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fast">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THE COURSE PROJECT · 48 SECONDS · 16:9 MASTER + 9:16 CUT-DOWN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One Film, Twelve Labs: The Last Ferry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755648"/>
            <a:ext cx="3465576" cy="1973389"/>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market-wide.png"/>
          <p:cNvPicPr>
            <a:picLocks noChangeAspect="1"/>
          </p:cNvPicPr>
          <p:nvPr/>
        </p:nvPicPr>
        <p:blipFill>
          <a:blip r:embed="rId2"/>
          <a:stretch>
            <a:fillRect/>
          </a:stretch>
        </p:blipFill>
        <p:spPr>
          <a:xfrm>
            <a:off x="777240" y="1783080"/>
            <a:ext cx="3410712" cy="1918525"/>
          </a:xfrm>
          <a:prstGeom prst="rect">
            <a:avLst/>
          </a:prstGeom>
        </p:spPr>
      </p:pic>
      <p:sp>
        <p:nvSpPr>
          <p:cNvPr id="9" name="TextBox 8"/>
          <p:cNvSpPr txBox="1"/>
          <p:nvPr/>
        </p:nvSpPr>
        <p:spPr>
          <a:xfrm>
            <a:off x="777240" y="3738181"/>
            <a:ext cx="3410712" cy="310896"/>
          </a:xfrm>
          <a:prstGeom prst="rect">
            <a:avLst/>
          </a:prstGeom>
          <a:noFill/>
        </p:spPr>
        <p:txBody>
          <a:bodyPr wrap="square" anchor="t">
            <a:spAutoFit/>
          </a:bodyPr>
          <a:lstStyle/>
          <a:p>
            <a:pPr algn="ctr">
              <a:spcAft>
                <a:spcPts val="400"/>
              </a:spcAft>
            </a:pPr>
            <a:r>
              <a:rPr sz="1050" b="0">
                <a:solidFill>
                  <a:srgbClr val="5B6372"/>
                </a:solidFill>
                <a:latin typeface="Arial"/>
              </a:rPr>
              <a:t>NIGHT MARKET — Mei races to the pier</a:t>
            </a:r>
          </a:p>
        </p:txBody>
      </p:sp>
      <p:sp>
        <p:nvSpPr>
          <p:cNvPr id="10" name="Rectangle 9"/>
          <p:cNvSpPr/>
          <p:nvPr/>
        </p:nvSpPr>
        <p:spPr>
          <a:xfrm>
            <a:off x="4361688" y="1755648"/>
            <a:ext cx="3465576" cy="1973389"/>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box-closeup.png"/>
          <p:cNvPicPr>
            <a:picLocks noChangeAspect="1"/>
          </p:cNvPicPr>
          <p:nvPr/>
        </p:nvPicPr>
        <p:blipFill>
          <a:blip r:embed="rId3"/>
          <a:stretch>
            <a:fillRect/>
          </a:stretch>
        </p:blipFill>
        <p:spPr>
          <a:xfrm>
            <a:off x="4389120" y="1783080"/>
            <a:ext cx="3410712" cy="1918525"/>
          </a:xfrm>
          <a:prstGeom prst="rect">
            <a:avLst/>
          </a:prstGeom>
        </p:spPr>
      </p:pic>
      <p:sp>
        <p:nvSpPr>
          <p:cNvPr id="12" name="TextBox 11"/>
          <p:cNvSpPr txBox="1"/>
          <p:nvPr/>
        </p:nvSpPr>
        <p:spPr>
          <a:xfrm>
            <a:off x="4389120" y="3738181"/>
            <a:ext cx="3410712" cy="310896"/>
          </a:xfrm>
          <a:prstGeom prst="rect">
            <a:avLst/>
          </a:prstGeom>
          <a:noFill/>
        </p:spPr>
        <p:txBody>
          <a:bodyPr wrap="square" anchor="t">
            <a:spAutoFit/>
          </a:bodyPr>
          <a:lstStyle/>
          <a:p>
            <a:pPr algn="ctr">
              <a:spcAft>
                <a:spcPts val="400"/>
              </a:spcAft>
            </a:pPr>
            <a:r>
              <a:rPr sz="1050" b="0">
                <a:solidFill>
                  <a:srgbClr val="5B6372"/>
                </a:solidFill>
                <a:latin typeface="Arial"/>
              </a:rPr>
              <a:t>RED BOX — the tag is still folded</a:t>
            </a:r>
          </a:p>
        </p:txBody>
      </p:sp>
      <p:sp>
        <p:nvSpPr>
          <p:cNvPr id="13" name="Rectangle 12"/>
          <p:cNvSpPr/>
          <p:nvPr/>
        </p:nvSpPr>
        <p:spPr>
          <a:xfrm>
            <a:off x="7973568" y="1755648"/>
            <a:ext cx="3465576" cy="1973389"/>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pier-docked.png"/>
          <p:cNvPicPr>
            <a:picLocks noChangeAspect="1"/>
          </p:cNvPicPr>
          <p:nvPr/>
        </p:nvPicPr>
        <p:blipFill>
          <a:blip r:embed="rId4"/>
          <a:stretch>
            <a:fillRect/>
          </a:stretch>
        </p:blipFill>
        <p:spPr>
          <a:xfrm>
            <a:off x="8001000" y="1783080"/>
            <a:ext cx="3410712" cy="1918525"/>
          </a:xfrm>
          <a:prstGeom prst="rect">
            <a:avLst/>
          </a:prstGeom>
        </p:spPr>
      </p:pic>
      <p:sp>
        <p:nvSpPr>
          <p:cNvPr id="15" name="TextBox 14"/>
          <p:cNvSpPr txBox="1"/>
          <p:nvPr/>
        </p:nvSpPr>
        <p:spPr>
          <a:xfrm>
            <a:off x="8001000" y="3738181"/>
            <a:ext cx="3410712" cy="310896"/>
          </a:xfrm>
          <a:prstGeom prst="rect">
            <a:avLst/>
          </a:prstGeom>
          <a:noFill/>
        </p:spPr>
        <p:txBody>
          <a:bodyPr wrap="square" anchor="t">
            <a:spAutoFit/>
          </a:bodyPr>
          <a:lstStyle/>
          <a:p>
            <a:pPr algn="ctr">
              <a:spcAft>
                <a:spcPts val="400"/>
              </a:spcAft>
            </a:pPr>
            <a:r>
              <a:rPr sz="1050" b="0">
                <a:solidFill>
                  <a:srgbClr val="5B6372"/>
                </a:solidFill>
                <a:latin typeface="Arial"/>
              </a:rPr>
              <a:t>HARBOUR PIER — Captain Tan waits</a:t>
            </a:r>
          </a:p>
        </p:txBody>
      </p:sp>
      <p:sp>
        <p:nvSpPr>
          <p:cNvPr id="16" name="TextBox 15"/>
          <p:cNvSpPr txBox="1"/>
          <p:nvPr/>
        </p:nvSpPr>
        <p:spPr>
          <a:xfrm>
            <a:off x="777240" y="5806440"/>
            <a:ext cx="10634472" cy="548640"/>
          </a:xfrm>
          <a:prstGeom prst="rect">
            <a:avLst/>
          </a:prstGeom>
          <a:noFill/>
        </p:spPr>
        <p:txBody>
          <a:bodyPr wrap="square" anchor="ctr">
            <a:spAutoFit/>
          </a:bodyPr>
          <a:lstStyle/>
          <a:p>
            <a:pPr algn="ctr">
              <a:spcAft>
                <a:spcPts val="400"/>
              </a:spcAft>
            </a:pPr>
            <a:r>
              <a:rPr sz="1250" b="0">
                <a:solidFill>
                  <a:srgbClr val="5B6372"/>
                </a:solidFill>
                <a:latin typeface="Arial"/>
              </a:rPr>
              <a:t>A young courier races through a rain-soaked night market to deliver a red box to the last ferry — and discovers it is addressed to her. Every lab builds a piece of this film. Illustrations are SIMULATED classroom stand-ins, not AI output.</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fast">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K1 · VISION SYSTEM CONCEPTS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An AI Film Pipeline Is a Vision System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907438" cy="2606040"/>
          </a:xfrm>
          <a:prstGeom prst="roundRect">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907438" cy="3840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148840"/>
            <a:ext cx="1907438" cy="384048"/>
          </a:xfrm>
          <a:prstGeom prst="rect">
            <a:avLst/>
          </a:prstGeom>
          <a:noFill/>
        </p:spPr>
        <p:txBody>
          <a:bodyPr wrap="square" anchor="ctr">
            <a:spAutoFit/>
          </a:bodyPr>
          <a:lstStyle/>
          <a:p>
            <a:pPr algn="ctr">
              <a:spcAft>
                <a:spcPts val="400"/>
              </a:spcAft>
            </a:pPr>
            <a:r>
              <a:rPr sz="1250" b="1">
                <a:solidFill>
                  <a:srgbClr val="FFFFFF"/>
                </a:solidFill>
                <a:latin typeface="Arial"/>
              </a:rPr>
              <a:t>1 SENSE</a:t>
            </a:r>
          </a:p>
        </p:txBody>
      </p:sp>
      <p:sp>
        <p:nvSpPr>
          <p:cNvPr id="10" name="TextBox 9"/>
          <p:cNvSpPr txBox="1"/>
          <p:nvPr/>
        </p:nvSpPr>
        <p:spPr>
          <a:xfrm>
            <a:off x="923544" y="2651760"/>
            <a:ext cx="1614830" cy="1965960"/>
          </a:xfrm>
          <a:prstGeom prst="rect">
            <a:avLst/>
          </a:prstGeom>
          <a:noFill/>
        </p:spPr>
        <p:txBody>
          <a:bodyPr wrap="square" anchor="t">
            <a:spAutoFit/>
          </a:bodyPr>
          <a:lstStyle/>
          <a:p>
            <a:pPr algn="l">
              <a:spcAft>
                <a:spcPts val="400"/>
              </a:spcAft>
            </a:pPr>
            <a:r>
              <a:rPr sz="1150" b="0">
                <a:solidFill>
                  <a:srgbClr val="161B26"/>
                </a:solidFill>
                <a:latin typeface="Arial"/>
              </a:rPr>
              <a:t>The inputs: brief, script, cast and location references, the prop plate, the recorded or generated voiceover.</a:t>
            </a:r>
          </a:p>
        </p:txBody>
      </p:sp>
      <p:cxnSp>
        <p:nvCxnSpPr>
          <p:cNvPr id="11" name="Connector 10"/>
          <p:cNvCxnSpPr/>
          <p:nvPr/>
        </p:nvCxnSpPr>
        <p:spPr>
          <a:xfrm>
            <a:off x="2684678" y="3451860"/>
            <a:ext cx="274320" cy="0"/>
          </a:xfrm>
          <a:prstGeom prst="line">
            <a:avLst/>
          </a:prstGeom>
          <a:ln w="22225">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958998" y="2148840"/>
            <a:ext cx="1907438" cy="2606040"/>
          </a:xfrm>
          <a:prstGeom prst="roundRect">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58998" y="2148840"/>
            <a:ext cx="1907438" cy="3840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58998" y="2148840"/>
            <a:ext cx="1907438" cy="384048"/>
          </a:xfrm>
          <a:prstGeom prst="rect">
            <a:avLst/>
          </a:prstGeom>
          <a:noFill/>
        </p:spPr>
        <p:txBody>
          <a:bodyPr wrap="square" anchor="ctr">
            <a:spAutoFit/>
          </a:bodyPr>
          <a:lstStyle/>
          <a:p>
            <a:pPr algn="ctr">
              <a:spcAft>
                <a:spcPts val="400"/>
              </a:spcAft>
            </a:pPr>
            <a:r>
              <a:rPr sz="1250" b="1">
                <a:solidFill>
                  <a:srgbClr val="FFFFFF"/>
                </a:solidFill>
                <a:latin typeface="Arial"/>
              </a:rPr>
              <a:t>2 REPRESENT</a:t>
            </a:r>
          </a:p>
        </p:txBody>
      </p:sp>
      <p:sp>
        <p:nvSpPr>
          <p:cNvPr id="15" name="TextBox 14"/>
          <p:cNvSpPr txBox="1"/>
          <p:nvPr/>
        </p:nvSpPr>
        <p:spPr>
          <a:xfrm>
            <a:off x="3105302" y="2651760"/>
            <a:ext cx="1614830" cy="1965960"/>
          </a:xfrm>
          <a:prstGeom prst="rect">
            <a:avLst/>
          </a:prstGeom>
          <a:noFill/>
        </p:spPr>
        <p:txBody>
          <a:bodyPr wrap="square" anchor="t">
            <a:spAutoFit/>
          </a:bodyPr>
          <a:lstStyle/>
          <a:p>
            <a:pPr algn="l">
              <a:spcAft>
                <a:spcPts val="400"/>
              </a:spcAft>
            </a:pPr>
            <a:r>
              <a:rPr sz="1150" b="0">
                <a:solidFill>
                  <a:srgbClr val="161B26"/>
                </a:solidFill>
                <a:latin typeface="Arial"/>
              </a:rPr>
              <a:t>Frames, latents and formats: 16:9 at 24 fps, colour space, the delivery ladder. Decided before generation.</a:t>
            </a:r>
          </a:p>
        </p:txBody>
      </p:sp>
      <p:cxnSp>
        <p:nvCxnSpPr>
          <p:cNvPr id="16" name="Connector 15"/>
          <p:cNvCxnSpPr/>
          <p:nvPr/>
        </p:nvCxnSpPr>
        <p:spPr>
          <a:xfrm>
            <a:off x="4866436" y="3451860"/>
            <a:ext cx="274320" cy="0"/>
          </a:xfrm>
          <a:prstGeom prst="line">
            <a:avLst/>
          </a:prstGeom>
          <a:ln w="22225">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140756" y="2148840"/>
            <a:ext cx="1907438" cy="2606040"/>
          </a:xfrm>
          <a:prstGeom prst="roundRect">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40756" y="2148840"/>
            <a:ext cx="1907438" cy="3840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40756" y="2148840"/>
            <a:ext cx="1907438" cy="384048"/>
          </a:xfrm>
          <a:prstGeom prst="rect">
            <a:avLst/>
          </a:prstGeom>
          <a:noFill/>
        </p:spPr>
        <p:txBody>
          <a:bodyPr wrap="square" anchor="ctr">
            <a:spAutoFit/>
          </a:bodyPr>
          <a:lstStyle/>
          <a:p>
            <a:pPr algn="ctr">
              <a:spcAft>
                <a:spcPts val="400"/>
              </a:spcAft>
            </a:pPr>
            <a:r>
              <a:rPr sz="1250" b="1">
                <a:solidFill>
                  <a:srgbClr val="FFFFFF"/>
                </a:solidFill>
                <a:latin typeface="Arial"/>
              </a:rPr>
              <a:t>3 ANALYSE</a:t>
            </a:r>
          </a:p>
        </p:txBody>
      </p:sp>
      <p:sp>
        <p:nvSpPr>
          <p:cNvPr id="20" name="TextBox 19"/>
          <p:cNvSpPr txBox="1"/>
          <p:nvPr/>
        </p:nvSpPr>
        <p:spPr>
          <a:xfrm>
            <a:off x="5287060" y="2651760"/>
            <a:ext cx="1614830" cy="1965960"/>
          </a:xfrm>
          <a:prstGeom prst="rect">
            <a:avLst/>
          </a:prstGeom>
          <a:noFill/>
        </p:spPr>
        <p:txBody>
          <a:bodyPr wrap="square" anchor="t">
            <a:spAutoFit/>
          </a:bodyPr>
          <a:lstStyle/>
          <a:p>
            <a:pPr algn="l">
              <a:spcAft>
                <a:spcPts val="400"/>
              </a:spcAft>
            </a:pPr>
            <a:r>
              <a:rPr sz="1150" b="0">
                <a:solidFill>
                  <a:srgbClr val="161B26"/>
                </a:solidFill>
                <a:latin typeface="Arial"/>
              </a:rPr>
              <a:t>Measure every shot: character features, look, cast count, cuts, motion, flicker, drift.</a:t>
            </a:r>
          </a:p>
        </p:txBody>
      </p:sp>
      <p:cxnSp>
        <p:nvCxnSpPr>
          <p:cNvPr id="21" name="Connector 20"/>
          <p:cNvCxnSpPr/>
          <p:nvPr/>
        </p:nvCxnSpPr>
        <p:spPr>
          <a:xfrm>
            <a:off x="7048194" y="3451860"/>
            <a:ext cx="274320" cy="0"/>
          </a:xfrm>
          <a:prstGeom prst="line">
            <a:avLst/>
          </a:prstGeom>
          <a:ln w="22225">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322514" y="2148840"/>
            <a:ext cx="1907438" cy="2606040"/>
          </a:xfrm>
          <a:prstGeom prst="roundRect">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22514" y="2148840"/>
            <a:ext cx="1907438" cy="3840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22514" y="2148840"/>
            <a:ext cx="1907438" cy="384048"/>
          </a:xfrm>
          <a:prstGeom prst="rect">
            <a:avLst/>
          </a:prstGeom>
          <a:noFill/>
        </p:spPr>
        <p:txBody>
          <a:bodyPr wrap="square" anchor="ctr">
            <a:spAutoFit/>
          </a:bodyPr>
          <a:lstStyle/>
          <a:p>
            <a:pPr algn="ctr">
              <a:spcAft>
                <a:spcPts val="400"/>
              </a:spcAft>
            </a:pPr>
            <a:r>
              <a:rPr sz="1250" b="1">
                <a:solidFill>
                  <a:srgbClr val="FFFFFF"/>
                </a:solidFill>
                <a:latin typeface="Arial"/>
              </a:rPr>
              <a:t>4 DECIDE</a:t>
            </a:r>
          </a:p>
        </p:txBody>
      </p:sp>
      <p:sp>
        <p:nvSpPr>
          <p:cNvPr id="25" name="TextBox 24"/>
          <p:cNvSpPr txBox="1"/>
          <p:nvPr/>
        </p:nvSpPr>
        <p:spPr>
          <a:xfrm>
            <a:off x="7468818" y="2651760"/>
            <a:ext cx="1614830" cy="1965960"/>
          </a:xfrm>
          <a:prstGeom prst="rect">
            <a:avLst/>
          </a:prstGeom>
          <a:noFill/>
        </p:spPr>
        <p:txBody>
          <a:bodyPr wrap="square" anchor="t">
            <a:spAutoFit/>
          </a:bodyPr>
          <a:lstStyle/>
          <a:p>
            <a:pPr algn="l">
              <a:spcAft>
                <a:spcPts val="400"/>
              </a:spcAft>
            </a:pPr>
            <a:r>
              <a:rPr sz="1150" b="0">
                <a:solidFill>
                  <a:srgbClr val="161B26"/>
                </a:solidFill>
                <a:latin typeface="Arial"/>
              </a:rPr>
              <a:t>Approve, regenerate or re-edit — against a written threshold, signed off by a person.</a:t>
            </a:r>
          </a:p>
        </p:txBody>
      </p:sp>
      <p:cxnSp>
        <p:nvCxnSpPr>
          <p:cNvPr id="26" name="Connector 25"/>
          <p:cNvCxnSpPr/>
          <p:nvPr/>
        </p:nvCxnSpPr>
        <p:spPr>
          <a:xfrm>
            <a:off x="9229952" y="3451860"/>
            <a:ext cx="274320" cy="0"/>
          </a:xfrm>
          <a:prstGeom prst="line">
            <a:avLst/>
          </a:prstGeom>
          <a:ln w="22225">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9504272" y="2148840"/>
            <a:ext cx="1907438" cy="2606040"/>
          </a:xfrm>
          <a:prstGeom prst="roundRect">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504272" y="2148840"/>
            <a:ext cx="1907438" cy="3840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4272" y="2148840"/>
            <a:ext cx="1907438" cy="384048"/>
          </a:xfrm>
          <a:prstGeom prst="rect">
            <a:avLst/>
          </a:prstGeom>
          <a:noFill/>
        </p:spPr>
        <p:txBody>
          <a:bodyPr wrap="square" anchor="ctr">
            <a:spAutoFit/>
          </a:bodyPr>
          <a:lstStyle/>
          <a:p>
            <a:pPr algn="ctr">
              <a:spcAft>
                <a:spcPts val="400"/>
              </a:spcAft>
            </a:pPr>
            <a:r>
              <a:rPr sz="1250" b="1">
                <a:solidFill>
                  <a:srgbClr val="FFFFFF"/>
                </a:solidFill>
                <a:latin typeface="Arial"/>
              </a:rPr>
              <a:t>5 SYNTHESISE</a:t>
            </a:r>
          </a:p>
        </p:txBody>
      </p:sp>
      <p:sp>
        <p:nvSpPr>
          <p:cNvPr id="30" name="TextBox 29"/>
          <p:cNvSpPr txBox="1"/>
          <p:nvPr/>
        </p:nvSpPr>
        <p:spPr>
          <a:xfrm>
            <a:off x="9650576" y="2651760"/>
            <a:ext cx="1614830" cy="1965960"/>
          </a:xfrm>
          <a:prstGeom prst="rect">
            <a:avLst/>
          </a:prstGeom>
          <a:noFill/>
        </p:spPr>
        <p:txBody>
          <a:bodyPr wrap="square" anchor="t">
            <a:spAutoFit/>
          </a:bodyPr>
          <a:lstStyle/>
          <a:p>
            <a:pPr algn="l">
              <a:spcAft>
                <a:spcPts val="400"/>
              </a:spcAft>
            </a:pPr>
            <a:r>
              <a:rPr sz="1150" b="0">
                <a:solidFill>
                  <a:srgbClr val="161B26"/>
                </a:solidFill>
                <a:latin typeface="Arial"/>
              </a:rPr>
              <a:t>Generate stills, clips, voice and music. The stage AI adds — it does not remove the other four.</a:t>
            </a:r>
          </a:p>
        </p:txBody>
      </p:sp>
      <p:sp>
        <p:nvSpPr>
          <p:cNvPr id="31" name="Rectangle 30"/>
          <p:cNvSpPr/>
          <p:nvPr/>
        </p:nvSpPr>
        <p:spPr>
          <a:xfrm>
            <a:off x="777240" y="5120640"/>
            <a:ext cx="10634472" cy="9144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05840" y="5120640"/>
            <a:ext cx="10241280" cy="914400"/>
          </a:xfrm>
          <a:prstGeom prst="rect">
            <a:avLst/>
          </a:prstGeom>
          <a:noFill/>
        </p:spPr>
        <p:txBody>
          <a:bodyPr wrap="square" anchor="ctr">
            <a:spAutoFit/>
          </a:bodyPr>
          <a:lstStyle/>
          <a:p>
            <a:pPr algn="l">
              <a:spcAft>
                <a:spcPts val="400"/>
              </a:spcAft>
            </a:pPr>
            <a:r>
              <a:rPr sz="1150" b="1">
                <a:solidFill>
                  <a:srgbClr val="127A3E"/>
                </a:solidFill>
                <a:latin typeface="Arial"/>
              </a:rPr>
              <a:t>SO WHAT   </a:t>
            </a:r>
            <a:r>
              <a:rPr sz="1300" b="0">
                <a:solidFill>
                  <a:srgbClr val="161B26"/>
                </a:solidFill>
                <a:latin typeface="Arial"/>
              </a:rPr>
              <a:t>Generation is only one stage. A film that nobody measured is a pile of clips; the analytical stages are what turn generations into a coherent film.</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fast">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K1 · ANALYSIS AND SYNTHESIS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Why a Film Course Teaches Computer Vision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965960"/>
            <a:ext cx="4754880" cy="365760"/>
          </a:xfrm>
          <a:prstGeom prst="rect">
            <a:avLst/>
          </a:prstGeom>
          <a:noFill/>
        </p:spPr>
        <p:txBody>
          <a:bodyPr wrap="square" anchor="t">
            <a:spAutoFit/>
          </a:bodyPr>
          <a:lstStyle/>
          <a:p>
            <a:pPr algn="l">
              <a:spcAft>
                <a:spcPts val="400"/>
              </a:spcAft>
            </a:pPr>
            <a:r>
              <a:rPr sz="1500" b="1">
                <a:solidFill>
                  <a:srgbClr val="1F6FEB"/>
                </a:solidFill>
                <a:latin typeface="Arial"/>
              </a:rPr>
              <a:t>Understand the frame</a:t>
            </a:r>
          </a:p>
        </p:txBody>
      </p:sp>
      <p:sp>
        <p:nvSpPr>
          <p:cNvPr id="12" name="TextBox 11"/>
          <p:cNvSpPr txBox="1"/>
          <p:nvPr/>
        </p:nvSpPr>
        <p:spPr>
          <a:xfrm>
            <a:off x="6583680" y="1965960"/>
            <a:ext cx="4572000" cy="365760"/>
          </a:xfrm>
          <a:prstGeom prst="rect">
            <a:avLst/>
          </a:prstGeom>
          <a:noFill/>
        </p:spPr>
        <p:txBody>
          <a:bodyPr wrap="square" anchor="t">
            <a:spAutoFit/>
          </a:bodyPr>
          <a:lstStyle/>
          <a:p>
            <a:pPr algn="l">
              <a:spcAft>
                <a:spcPts val="400"/>
              </a:spcAft>
            </a:pPr>
            <a:r>
              <a:rPr sz="1500" b="1">
                <a:solidFill>
                  <a:srgbClr val="10B981"/>
                </a:solidFill>
                <a:latin typeface="Arial"/>
              </a:rPr>
              <a:t>Create the frame</a:t>
            </a:r>
          </a:p>
        </p:txBody>
      </p:sp>
      <p:sp>
        <p:nvSpPr>
          <p:cNvPr id="13" name="TextBox 12"/>
          <p:cNvSpPr txBox="1"/>
          <p:nvPr/>
        </p:nvSpPr>
        <p:spPr>
          <a:xfrm>
            <a:off x="1005840" y="2423160"/>
            <a:ext cx="4754880" cy="3017520"/>
          </a:xfrm>
          <a:prstGeom prst="rect">
            <a:avLst/>
          </a:prstGeom>
          <a:noFill/>
        </p:spPr>
        <p:txBody>
          <a:bodyPr wrap="square">
            <a:spAutoFit/>
          </a:bodyPr>
          <a:lstStyle/>
          <a:p>
            <a:pPr>
              <a:spcAft>
                <a:spcPts val="800"/>
              </a:spcAft>
            </a:pPr>
            <a:r>
              <a:rPr sz="1500" b="1">
                <a:solidFill>
                  <a:srgbClr val="161B26"/>
                </a:solidFill>
                <a:latin typeface="Arial"/>
              </a:rPr>
              <a:t>•  Vision analytics: pixels → meaning</a:t>
            </a:r>
          </a:p>
          <a:p>
            <a:pPr>
              <a:spcAft>
                <a:spcPts val="800"/>
              </a:spcAft>
            </a:pPr>
            <a:r>
              <a:rPr sz="1300" b="0">
                <a:solidFill>
                  <a:srgbClr val="5B6372"/>
                </a:solidFill>
                <a:latin typeface="Arial"/>
              </a:rPr>
              <a:t>–  Input: frames. Output: a label, a box, a mask, a number.</a:t>
            </a:r>
          </a:p>
          <a:p>
            <a:pPr>
              <a:spcAft>
                <a:spcPts val="800"/>
              </a:spcAft>
            </a:pPr>
            <a:r>
              <a:rPr sz="1300" b="0">
                <a:solidFill>
                  <a:srgbClr val="5B6372"/>
                </a:solidFill>
                <a:latin typeface="Arial"/>
              </a:rPr>
              <a:t>–  Detect the cast, track the subject, find the cuts.</a:t>
            </a:r>
          </a:p>
          <a:p>
            <a:pPr>
              <a:spcAft>
                <a:spcPts val="800"/>
              </a:spcAft>
            </a:pPr>
            <a:r>
              <a:rPr sz="1300" b="0">
                <a:solidFill>
                  <a:srgbClr val="5B6372"/>
                </a:solidFill>
                <a:latin typeface="Arial"/>
              </a:rPr>
              <a:t>–  Evaluated with IoU, precision, recall.</a:t>
            </a:r>
          </a:p>
          <a:p>
            <a:pPr>
              <a:spcAft>
                <a:spcPts val="800"/>
              </a:spcAft>
            </a:pPr>
            <a:r>
              <a:rPr sz="1300" b="0">
                <a:solidFill>
                  <a:srgbClr val="5B6372"/>
                </a:solidFill>
                <a:latin typeface="Arial"/>
              </a:rPr>
              <a:t>–  Fails visibly: a wrong count is checkable.</a:t>
            </a:r>
          </a:p>
        </p:txBody>
      </p:sp>
      <p:sp>
        <p:nvSpPr>
          <p:cNvPr id="14" name="TextBox 13"/>
          <p:cNvSpPr txBox="1"/>
          <p:nvPr/>
        </p:nvSpPr>
        <p:spPr>
          <a:xfrm>
            <a:off x="6583680" y="2423160"/>
            <a:ext cx="4617720" cy="3017520"/>
          </a:xfrm>
          <a:prstGeom prst="rect">
            <a:avLst/>
          </a:prstGeom>
          <a:noFill/>
        </p:spPr>
        <p:txBody>
          <a:bodyPr wrap="square">
            <a:spAutoFit/>
          </a:bodyPr>
          <a:lstStyle/>
          <a:p>
            <a:pPr>
              <a:spcAft>
                <a:spcPts val="800"/>
              </a:spcAft>
            </a:pPr>
            <a:r>
              <a:rPr sz="1500" b="1">
                <a:solidFill>
                  <a:srgbClr val="161B26"/>
                </a:solidFill>
                <a:latin typeface="Arial"/>
              </a:rPr>
              <a:t>•  Generative vision: meaning → pixels</a:t>
            </a:r>
          </a:p>
          <a:p>
            <a:pPr>
              <a:spcAft>
                <a:spcPts val="800"/>
              </a:spcAft>
            </a:pPr>
            <a:r>
              <a:rPr sz="1300" b="0">
                <a:solidFill>
                  <a:srgbClr val="5B6372"/>
                </a:solidFill>
                <a:latin typeface="Arial"/>
              </a:rPr>
              <a:t>–  Input: prompt, references, start frame. Output: frames.</a:t>
            </a:r>
          </a:p>
          <a:p>
            <a:pPr>
              <a:spcAft>
                <a:spcPts val="800"/>
              </a:spcAft>
            </a:pPr>
            <a:r>
              <a:rPr sz="1300" b="0">
                <a:solidFill>
                  <a:srgbClr val="5B6372"/>
                </a:solidFill>
                <a:latin typeface="Arial"/>
              </a:rPr>
              <a:t>–  Samples from p(frames | condition).</a:t>
            </a:r>
          </a:p>
          <a:p>
            <a:pPr>
              <a:spcAft>
                <a:spcPts val="800"/>
              </a:spcAft>
            </a:pPr>
            <a:r>
              <a:rPr sz="1300" b="0">
                <a:solidFill>
                  <a:srgbClr val="5B6372"/>
                </a:solidFill>
                <a:latin typeface="Arial"/>
              </a:rPr>
              <a:t>–  Evaluated with consistency, look and continuity measures.</a:t>
            </a:r>
          </a:p>
          <a:p>
            <a:pPr>
              <a:spcAft>
                <a:spcPts val="800"/>
              </a:spcAft>
            </a:pPr>
            <a:r>
              <a:rPr sz="1300" b="0">
                <a:solidFill>
                  <a:srgbClr val="5B6372"/>
                </a:solidFill>
                <a:latin typeface="Arial"/>
              </a:rPr>
              <a:t>–  Fails plausibly: a wrong frame still looks like a frame.</a:t>
            </a:r>
          </a:p>
        </p:txBody>
      </p:sp>
      <p:sp>
        <p:nvSpPr>
          <p:cNvPr id="15" name="TextBox 14"/>
          <p:cNvSpPr txBox="1"/>
          <p:nvPr/>
        </p:nvSpPr>
        <p:spPr>
          <a:xfrm>
            <a:off x="777240" y="5669280"/>
            <a:ext cx="10698480" cy="640080"/>
          </a:xfrm>
          <a:prstGeom prst="rect">
            <a:avLst/>
          </a:prstGeom>
          <a:noFill/>
        </p:spPr>
        <p:txBody>
          <a:bodyPr wrap="square" anchor="ctr">
            <a:spAutoFit/>
          </a:bodyPr>
          <a:lstStyle/>
          <a:p>
            <a:pPr algn="ctr">
              <a:spcAft>
                <a:spcPts val="400"/>
              </a:spcAft>
            </a:pPr>
            <a:r>
              <a:rPr sz="1250" b="0">
                <a:solidFill>
                  <a:srgbClr val="5B6372"/>
                </a:solidFill>
                <a:latin typeface="Arial"/>
              </a:rPr>
              <a:t>The last row is the reason: a generated shot that is wrong is not obviously wrong, so it has to be measured before it reaches the edit.</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fast">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K1 · HOW GENERATORS WORK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Three Generator Families You Will Meet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93392"/>
            <a:ext cx="2926080" cy="548640"/>
          </a:xfrm>
          <a:prstGeom prst="rect">
            <a:avLst/>
          </a:prstGeom>
          <a:noFill/>
        </p:spPr>
        <p:txBody>
          <a:bodyPr wrap="square" anchor="t">
            <a:spAutoFit/>
          </a:bodyPr>
          <a:lstStyle/>
          <a:p>
            <a:pPr algn="l">
              <a:spcAft>
                <a:spcPts val="400"/>
              </a:spcAft>
            </a:pPr>
            <a:r>
              <a:rPr sz="1700" b="1">
                <a:solidFill>
                  <a:srgbClr val="1F6FEB"/>
                </a:solidFill>
                <a:latin typeface="Arial"/>
              </a:rPr>
              <a:t>VAE</a:t>
            </a:r>
          </a:p>
        </p:txBody>
      </p:sp>
      <p:sp>
        <p:nvSpPr>
          <p:cNvPr id="10" name="TextBox 9"/>
          <p:cNvSpPr txBox="1"/>
          <p:nvPr/>
        </p:nvSpPr>
        <p:spPr>
          <a:xfrm>
            <a:off x="1005840" y="2651760"/>
            <a:ext cx="2926080" cy="3200400"/>
          </a:xfrm>
          <a:prstGeom prst="rect">
            <a:avLst/>
          </a:prstGeom>
          <a:noFill/>
        </p:spPr>
        <p:txBody>
          <a:bodyPr wrap="square">
            <a:spAutoFit/>
          </a:bodyPr>
          <a:lstStyle/>
          <a:p>
            <a:pPr>
              <a:spcAft>
                <a:spcPts val="800"/>
              </a:spcAft>
            </a:pPr>
            <a:r>
              <a:rPr sz="1300" b="0">
                <a:solidFill>
                  <a:srgbClr val="161B26"/>
                </a:solidFill>
                <a:latin typeface="Arial"/>
              </a:rPr>
              <a:t>•  Encoder compresses a frame to a small latent.</a:t>
            </a:r>
          </a:p>
          <a:p>
            <a:pPr>
              <a:spcAft>
                <a:spcPts val="800"/>
              </a:spcAft>
            </a:pPr>
            <a:r>
              <a:rPr sz="1300" b="0">
                <a:solidFill>
                  <a:srgbClr val="161B26"/>
                </a:solidFill>
                <a:latin typeface="Arial"/>
              </a:rPr>
              <a:t>•  Decoder turns latents back into pixels.</a:t>
            </a:r>
          </a:p>
          <a:p>
            <a:pPr>
              <a:spcAft>
                <a:spcPts val="800"/>
              </a:spcAft>
            </a:pPr>
            <a:r>
              <a:rPr sz="1300" b="0">
                <a:solidFill>
                  <a:srgbClr val="161B26"/>
                </a:solidFill>
                <a:latin typeface="Arial"/>
              </a:rPr>
              <a:t>•  Inside today's image and video models.</a:t>
            </a:r>
          </a:p>
          <a:p>
            <a:pPr>
              <a:spcAft>
                <a:spcPts val="800"/>
              </a:spcAft>
            </a:pPr>
            <a:r>
              <a:rPr sz="1300" b="0">
                <a:solidFill>
                  <a:srgbClr val="161B26"/>
                </a:solidFill>
                <a:latin typeface="Arial"/>
              </a:rPr>
              <a:t>•  Alone: smooth but soft output.</a:t>
            </a:r>
          </a:p>
          <a:p>
            <a:pPr>
              <a:spcAft>
                <a:spcPts val="800"/>
              </a:spcAft>
            </a:pPr>
            <a:r>
              <a:rPr sz="1300" b="0">
                <a:solidFill>
                  <a:srgbClr val="161B26"/>
                </a:solidFill>
                <a:latin typeface="Arial"/>
              </a:rPr>
              <a:t>•  Failure: lost fine detail.</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1993392"/>
            <a:ext cx="2926080" cy="548640"/>
          </a:xfrm>
          <a:prstGeom prst="rect">
            <a:avLst/>
          </a:prstGeom>
          <a:noFill/>
        </p:spPr>
        <p:txBody>
          <a:bodyPr wrap="square" anchor="t">
            <a:spAutoFit/>
          </a:bodyPr>
          <a:lstStyle/>
          <a:p>
            <a:pPr algn="l">
              <a:spcAft>
                <a:spcPts val="400"/>
              </a:spcAft>
            </a:pPr>
            <a:r>
              <a:rPr sz="1700" b="1">
                <a:solidFill>
                  <a:srgbClr val="10B981"/>
                </a:solidFill>
                <a:latin typeface="Arial"/>
              </a:rPr>
              <a:t>GAN</a:t>
            </a:r>
          </a:p>
        </p:txBody>
      </p:sp>
      <p:sp>
        <p:nvSpPr>
          <p:cNvPr id="14" name="TextBox 13"/>
          <p:cNvSpPr txBox="1"/>
          <p:nvPr/>
        </p:nvSpPr>
        <p:spPr>
          <a:xfrm>
            <a:off x="4800600" y="2651760"/>
            <a:ext cx="2926080" cy="3200400"/>
          </a:xfrm>
          <a:prstGeom prst="rect">
            <a:avLst/>
          </a:prstGeom>
          <a:noFill/>
        </p:spPr>
        <p:txBody>
          <a:bodyPr wrap="square">
            <a:spAutoFit/>
          </a:bodyPr>
          <a:lstStyle/>
          <a:p>
            <a:pPr>
              <a:spcAft>
                <a:spcPts val="800"/>
              </a:spcAft>
            </a:pPr>
            <a:r>
              <a:rPr sz="1300" b="0">
                <a:solidFill>
                  <a:srgbClr val="161B26"/>
                </a:solidFill>
                <a:latin typeface="Arial"/>
              </a:rPr>
              <a:t>•  Generator vs discriminator game.</a:t>
            </a:r>
          </a:p>
          <a:p>
            <a:pPr>
              <a:spcAft>
                <a:spcPts val="800"/>
              </a:spcAft>
            </a:pPr>
            <a:r>
              <a:rPr sz="1300" b="0">
                <a:solidFill>
                  <a:srgbClr val="161B26"/>
                </a:solidFill>
                <a:latin typeface="Arial"/>
              </a:rPr>
              <a:t>•  Fast, sharp single-pass output.</a:t>
            </a:r>
          </a:p>
          <a:p>
            <a:pPr>
              <a:spcAft>
                <a:spcPts val="800"/>
              </a:spcAft>
            </a:pPr>
            <a:r>
              <a:rPr sz="1300" b="0">
                <a:solidFill>
                  <a:srgbClr val="161B26"/>
                </a:solidFill>
                <a:latin typeface="Arial"/>
              </a:rPr>
              <a:t>•  Now mostly upscalers and face restorers.</a:t>
            </a:r>
          </a:p>
          <a:p>
            <a:pPr>
              <a:spcAft>
                <a:spcPts val="800"/>
              </a:spcAft>
            </a:pPr>
            <a:r>
              <a:rPr sz="1300" b="0">
                <a:solidFill>
                  <a:srgbClr val="161B26"/>
                </a:solidFill>
                <a:latin typeface="Arial"/>
              </a:rPr>
              <a:t>•  Unstable to train.</a:t>
            </a:r>
          </a:p>
          <a:p>
            <a:pPr>
              <a:spcAft>
                <a:spcPts val="800"/>
              </a:spcAft>
            </a:pPr>
            <a:r>
              <a:rPr sz="1300" b="0">
                <a:solidFill>
                  <a:srgbClr val="161B26"/>
                </a:solidFill>
                <a:latin typeface="Arial"/>
              </a:rPr>
              <a:t>•  Failure: mode collapse, artefacts.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1993392"/>
            <a:ext cx="2926080" cy="548640"/>
          </a:xfrm>
          <a:prstGeom prst="rect">
            <a:avLst/>
          </a:prstGeom>
          <a:noFill/>
        </p:spPr>
        <p:txBody>
          <a:bodyPr wrap="square" anchor="t">
            <a:spAutoFit/>
          </a:bodyPr>
          <a:lstStyle/>
          <a:p>
            <a:pPr algn="l">
              <a:spcAft>
                <a:spcPts val="400"/>
              </a:spcAft>
            </a:pPr>
            <a:r>
              <a:rPr sz="1700" b="1">
                <a:solidFill>
                  <a:srgbClr val="7C3AED"/>
                </a:solidFill>
                <a:latin typeface="Arial"/>
              </a:rPr>
              <a:t>Diffusion / DiT</a:t>
            </a:r>
          </a:p>
        </p:txBody>
      </p:sp>
      <p:sp>
        <p:nvSpPr>
          <p:cNvPr id="18" name="TextBox 17"/>
          <p:cNvSpPr txBox="1"/>
          <p:nvPr/>
        </p:nvSpPr>
        <p:spPr>
          <a:xfrm>
            <a:off x="8595360" y="2651760"/>
            <a:ext cx="2926080" cy="3200400"/>
          </a:xfrm>
          <a:prstGeom prst="rect">
            <a:avLst/>
          </a:prstGeom>
          <a:noFill/>
        </p:spPr>
        <p:txBody>
          <a:bodyPr wrap="square">
            <a:spAutoFit/>
          </a:bodyPr>
          <a:lstStyle/>
          <a:p>
            <a:pPr>
              <a:spcAft>
                <a:spcPts val="800"/>
              </a:spcAft>
            </a:pPr>
            <a:r>
              <a:rPr sz="1300" b="0">
                <a:solidFill>
                  <a:srgbClr val="161B26"/>
                </a:solidFill>
                <a:latin typeface="Arial"/>
              </a:rPr>
              <a:t>•  Learns to remove noise over S steps.</a:t>
            </a:r>
          </a:p>
          <a:p>
            <a:pPr>
              <a:spcAft>
                <a:spcPts val="800"/>
              </a:spcAft>
            </a:pPr>
            <a:r>
              <a:rPr sz="1300" b="0">
                <a:solidFill>
                  <a:srgbClr val="161B26"/>
                </a:solidFill>
                <a:latin typeface="Arial"/>
              </a:rPr>
              <a:t>•  Transformer over spatiotemporal patches.</a:t>
            </a:r>
          </a:p>
          <a:p>
            <a:pPr>
              <a:spcAft>
                <a:spcPts val="800"/>
              </a:spcAft>
            </a:pPr>
            <a:r>
              <a:rPr sz="1300" b="0">
                <a:solidFill>
                  <a:srgbClr val="161B26"/>
                </a:solidFill>
                <a:latin typeface="Arial"/>
              </a:rPr>
              <a:t>•  Conditioned on text, images, frames.</a:t>
            </a:r>
          </a:p>
          <a:p>
            <a:pPr>
              <a:spcAft>
                <a:spcPts val="800"/>
              </a:spcAft>
            </a:pPr>
            <a:r>
              <a:rPr sz="1300" b="0">
                <a:solidFill>
                  <a:srgbClr val="161B26"/>
                </a:solidFill>
                <a:latin typeface="Arial"/>
              </a:rPr>
              <a:t>•  Today's image and video generators.</a:t>
            </a:r>
          </a:p>
          <a:p>
            <a:pPr>
              <a:spcAft>
                <a:spcPts val="800"/>
              </a:spcAft>
            </a:pPr>
            <a:r>
              <a:rPr sz="1300" b="0">
                <a:solidFill>
                  <a:srgbClr val="161B26"/>
                </a:solidFill>
                <a:latin typeface="Arial"/>
              </a:rPr>
              <a:t>•  Failure: morphing, drift, slow sampling.</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fast">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K1 · THE MECHANISM BEHIND IMAGE AND VIDEO MODELS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Diffusion in Three Lines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74519"/>
            <a:ext cx="336194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112263"/>
            <a:ext cx="2996184" cy="457200"/>
          </a:xfrm>
          <a:prstGeom prst="rect">
            <a:avLst/>
          </a:prstGeom>
          <a:noFill/>
        </p:spPr>
        <p:txBody>
          <a:bodyPr wrap="square" anchor="t">
            <a:spAutoFit/>
          </a:bodyPr>
          <a:lstStyle/>
          <a:p>
            <a:pPr algn="l">
              <a:spcAft>
                <a:spcPts val="400"/>
              </a:spcAft>
            </a:pPr>
            <a:r>
              <a:rPr sz="1500" b="1">
                <a:solidFill>
                  <a:srgbClr val="1F6FEB"/>
                </a:solidFill>
                <a:latin typeface="Arial"/>
              </a:rPr>
              <a:t>Forward: add noise</a:t>
            </a:r>
          </a:p>
        </p:txBody>
      </p:sp>
      <p:sp>
        <p:nvSpPr>
          <p:cNvPr id="10" name="Rectangle 9"/>
          <p:cNvSpPr/>
          <p:nvPr/>
        </p:nvSpPr>
        <p:spPr>
          <a:xfrm>
            <a:off x="960120" y="2715767"/>
            <a:ext cx="2996184" cy="104241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2715767"/>
            <a:ext cx="2813304" cy="1042416"/>
          </a:xfrm>
          <a:prstGeom prst="rect">
            <a:avLst/>
          </a:prstGeom>
          <a:noFill/>
        </p:spPr>
        <p:txBody>
          <a:bodyPr wrap="none" lIns="0" rIns="0" tIns="0" bIns="0" anchor="ctr">
            <a:noAutofit/>
          </a:bodyPr>
          <a:lstStyle/>
          <a:p>
            <a:pPr>
              <a:spcAft>
                <a:spcPts val="100"/>
              </a:spcAft>
            </a:pPr>
            <a:r>
              <a:rPr sz="1400">
                <a:solidFill>
                  <a:srgbClr val="9CDCFE"/>
                </a:solidFill>
                <a:latin typeface="Consolas"/>
              </a:rPr>
              <a:t>x_t = sqrt(a_t) * x_0</a:t>
            </a:r>
          </a:p>
          <a:p>
            <a:pPr>
              <a:spcAft>
                <a:spcPts val="100"/>
              </a:spcAft>
            </a:pPr>
            <a:r>
              <a:rPr sz="1400">
                <a:solidFill>
                  <a:srgbClr val="9CDCFE"/>
                </a:solidFill>
                <a:latin typeface="Consolas"/>
              </a:rPr>
              <a:t>    + sqrt(1 - a_t) * e</a:t>
            </a:r>
          </a:p>
        </p:txBody>
      </p:sp>
      <p:sp>
        <p:nvSpPr>
          <p:cNvPr id="12" name="TextBox 11"/>
          <p:cNvSpPr txBox="1"/>
          <p:nvPr/>
        </p:nvSpPr>
        <p:spPr>
          <a:xfrm>
            <a:off x="960120" y="3867911"/>
            <a:ext cx="2996184" cy="1490472"/>
          </a:xfrm>
          <a:prstGeom prst="rect">
            <a:avLst/>
          </a:prstGeom>
          <a:noFill/>
        </p:spPr>
        <p:txBody>
          <a:bodyPr wrap="square" anchor="t">
            <a:spAutoFit/>
          </a:bodyPr>
          <a:lstStyle/>
          <a:p>
            <a:pPr algn="l">
              <a:spcAft>
                <a:spcPts val="400"/>
              </a:spcAft>
            </a:pPr>
            <a:r>
              <a:rPr sz="1200" b="0">
                <a:solidFill>
                  <a:srgbClr val="5B6372"/>
                </a:solidFill>
                <a:latin typeface="Arial"/>
              </a:rPr>
              <a:t>Training takes a real clip x_0 and mixes in Gaussian noise e by a known schedule a_t.</a:t>
            </a:r>
          </a:p>
        </p:txBody>
      </p:sp>
      <p:sp>
        <p:nvSpPr>
          <p:cNvPr id="13" name="Rectangle 12"/>
          <p:cNvSpPr/>
          <p:nvPr/>
        </p:nvSpPr>
        <p:spPr>
          <a:xfrm>
            <a:off x="4413504"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13504" y="1874519"/>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96384" y="2112263"/>
            <a:ext cx="2996184" cy="457200"/>
          </a:xfrm>
          <a:prstGeom prst="rect">
            <a:avLst/>
          </a:prstGeom>
          <a:noFill/>
        </p:spPr>
        <p:txBody>
          <a:bodyPr wrap="square" anchor="t">
            <a:spAutoFit/>
          </a:bodyPr>
          <a:lstStyle/>
          <a:p>
            <a:pPr algn="l">
              <a:spcAft>
                <a:spcPts val="400"/>
              </a:spcAft>
            </a:pPr>
            <a:r>
              <a:rPr sz="1500" b="1">
                <a:solidFill>
                  <a:srgbClr val="10B981"/>
                </a:solidFill>
                <a:latin typeface="Arial"/>
              </a:rPr>
              <a:t>Learn: predict the noise</a:t>
            </a:r>
          </a:p>
        </p:txBody>
      </p:sp>
      <p:sp>
        <p:nvSpPr>
          <p:cNvPr id="16" name="Rectangle 15"/>
          <p:cNvSpPr/>
          <p:nvPr/>
        </p:nvSpPr>
        <p:spPr>
          <a:xfrm>
            <a:off x="4596384" y="2715767"/>
            <a:ext cx="2996184" cy="67665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87824" y="2715767"/>
            <a:ext cx="2813304" cy="676656"/>
          </a:xfrm>
          <a:prstGeom prst="rect">
            <a:avLst/>
          </a:prstGeom>
          <a:noFill/>
        </p:spPr>
        <p:txBody>
          <a:bodyPr wrap="none" lIns="0" rIns="0" tIns="0" bIns="0" anchor="ctr">
            <a:noAutofit/>
          </a:bodyPr>
          <a:lstStyle/>
          <a:p>
            <a:pPr>
              <a:spcAft>
                <a:spcPts val="100"/>
              </a:spcAft>
            </a:pPr>
            <a:r>
              <a:rPr sz="1000">
                <a:solidFill>
                  <a:srgbClr val="9CDCFE"/>
                </a:solidFill>
                <a:latin typeface="Consolas"/>
              </a:rPr>
              <a:t>loss = || e - model(x_t, t, c) ||^2</a:t>
            </a:r>
          </a:p>
        </p:txBody>
      </p:sp>
      <p:sp>
        <p:nvSpPr>
          <p:cNvPr id="18" name="TextBox 17"/>
          <p:cNvSpPr txBox="1"/>
          <p:nvPr/>
        </p:nvSpPr>
        <p:spPr>
          <a:xfrm>
            <a:off x="4596384" y="3502151"/>
            <a:ext cx="2996184" cy="1856232"/>
          </a:xfrm>
          <a:prstGeom prst="rect">
            <a:avLst/>
          </a:prstGeom>
          <a:noFill/>
        </p:spPr>
        <p:txBody>
          <a:bodyPr wrap="square" anchor="t">
            <a:spAutoFit/>
          </a:bodyPr>
          <a:lstStyle/>
          <a:p>
            <a:pPr algn="l">
              <a:spcAft>
                <a:spcPts val="400"/>
              </a:spcAft>
            </a:pPr>
            <a:r>
              <a:rPr sz="1200" b="0">
                <a:solidFill>
                  <a:srgbClr val="5B6372"/>
                </a:solidFill>
                <a:latin typeface="Arial"/>
              </a:rPr>
              <a:t>The network learns to predict the noise, given the step t and the condition c: prompt, reference images, start frame.</a:t>
            </a:r>
          </a:p>
        </p:txBody>
      </p:sp>
      <p:sp>
        <p:nvSpPr>
          <p:cNvPr id="19" name="Rectangle 18"/>
          <p:cNvSpPr/>
          <p:nvPr/>
        </p:nvSpPr>
        <p:spPr>
          <a:xfrm>
            <a:off x="8049768"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9768" y="1874519"/>
            <a:ext cx="336194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2648" y="2112263"/>
            <a:ext cx="2996184" cy="457200"/>
          </a:xfrm>
          <a:prstGeom prst="rect">
            <a:avLst/>
          </a:prstGeom>
          <a:noFill/>
        </p:spPr>
        <p:txBody>
          <a:bodyPr wrap="square" anchor="t">
            <a:spAutoFit/>
          </a:bodyPr>
          <a:lstStyle/>
          <a:p>
            <a:pPr algn="l">
              <a:spcAft>
                <a:spcPts val="400"/>
              </a:spcAft>
            </a:pPr>
            <a:r>
              <a:rPr sz="1500" b="1">
                <a:solidFill>
                  <a:srgbClr val="7C3AED"/>
                </a:solidFill>
                <a:latin typeface="Arial"/>
              </a:rPr>
              <a:t>Sample: walk back</a:t>
            </a:r>
          </a:p>
        </p:txBody>
      </p:sp>
      <p:sp>
        <p:nvSpPr>
          <p:cNvPr id="22" name="Rectangle 21"/>
          <p:cNvSpPr/>
          <p:nvPr/>
        </p:nvSpPr>
        <p:spPr>
          <a:xfrm>
            <a:off x="8232648" y="2715767"/>
            <a:ext cx="2996184" cy="104241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24088" y="2715767"/>
            <a:ext cx="2813304" cy="1042416"/>
          </a:xfrm>
          <a:prstGeom prst="rect">
            <a:avLst/>
          </a:prstGeom>
          <a:noFill/>
        </p:spPr>
        <p:txBody>
          <a:bodyPr wrap="none" lIns="0" rIns="0" tIns="0" bIns="0" anchor="ctr">
            <a:noAutofit/>
          </a:bodyPr>
          <a:lstStyle/>
          <a:p>
            <a:pPr>
              <a:spcAft>
                <a:spcPts val="100"/>
              </a:spcAft>
            </a:pPr>
            <a:r>
              <a:rPr sz="1070">
                <a:solidFill>
                  <a:srgbClr val="9CDCFE"/>
                </a:solidFill>
                <a:latin typeface="Consolas"/>
              </a:rPr>
              <a:t>for t = S ... 1:</a:t>
            </a:r>
          </a:p>
          <a:p>
            <a:pPr>
              <a:spcAft>
                <a:spcPts val="100"/>
              </a:spcAft>
            </a:pPr>
            <a:r>
              <a:rPr sz="1070">
                <a:solidFill>
                  <a:srgbClr val="9CDCFE"/>
                </a:solidFill>
                <a:latin typeface="Consolas"/>
              </a:rPr>
              <a:t>  x_(t-1) = step(x_t, model(...))</a:t>
            </a:r>
          </a:p>
        </p:txBody>
      </p:sp>
      <p:sp>
        <p:nvSpPr>
          <p:cNvPr id="24" name="TextBox 23"/>
          <p:cNvSpPr txBox="1"/>
          <p:nvPr/>
        </p:nvSpPr>
        <p:spPr>
          <a:xfrm>
            <a:off x="8232648" y="3867911"/>
            <a:ext cx="2996184" cy="1490472"/>
          </a:xfrm>
          <a:prstGeom prst="rect">
            <a:avLst/>
          </a:prstGeom>
          <a:noFill/>
        </p:spPr>
        <p:txBody>
          <a:bodyPr wrap="square" anchor="t">
            <a:spAutoFit/>
          </a:bodyPr>
          <a:lstStyle/>
          <a:p>
            <a:pPr algn="l">
              <a:spcAft>
                <a:spcPts val="400"/>
              </a:spcAft>
            </a:pPr>
            <a:r>
              <a:rPr sz="1200" b="0">
                <a:solidFill>
                  <a:srgbClr val="5B6372"/>
                </a:solidFill>
                <a:latin typeface="Arial"/>
              </a:rPr>
              <a:t>Generation starts from pure noise and removes it over S steps. More steps and more frames cost more compute.</a:t>
            </a:r>
          </a:p>
        </p:txBody>
      </p:sp>
      <p:sp>
        <p:nvSpPr>
          <p:cNvPr id="25" name="TextBox 24"/>
          <p:cNvSpPr txBox="1"/>
          <p:nvPr/>
        </p:nvSpPr>
        <p:spPr>
          <a:xfrm>
            <a:off x="777240" y="5715000"/>
            <a:ext cx="10698480" cy="548640"/>
          </a:xfrm>
          <a:prstGeom prst="rect">
            <a:avLst/>
          </a:prstGeom>
          <a:noFill/>
        </p:spPr>
        <p:txBody>
          <a:bodyPr wrap="square" anchor="ctr">
            <a:spAutoFit/>
          </a:bodyPr>
          <a:lstStyle/>
          <a:p>
            <a:pPr algn="ctr">
              <a:spcAft>
                <a:spcPts val="400"/>
              </a:spcAft>
            </a:pPr>
            <a:r>
              <a:rPr sz="1300" b="0">
                <a:solidFill>
                  <a:srgbClr val="5B6372"/>
                </a:solidFill>
                <a:latin typeface="Arial"/>
              </a:rPr>
              <a:t>Video models run this in a VAE latent over spatiotemporal patches, so the same loop produces frames that agree with each other.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fast">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K1 · TEXT-TO-IMAGE · IMAGE-TO-VIDEO · TEXT-TO-VIDEO</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Generation Modes — What the Condition Fixes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339583" cy="60089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2156703" cy="600891"/>
          </a:xfrm>
          <a:prstGeom prst="rect">
            <a:avLst/>
          </a:prstGeom>
          <a:noFill/>
        </p:spPr>
        <p:txBody>
          <a:bodyPr wrap="square" anchor="ctr">
            <a:spAutoFit/>
          </a:bodyPr>
          <a:lstStyle/>
          <a:p>
            <a:pPr algn="l">
              <a:spcAft>
                <a:spcPts val="400"/>
              </a:spcAft>
            </a:pPr>
            <a:r>
              <a:rPr sz="1100" b="1">
                <a:solidFill>
                  <a:srgbClr val="FFFFFF"/>
                </a:solidFill>
                <a:latin typeface="Arial"/>
              </a:rPr>
              <a:t>Mode</a:t>
            </a:r>
          </a:p>
        </p:txBody>
      </p:sp>
      <p:sp>
        <p:nvSpPr>
          <p:cNvPr id="9" name="Rectangle 8"/>
          <p:cNvSpPr/>
          <p:nvPr/>
        </p:nvSpPr>
        <p:spPr>
          <a:xfrm>
            <a:off x="3116823" y="1783080"/>
            <a:ext cx="2658618" cy="60089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26551" y="1783080"/>
            <a:ext cx="2475738" cy="600891"/>
          </a:xfrm>
          <a:prstGeom prst="rect">
            <a:avLst/>
          </a:prstGeom>
          <a:noFill/>
        </p:spPr>
        <p:txBody>
          <a:bodyPr wrap="square" anchor="ctr">
            <a:spAutoFit/>
          </a:bodyPr>
          <a:lstStyle/>
          <a:p>
            <a:pPr algn="l">
              <a:spcAft>
                <a:spcPts val="400"/>
              </a:spcAft>
            </a:pPr>
            <a:r>
              <a:rPr sz="1100" b="1">
                <a:solidFill>
                  <a:srgbClr val="FFFFFF"/>
                </a:solidFill>
                <a:latin typeface="Arial"/>
              </a:rPr>
              <a:t>Condition</a:t>
            </a:r>
          </a:p>
        </p:txBody>
      </p:sp>
      <p:sp>
        <p:nvSpPr>
          <p:cNvPr id="11" name="Rectangle 10"/>
          <p:cNvSpPr/>
          <p:nvPr/>
        </p:nvSpPr>
        <p:spPr>
          <a:xfrm>
            <a:off x="5775441" y="1783080"/>
            <a:ext cx="2977652" cy="60089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85169" y="1783080"/>
            <a:ext cx="2794772" cy="600891"/>
          </a:xfrm>
          <a:prstGeom prst="rect">
            <a:avLst/>
          </a:prstGeom>
          <a:noFill/>
        </p:spPr>
        <p:txBody>
          <a:bodyPr wrap="square" anchor="ctr">
            <a:spAutoFit/>
          </a:bodyPr>
          <a:lstStyle/>
          <a:p>
            <a:pPr algn="l">
              <a:spcAft>
                <a:spcPts val="400"/>
              </a:spcAft>
            </a:pPr>
            <a:r>
              <a:rPr sz="1100" b="1">
                <a:solidFill>
                  <a:srgbClr val="FFFFFF"/>
                </a:solidFill>
                <a:latin typeface="Arial"/>
              </a:rPr>
              <a:t>What the model must invent</a:t>
            </a:r>
          </a:p>
        </p:txBody>
      </p:sp>
      <p:sp>
        <p:nvSpPr>
          <p:cNvPr id="13" name="Rectangle 12"/>
          <p:cNvSpPr/>
          <p:nvPr/>
        </p:nvSpPr>
        <p:spPr>
          <a:xfrm>
            <a:off x="8753093" y="1783080"/>
            <a:ext cx="2658618" cy="60089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2821" y="1783080"/>
            <a:ext cx="2475738" cy="600891"/>
          </a:xfrm>
          <a:prstGeom prst="rect">
            <a:avLst/>
          </a:prstGeom>
          <a:noFill/>
        </p:spPr>
        <p:txBody>
          <a:bodyPr wrap="square" anchor="ctr">
            <a:spAutoFit/>
          </a:bodyPr>
          <a:lstStyle/>
          <a:p>
            <a:pPr algn="l">
              <a:spcAft>
                <a:spcPts val="400"/>
              </a:spcAft>
            </a:pPr>
            <a:r>
              <a:rPr sz="1100" b="1">
                <a:solidFill>
                  <a:srgbClr val="FFFFFF"/>
                </a:solidFill>
                <a:latin typeface="Arial"/>
              </a:rPr>
              <a:t>Use in the film</a:t>
            </a:r>
          </a:p>
        </p:txBody>
      </p:sp>
      <p:sp>
        <p:nvSpPr>
          <p:cNvPr id="15" name="Rectangle 14"/>
          <p:cNvSpPr/>
          <p:nvPr/>
        </p:nvSpPr>
        <p:spPr>
          <a:xfrm>
            <a:off x="777240" y="2383971"/>
            <a:ext cx="2339583"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6968" y="2383971"/>
            <a:ext cx="2156703" cy="600891"/>
          </a:xfrm>
          <a:prstGeom prst="rect">
            <a:avLst/>
          </a:prstGeom>
          <a:noFill/>
        </p:spPr>
        <p:txBody>
          <a:bodyPr wrap="square" anchor="ctr">
            <a:spAutoFit/>
          </a:bodyPr>
          <a:lstStyle/>
          <a:p>
            <a:pPr algn="l">
              <a:spcAft>
                <a:spcPts val="400"/>
              </a:spcAft>
            </a:pPr>
            <a:r>
              <a:rPr sz="1000" b="1">
                <a:solidFill>
                  <a:srgbClr val="161B26"/>
                </a:solidFill>
                <a:latin typeface="Arial"/>
              </a:rPr>
              <a:t>Text-to-image</a:t>
            </a:r>
          </a:p>
        </p:txBody>
      </p:sp>
      <p:sp>
        <p:nvSpPr>
          <p:cNvPr id="17" name="Rectangle 16"/>
          <p:cNvSpPr/>
          <p:nvPr/>
        </p:nvSpPr>
        <p:spPr>
          <a:xfrm>
            <a:off x="3116823" y="2383971"/>
            <a:ext cx="2658618"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26551" y="2383971"/>
            <a:ext cx="2475738" cy="600891"/>
          </a:xfrm>
          <a:prstGeom prst="rect">
            <a:avLst/>
          </a:prstGeom>
          <a:noFill/>
        </p:spPr>
        <p:txBody>
          <a:bodyPr wrap="square" anchor="ctr">
            <a:spAutoFit/>
          </a:bodyPr>
          <a:lstStyle/>
          <a:p>
            <a:pPr algn="l">
              <a:spcAft>
                <a:spcPts val="400"/>
              </a:spcAft>
            </a:pPr>
            <a:r>
              <a:rPr sz="1000" b="0">
                <a:solidFill>
                  <a:srgbClr val="161B26"/>
                </a:solidFill>
                <a:latin typeface="Arial"/>
              </a:rPr>
              <a:t>Prompt</a:t>
            </a:r>
          </a:p>
        </p:txBody>
      </p:sp>
      <p:sp>
        <p:nvSpPr>
          <p:cNvPr id="19" name="Rectangle 18"/>
          <p:cNvSpPr/>
          <p:nvPr/>
        </p:nvSpPr>
        <p:spPr>
          <a:xfrm>
            <a:off x="5775441" y="2383971"/>
            <a:ext cx="2977652"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85169" y="2383971"/>
            <a:ext cx="2794772" cy="600891"/>
          </a:xfrm>
          <a:prstGeom prst="rect">
            <a:avLst/>
          </a:prstGeom>
          <a:noFill/>
        </p:spPr>
        <p:txBody>
          <a:bodyPr wrap="square" anchor="ctr">
            <a:spAutoFit/>
          </a:bodyPr>
          <a:lstStyle/>
          <a:p>
            <a:pPr algn="l">
              <a:spcAft>
                <a:spcPts val="400"/>
              </a:spcAft>
            </a:pPr>
            <a:r>
              <a:rPr sz="1000" b="0">
                <a:solidFill>
                  <a:srgbClr val="161B26"/>
                </a:solidFill>
                <a:latin typeface="Arial"/>
              </a:rPr>
              <a:t>Everything</a:t>
            </a:r>
          </a:p>
        </p:txBody>
      </p:sp>
      <p:sp>
        <p:nvSpPr>
          <p:cNvPr id="21" name="Rectangle 20"/>
          <p:cNvSpPr/>
          <p:nvPr/>
        </p:nvSpPr>
        <p:spPr>
          <a:xfrm>
            <a:off x="8753093" y="2383971"/>
            <a:ext cx="2658618"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2821" y="2383971"/>
            <a:ext cx="2475738" cy="600891"/>
          </a:xfrm>
          <a:prstGeom prst="rect">
            <a:avLst/>
          </a:prstGeom>
          <a:noFill/>
        </p:spPr>
        <p:txBody>
          <a:bodyPr wrap="square" anchor="ctr">
            <a:spAutoFit/>
          </a:bodyPr>
          <a:lstStyle/>
          <a:p>
            <a:pPr algn="l">
              <a:spcAft>
                <a:spcPts val="400"/>
              </a:spcAft>
            </a:pPr>
            <a:r>
              <a:rPr sz="1000" b="0">
                <a:solidFill>
                  <a:srgbClr val="161B26"/>
                </a:solidFill>
                <a:latin typeface="Arial"/>
              </a:rPr>
              <a:t>Explore looks cheaply</a:t>
            </a:r>
          </a:p>
        </p:txBody>
      </p:sp>
      <p:sp>
        <p:nvSpPr>
          <p:cNvPr id="23" name="Rectangle 22"/>
          <p:cNvSpPr/>
          <p:nvPr/>
        </p:nvSpPr>
        <p:spPr>
          <a:xfrm>
            <a:off x="777240" y="2984862"/>
            <a:ext cx="2339583"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6968" y="2984862"/>
            <a:ext cx="2156703" cy="600891"/>
          </a:xfrm>
          <a:prstGeom prst="rect">
            <a:avLst/>
          </a:prstGeom>
          <a:noFill/>
        </p:spPr>
        <p:txBody>
          <a:bodyPr wrap="square" anchor="ctr">
            <a:spAutoFit/>
          </a:bodyPr>
          <a:lstStyle/>
          <a:p>
            <a:pPr algn="l">
              <a:spcAft>
                <a:spcPts val="400"/>
              </a:spcAft>
            </a:pPr>
            <a:r>
              <a:rPr sz="1000" b="1">
                <a:solidFill>
                  <a:srgbClr val="161B26"/>
                </a:solidFill>
                <a:latin typeface="Arial"/>
              </a:rPr>
              <a:t>Image-to-image / edit</a:t>
            </a:r>
          </a:p>
        </p:txBody>
      </p:sp>
      <p:sp>
        <p:nvSpPr>
          <p:cNvPr id="25" name="Rectangle 24"/>
          <p:cNvSpPr/>
          <p:nvPr/>
        </p:nvSpPr>
        <p:spPr>
          <a:xfrm>
            <a:off x="3116823" y="2984862"/>
            <a:ext cx="2658618"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26551" y="2984862"/>
            <a:ext cx="2475738" cy="600891"/>
          </a:xfrm>
          <a:prstGeom prst="rect">
            <a:avLst/>
          </a:prstGeom>
          <a:noFill/>
        </p:spPr>
        <p:txBody>
          <a:bodyPr wrap="square" anchor="ctr">
            <a:spAutoFit/>
          </a:bodyPr>
          <a:lstStyle/>
          <a:p>
            <a:pPr algn="l">
              <a:spcAft>
                <a:spcPts val="400"/>
              </a:spcAft>
            </a:pPr>
            <a:r>
              <a:rPr sz="1000" b="0">
                <a:solidFill>
                  <a:srgbClr val="161B26"/>
                </a:solidFill>
                <a:latin typeface="Arial"/>
              </a:rPr>
              <a:t>Prompt + image + mask</a:t>
            </a:r>
          </a:p>
        </p:txBody>
      </p:sp>
      <p:sp>
        <p:nvSpPr>
          <p:cNvPr id="27" name="Rectangle 26"/>
          <p:cNvSpPr/>
          <p:nvPr/>
        </p:nvSpPr>
        <p:spPr>
          <a:xfrm>
            <a:off x="5775441" y="2984862"/>
            <a:ext cx="2977652"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885169" y="2984862"/>
            <a:ext cx="2794772" cy="600891"/>
          </a:xfrm>
          <a:prstGeom prst="rect">
            <a:avLst/>
          </a:prstGeom>
          <a:noFill/>
        </p:spPr>
        <p:txBody>
          <a:bodyPr wrap="square" anchor="ctr">
            <a:spAutoFit/>
          </a:bodyPr>
          <a:lstStyle/>
          <a:p>
            <a:pPr algn="l">
              <a:spcAft>
                <a:spcPts val="400"/>
              </a:spcAft>
            </a:pPr>
            <a:r>
              <a:rPr sz="1000" b="0">
                <a:solidFill>
                  <a:srgbClr val="161B26"/>
                </a:solidFill>
                <a:latin typeface="Arial"/>
              </a:rPr>
              <a:t>Only the masked region</a:t>
            </a:r>
          </a:p>
        </p:txBody>
      </p:sp>
      <p:sp>
        <p:nvSpPr>
          <p:cNvPr id="29" name="Rectangle 28"/>
          <p:cNvSpPr/>
          <p:nvPr/>
        </p:nvSpPr>
        <p:spPr>
          <a:xfrm>
            <a:off x="8753093" y="2984862"/>
            <a:ext cx="2658618"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862821" y="2984862"/>
            <a:ext cx="2475738" cy="600891"/>
          </a:xfrm>
          <a:prstGeom prst="rect">
            <a:avLst/>
          </a:prstGeom>
          <a:noFill/>
        </p:spPr>
        <p:txBody>
          <a:bodyPr wrap="square" anchor="ctr">
            <a:spAutoFit/>
          </a:bodyPr>
          <a:lstStyle/>
          <a:p>
            <a:pPr algn="l">
              <a:spcAft>
                <a:spcPts val="400"/>
              </a:spcAft>
            </a:pPr>
            <a:r>
              <a:rPr sz="1000" b="0">
                <a:solidFill>
                  <a:srgbClr val="161B26"/>
                </a:solidFill>
                <a:latin typeface="Arial"/>
              </a:rPr>
              <a:t>State variants, clean-up, reframing</a:t>
            </a:r>
          </a:p>
        </p:txBody>
      </p:sp>
      <p:sp>
        <p:nvSpPr>
          <p:cNvPr id="31" name="Rectangle 30"/>
          <p:cNvSpPr/>
          <p:nvPr/>
        </p:nvSpPr>
        <p:spPr>
          <a:xfrm>
            <a:off x="777240" y="3585753"/>
            <a:ext cx="2339583"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3585753"/>
            <a:ext cx="2156703" cy="600891"/>
          </a:xfrm>
          <a:prstGeom prst="rect">
            <a:avLst/>
          </a:prstGeom>
          <a:noFill/>
        </p:spPr>
        <p:txBody>
          <a:bodyPr wrap="square" anchor="ctr">
            <a:spAutoFit/>
          </a:bodyPr>
          <a:lstStyle/>
          <a:p>
            <a:pPr algn="l">
              <a:spcAft>
                <a:spcPts val="400"/>
              </a:spcAft>
            </a:pPr>
            <a:r>
              <a:rPr sz="1000" b="1">
                <a:solidFill>
                  <a:srgbClr val="161B26"/>
                </a:solidFill>
                <a:latin typeface="Arial"/>
              </a:rPr>
              <a:t>Reference-guided image</a:t>
            </a:r>
          </a:p>
        </p:txBody>
      </p:sp>
      <p:sp>
        <p:nvSpPr>
          <p:cNvPr id="33" name="Rectangle 32"/>
          <p:cNvSpPr/>
          <p:nvPr/>
        </p:nvSpPr>
        <p:spPr>
          <a:xfrm>
            <a:off x="3116823" y="3585753"/>
            <a:ext cx="2658618"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226551" y="3585753"/>
            <a:ext cx="2475738" cy="600891"/>
          </a:xfrm>
          <a:prstGeom prst="rect">
            <a:avLst/>
          </a:prstGeom>
          <a:noFill/>
        </p:spPr>
        <p:txBody>
          <a:bodyPr wrap="square" anchor="ctr">
            <a:spAutoFit/>
          </a:bodyPr>
          <a:lstStyle/>
          <a:p>
            <a:pPr algn="l">
              <a:spcAft>
                <a:spcPts val="400"/>
              </a:spcAft>
            </a:pPr>
            <a:r>
              <a:rPr sz="1000" b="0">
                <a:solidFill>
                  <a:srgbClr val="161B26"/>
                </a:solidFill>
                <a:latin typeface="Arial"/>
              </a:rPr>
              <a:t>Prompt + element sheets</a:t>
            </a:r>
          </a:p>
        </p:txBody>
      </p:sp>
      <p:sp>
        <p:nvSpPr>
          <p:cNvPr id="35" name="Rectangle 34"/>
          <p:cNvSpPr/>
          <p:nvPr/>
        </p:nvSpPr>
        <p:spPr>
          <a:xfrm>
            <a:off x="5775441" y="3585753"/>
            <a:ext cx="2977652"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885169" y="3585753"/>
            <a:ext cx="2794772" cy="600891"/>
          </a:xfrm>
          <a:prstGeom prst="rect">
            <a:avLst/>
          </a:prstGeom>
          <a:noFill/>
        </p:spPr>
        <p:txBody>
          <a:bodyPr wrap="square" anchor="ctr">
            <a:spAutoFit/>
          </a:bodyPr>
          <a:lstStyle/>
          <a:p>
            <a:pPr algn="l">
              <a:spcAft>
                <a:spcPts val="400"/>
              </a:spcAft>
            </a:pPr>
            <a:r>
              <a:rPr sz="1000" b="0">
                <a:solidFill>
                  <a:srgbClr val="161B26"/>
                </a:solidFill>
                <a:latin typeface="Arial"/>
              </a:rPr>
              <a:t>Pose, framing, light</a:t>
            </a:r>
          </a:p>
        </p:txBody>
      </p:sp>
      <p:sp>
        <p:nvSpPr>
          <p:cNvPr id="37" name="Rectangle 36"/>
          <p:cNvSpPr/>
          <p:nvPr/>
        </p:nvSpPr>
        <p:spPr>
          <a:xfrm>
            <a:off x="8753093" y="3585753"/>
            <a:ext cx="2658618"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862821" y="3585753"/>
            <a:ext cx="2475738" cy="600891"/>
          </a:xfrm>
          <a:prstGeom prst="rect">
            <a:avLst/>
          </a:prstGeom>
          <a:noFill/>
        </p:spPr>
        <p:txBody>
          <a:bodyPr wrap="square" anchor="ctr">
            <a:spAutoFit/>
          </a:bodyPr>
          <a:lstStyle/>
          <a:p>
            <a:pPr algn="l">
              <a:spcAft>
                <a:spcPts val="400"/>
              </a:spcAft>
            </a:pPr>
            <a:r>
              <a:rPr sz="1000" b="0">
                <a:solidFill>
                  <a:srgbClr val="161B26"/>
                </a:solidFill>
                <a:latin typeface="Arial"/>
              </a:rPr>
              <a:t>Keyframes with the right cast</a:t>
            </a:r>
          </a:p>
        </p:txBody>
      </p:sp>
      <p:sp>
        <p:nvSpPr>
          <p:cNvPr id="39" name="Rectangle 38"/>
          <p:cNvSpPr/>
          <p:nvPr/>
        </p:nvSpPr>
        <p:spPr>
          <a:xfrm>
            <a:off x="777240" y="4186644"/>
            <a:ext cx="2339583"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86968" y="4186644"/>
            <a:ext cx="2156703" cy="600891"/>
          </a:xfrm>
          <a:prstGeom prst="rect">
            <a:avLst/>
          </a:prstGeom>
          <a:noFill/>
        </p:spPr>
        <p:txBody>
          <a:bodyPr wrap="square" anchor="ctr">
            <a:spAutoFit/>
          </a:bodyPr>
          <a:lstStyle/>
          <a:p>
            <a:pPr algn="l">
              <a:spcAft>
                <a:spcPts val="400"/>
              </a:spcAft>
            </a:pPr>
            <a:r>
              <a:rPr sz="1000" b="1">
                <a:solidFill>
                  <a:srgbClr val="161B26"/>
                </a:solidFill>
                <a:latin typeface="Arial"/>
              </a:rPr>
              <a:t>Image-to-video</a:t>
            </a:r>
          </a:p>
        </p:txBody>
      </p:sp>
      <p:sp>
        <p:nvSpPr>
          <p:cNvPr id="41" name="Rectangle 40"/>
          <p:cNvSpPr/>
          <p:nvPr/>
        </p:nvSpPr>
        <p:spPr>
          <a:xfrm>
            <a:off x="3116823" y="4186644"/>
            <a:ext cx="2658618"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226551" y="4186644"/>
            <a:ext cx="2475738" cy="600891"/>
          </a:xfrm>
          <a:prstGeom prst="rect">
            <a:avLst/>
          </a:prstGeom>
          <a:noFill/>
        </p:spPr>
        <p:txBody>
          <a:bodyPr wrap="square" anchor="ctr">
            <a:spAutoFit/>
          </a:bodyPr>
          <a:lstStyle/>
          <a:p>
            <a:pPr algn="l">
              <a:spcAft>
                <a:spcPts val="400"/>
              </a:spcAft>
            </a:pPr>
            <a:r>
              <a:rPr sz="1000" b="0">
                <a:solidFill>
                  <a:srgbClr val="161B26"/>
                </a:solidFill>
                <a:latin typeface="Arial"/>
              </a:rPr>
              <a:t>Prompt + start frame (+ end frame)</a:t>
            </a:r>
          </a:p>
        </p:txBody>
      </p:sp>
      <p:sp>
        <p:nvSpPr>
          <p:cNvPr id="43" name="Rectangle 42"/>
          <p:cNvSpPr/>
          <p:nvPr/>
        </p:nvSpPr>
        <p:spPr>
          <a:xfrm>
            <a:off x="5775441" y="4186644"/>
            <a:ext cx="2977652"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885169" y="4186644"/>
            <a:ext cx="2794772" cy="600891"/>
          </a:xfrm>
          <a:prstGeom prst="rect">
            <a:avLst/>
          </a:prstGeom>
          <a:noFill/>
        </p:spPr>
        <p:txBody>
          <a:bodyPr wrap="square" anchor="ctr">
            <a:spAutoFit/>
          </a:bodyPr>
          <a:lstStyle/>
          <a:p>
            <a:pPr algn="l">
              <a:spcAft>
                <a:spcPts val="400"/>
              </a:spcAft>
            </a:pPr>
            <a:r>
              <a:rPr sz="1000" b="0">
                <a:solidFill>
                  <a:srgbClr val="161B26"/>
                </a:solidFill>
                <a:latin typeface="Arial"/>
              </a:rPr>
              <a:t>The motion between</a:t>
            </a:r>
          </a:p>
        </p:txBody>
      </p:sp>
      <p:sp>
        <p:nvSpPr>
          <p:cNvPr id="45" name="Rectangle 44"/>
          <p:cNvSpPr/>
          <p:nvPr/>
        </p:nvSpPr>
        <p:spPr>
          <a:xfrm>
            <a:off x="8753093" y="4186644"/>
            <a:ext cx="2658618"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862821" y="4186644"/>
            <a:ext cx="2475738" cy="600891"/>
          </a:xfrm>
          <a:prstGeom prst="rect">
            <a:avLst/>
          </a:prstGeom>
          <a:noFill/>
        </p:spPr>
        <p:txBody>
          <a:bodyPr wrap="square" anchor="ctr">
            <a:spAutoFit/>
          </a:bodyPr>
          <a:lstStyle/>
          <a:p>
            <a:pPr algn="l">
              <a:spcAft>
                <a:spcPts val="400"/>
              </a:spcAft>
            </a:pPr>
            <a:r>
              <a:rPr sz="1000" b="0">
                <a:solidFill>
                  <a:srgbClr val="161B26"/>
                </a:solidFill>
                <a:latin typeface="Arial"/>
              </a:rPr>
              <a:t>Most shots of the film</a:t>
            </a:r>
          </a:p>
        </p:txBody>
      </p:sp>
      <p:sp>
        <p:nvSpPr>
          <p:cNvPr id="47" name="Rectangle 46"/>
          <p:cNvSpPr/>
          <p:nvPr/>
        </p:nvSpPr>
        <p:spPr>
          <a:xfrm>
            <a:off x="777240" y="4787535"/>
            <a:ext cx="2339583"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86968" y="4787535"/>
            <a:ext cx="2156703" cy="600891"/>
          </a:xfrm>
          <a:prstGeom prst="rect">
            <a:avLst/>
          </a:prstGeom>
          <a:noFill/>
        </p:spPr>
        <p:txBody>
          <a:bodyPr wrap="square" anchor="ctr">
            <a:spAutoFit/>
          </a:bodyPr>
          <a:lstStyle/>
          <a:p>
            <a:pPr algn="l">
              <a:spcAft>
                <a:spcPts val="400"/>
              </a:spcAft>
            </a:pPr>
            <a:r>
              <a:rPr sz="1000" b="1">
                <a:solidFill>
                  <a:srgbClr val="161B26"/>
                </a:solidFill>
                <a:latin typeface="Arial"/>
              </a:rPr>
              <a:t>Text-to-video</a:t>
            </a:r>
          </a:p>
        </p:txBody>
      </p:sp>
      <p:sp>
        <p:nvSpPr>
          <p:cNvPr id="49" name="Rectangle 48"/>
          <p:cNvSpPr/>
          <p:nvPr/>
        </p:nvSpPr>
        <p:spPr>
          <a:xfrm>
            <a:off x="3116823" y="4787535"/>
            <a:ext cx="2658618"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226551" y="4787535"/>
            <a:ext cx="2475738" cy="600891"/>
          </a:xfrm>
          <a:prstGeom prst="rect">
            <a:avLst/>
          </a:prstGeom>
          <a:noFill/>
        </p:spPr>
        <p:txBody>
          <a:bodyPr wrap="square" anchor="ctr">
            <a:spAutoFit/>
          </a:bodyPr>
          <a:lstStyle/>
          <a:p>
            <a:pPr algn="l">
              <a:spcAft>
                <a:spcPts val="400"/>
              </a:spcAft>
            </a:pPr>
            <a:r>
              <a:rPr sz="1000" b="0">
                <a:solidFill>
                  <a:srgbClr val="161B26"/>
                </a:solidFill>
                <a:latin typeface="Arial"/>
              </a:rPr>
              <a:t>Prompt only</a:t>
            </a:r>
          </a:p>
        </p:txBody>
      </p:sp>
      <p:sp>
        <p:nvSpPr>
          <p:cNvPr id="51" name="Rectangle 50"/>
          <p:cNvSpPr/>
          <p:nvPr/>
        </p:nvSpPr>
        <p:spPr>
          <a:xfrm>
            <a:off x="5775441" y="4787535"/>
            <a:ext cx="2977652"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885169" y="4787535"/>
            <a:ext cx="2794772" cy="600891"/>
          </a:xfrm>
          <a:prstGeom prst="rect">
            <a:avLst/>
          </a:prstGeom>
          <a:noFill/>
        </p:spPr>
        <p:txBody>
          <a:bodyPr wrap="square" anchor="ctr">
            <a:spAutoFit/>
          </a:bodyPr>
          <a:lstStyle/>
          <a:p>
            <a:pPr algn="l">
              <a:spcAft>
                <a:spcPts val="400"/>
              </a:spcAft>
            </a:pPr>
            <a:r>
              <a:rPr sz="1000" b="0">
                <a:solidFill>
                  <a:srgbClr val="161B26"/>
                </a:solidFill>
                <a:latin typeface="Arial"/>
              </a:rPr>
              <a:t>Cast, place, look and motion</a:t>
            </a:r>
          </a:p>
        </p:txBody>
      </p:sp>
      <p:sp>
        <p:nvSpPr>
          <p:cNvPr id="53" name="Rectangle 52"/>
          <p:cNvSpPr/>
          <p:nvPr/>
        </p:nvSpPr>
        <p:spPr>
          <a:xfrm>
            <a:off x="8753093" y="4787535"/>
            <a:ext cx="2658618"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862821" y="4787535"/>
            <a:ext cx="2475738" cy="600891"/>
          </a:xfrm>
          <a:prstGeom prst="rect">
            <a:avLst/>
          </a:prstGeom>
          <a:noFill/>
        </p:spPr>
        <p:txBody>
          <a:bodyPr wrap="square" anchor="ctr">
            <a:spAutoFit/>
          </a:bodyPr>
          <a:lstStyle/>
          <a:p>
            <a:pPr algn="l">
              <a:spcAft>
                <a:spcPts val="400"/>
              </a:spcAft>
            </a:pPr>
            <a:r>
              <a:rPr sz="1000" b="0">
                <a:solidFill>
                  <a:srgbClr val="161B26"/>
                </a:solidFill>
                <a:latin typeface="Arial"/>
              </a:rPr>
              <a:t>Rarely — least control</a:t>
            </a:r>
          </a:p>
        </p:txBody>
      </p:sp>
      <p:sp>
        <p:nvSpPr>
          <p:cNvPr id="55" name="Rectangle 54"/>
          <p:cNvSpPr/>
          <p:nvPr/>
        </p:nvSpPr>
        <p:spPr>
          <a:xfrm>
            <a:off x="777240" y="5388426"/>
            <a:ext cx="2339583"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86968" y="5388426"/>
            <a:ext cx="2156703" cy="600891"/>
          </a:xfrm>
          <a:prstGeom prst="rect">
            <a:avLst/>
          </a:prstGeom>
          <a:noFill/>
        </p:spPr>
        <p:txBody>
          <a:bodyPr wrap="square" anchor="ctr">
            <a:spAutoFit/>
          </a:bodyPr>
          <a:lstStyle/>
          <a:p>
            <a:pPr algn="l">
              <a:spcAft>
                <a:spcPts val="400"/>
              </a:spcAft>
            </a:pPr>
            <a:r>
              <a:rPr sz="1000" b="1">
                <a:solidFill>
                  <a:srgbClr val="161B26"/>
                </a:solidFill>
                <a:latin typeface="Arial"/>
              </a:rPr>
              <a:t>Video extension / reference</a:t>
            </a:r>
          </a:p>
        </p:txBody>
      </p:sp>
      <p:sp>
        <p:nvSpPr>
          <p:cNvPr id="57" name="Rectangle 56"/>
          <p:cNvSpPr/>
          <p:nvPr/>
        </p:nvSpPr>
        <p:spPr>
          <a:xfrm>
            <a:off x="3116823" y="5388426"/>
            <a:ext cx="2658618"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226551" y="5388426"/>
            <a:ext cx="2475738" cy="600891"/>
          </a:xfrm>
          <a:prstGeom prst="rect">
            <a:avLst/>
          </a:prstGeom>
          <a:noFill/>
        </p:spPr>
        <p:txBody>
          <a:bodyPr wrap="square" anchor="ctr">
            <a:spAutoFit/>
          </a:bodyPr>
          <a:lstStyle/>
          <a:p>
            <a:pPr algn="l">
              <a:spcAft>
                <a:spcPts val="400"/>
              </a:spcAft>
            </a:pPr>
            <a:r>
              <a:rPr sz="1000" b="0">
                <a:solidFill>
                  <a:srgbClr val="161B26"/>
                </a:solidFill>
                <a:latin typeface="Arial"/>
              </a:rPr>
              <a:t>Prompt + previous clip</a:t>
            </a:r>
          </a:p>
        </p:txBody>
      </p:sp>
      <p:sp>
        <p:nvSpPr>
          <p:cNvPr id="59" name="Rectangle 58"/>
          <p:cNvSpPr/>
          <p:nvPr/>
        </p:nvSpPr>
        <p:spPr>
          <a:xfrm>
            <a:off x="5775441" y="5388426"/>
            <a:ext cx="2977652"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885169" y="5388426"/>
            <a:ext cx="2794772" cy="600891"/>
          </a:xfrm>
          <a:prstGeom prst="rect">
            <a:avLst/>
          </a:prstGeom>
          <a:noFill/>
        </p:spPr>
        <p:txBody>
          <a:bodyPr wrap="square" anchor="ctr">
            <a:spAutoFit/>
          </a:bodyPr>
          <a:lstStyle/>
          <a:p>
            <a:pPr algn="l">
              <a:spcAft>
                <a:spcPts val="400"/>
              </a:spcAft>
            </a:pPr>
            <a:r>
              <a:rPr sz="1000" b="0">
                <a:solidFill>
                  <a:srgbClr val="161B26"/>
                </a:solidFill>
                <a:latin typeface="Arial"/>
              </a:rPr>
              <a:t>What happens next</a:t>
            </a:r>
          </a:p>
        </p:txBody>
      </p:sp>
      <p:sp>
        <p:nvSpPr>
          <p:cNvPr id="61" name="Rectangle 60"/>
          <p:cNvSpPr/>
          <p:nvPr/>
        </p:nvSpPr>
        <p:spPr>
          <a:xfrm>
            <a:off x="8753093" y="5388426"/>
            <a:ext cx="2658618"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862821" y="5388426"/>
            <a:ext cx="2475738" cy="600891"/>
          </a:xfrm>
          <a:prstGeom prst="rect">
            <a:avLst/>
          </a:prstGeom>
          <a:noFill/>
        </p:spPr>
        <p:txBody>
          <a:bodyPr wrap="square" anchor="ctr">
            <a:spAutoFit/>
          </a:bodyPr>
          <a:lstStyle/>
          <a:p>
            <a:pPr algn="l">
              <a:spcAft>
                <a:spcPts val="400"/>
              </a:spcAft>
            </a:pPr>
            <a:r>
              <a:rPr sz="1000" b="0">
                <a:solidFill>
                  <a:srgbClr val="161B26"/>
                </a:solidFill>
                <a:latin typeface="Arial"/>
              </a:rPr>
              <a:t>Continuous action across a cut</a:t>
            </a:r>
          </a:p>
        </p:txBody>
      </p:sp>
      <p:sp>
        <p:nvSpPr>
          <p:cNvPr id="63" name="TextBox 62"/>
          <p:cNvSpPr txBox="1"/>
          <p:nvPr/>
        </p:nvSpPr>
        <p:spPr>
          <a:xfrm>
            <a:off x="777240" y="6053328"/>
            <a:ext cx="10698480" cy="457200"/>
          </a:xfrm>
          <a:prstGeom prst="rect">
            <a:avLst/>
          </a:prstGeom>
          <a:noFill/>
        </p:spPr>
        <p:txBody>
          <a:bodyPr wrap="square" anchor="t">
            <a:spAutoFit/>
          </a:bodyPr>
          <a:lstStyle/>
          <a:p>
            <a:pPr algn="ctr">
              <a:spcAft>
                <a:spcPts val="400"/>
              </a:spcAft>
            </a:pPr>
            <a:r>
              <a:rPr sz="1200" b="0">
                <a:solidFill>
                  <a:srgbClr val="5B6372"/>
                </a:solidFill>
                <a:latin typeface="Arial"/>
              </a:rPr>
              <a:t>The more the condition fixes, the less the model guesses — and the less it drifts.</a:t>
            </a:r>
          </a:p>
        </p:txBody>
      </p:sp>
      <p:sp>
        <p:nvSpPr>
          <p:cNvPr id="64" name="TextBox 6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65" name="TextBox 6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6" name="TextBox 6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fast">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500" b="1">
                <a:solidFill>
                  <a:srgbClr val="7C3AED"/>
                </a:solidFill>
                <a:latin typeface="Arial"/>
              </a:rPr>
              <a:t>THE REFERENCE-FIRST PRINCIPLE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400" b="1">
                <a:solidFill>
                  <a:srgbClr val="161B26"/>
                </a:solidFill>
                <a:latin typeface="Arial"/>
              </a:rPr>
              <a:t>Stop giving the model freedom.</a:t>
            </a:r>
          </a:p>
        </p:txBody>
      </p:sp>
      <p:sp>
        <p:nvSpPr>
          <p:cNvPr id="6" name="TextBox 5"/>
          <p:cNvSpPr txBox="1"/>
          <p:nvPr/>
        </p:nvSpPr>
        <p:spPr>
          <a:xfrm>
            <a:off x="1024128" y="4480560"/>
            <a:ext cx="10058400" cy="1280160"/>
          </a:xfrm>
          <a:prstGeom prst="rect">
            <a:avLst/>
          </a:prstGeom>
          <a:noFill/>
        </p:spPr>
        <p:txBody>
          <a:bodyPr wrap="square" anchor="t">
            <a:spAutoFit/>
          </a:bodyPr>
          <a:lstStyle/>
          <a:p>
            <a:pPr algn="l">
              <a:spcAft>
                <a:spcPts val="400"/>
              </a:spcAft>
            </a:pPr>
            <a:r>
              <a:rPr sz="1700" b="0">
                <a:solidFill>
                  <a:srgbClr val="5B6372"/>
                </a:solidFill>
                <a:latin typeface="Arial"/>
              </a:rPr>
              <a:t>Beginners take a story straight to a video model and reroll for hours. Build the character, location and prop references first: then the video model has nothing left to guess, and most of the work is done before the first clip.</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fast">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K1 · WORKFLOW DESIGN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Prompt-First versus Reference-First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783080"/>
            <a:ext cx="5212080"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965960"/>
            <a:ext cx="4754880" cy="365760"/>
          </a:xfrm>
          <a:prstGeom prst="rect">
            <a:avLst/>
          </a:prstGeom>
          <a:noFill/>
        </p:spPr>
        <p:txBody>
          <a:bodyPr wrap="square" anchor="t">
            <a:spAutoFit/>
          </a:bodyPr>
          <a:lstStyle/>
          <a:p>
            <a:pPr algn="l">
              <a:spcAft>
                <a:spcPts val="400"/>
              </a:spcAft>
            </a:pPr>
            <a:r>
              <a:rPr sz="1500" b="1">
                <a:solidFill>
                  <a:srgbClr val="DC2626"/>
                </a:solidFill>
                <a:latin typeface="Arial"/>
              </a:rPr>
              <a:t>Many rerolls</a:t>
            </a:r>
          </a:p>
        </p:txBody>
      </p:sp>
      <p:sp>
        <p:nvSpPr>
          <p:cNvPr id="12" name="TextBox 11"/>
          <p:cNvSpPr txBox="1"/>
          <p:nvPr/>
        </p:nvSpPr>
        <p:spPr>
          <a:xfrm>
            <a:off x="6583680" y="1965960"/>
            <a:ext cx="4572000" cy="365760"/>
          </a:xfrm>
          <a:prstGeom prst="rect">
            <a:avLst/>
          </a:prstGeom>
          <a:noFill/>
        </p:spPr>
        <p:txBody>
          <a:bodyPr wrap="square" anchor="t">
            <a:spAutoFit/>
          </a:bodyPr>
          <a:lstStyle/>
          <a:p>
            <a:pPr algn="l">
              <a:spcAft>
                <a:spcPts val="400"/>
              </a:spcAft>
            </a:pPr>
            <a:r>
              <a:rPr sz="1500" b="1">
                <a:solidFill>
                  <a:srgbClr val="10B981"/>
                </a:solidFill>
                <a:latin typeface="Arial"/>
              </a:rPr>
              <a:t>Few takes</a:t>
            </a:r>
          </a:p>
        </p:txBody>
      </p:sp>
      <p:sp>
        <p:nvSpPr>
          <p:cNvPr id="13" name="TextBox 12"/>
          <p:cNvSpPr txBox="1"/>
          <p:nvPr/>
        </p:nvSpPr>
        <p:spPr>
          <a:xfrm>
            <a:off x="1005840" y="2423160"/>
            <a:ext cx="4754880" cy="3520440"/>
          </a:xfrm>
          <a:prstGeom prst="rect">
            <a:avLst/>
          </a:prstGeom>
          <a:noFill/>
        </p:spPr>
        <p:txBody>
          <a:bodyPr wrap="square">
            <a:spAutoFit/>
          </a:bodyPr>
          <a:lstStyle/>
          <a:p>
            <a:pPr>
              <a:spcAft>
                <a:spcPts val="800"/>
              </a:spcAft>
            </a:pPr>
            <a:r>
              <a:rPr sz="1300" b="1">
                <a:solidFill>
                  <a:srgbClr val="161B26"/>
                </a:solidFill>
                <a:latin typeface="Arial"/>
              </a:rPr>
              <a:t>•  Prompt-first (what fails)</a:t>
            </a:r>
          </a:p>
          <a:p>
            <a:pPr>
              <a:spcAft>
                <a:spcPts val="800"/>
              </a:spcAft>
            </a:pPr>
            <a:r>
              <a:rPr sz="1100" b="0">
                <a:solidFill>
                  <a:srgbClr val="5B6372"/>
                </a:solidFill>
                <a:latin typeface="Arial"/>
              </a:rPr>
              <a:t>–  Story → one long prompt → video model.</a:t>
            </a:r>
          </a:p>
          <a:p>
            <a:pPr>
              <a:spcAft>
                <a:spcPts val="800"/>
              </a:spcAft>
            </a:pPr>
            <a:r>
              <a:rPr sz="1100" b="0">
                <a:solidFill>
                  <a:srgbClr val="5B6372"/>
                </a:solidFill>
                <a:latin typeface="Arial"/>
              </a:rPr>
              <a:t>–  The model invents the face, the coat, the pier.</a:t>
            </a:r>
          </a:p>
          <a:p>
            <a:pPr>
              <a:spcAft>
                <a:spcPts val="800"/>
              </a:spcAft>
            </a:pPr>
            <a:r>
              <a:rPr sz="1100" b="0">
                <a:solidFill>
                  <a:srgbClr val="5B6372"/>
                </a:solidFill>
                <a:latin typeface="Arial"/>
              </a:rPr>
              <a:t>–  Every clip reinvents them slightly differently.</a:t>
            </a:r>
          </a:p>
          <a:p>
            <a:pPr>
              <a:spcAft>
                <a:spcPts val="800"/>
              </a:spcAft>
            </a:pPr>
            <a:r>
              <a:rPr sz="1100" b="0">
                <a:solidFill>
                  <a:srgbClr val="5B6372"/>
                </a:solidFill>
                <a:latin typeface="Arial"/>
              </a:rPr>
              <a:t>–  Details in the prompt are forgotten.</a:t>
            </a:r>
          </a:p>
          <a:p>
            <a:pPr>
              <a:spcAft>
                <a:spcPts val="800"/>
              </a:spcAft>
            </a:pPr>
            <a:r>
              <a:rPr sz="1100" b="0">
                <a:solidFill>
                  <a:srgbClr val="5B6372"/>
                </a:solidFill>
                <a:latin typeface="Arial"/>
              </a:rPr>
              <a:t>–  Dozens of rerolls; credits burned; no film.</a:t>
            </a:r>
          </a:p>
        </p:txBody>
      </p:sp>
      <p:sp>
        <p:nvSpPr>
          <p:cNvPr id="14" name="TextBox 13"/>
          <p:cNvSpPr txBox="1"/>
          <p:nvPr/>
        </p:nvSpPr>
        <p:spPr>
          <a:xfrm>
            <a:off x="6583680" y="2423160"/>
            <a:ext cx="4617720" cy="3520440"/>
          </a:xfrm>
          <a:prstGeom prst="rect">
            <a:avLst/>
          </a:prstGeom>
          <a:noFill/>
        </p:spPr>
        <p:txBody>
          <a:bodyPr wrap="square">
            <a:spAutoFit/>
          </a:bodyPr>
          <a:lstStyle/>
          <a:p>
            <a:pPr>
              <a:spcAft>
                <a:spcPts val="800"/>
              </a:spcAft>
            </a:pPr>
            <a:r>
              <a:rPr sz="1300" b="1">
                <a:solidFill>
                  <a:srgbClr val="161B26"/>
                </a:solidFill>
                <a:latin typeface="Arial"/>
              </a:rPr>
              <a:t>•  Reference-first (what works)</a:t>
            </a:r>
          </a:p>
          <a:p>
            <a:pPr>
              <a:spcAft>
                <a:spcPts val="800"/>
              </a:spcAft>
            </a:pPr>
            <a:r>
              <a:rPr sz="1100" b="0">
                <a:solidFill>
                  <a:srgbClr val="5B6372"/>
                </a:solidFill>
                <a:latin typeface="Arial"/>
              </a:rPr>
              <a:t>–  Story → shot list → references → stills → video.</a:t>
            </a:r>
          </a:p>
          <a:p>
            <a:pPr>
              <a:spcAft>
                <a:spcPts val="800"/>
              </a:spcAft>
            </a:pPr>
            <a:r>
              <a:rPr sz="1100" b="0">
                <a:solidFill>
                  <a:srgbClr val="5B6372"/>
                </a:solidFill>
                <a:latin typeface="Arial"/>
              </a:rPr>
              <a:t>–  Character sheets, location plates, prop plates saved as named elements.</a:t>
            </a:r>
          </a:p>
          <a:p>
            <a:pPr>
              <a:spcAft>
                <a:spcPts val="800"/>
              </a:spcAft>
            </a:pPr>
            <a:r>
              <a:rPr sz="1100" b="0">
                <a:solidFill>
                  <a:srgbClr val="5B6372"/>
                </a:solidFill>
                <a:latin typeface="Arial"/>
              </a:rPr>
              <a:t>–  Stills staged and graded before animation.</a:t>
            </a:r>
          </a:p>
          <a:p>
            <a:pPr>
              <a:spcAft>
                <a:spcPts val="800"/>
              </a:spcAft>
            </a:pPr>
            <a:r>
              <a:rPr sz="1100" b="0">
                <a:solidFill>
                  <a:srgbClr val="5B6372"/>
                </a:solidFill>
                <a:latin typeface="Arial"/>
              </a:rPr>
              <a:t>–  Video model only adds motion.</a:t>
            </a:r>
          </a:p>
          <a:p>
            <a:pPr>
              <a:spcAft>
                <a:spcPts val="800"/>
              </a:spcAft>
            </a:pPr>
            <a:r>
              <a:rPr sz="1100" b="0">
                <a:solidFill>
                  <a:srgbClr val="5B6372"/>
                </a:solidFill>
                <a:latin typeface="Arial"/>
              </a:rPr>
              <a:t>–  Few takes per shot; clips cut together.</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fast">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0B981"/>
                </a:solidFill>
                <a:latin typeface="Arial"/>
              </a:rPr>
              <a:t>K1 · FROM IDEA TO FINISHED FILM</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The Production Workflow Used in Every Lab</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240280"/>
            <a:ext cx="1513332" cy="288036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40280"/>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68146" y="2606040"/>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68146" y="260604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1" name="TextBox 10"/>
          <p:cNvSpPr txBox="1"/>
          <p:nvPr/>
        </p:nvSpPr>
        <p:spPr>
          <a:xfrm>
            <a:off x="905256" y="3611880"/>
            <a:ext cx="1257300" cy="1399032"/>
          </a:xfrm>
          <a:prstGeom prst="rect">
            <a:avLst/>
          </a:prstGeom>
          <a:noFill/>
        </p:spPr>
        <p:txBody>
          <a:bodyPr wrap="square" anchor="t">
            <a:spAutoFit/>
          </a:bodyPr>
          <a:lstStyle/>
          <a:p>
            <a:pPr algn="ctr">
              <a:spcAft>
                <a:spcPts val="400"/>
              </a:spcAft>
            </a:pPr>
            <a:r>
              <a:rPr sz="1250" b="0">
                <a:solidFill>
                  <a:srgbClr val="161B26"/>
                </a:solidFill>
                <a:latin typeface="Arial"/>
              </a:rPr>
              <a:t>Story and shot list — an LLM plans beats, cast, dialogue</a:t>
            </a:r>
          </a:p>
        </p:txBody>
      </p:sp>
      <p:cxnSp>
        <p:nvCxnSpPr>
          <p:cNvPr id="12" name="Connector 11"/>
          <p:cNvCxnSpPr/>
          <p:nvPr/>
        </p:nvCxnSpPr>
        <p:spPr>
          <a:xfrm>
            <a:off x="2327148" y="3680460"/>
            <a:ext cx="237744" cy="0"/>
          </a:xfrm>
          <a:prstGeom prst="line">
            <a:avLst/>
          </a:prstGeom>
          <a:ln w="22225">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601468" y="2240280"/>
            <a:ext cx="1513332" cy="288036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1468" y="2240280"/>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92374" y="2606040"/>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92374" y="260604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7" name="TextBox 16"/>
          <p:cNvSpPr txBox="1"/>
          <p:nvPr/>
        </p:nvSpPr>
        <p:spPr>
          <a:xfrm>
            <a:off x="2729484" y="3611880"/>
            <a:ext cx="1257300" cy="1399032"/>
          </a:xfrm>
          <a:prstGeom prst="rect">
            <a:avLst/>
          </a:prstGeom>
          <a:noFill/>
        </p:spPr>
        <p:txBody>
          <a:bodyPr wrap="square" anchor="t">
            <a:spAutoFit/>
          </a:bodyPr>
          <a:lstStyle/>
          <a:p>
            <a:pPr algn="ctr">
              <a:spcAft>
                <a:spcPts val="400"/>
              </a:spcAft>
            </a:pPr>
            <a:r>
              <a:rPr sz="1250" b="0">
                <a:solidFill>
                  <a:srgbClr val="161B26"/>
                </a:solidFill>
                <a:latin typeface="Arial"/>
              </a:rPr>
              <a:t>References — character sheets, location plates, prop plates</a:t>
            </a:r>
          </a:p>
        </p:txBody>
      </p:sp>
      <p:cxnSp>
        <p:nvCxnSpPr>
          <p:cNvPr id="18" name="Connector 17"/>
          <p:cNvCxnSpPr/>
          <p:nvPr/>
        </p:nvCxnSpPr>
        <p:spPr>
          <a:xfrm>
            <a:off x="4151376" y="3680460"/>
            <a:ext cx="237744" cy="0"/>
          </a:xfrm>
          <a:prstGeom prst="line">
            <a:avLst/>
          </a:prstGeom>
          <a:ln w="22225">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425696" y="2240280"/>
            <a:ext cx="1513332" cy="288036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2240280"/>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16602" y="2606040"/>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16602" y="260604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3" name="TextBox 22"/>
          <p:cNvSpPr txBox="1"/>
          <p:nvPr/>
        </p:nvSpPr>
        <p:spPr>
          <a:xfrm>
            <a:off x="4553712" y="3611880"/>
            <a:ext cx="1257300" cy="1399032"/>
          </a:xfrm>
          <a:prstGeom prst="rect">
            <a:avLst/>
          </a:prstGeom>
          <a:noFill/>
        </p:spPr>
        <p:txBody>
          <a:bodyPr wrap="square" anchor="t">
            <a:spAutoFit/>
          </a:bodyPr>
          <a:lstStyle/>
          <a:p>
            <a:pPr algn="ctr">
              <a:spcAft>
                <a:spcPts val="400"/>
              </a:spcAft>
            </a:pPr>
            <a:r>
              <a:rPr sz="1250" b="0">
                <a:solidFill>
                  <a:srgbClr val="161B26"/>
                </a:solidFill>
                <a:latin typeface="Arial"/>
              </a:rPr>
              <a:t>Stills — staged, graded keyframes per shot</a:t>
            </a:r>
          </a:p>
        </p:txBody>
      </p:sp>
      <p:cxnSp>
        <p:nvCxnSpPr>
          <p:cNvPr id="24" name="Connector 23"/>
          <p:cNvCxnSpPr/>
          <p:nvPr/>
        </p:nvCxnSpPr>
        <p:spPr>
          <a:xfrm>
            <a:off x="5975604" y="3680460"/>
            <a:ext cx="237744" cy="0"/>
          </a:xfrm>
          <a:prstGeom prst="line">
            <a:avLst/>
          </a:prstGeom>
          <a:ln w="22225">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249924" y="2240280"/>
            <a:ext cx="1513332" cy="288036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9924" y="2240280"/>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40830" y="2606040"/>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40830" y="260604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9" name="TextBox 28"/>
          <p:cNvSpPr txBox="1"/>
          <p:nvPr/>
        </p:nvSpPr>
        <p:spPr>
          <a:xfrm>
            <a:off x="6377940" y="3611880"/>
            <a:ext cx="1257300" cy="1399032"/>
          </a:xfrm>
          <a:prstGeom prst="rect">
            <a:avLst/>
          </a:prstGeom>
          <a:noFill/>
        </p:spPr>
        <p:txBody>
          <a:bodyPr wrap="square" anchor="t">
            <a:spAutoFit/>
          </a:bodyPr>
          <a:lstStyle/>
          <a:p>
            <a:pPr algn="ctr">
              <a:spcAft>
                <a:spcPts val="400"/>
              </a:spcAft>
            </a:pPr>
            <a:r>
              <a:rPr sz="1250" b="0">
                <a:solidFill>
                  <a:srgbClr val="161B26"/>
                </a:solidFill>
                <a:latin typeface="Arial"/>
              </a:rPr>
              <a:t>Animate — image-to-video with start/end frames</a:t>
            </a:r>
          </a:p>
        </p:txBody>
      </p:sp>
      <p:cxnSp>
        <p:nvCxnSpPr>
          <p:cNvPr id="30" name="Connector 29"/>
          <p:cNvCxnSpPr/>
          <p:nvPr/>
        </p:nvCxnSpPr>
        <p:spPr>
          <a:xfrm>
            <a:off x="7799832" y="3680460"/>
            <a:ext cx="237744" cy="0"/>
          </a:xfrm>
          <a:prstGeom prst="line">
            <a:avLst/>
          </a:prstGeom>
          <a:ln w="22225">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8074152" y="2240280"/>
            <a:ext cx="1513332" cy="288036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240280"/>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65058" y="2606040"/>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65058" y="260604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5" name="TextBox 34"/>
          <p:cNvSpPr txBox="1"/>
          <p:nvPr/>
        </p:nvSpPr>
        <p:spPr>
          <a:xfrm>
            <a:off x="8202168" y="3611880"/>
            <a:ext cx="1257300" cy="1399032"/>
          </a:xfrm>
          <a:prstGeom prst="rect">
            <a:avLst/>
          </a:prstGeom>
          <a:noFill/>
        </p:spPr>
        <p:txBody>
          <a:bodyPr wrap="square" anchor="t">
            <a:spAutoFit/>
          </a:bodyPr>
          <a:lstStyle/>
          <a:p>
            <a:pPr algn="ctr">
              <a:spcAft>
                <a:spcPts val="400"/>
              </a:spcAft>
            </a:pPr>
            <a:r>
              <a:rPr sz="1250" b="0">
                <a:solidFill>
                  <a:srgbClr val="161B26"/>
                </a:solidFill>
                <a:latin typeface="Arial"/>
              </a:rPr>
              <a:t>Sound — voiceover first, music, effects</a:t>
            </a:r>
          </a:p>
        </p:txBody>
      </p:sp>
      <p:cxnSp>
        <p:nvCxnSpPr>
          <p:cNvPr id="36" name="Connector 35"/>
          <p:cNvCxnSpPr/>
          <p:nvPr/>
        </p:nvCxnSpPr>
        <p:spPr>
          <a:xfrm>
            <a:off x="9624060" y="3680460"/>
            <a:ext cx="237744" cy="0"/>
          </a:xfrm>
          <a:prstGeom prst="line">
            <a:avLst/>
          </a:prstGeom>
          <a:ln w="22225">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9898380" y="2240280"/>
            <a:ext cx="1513332" cy="288036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8380" y="2240280"/>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89286" y="2606040"/>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89286" y="260604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41" name="TextBox 40"/>
          <p:cNvSpPr txBox="1"/>
          <p:nvPr/>
        </p:nvSpPr>
        <p:spPr>
          <a:xfrm>
            <a:off x="10026396" y="3611880"/>
            <a:ext cx="1257300" cy="1399032"/>
          </a:xfrm>
          <a:prstGeom prst="rect">
            <a:avLst/>
          </a:prstGeom>
          <a:noFill/>
        </p:spPr>
        <p:txBody>
          <a:bodyPr wrap="square" anchor="t">
            <a:spAutoFit/>
          </a:bodyPr>
          <a:lstStyle/>
          <a:p>
            <a:pPr algn="ctr">
              <a:spcAft>
                <a:spcPts val="400"/>
              </a:spcAft>
            </a:pPr>
            <a:r>
              <a:rPr sz="1250" b="0">
                <a:solidFill>
                  <a:srgbClr val="161B26"/>
                </a:solidFill>
                <a:latin typeface="Arial"/>
              </a:rPr>
              <a:t>Edit and export — captions, formats, checks</a:t>
            </a:r>
          </a:p>
        </p:txBody>
      </p:sp>
      <p:sp>
        <p:nvSpPr>
          <p:cNvPr id="42" name="TextBox 41"/>
          <p:cNvSpPr txBox="1"/>
          <p:nvPr/>
        </p:nvSpPr>
        <p:spPr>
          <a:xfrm>
            <a:off x="777240" y="5394960"/>
            <a:ext cx="10698480" cy="731520"/>
          </a:xfrm>
          <a:prstGeom prst="rect">
            <a:avLst/>
          </a:prstGeom>
          <a:noFill/>
        </p:spPr>
        <p:txBody>
          <a:bodyPr wrap="square" anchor="t">
            <a:spAutoFit/>
          </a:bodyPr>
          <a:lstStyle/>
          <a:p>
            <a:pPr algn="ctr">
              <a:spcAft>
                <a:spcPts val="400"/>
              </a:spcAft>
            </a:pPr>
            <a:r>
              <a:rPr sz="1300" b="0">
                <a:solidFill>
                  <a:srgbClr val="5B6372"/>
                </a:solidFill>
                <a:latin typeface="Arial"/>
              </a:rPr>
              <a:t>Each arrow is a checkpoint. Nothing moves right until the measurements on the left have passed.</a:t>
            </a:r>
          </a:p>
        </p:txBody>
      </p:sp>
      <p:sp>
        <p:nvSpPr>
          <p:cNvPr id="43" name="TextBox 4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44" name="TextBox 4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5" name="TextBox 4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fast">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K2 · BUSINESS APPLICATIONS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Business Applications of AI Short Film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552273" cy="5257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2369393" cy="525780"/>
          </a:xfrm>
          <a:prstGeom prst="rect">
            <a:avLst/>
          </a:prstGeom>
          <a:noFill/>
        </p:spPr>
        <p:txBody>
          <a:bodyPr wrap="square" anchor="ctr">
            <a:spAutoFit/>
          </a:bodyPr>
          <a:lstStyle/>
          <a:p>
            <a:pPr algn="l">
              <a:spcAft>
                <a:spcPts val="400"/>
              </a:spcAft>
            </a:pPr>
            <a:r>
              <a:rPr sz="1100" b="1">
                <a:solidFill>
                  <a:srgbClr val="FFFFFF"/>
                </a:solidFill>
                <a:latin typeface="Arial"/>
              </a:rPr>
              <a:t>Application</a:t>
            </a:r>
          </a:p>
        </p:txBody>
      </p:sp>
      <p:sp>
        <p:nvSpPr>
          <p:cNvPr id="9" name="Rectangle 8"/>
          <p:cNvSpPr/>
          <p:nvPr/>
        </p:nvSpPr>
        <p:spPr>
          <a:xfrm>
            <a:off x="3329513" y="1783080"/>
            <a:ext cx="4679167" cy="5257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39241" y="1783080"/>
            <a:ext cx="4496287" cy="525780"/>
          </a:xfrm>
          <a:prstGeom prst="rect">
            <a:avLst/>
          </a:prstGeom>
          <a:noFill/>
        </p:spPr>
        <p:txBody>
          <a:bodyPr wrap="square" anchor="ctr">
            <a:spAutoFit/>
          </a:bodyPr>
          <a:lstStyle/>
          <a:p>
            <a:pPr algn="l">
              <a:spcAft>
                <a:spcPts val="400"/>
              </a:spcAft>
            </a:pPr>
            <a:r>
              <a:rPr sz="1100" b="1">
                <a:solidFill>
                  <a:srgbClr val="FFFFFF"/>
                </a:solidFill>
                <a:latin typeface="Arial"/>
              </a:rPr>
              <a:t>What AI changes</a:t>
            </a:r>
          </a:p>
        </p:txBody>
      </p:sp>
      <p:sp>
        <p:nvSpPr>
          <p:cNvPr id="11" name="Rectangle 10"/>
          <p:cNvSpPr/>
          <p:nvPr/>
        </p:nvSpPr>
        <p:spPr>
          <a:xfrm>
            <a:off x="8008680" y="1783080"/>
            <a:ext cx="3403031" cy="5257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18408" y="1783080"/>
            <a:ext cx="3220151" cy="525780"/>
          </a:xfrm>
          <a:prstGeom prst="rect">
            <a:avLst/>
          </a:prstGeom>
          <a:noFill/>
        </p:spPr>
        <p:txBody>
          <a:bodyPr wrap="square" anchor="ctr">
            <a:spAutoFit/>
          </a:bodyPr>
          <a:lstStyle/>
          <a:p>
            <a:pPr algn="l">
              <a:spcAft>
                <a:spcPts val="400"/>
              </a:spcAft>
            </a:pPr>
            <a:r>
              <a:rPr sz="1100" b="1">
                <a:solidFill>
                  <a:srgbClr val="FFFFFF"/>
                </a:solidFill>
                <a:latin typeface="Arial"/>
              </a:rPr>
              <a:t>Watch-out</a:t>
            </a:r>
          </a:p>
        </p:txBody>
      </p:sp>
      <p:sp>
        <p:nvSpPr>
          <p:cNvPr id="13" name="Rectangle 12"/>
          <p:cNvSpPr/>
          <p:nvPr/>
        </p:nvSpPr>
        <p:spPr>
          <a:xfrm>
            <a:off x="777240" y="2308860"/>
            <a:ext cx="2552273"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 y="2308860"/>
            <a:ext cx="2369393" cy="525780"/>
          </a:xfrm>
          <a:prstGeom prst="rect">
            <a:avLst/>
          </a:prstGeom>
          <a:noFill/>
        </p:spPr>
        <p:txBody>
          <a:bodyPr wrap="square" anchor="ctr">
            <a:spAutoFit/>
          </a:bodyPr>
          <a:lstStyle/>
          <a:p>
            <a:pPr algn="l">
              <a:spcAft>
                <a:spcPts val="400"/>
              </a:spcAft>
            </a:pPr>
            <a:r>
              <a:rPr sz="1000" b="1">
                <a:solidFill>
                  <a:srgbClr val="161B26"/>
                </a:solidFill>
                <a:latin typeface="Arial"/>
              </a:rPr>
              <a:t>Brand short film</a:t>
            </a:r>
          </a:p>
        </p:txBody>
      </p:sp>
      <p:sp>
        <p:nvSpPr>
          <p:cNvPr id="15" name="Rectangle 14"/>
          <p:cNvSpPr/>
          <p:nvPr/>
        </p:nvSpPr>
        <p:spPr>
          <a:xfrm>
            <a:off x="3329513" y="2308860"/>
            <a:ext cx="4679167"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39241" y="2308860"/>
            <a:ext cx="4496287" cy="525780"/>
          </a:xfrm>
          <a:prstGeom prst="rect">
            <a:avLst/>
          </a:prstGeom>
          <a:noFill/>
        </p:spPr>
        <p:txBody>
          <a:bodyPr wrap="square" anchor="ctr">
            <a:spAutoFit/>
          </a:bodyPr>
          <a:lstStyle/>
          <a:p>
            <a:pPr algn="l">
              <a:spcAft>
                <a:spcPts val="400"/>
              </a:spcAft>
            </a:pPr>
            <a:r>
              <a:rPr sz="1000" b="0">
                <a:solidFill>
                  <a:srgbClr val="161B26"/>
                </a:solidFill>
                <a:latin typeface="Arial"/>
              </a:rPr>
              <a:t>Hero film + cut-downs without a location shoot</a:t>
            </a:r>
          </a:p>
        </p:txBody>
      </p:sp>
      <p:sp>
        <p:nvSpPr>
          <p:cNvPr id="17" name="Rectangle 16"/>
          <p:cNvSpPr/>
          <p:nvPr/>
        </p:nvSpPr>
        <p:spPr>
          <a:xfrm>
            <a:off x="8008680" y="2308860"/>
            <a:ext cx="3403031"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18408" y="2308860"/>
            <a:ext cx="3220151" cy="525780"/>
          </a:xfrm>
          <a:prstGeom prst="rect">
            <a:avLst/>
          </a:prstGeom>
          <a:noFill/>
        </p:spPr>
        <p:txBody>
          <a:bodyPr wrap="square" anchor="ctr">
            <a:spAutoFit/>
          </a:bodyPr>
          <a:lstStyle/>
          <a:p>
            <a:pPr algn="l">
              <a:spcAft>
                <a:spcPts val="400"/>
              </a:spcAft>
            </a:pPr>
            <a:r>
              <a:rPr sz="1000" b="0">
                <a:solidFill>
                  <a:srgbClr val="161B26"/>
                </a:solidFill>
                <a:latin typeface="Arial"/>
              </a:rPr>
              <a:t>Needs brand-hero quality and review</a:t>
            </a:r>
          </a:p>
        </p:txBody>
      </p:sp>
      <p:sp>
        <p:nvSpPr>
          <p:cNvPr id="19" name="Rectangle 18"/>
          <p:cNvSpPr/>
          <p:nvPr/>
        </p:nvSpPr>
        <p:spPr>
          <a:xfrm>
            <a:off x="777240" y="2834640"/>
            <a:ext cx="2552273" cy="5257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2834640"/>
            <a:ext cx="2369393" cy="525780"/>
          </a:xfrm>
          <a:prstGeom prst="rect">
            <a:avLst/>
          </a:prstGeom>
          <a:noFill/>
        </p:spPr>
        <p:txBody>
          <a:bodyPr wrap="square" anchor="ctr">
            <a:spAutoFit/>
          </a:bodyPr>
          <a:lstStyle/>
          <a:p>
            <a:pPr algn="l">
              <a:spcAft>
                <a:spcPts val="400"/>
              </a:spcAft>
            </a:pPr>
            <a:r>
              <a:rPr sz="1000" b="1">
                <a:solidFill>
                  <a:srgbClr val="161B26"/>
                </a:solidFill>
                <a:latin typeface="Arial"/>
              </a:rPr>
              <a:t>Product teaser / ad</a:t>
            </a:r>
          </a:p>
        </p:txBody>
      </p:sp>
      <p:sp>
        <p:nvSpPr>
          <p:cNvPr id="21" name="Rectangle 20"/>
          <p:cNvSpPr/>
          <p:nvPr/>
        </p:nvSpPr>
        <p:spPr>
          <a:xfrm>
            <a:off x="3329513" y="2834640"/>
            <a:ext cx="4679167" cy="5257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39241" y="2834640"/>
            <a:ext cx="4496287" cy="525780"/>
          </a:xfrm>
          <a:prstGeom prst="rect">
            <a:avLst/>
          </a:prstGeom>
          <a:noFill/>
        </p:spPr>
        <p:txBody>
          <a:bodyPr wrap="square" anchor="ctr">
            <a:spAutoFit/>
          </a:bodyPr>
          <a:lstStyle/>
          <a:p>
            <a:pPr algn="l">
              <a:spcAft>
                <a:spcPts val="400"/>
              </a:spcAft>
            </a:pPr>
            <a:r>
              <a:rPr sz="1000" b="0">
                <a:solidFill>
                  <a:srgbClr val="161B26"/>
                </a:solidFill>
                <a:latin typeface="Arial"/>
              </a:rPr>
              <a:t>Many variants of one concept for testing</a:t>
            </a:r>
          </a:p>
        </p:txBody>
      </p:sp>
      <p:sp>
        <p:nvSpPr>
          <p:cNvPr id="23" name="Rectangle 22"/>
          <p:cNvSpPr/>
          <p:nvPr/>
        </p:nvSpPr>
        <p:spPr>
          <a:xfrm>
            <a:off x="8008680" y="2834640"/>
            <a:ext cx="3403031" cy="5257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18408" y="2834640"/>
            <a:ext cx="3220151" cy="525780"/>
          </a:xfrm>
          <a:prstGeom prst="rect">
            <a:avLst/>
          </a:prstGeom>
          <a:noFill/>
        </p:spPr>
        <p:txBody>
          <a:bodyPr wrap="square" anchor="ctr">
            <a:spAutoFit/>
          </a:bodyPr>
          <a:lstStyle/>
          <a:p>
            <a:pPr algn="l">
              <a:spcAft>
                <a:spcPts val="400"/>
              </a:spcAft>
            </a:pPr>
            <a:r>
              <a:rPr sz="1000" b="0">
                <a:solidFill>
                  <a:srgbClr val="161B26"/>
                </a:solidFill>
                <a:latin typeface="Arial"/>
              </a:rPr>
              <a:t>Claims and brand safety</a:t>
            </a:r>
          </a:p>
        </p:txBody>
      </p:sp>
      <p:sp>
        <p:nvSpPr>
          <p:cNvPr id="25" name="Rectangle 24"/>
          <p:cNvSpPr/>
          <p:nvPr/>
        </p:nvSpPr>
        <p:spPr>
          <a:xfrm>
            <a:off x="777240" y="3360420"/>
            <a:ext cx="2552273"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6968" y="3360420"/>
            <a:ext cx="2369393" cy="525780"/>
          </a:xfrm>
          <a:prstGeom prst="rect">
            <a:avLst/>
          </a:prstGeom>
          <a:noFill/>
        </p:spPr>
        <p:txBody>
          <a:bodyPr wrap="square" anchor="ctr">
            <a:spAutoFit/>
          </a:bodyPr>
          <a:lstStyle/>
          <a:p>
            <a:pPr algn="l">
              <a:spcAft>
                <a:spcPts val="400"/>
              </a:spcAft>
            </a:pPr>
            <a:r>
              <a:rPr sz="1000" b="1">
                <a:solidFill>
                  <a:srgbClr val="161B26"/>
                </a:solidFill>
                <a:latin typeface="Arial"/>
              </a:rPr>
              <a:t>Social series</a:t>
            </a:r>
          </a:p>
        </p:txBody>
      </p:sp>
      <p:sp>
        <p:nvSpPr>
          <p:cNvPr id="27" name="Rectangle 26"/>
          <p:cNvSpPr/>
          <p:nvPr/>
        </p:nvSpPr>
        <p:spPr>
          <a:xfrm>
            <a:off x="3329513" y="3360420"/>
            <a:ext cx="4679167"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439241" y="3360420"/>
            <a:ext cx="4496287" cy="525780"/>
          </a:xfrm>
          <a:prstGeom prst="rect">
            <a:avLst/>
          </a:prstGeom>
          <a:noFill/>
        </p:spPr>
        <p:txBody>
          <a:bodyPr wrap="square" anchor="ctr">
            <a:spAutoFit/>
          </a:bodyPr>
          <a:lstStyle/>
          <a:p>
            <a:pPr algn="l">
              <a:spcAft>
                <a:spcPts val="400"/>
              </a:spcAft>
            </a:pPr>
            <a:r>
              <a:rPr sz="1000" b="0">
                <a:solidFill>
                  <a:srgbClr val="161B26"/>
                </a:solidFill>
                <a:latin typeface="Arial"/>
              </a:rPr>
              <a:t>Same fictional hosts, weekly, fast</a:t>
            </a:r>
          </a:p>
        </p:txBody>
      </p:sp>
      <p:sp>
        <p:nvSpPr>
          <p:cNvPr id="29" name="Rectangle 28"/>
          <p:cNvSpPr/>
          <p:nvPr/>
        </p:nvSpPr>
        <p:spPr>
          <a:xfrm>
            <a:off x="8008680" y="3360420"/>
            <a:ext cx="3403031"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18408" y="3360420"/>
            <a:ext cx="3220151" cy="525780"/>
          </a:xfrm>
          <a:prstGeom prst="rect">
            <a:avLst/>
          </a:prstGeom>
          <a:noFill/>
        </p:spPr>
        <p:txBody>
          <a:bodyPr wrap="square" anchor="ctr">
            <a:spAutoFit/>
          </a:bodyPr>
          <a:lstStyle/>
          <a:p>
            <a:pPr algn="l">
              <a:spcAft>
                <a:spcPts val="400"/>
              </a:spcAft>
            </a:pPr>
            <a:r>
              <a:rPr sz="1000" b="0">
                <a:solidFill>
                  <a:srgbClr val="161B26"/>
                </a:solidFill>
                <a:latin typeface="Arial"/>
              </a:rPr>
              <a:t>Consistency across episodes</a:t>
            </a:r>
          </a:p>
        </p:txBody>
      </p:sp>
      <p:sp>
        <p:nvSpPr>
          <p:cNvPr id="31" name="Rectangle 30"/>
          <p:cNvSpPr/>
          <p:nvPr/>
        </p:nvSpPr>
        <p:spPr>
          <a:xfrm>
            <a:off x="777240" y="3886200"/>
            <a:ext cx="2552273" cy="5257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3886200"/>
            <a:ext cx="2369393" cy="525780"/>
          </a:xfrm>
          <a:prstGeom prst="rect">
            <a:avLst/>
          </a:prstGeom>
          <a:noFill/>
        </p:spPr>
        <p:txBody>
          <a:bodyPr wrap="square" anchor="ctr">
            <a:spAutoFit/>
          </a:bodyPr>
          <a:lstStyle/>
          <a:p>
            <a:pPr algn="l">
              <a:spcAft>
                <a:spcPts val="400"/>
              </a:spcAft>
            </a:pPr>
            <a:r>
              <a:rPr sz="1000" b="1">
                <a:solidFill>
                  <a:srgbClr val="161B26"/>
                </a:solidFill>
                <a:latin typeface="Arial"/>
              </a:rPr>
              <a:t>Training micro-drama</a:t>
            </a:r>
          </a:p>
        </p:txBody>
      </p:sp>
      <p:sp>
        <p:nvSpPr>
          <p:cNvPr id="33" name="Rectangle 32"/>
          <p:cNvSpPr/>
          <p:nvPr/>
        </p:nvSpPr>
        <p:spPr>
          <a:xfrm>
            <a:off x="3329513" y="3886200"/>
            <a:ext cx="4679167" cy="5257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439241" y="3886200"/>
            <a:ext cx="4496287" cy="525780"/>
          </a:xfrm>
          <a:prstGeom prst="rect">
            <a:avLst/>
          </a:prstGeom>
          <a:noFill/>
        </p:spPr>
        <p:txBody>
          <a:bodyPr wrap="square" anchor="ctr">
            <a:spAutoFit/>
          </a:bodyPr>
          <a:lstStyle/>
          <a:p>
            <a:pPr algn="l">
              <a:spcAft>
                <a:spcPts val="400"/>
              </a:spcAft>
            </a:pPr>
            <a:r>
              <a:rPr sz="1000" b="0">
                <a:solidFill>
                  <a:srgbClr val="161B26"/>
                </a:solidFill>
                <a:latin typeface="Arial"/>
              </a:rPr>
              <a:t>Scenarios in many languages</a:t>
            </a:r>
          </a:p>
        </p:txBody>
      </p:sp>
      <p:sp>
        <p:nvSpPr>
          <p:cNvPr id="35" name="Rectangle 34"/>
          <p:cNvSpPr/>
          <p:nvPr/>
        </p:nvSpPr>
        <p:spPr>
          <a:xfrm>
            <a:off x="8008680" y="3886200"/>
            <a:ext cx="3403031" cy="5257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118408" y="3886200"/>
            <a:ext cx="3220151" cy="525780"/>
          </a:xfrm>
          <a:prstGeom prst="rect">
            <a:avLst/>
          </a:prstGeom>
          <a:noFill/>
        </p:spPr>
        <p:txBody>
          <a:bodyPr wrap="square" anchor="ctr">
            <a:spAutoFit/>
          </a:bodyPr>
          <a:lstStyle/>
          <a:p>
            <a:pPr algn="l">
              <a:spcAft>
                <a:spcPts val="400"/>
              </a:spcAft>
            </a:pPr>
            <a:r>
              <a:rPr sz="1000" b="0">
                <a:solidFill>
                  <a:srgbClr val="161B26"/>
                </a:solidFill>
                <a:latin typeface="Arial"/>
              </a:rPr>
              <a:t>Accuracy and regulator sign-off</a:t>
            </a:r>
          </a:p>
        </p:txBody>
      </p:sp>
      <p:sp>
        <p:nvSpPr>
          <p:cNvPr id="37" name="Rectangle 36"/>
          <p:cNvSpPr/>
          <p:nvPr/>
        </p:nvSpPr>
        <p:spPr>
          <a:xfrm>
            <a:off x="777240" y="4411980"/>
            <a:ext cx="2552273"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86968" y="4411980"/>
            <a:ext cx="2369393" cy="525780"/>
          </a:xfrm>
          <a:prstGeom prst="rect">
            <a:avLst/>
          </a:prstGeom>
          <a:noFill/>
        </p:spPr>
        <p:txBody>
          <a:bodyPr wrap="square" anchor="ctr">
            <a:spAutoFit/>
          </a:bodyPr>
          <a:lstStyle/>
          <a:p>
            <a:pPr algn="l">
              <a:spcAft>
                <a:spcPts val="400"/>
              </a:spcAft>
            </a:pPr>
            <a:r>
              <a:rPr sz="1000" b="1">
                <a:solidFill>
                  <a:srgbClr val="161B26"/>
                </a:solidFill>
                <a:latin typeface="Arial"/>
              </a:rPr>
              <a:t>Previsualisation</a:t>
            </a:r>
          </a:p>
        </p:txBody>
      </p:sp>
      <p:sp>
        <p:nvSpPr>
          <p:cNvPr id="39" name="Rectangle 38"/>
          <p:cNvSpPr/>
          <p:nvPr/>
        </p:nvSpPr>
        <p:spPr>
          <a:xfrm>
            <a:off x="3329513" y="4411980"/>
            <a:ext cx="4679167"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439241" y="4411980"/>
            <a:ext cx="4496287" cy="525780"/>
          </a:xfrm>
          <a:prstGeom prst="rect">
            <a:avLst/>
          </a:prstGeom>
          <a:noFill/>
        </p:spPr>
        <p:txBody>
          <a:bodyPr wrap="square" anchor="ctr">
            <a:spAutoFit/>
          </a:bodyPr>
          <a:lstStyle/>
          <a:p>
            <a:pPr algn="l">
              <a:spcAft>
                <a:spcPts val="400"/>
              </a:spcAft>
            </a:pPr>
            <a:r>
              <a:rPr sz="1000" b="0">
                <a:solidFill>
                  <a:srgbClr val="161B26"/>
                </a:solidFill>
                <a:latin typeface="Arial"/>
              </a:rPr>
              <a:t>Animated storyboards before a live shoot</a:t>
            </a:r>
          </a:p>
        </p:txBody>
      </p:sp>
      <p:sp>
        <p:nvSpPr>
          <p:cNvPr id="41" name="Rectangle 40"/>
          <p:cNvSpPr/>
          <p:nvPr/>
        </p:nvSpPr>
        <p:spPr>
          <a:xfrm>
            <a:off x="8008680" y="4411980"/>
            <a:ext cx="3403031"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118408" y="4411980"/>
            <a:ext cx="3220151" cy="525780"/>
          </a:xfrm>
          <a:prstGeom prst="rect">
            <a:avLst/>
          </a:prstGeom>
          <a:noFill/>
        </p:spPr>
        <p:txBody>
          <a:bodyPr wrap="square" anchor="ctr">
            <a:spAutoFit/>
          </a:bodyPr>
          <a:lstStyle/>
          <a:p>
            <a:pPr algn="l">
              <a:spcAft>
                <a:spcPts val="400"/>
              </a:spcAft>
            </a:pPr>
            <a:r>
              <a:rPr sz="1000" b="0">
                <a:solidFill>
                  <a:srgbClr val="161B26"/>
                </a:solidFill>
                <a:latin typeface="Arial"/>
              </a:rPr>
              <a:t>It is a plan, not the film</a:t>
            </a:r>
          </a:p>
        </p:txBody>
      </p:sp>
      <p:sp>
        <p:nvSpPr>
          <p:cNvPr id="43" name="Rectangle 42"/>
          <p:cNvSpPr/>
          <p:nvPr/>
        </p:nvSpPr>
        <p:spPr>
          <a:xfrm>
            <a:off x="777240" y="4937760"/>
            <a:ext cx="2552273" cy="5257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86968" y="4937760"/>
            <a:ext cx="2369393" cy="525780"/>
          </a:xfrm>
          <a:prstGeom prst="rect">
            <a:avLst/>
          </a:prstGeom>
          <a:noFill/>
        </p:spPr>
        <p:txBody>
          <a:bodyPr wrap="square" anchor="ctr">
            <a:spAutoFit/>
          </a:bodyPr>
          <a:lstStyle/>
          <a:p>
            <a:pPr algn="l">
              <a:spcAft>
                <a:spcPts val="400"/>
              </a:spcAft>
            </a:pPr>
            <a:r>
              <a:rPr sz="1000" b="1">
                <a:solidFill>
                  <a:srgbClr val="161B26"/>
                </a:solidFill>
                <a:latin typeface="Arial"/>
              </a:rPr>
              <a:t>Event recap / explainer</a:t>
            </a:r>
          </a:p>
        </p:txBody>
      </p:sp>
      <p:sp>
        <p:nvSpPr>
          <p:cNvPr id="45" name="Rectangle 44"/>
          <p:cNvSpPr/>
          <p:nvPr/>
        </p:nvSpPr>
        <p:spPr>
          <a:xfrm>
            <a:off x="3329513" y="4937760"/>
            <a:ext cx="4679167" cy="5257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439241" y="4937760"/>
            <a:ext cx="4496287" cy="525780"/>
          </a:xfrm>
          <a:prstGeom prst="rect">
            <a:avLst/>
          </a:prstGeom>
          <a:noFill/>
        </p:spPr>
        <p:txBody>
          <a:bodyPr wrap="square" anchor="ctr">
            <a:spAutoFit/>
          </a:bodyPr>
          <a:lstStyle/>
          <a:p>
            <a:pPr algn="l">
              <a:spcAft>
                <a:spcPts val="400"/>
              </a:spcAft>
            </a:pPr>
            <a:r>
              <a:rPr sz="1000" b="0">
                <a:solidFill>
                  <a:srgbClr val="161B26"/>
                </a:solidFill>
                <a:latin typeface="Arial"/>
              </a:rPr>
              <a:t>Stylised re-enactment and motion graphics</a:t>
            </a:r>
          </a:p>
        </p:txBody>
      </p:sp>
      <p:sp>
        <p:nvSpPr>
          <p:cNvPr id="47" name="Rectangle 46"/>
          <p:cNvSpPr/>
          <p:nvPr/>
        </p:nvSpPr>
        <p:spPr>
          <a:xfrm>
            <a:off x="8008680" y="4937760"/>
            <a:ext cx="3403031" cy="5257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118408" y="4937760"/>
            <a:ext cx="3220151" cy="525780"/>
          </a:xfrm>
          <a:prstGeom prst="rect">
            <a:avLst/>
          </a:prstGeom>
          <a:noFill/>
        </p:spPr>
        <p:txBody>
          <a:bodyPr wrap="square" anchor="ctr">
            <a:spAutoFit/>
          </a:bodyPr>
          <a:lstStyle/>
          <a:p>
            <a:pPr algn="l">
              <a:spcAft>
                <a:spcPts val="400"/>
              </a:spcAft>
            </a:pPr>
            <a:r>
              <a:rPr sz="1000" b="0">
                <a:solidFill>
                  <a:srgbClr val="161B26"/>
                </a:solidFill>
                <a:latin typeface="Arial"/>
              </a:rPr>
              <a:t>Never fake a real event</a:t>
            </a:r>
          </a:p>
        </p:txBody>
      </p:sp>
      <p:sp>
        <p:nvSpPr>
          <p:cNvPr id="49" name="Rectangle 48"/>
          <p:cNvSpPr/>
          <p:nvPr/>
        </p:nvSpPr>
        <p:spPr>
          <a:xfrm>
            <a:off x="777240" y="5463540"/>
            <a:ext cx="2552273"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86968" y="5463540"/>
            <a:ext cx="2369393" cy="525780"/>
          </a:xfrm>
          <a:prstGeom prst="rect">
            <a:avLst/>
          </a:prstGeom>
          <a:noFill/>
        </p:spPr>
        <p:txBody>
          <a:bodyPr wrap="square" anchor="ctr">
            <a:spAutoFit/>
          </a:bodyPr>
          <a:lstStyle/>
          <a:p>
            <a:pPr algn="l">
              <a:spcAft>
                <a:spcPts val="400"/>
              </a:spcAft>
            </a:pPr>
            <a:r>
              <a:rPr sz="1000" b="1">
                <a:solidFill>
                  <a:srgbClr val="161B26"/>
                </a:solidFill>
                <a:latin typeface="Arial"/>
              </a:rPr>
              <a:t>Personalised video</a:t>
            </a:r>
          </a:p>
        </p:txBody>
      </p:sp>
      <p:sp>
        <p:nvSpPr>
          <p:cNvPr id="51" name="Rectangle 50"/>
          <p:cNvSpPr/>
          <p:nvPr/>
        </p:nvSpPr>
        <p:spPr>
          <a:xfrm>
            <a:off x="3329513" y="5463540"/>
            <a:ext cx="4679167"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439241" y="5463540"/>
            <a:ext cx="4496287" cy="525780"/>
          </a:xfrm>
          <a:prstGeom prst="rect">
            <a:avLst/>
          </a:prstGeom>
          <a:noFill/>
        </p:spPr>
        <p:txBody>
          <a:bodyPr wrap="square" anchor="ctr">
            <a:spAutoFit/>
          </a:bodyPr>
          <a:lstStyle/>
          <a:p>
            <a:pPr algn="l">
              <a:spcAft>
                <a:spcPts val="400"/>
              </a:spcAft>
            </a:pPr>
            <a:r>
              <a:rPr sz="1000" b="0">
                <a:solidFill>
                  <a:srgbClr val="161B26"/>
                </a:solidFill>
                <a:latin typeface="Arial"/>
              </a:rPr>
              <a:t>One video per customer</a:t>
            </a:r>
          </a:p>
        </p:txBody>
      </p:sp>
      <p:sp>
        <p:nvSpPr>
          <p:cNvPr id="53" name="Rectangle 52"/>
          <p:cNvSpPr/>
          <p:nvPr/>
        </p:nvSpPr>
        <p:spPr>
          <a:xfrm>
            <a:off x="8008680" y="5463540"/>
            <a:ext cx="3403031"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118408" y="5463540"/>
            <a:ext cx="3220151" cy="525780"/>
          </a:xfrm>
          <a:prstGeom prst="rect">
            <a:avLst/>
          </a:prstGeom>
          <a:noFill/>
        </p:spPr>
        <p:txBody>
          <a:bodyPr wrap="square" anchor="ctr">
            <a:spAutoFit/>
          </a:bodyPr>
          <a:lstStyle/>
          <a:p>
            <a:pPr algn="l">
              <a:spcAft>
                <a:spcPts val="400"/>
              </a:spcAft>
            </a:pPr>
            <a:r>
              <a:rPr sz="1000" b="0">
                <a:solidFill>
                  <a:srgbClr val="161B26"/>
                </a:solidFill>
                <a:latin typeface="Arial"/>
              </a:rPr>
              <a:t>Likeness, consent, PDPA</a:t>
            </a:r>
          </a:p>
        </p:txBody>
      </p:sp>
      <p:sp>
        <p:nvSpPr>
          <p:cNvPr id="55" name="TextBox 54"/>
          <p:cNvSpPr txBox="1"/>
          <p:nvPr/>
        </p:nvSpPr>
        <p:spPr>
          <a:xfrm>
            <a:off x="777240" y="6053328"/>
            <a:ext cx="10698480" cy="457200"/>
          </a:xfrm>
          <a:prstGeom prst="rect">
            <a:avLst/>
          </a:prstGeom>
          <a:noFill/>
        </p:spPr>
        <p:txBody>
          <a:bodyPr wrap="square" anchor="t">
            <a:spAutoFit/>
          </a:bodyPr>
          <a:lstStyle/>
          <a:p>
            <a:pPr algn="ctr">
              <a:spcAft>
                <a:spcPts val="400"/>
              </a:spcAft>
            </a:pPr>
            <a:r>
              <a:rPr sz="1200" b="0">
                <a:solidFill>
                  <a:srgbClr val="5B6372"/>
                </a:solidFill>
                <a:latin typeface="Arial"/>
              </a:rPr>
              <a:t>Value comes from volume, speed to first cut and cheap iteration — not from novelty.</a:t>
            </a:r>
          </a:p>
        </p:txBody>
      </p:sp>
      <p:sp>
        <p:nvSpPr>
          <p:cNvPr id="56" name="TextBox 5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57" name="TextBox 5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8" name="TextBox 5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fast">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A1 · IDENTIFY THE NEED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The Six Need Criteria You Will Score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823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VOLUME</a:t>
            </a:r>
          </a:p>
          <a:p>
            <a:pPr algn="l">
              <a:spcAft>
                <a:spcPts val="200"/>
              </a:spcAft>
            </a:pPr>
            <a:r>
              <a:rPr sz="1000" b="0">
                <a:solidFill>
                  <a:srgbClr val="5B6372"/>
                </a:solidFill>
                <a:latin typeface="Arial"/>
              </a:rPr>
              <a:t>Finished minutes per quarter: 5 at 10+, 3 at 3–10, 1 below 3.</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8236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REPEATABILITY</a:t>
            </a:r>
          </a:p>
          <a:p>
            <a:pPr algn="l">
              <a:spcAft>
                <a:spcPts val="200"/>
              </a:spcAft>
            </a:pPr>
            <a:r>
              <a:rPr sz="1000" b="0">
                <a:solidFill>
                  <a:srgbClr val="5B6372"/>
                </a:solidFill>
                <a:latin typeface="Arial"/>
              </a:rPr>
              <a:t>Same cast, look and format every time scores 5; bespoke scores 1.</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04616"/>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SPEED VALUE</a:t>
            </a:r>
          </a:p>
          <a:p>
            <a:pPr algn="l">
              <a:spcAft>
                <a:spcPts val="200"/>
              </a:spcAft>
            </a:pPr>
            <a:r>
              <a:rPr sz="1000" b="0">
                <a:solidFill>
                  <a:srgbClr val="5B6372"/>
                </a:solidFill>
                <a:latin typeface="Arial"/>
              </a:rPr>
              <a:t>Turnaround ≤ 5 days scores 5: fast iteration is where AI pays.</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04616"/>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REVIEW TOLERANCE</a:t>
            </a:r>
          </a:p>
          <a:p>
            <a:pPr algn="l">
              <a:spcAft>
                <a:spcPts val="200"/>
              </a:spcAft>
            </a:pPr>
            <a:r>
              <a:rPr sz="1000" b="0">
                <a:solidFill>
                  <a:srgbClr val="5B6372"/>
                </a:solidFill>
                <a:latin typeface="Arial"/>
              </a:rPr>
              <a:t>5 where a person reviews every cut; 1 where output auto-publishes.</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256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34712"/>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LIKENESS RISK</a:t>
            </a:r>
          </a:p>
          <a:p>
            <a:pPr algn="l">
              <a:spcAft>
                <a:spcPts val="200"/>
              </a:spcAft>
            </a:pPr>
            <a:r>
              <a:rPr sz="1000" b="0">
                <a:solidFill>
                  <a:srgbClr val="5B6372"/>
                </a:solidFill>
                <a:latin typeface="Arial"/>
              </a:rPr>
              <a:t>Inverted: 5 for fictional cast, 1 for unconsented real faces or voices.</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256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34712"/>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COST GAP</a:t>
            </a:r>
          </a:p>
          <a:p>
            <a:pPr algn="l">
              <a:spcAft>
                <a:spcPts val="200"/>
              </a:spcAft>
            </a:pPr>
            <a:r>
              <a:rPr sz="1000" b="0">
                <a:solidFill>
                  <a:srgbClr val="5B6372"/>
                </a:solidFill>
                <a:latin typeface="Arial"/>
              </a:rPr>
              <a:t>(current − AI) ÷ current: 5 at 0.6+, 3 at 0.3–0.6, 1 below.</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spd="fast">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A1 · LAB 01 BASELINE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Scoring the Six Harbourline Film Ideas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6675120" cy="3977639"/>
        </p:xfrm>
        <a:graphic>
          <a:graphicData uri="http://schemas.openxmlformats.org/drawingml/2006/chart">
            <c:chart xmlns:c="http://schemas.openxmlformats.org/drawingml/2006/chart" r:id="rId2"/>
          </a:graphicData>
        </a:graphic>
      </p:graphicFrame>
      <p:sp>
        <p:nvSpPr>
          <p:cNvPr id="8" name="Rectangle 7"/>
          <p:cNvSpPr/>
          <p:nvPr/>
        </p:nvSpPr>
        <p:spPr>
          <a:xfrm>
            <a:off x="7680960" y="1783080"/>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80960" y="1783080"/>
            <a:ext cx="82296" cy="87096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82128" y="1783080"/>
            <a:ext cx="3346704" cy="870965"/>
          </a:xfrm>
          <a:prstGeom prst="rect">
            <a:avLst/>
          </a:prstGeom>
          <a:noFill/>
        </p:spPr>
        <p:txBody>
          <a:bodyPr wrap="square" anchor="ctr">
            <a:spAutoFit/>
          </a:bodyPr>
          <a:lstStyle/>
          <a:p>
            <a:pPr algn="l">
              <a:spcAft>
                <a:spcPts val="200"/>
              </a:spcAft>
            </a:pPr>
            <a:r>
              <a:rPr sz="1250" b="1">
                <a:solidFill>
                  <a:srgbClr val="1F6FEB"/>
                </a:solidFill>
                <a:latin typeface="Arial"/>
              </a:rPr>
              <a:t>SELECT: P2, P1, P6</a:t>
            </a:r>
          </a:p>
          <a:p>
            <a:pPr algn="l">
              <a:spcAft>
                <a:spcPts val="200"/>
              </a:spcAft>
            </a:pPr>
            <a:r>
              <a:rPr sz="1100" b="0">
                <a:solidFill>
                  <a:srgbClr val="161B26"/>
                </a:solidFill>
                <a:latin typeface="Arial"/>
              </a:rPr>
              <a:t>Above 3.6 and every gate passes.</a:t>
            </a:r>
          </a:p>
        </p:txBody>
      </p:sp>
      <p:sp>
        <p:nvSpPr>
          <p:cNvPr id="11" name="Rectangle 10"/>
          <p:cNvSpPr/>
          <p:nvPr/>
        </p:nvSpPr>
        <p:spPr>
          <a:xfrm>
            <a:off x="7680960" y="2818637"/>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680960" y="2818637"/>
            <a:ext cx="82296" cy="87096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82128" y="2818637"/>
            <a:ext cx="3346704" cy="870965"/>
          </a:xfrm>
          <a:prstGeom prst="rect">
            <a:avLst/>
          </a:prstGeom>
          <a:noFill/>
        </p:spPr>
        <p:txBody>
          <a:bodyPr wrap="square" anchor="ctr">
            <a:spAutoFit/>
          </a:bodyPr>
          <a:lstStyle/>
          <a:p>
            <a:pPr algn="l">
              <a:spcAft>
                <a:spcPts val="200"/>
              </a:spcAft>
            </a:pPr>
            <a:r>
              <a:rPr sz="1250" b="1">
                <a:solidFill>
                  <a:srgbClr val="10B981"/>
                </a:solidFill>
                <a:latin typeface="Arial"/>
              </a:rPr>
              <a:t>HOLD: P3 (4.1)</a:t>
            </a:r>
          </a:p>
          <a:p>
            <a:pPr algn="l">
              <a:spcAft>
                <a:spcPts val="200"/>
              </a:spcAft>
            </a:pPr>
            <a:r>
              <a:rPr sz="1100" b="0">
                <a:solidFill>
                  <a:srgbClr val="161B26"/>
                </a:solidFill>
                <a:latin typeface="Arial"/>
              </a:rPr>
              <a:t>Regulator approval pending — the gate is UNKNOWN.</a:t>
            </a:r>
          </a:p>
        </p:txBody>
      </p:sp>
      <p:sp>
        <p:nvSpPr>
          <p:cNvPr id="14" name="Rectangle 13"/>
          <p:cNvSpPr/>
          <p:nvPr/>
        </p:nvSpPr>
        <p:spPr>
          <a:xfrm>
            <a:off x="7680960" y="3854194"/>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680960" y="3854194"/>
            <a:ext cx="82296" cy="870965"/>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82128" y="3854194"/>
            <a:ext cx="3346704" cy="870965"/>
          </a:xfrm>
          <a:prstGeom prst="rect">
            <a:avLst/>
          </a:prstGeom>
          <a:noFill/>
        </p:spPr>
        <p:txBody>
          <a:bodyPr wrap="square" anchor="ctr">
            <a:spAutoFit/>
          </a:bodyPr>
          <a:lstStyle/>
          <a:p>
            <a:pPr algn="l">
              <a:spcAft>
                <a:spcPts val="200"/>
              </a:spcAft>
            </a:pPr>
            <a:r>
              <a:rPr sz="1250" b="1">
                <a:solidFill>
                  <a:srgbClr val="7C3AED"/>
                </a:solidFill>
                <a:latin typeface="Arial"/>
              </a:rPr>
              <a:t>REJECT: P4 (3.8)</a:t>
            </a:r>
          </a:p>
          <a:p>
            <a:pPr algn="l">
              <a:spcAft>
                <a:spcPts val="200"/>
              </a:spcAft>
            </a:pPr>
            <a:r>
              <a:rPr sz="1100" b="0">
                <a:solidFill>
                  <a:srgbClr val="161B26"/>
                </a:solidFill>
                <a:latin typeface="Arial"/>
              </a:rPr>
              <a:t>Passes on score, fails the likeness gate.</a:t>
            </a:r>
          </a:p>
        </p:txBody>
      </p:sp>
      <p:sp>
        <p:nvSpPr>
          <p:cNvPr id="17" name="Rectangle 16"/>
          <p:cNvSpPr/>
          <p:nvPr/>
        </p:nvSpPr>
        <p:spPr>
          <a:xfrm>
            <a:off x="7680960" y="4889751"/>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0" y="4889751"/>
            <a:ext cx="82296" cy="870965"/>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82128" y="4889751"/>
            <a:ext cx="3346704" cy="870965"/>
          </a:xfrm>
          <a:prstGeom prst="rect">
            <a:avLst/>
          </a:prstGeom>
          <a:noFill/>
        </p:spPr>
        <p:txBody>
          <a:bodyPr wrap="square" anchor="ctr">
            <a:spAutoFit/>
          </a:bodyPr>
          <a:lstStyle/>
          <a:p>
            <a:pPr algn="l">
              <a:spcAft>
                <a:spcPts val="200"/>
              </a:spcAft>
            </a:pPr>
            <a:r>
              <a:rPr sz="1250" b="1">
                <a:solidFill>
                  <a:srgbClr val="F59E0B"/>
                </a:solidFill>
                <a:latin typeface="Arial"/>
              </a:rPr>
              <a:t>REJECT: P5</a:t>
            </a:r>
          </a:p>
          <a:p>
            <a:pPr algn="l">
              <a:spcAft>
                <a:spcPts val="200"/>
              </a:spcAft>
            </a:pPr>
            <a:r>
              <a:rPr sz="1100" b="0">
                <a:solidFill>
                  <a:srgbClr val="161B26"/>
                </a:solidFill>
                <a:latin typeface="Arial"/>
              </a:rPr>
              <a:t>A real executive's statement: AI is not appropriate.</a:t>
            </a:r>
          </a:p>
        </p:txBody>
      </p:sp>
      <p:sp>
        <p:nvSpPr>
          <p:cNvPr id="20" name="Rectangle 19"/>
          <p:cNvSpPr/>
          <p:nvPr/>
        </p:nvSpPr>
        <p:spPr>
          <a:xfrm>
            <a:off x="777240" y="5925312"/>
            <a:ext cx="1417320"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925312"/>
            <a:ext cx="1417320" cy="310896"/>
          </a:xfrm>
          <a:prstGeom prst="rect">
            <a:avLst/>
          </a:prstGeom>
          <a:noFill/>
        </p:spPr>
        <p:txBody>
          <a:bodyPr wrap="square" anchor="ctr">
            <a:spAutoFit/>
          </a:bodyPr>
          <a:lstStyle/>
          <a:p>
            <a:pPr algn="ctr">
              <a:spcAft>
                <a:spcPts val="400"/>
              </a:spcAft>
            </a:pPr>
            <a:r>
              <a:rPr sz="1050" b="1">
                <a:solidFill>
                  <a:srgbClr val="FFFFFF"/>
                </a:solidFill>
                <a:latin typeface="Arial"/>
              </a:rPr>
              <a:t>MODELLED</a:t>
            </a:r>
          </a:p>
        </p:txBody>
      </p:sp>
      <p:sp>
        <p:nvSpPr>
          <p:cNvPr id="22" name="TextBox 21"/>
          <p:cNvSpPr txBox="1"/>
          <p:nvPr/>
        </p:nvSpPr>
        <p:spPr>
          <a:xfrm>
            <a:off x="2331720" y="5925312"/>
            <a:ext cx="9098280" cy="457200"/>
          </a:xfrm>
          <a:prstGeom prst="rect">
            <a:avLst/>
          </a:prstGeom>
          <a:noFill/>
        </p:spPr>
        <p:txBody>
          <a:bodyPr wrap="square" anchor="ctr">
            <a:spAutoFit/>
          </a:bodyPr>
          <a:lstStyle/>
          <a:p>
            <a:pPr algn="l">
              <a:spcAft>
                <a:spcPts val="400"/>
              </a:spcAft>
            </a:pPr>
            <a:r>
              <a:rPr sz="1150" b="0">
                <a:solidFill>
                  <a:srgbClr val="5B6372"/>
                </a:solidFill>
                <a:latin typeface="Arial"/>
              </a:rPr>
              <a:t>Computed from the Lab 01 criteria and the fictional Harbourline data (labs/lab-01-film-needs-analysis). Threshold 3.6.</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fast">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500" b="1">
                <a:solidFill>
                  <a:srgbClr val="DC2626"/>
                </a:solidFill>
                <a:latin typeface="Arial"/>
              </a:rPr>
              <a:t>A1 · HOW TO READ A SCORING MATRIX</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400" b="1">
                <a:solidFill>
                  <a:srgbClr val="161B26"/>
                </a:solidFill>
                <a:latin typeface="Arial"/>
              </a:rPr>
              <a:t>A likeness gate is a gate, not a weighting.</a:t>
            </a:r>
          </a:p>
        </p:txBody>
      </p:sp>
      <p:sp>
        <p:nvSpPr>
          <p:cNvPr id="6" name="TextBox 5"/>
          <p:cNvSpPr txBox="1"/>
          <p:nvPr/>
        </p:nvSpPr>
        <p:spPr>
          <a:xfrm>
            <a:off x="1024128" y="4480560"/>
            <a:ext cx="10058400" cy="1280160"/>
          </a:xfrm>
          <a:prstGeom prst="rect">
            <a:avLst/>
          </a:prstGeom>
          <a:noFill/>
        </p:spPr>
        <p:txBody>
          <a:bodyPr wrap="square" anchor="t">
            <a:spAutoFit/>
          </a:bodyPr>
          <a:lstStyle/>
          <a:p>
            <a:pPr algn="l">
              <a:spcAft>
                <a:spcPts val="400"/>
              </a:spcAft>
            </a:pPr>
            <a:r>
              <a:rPr sz="1700" b="0">
                <a:solidFill>
                  <a:srgbClr val="5B6372"/>
                </a:solidFill>
                <a:latin typeface="Arial"/>
              </a:rPr>
              <a:t>Apply consent, rights and authenticity FIRST. A project that scores 3.8 but generates passengers' faces without consent is rejected — no cost saving rescues it.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fast">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A1 · CHOOSE THE WORKFLOW, THEN THE TOOLS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Three Workflow Patterns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93392"/>
            <a:ext cx="2926080" cy="548640"/>
          </a:xfrm>
          <a:prstGeom prst="rect">
            <a:avLst/>
          </a:prstGeom>
          <a:noFill/>
        </p:spPr>
        <p:txBody>
          <a:bodyPr wrap="square" anchor="t">
            <a:spAutoFit/>
          </a:bodyPr>
          <a:lstStyle/>
          <a:p>
            <a:pPr algn="l">
              <a:spcAft>
                <a:spcPts val="400"/>
              </a:spcAft>
            </a:pPr>
            <a:r>
              <a:rPr sz="1700" b="1">
                <a:solidFill>
                  <a:srgbClr val="1F6FEB"/>
                </a:solidFill>
                <a:latin typeface="Arial"/>
              </a:rPr>
              <a:t>All-in-one agent</a:t>
            </a:r>
          </a:p>
        </p:txBody>
      </p:sp>
      <p:sp>
        <p:nvSpPr>
          <p:cNvPr id="10" name="TextBox 9"/>
          <p:cNvSpPr txBox="1"/>
          <p:nvPr/>
        </p:nvSpPr>
        <p:spPr>
          <a:xfrm>
            <a:off x="1005840" y="2651760"/>
            <a:ext cx="2926080" cy="3200400"/>
          </a:xfrm>
          <a:prstGeom prst="rect">
            <a:avLst/>
          </a:prstGeom>
          <a:noFill/>
        </p:spPr>
        <p:txBody>
          <a:bodyPr wrap="square">
            <a:spAutoFit/>
          </a:bodyPr>
          <a:lstStyle/>
          <a:p>
            <a:pPr>
              <a:spcAft>
                <a:spcPts val="800"/>
              </a:spcAft>
            </a:pPr>
            <a:r>
              <a:rPr sz="1300" b="0">
                <a:solidFill>
                  <a:srgbClr val="161B26"/>
                </a:solidFill>
                <a:latin typeface="Arial"/>
              </a:rPr>
              <a:t>•  One photo + one structured prompt.</a:t>
            </a:r>
          </a:p>
          <a:p>
            <a:pPr>
              <a:spcAft>
                <a:spcPts val="800"/>
              </a:spcAft>
            </a:pPr>
            <a:r>
              <a:rPr sz="1300" b="0">
                <a:solidFill>
                  <a:srgbClr val="161B26"/>
                </a:solidFill>
                <a:latin typeface="Arial"/>
              </a:rPr>
              <a:t>•  Agent plans, generates, voices, scores.</a:t>
            </a:r>
          </a:p>
          <a:p>
            <a:pPr>
              <a:spcAft>
                <a:spcPts val="800"/>
              </a:spcAft>
            </a:pPr>
            <a:r>
              <a:rPr sz="1300" b="0">
                <a:solidFill>
                  <a:srgbClr val="161B26"/>
                </a:solidFill>
                <a:latin typeface="Arial"/>
              </a:rPr>
              <a:t>•  Minutes to a finished draft.</a:t>
            </a:r>
          </a:p>
          <a:p>
            <a:pPr>
              <a:spcAft>
                <a:spcPts val="800"/>
              </a:spcAft>
            </a:pPr>
            <a:r>
              <a:rPr sz="1300" b="0">
                <a:solidFill>
                  <a:srgbClr val="161B26"/>
                </a:solidFill>
                <a:latin typeface="Arial"/>
              </a:rPr>
              <a:t>•  Least shot-level control.</a:t>
            </a:r>
          </a:p>
          <a:p>
            <a:pPr>
              <a:spcAft>
                <a:spcPts val="800"/>
              </a:spcAft>
            </a:pPr>
            <a:r>
              <a:rPr sz="1300" b="0">
                <a:solidFill>
                  <a:srgbClr val="161B26"/>
                </a:solidFill>
                <a:latin typeface="Arial"/>
              </a:rPr>
              <a:t>•  Fits: social volume, quick drafts.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1993392"/>
            <a:ext cx="2926080" cy="548640"/>
          </a:xfrm>
          <a:prstGeom prst="rect">
            <a:avLst/>
          </a:prstGeom>
          <a:noFill/>
        </p:spPr>
        <p:txBody>
          <a:bodyPr wrap="square" anchor="t">
            <a:spAutoFit/>
          </a:bodyPr>
          <a:lstStyle/>
          <a:p>
            <a:pPr algn="l">
              <a:spcAft>
                <a:spcPts val="400"/>
              </a:spcAft>
            </a:pPr>
            <a:r>
              <a:rPr sz="1700" b="1">
                <a:solidFill>
                  <a:srgbClr val="10B981"/>
                </a:solidFill>
                <a:latin typeface="Arial"/>
              </a:rPr>
              <a:t>Multi-tool pipeline</a:t>
            </a:r>
          </a:p>
        </p:txBody>
      </p:sp>
      <p:sp>
        <p:nvSpPr>
          <p:cNvPr id="14" name="TextBox 13"/>
          <p:cNvSpPr txBox="1"/>
          <p:nvPr/>
        </p:nvSpPr>
        <p:spPr>
          <a:xfrm>
            <a:off x="4800600" y="2651760"/>
            <a:ext cx="2926080" cy="3200400"/>
          </a:xfrm>
          <a:prstGeom prst="rect">
            <a:avLst/>
          </a:prstGeom>
          <a:noFill/>
        </p:spPr>
        <p:txBody>
          <a:bodyPr wrap="square">
            <a:spAutoFit/>
          </a:bodyPr>
          <a:lstStyle/>
          <a:p>
            <a:pPr>
              <a:spcAft>
                <a:spcPts val="800"/>
              </a:spcAft>
            </a:pPr>
            <a:r>
              <a:rPr sz="1300" b="0">
                <a:solidFill>
                  <a:srgbClr val="161B26"/>
                </a:solidFill>
                <a:latin typeface="Arial"/>
              </a:rPr>
              <a:t>•  Planner → image → video → voice → music → editor.</a:t>
            </a:r>
          </a:p>
          <a:p>
            <a:pPr>
              <a:spcAft>
                <a:spcPts val="800"/>
              </a:spcAft>
            </a:pPr>
            <a:r>
              <a:rPr sz="1300" b="0">
                <a:solidFill>
                  <a:srgbClr val="161B26"/>
                </a:solidFill>
                <a:latin typeface="Arial"/>
              </a:rPr>
              <a:t>•  Named elements reused in every shot.</a:t>
            </a:r>
          </a:p>
          <a:p>
            <a:pPr>
              <a:spcAft>
                <a:spcPts val="800"/>
              </a:spcAft>
            </a:pPr>
            <a:r>
              <a:rPr sz="1300" b="0">
                <a:solidFill>
                  <a:srgbClr val="161B26"/>
                </a:solidFill>
                <a:latin typeface="Arial"/>
              </a:rPr>
              <a:t>•  Start/end frames, takes, grading.</a:t>
            </a:r>
          </a:p>
          <a:p>
            <a:pPr>
              <a:spcAft>
                <a:spcPts val="800"/>
              </a:spcAft>
            </a:pPr>
            <a:r>
              <a:rPr sz="1300" b="0">
                <a:solidFill>
                  <a:srgbClr val="161B26"/>
                </a:solidFill>
                <a:latin typeface="Arial"/>
              </a:rPr>
              <a:t>•  Most control; most steps.</a:t>
            </a:r>
          </a:p>
          <a:p>
            <a:pPr>
              <a:spcAft>
                <a:spcPts val="800"/>
              </a:spcAft>
            </a:pPr>
            <a:r>
              <a:rPr sz="1300" b="0">
                <a:solidFill>
                  <a:srgbClr val="161B26"/>
                </a:solidFill>
                <a:latin typeface="Arial"/>
              </a:rPr>
              <a:t>•  Fits: brand hero films.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1993392"/>
            <a:ext cx="2926080" cy="548640"/>
          </a:xfrm>
          <a:prstGeom prst="rect">
            <a:avLst/>
          </a:prstGeom>
          <a:noFill/>
        </p:spPr>
        <p:txBody>
          <a:bodyPr wrap="square" anchor="t">
            <a:spAutoFit/>
          </a:bodyPr>
          <a:lstStyle/>
          <a:p>
            <a:pPr algn="l">
              <a:spcAft>
                <a:spcPts val="400"/>
              </a:spcAft>
            </a:pPr>
            <a:r>
              <a:rPr sz="1700" b="1">
                <a:solidFill>
                  <a:srgbClr val="7C3AED"/>
                </a:solidFill>
                <a:latin typeface="Arial"/>
              </a:rPr>
              <a:t>Hybrid / local</a:t>
            </a:r>
          </a:p>
        </p:txBody>
      </p:sp>
      <p:sp>
        <p:nvSpPr>
          <p:cNvPr id="18" name="TextBox 17"/>
          <p:cNvSpPr txBox="1"/>
          <p:nvPr/>
        </p:nvSpPr>
        <p:spPr>
          <a:xfrm>
            <a:off x="8595360" y="2651760"/>
            <a:ext cx="2926080" cy="3200400"/>
          </a:xfrm>
          <a:prstGeom prst="rect">
            <a:avLst/>
          </a:prstGeom>
          <a:noFill/>
        </p:spPr>
        <p:txBody>
          <a:bodyPr wrap="square">
            <a:spAutoFit/>
          </a:bodyPr>
          <a:lstStyle/>
          <a:p>
            <a:pPr>
              <a:spcAft>
                <a:spcPts val="800"/>
              </a:spcAft>
            </a:pPr>
            <a:r>
              <a:rPr sz="1300" b="0">
                <a:solidFill>
                  <a:srgbClr val="161B26"/>
                </a:solidFill>
                <a:latin typeface="Arial"/>
              </a:rPr>
              <a:t>•  Cloud generation for hero shots.</a:t>
            </a:r>
          </a:p>
          <a:p>
            <a:pPr>
              <a:spcAft>
                <a:spcPts val="800"/>
              </a:spcAft>
            </a:pPr>
            <a:r>
              <a:rPr sz="1300" b="0">
                <a:solidFill>
                  <a:srgbClr val="161B26"/>
                </a:solidFill>
                <a:latin typeface="Arial"/>
              </a:rPr>
              <a:t>•  Local QA, grade, captions, mix, export.</a:t>
            </a:r>
          </a:p>
          <a:p>
            <a:pPr>
              <a:spcAft>
                <a:spcPts val="800"/>
              </a:spcAft>
            </a:pPr>
            <a:r>
              <a:rPr sz="1300" b="0">
                <a:solidFill>
                  <a:srgbClr val="161B26"/>
                </a:solidFill>
                <a:latin typeface="Arial"/>
              </a:rPr>
              <a:t>•  Optional open models on your GPU.</a:t>
            </a:r>
          </a:p>
          <a:p>
            <a:pPr>
              <a:spcAft>
                <a:spcPts val="800"/>
              </a:spcAft>
            </a:pPr>
            <a:r>
              <a:rPr sz="1300" b="0">
                <a:solidFill>
                  <a:srgbClr val="161B26"/>
                </a:solidFill>
                <a:latin typeface="Arial"/>
              </a:rPr>
              <a:t>•  Privacy and cost control.</a:t>
            </a:r>
          </a:p>
          <a:p>
            <a:pPr>
              <a:spcAft>
                <a:spcPts val="800"/>
              </a:spcAft>
            </a:pPr>
            <a:r>
              <a:rPr sz="1300" b="0">
                <a:solidFill>
                  <a:srgbClr val="161B26"/>
                </a:solidFill>
                <a:latin typeface="Arial"/>
              </a:rPr>
              <a:t>•  Fits: repeatable series.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fast">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K2 · EXAMPLES, NOT ENDORSEMENTS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The Tool Landscape by Production Stage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126894" cy="4673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1944014" cy="467360"/>
          </a:xfrm>
          <a:prstGeom prst="rect">
            <a:avLst/>
          </a:prstGeom>
          <a:noFill/>
        </p:spPr>
        <p:txBody>
          <a:bodyPr wrap="square" anchor="ctr">
            <a:spAutoFit/>
          </a:bodyPr>
          <a:lstStyle/>
          <a:p>
            <a:pPr algn="l">
              <a:spcAft>
                <a:spcPts val="400"/>
              </a:spcAft>
            </a:pPr>
            <a:r>
              <a:rPr sz="1050" b="1">
                <a:solidFill>
                  <a:srgbClr val="FFFFFF"/>
                </a:solidFill>
                <a:latin typeface="Arial"/>
              </a:rPr>
              <a:t>Stage</a:t>
            </a:r>
          </a:p>
        </p:txBody>
      </p:sp>
      <p:sp>
        <p:nvSpPr>
          <p:cNvPr id="9" name="Rectangle 8"/>
          <p:cNvSpPr/>
          <p:nvPr/>
        </p:nvSpPr>
        <p:spPr>
          <a:xfrm>
            <a:off x="2904134" y="1783080"/>
            <a:ext cx="3615720" cy="4673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13862" y="1783080"/>
            <a:ext cx="3432840" cy="467360"/>
          </a:xfrm>
          <a:prstGeom prst="rect">
            <a:avLst/>
          </a:prstGeom>
          <a:noFill/>
        </p:spPr>
        <p:txBody>
          <a:bodyPr wrap="square" anchor="ctr">
            <a:spAutoFit/>
          </a:bodyPr>
          <a:lstStyle/>
          <a:p>
            <a:pPr algn="l">
              <a:spcAft>
                <a:spcPts val="400"/>
              </a:spcAft>
            </a:pPr>
            <a:r>
              <a:rPr sz="1050" b="1">
                <a:solidFill>
                  <a:srgbClr val="FFFFFF"/>
                </a:solidFill>
                <a:latin typeface="Arial"/>
              </a:rPr>
              <a:t>Job</a:t>
            </a:r>
          </a:p>
        </p:txBody>
      </p:sp>
      <p:sp>
        <p:nvSpPr>
          <p:cNvPr id="11" name="Rectangle 10"/>
          <p:cNvSpPr/>
          <p:nvPr/>
        </p:nvSpPr>
        <p:spPr>
          <a:xfrm>
            <a:off x="6519854" y="1783080"/>
            <a:ext cx="4891857" cy="4673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29582" y="1783080"/>
            <a:ext cx="4708977" cy="467360"/>
          </a:xfrm>
          <a:prstGeom prst="rect">
            <a:avLst/>
          </a:prstGeom>
          <a:noFill/>
        </p:spPr>
        <p:txBody>
          <a:bodyPr wrap="square" anchor="ctr">
            <a:spAutoFit/>
          </a:bodyPr>
          <a:lstStyle/>
          <a:p>
            <a:pPr algn="l">
              <a:spcAft>
                <a:spcPts val="400"/>
              </a:spcAft>
            </a:pPr>
            <a:r>
              <a:rPr sz="1050" b="1">
                <a:solidFill>
                  <a:srgbClr val="FFFFFF"/>
                </a:solidFill>
                <a:latin typeface="Arial"/>
              </a:rPr>
              <a:t>Examples seen in current tutorials</a:t>
            </a:r>
          </a:p>
        </p:txBody>
      </p:sp>
      <p:sp>
        <p:nvSpPr>
          <p:cNvPr id="13" name="Rectangle 12"/>
          <p:cNvSpPr/>
          <p:nvPr/>
        </p:nvSpPr>
        <p:spPr>
          <a:xfrm>
            <a:off x="777240" y="2250440"/>
            <a:ext cx="2126894" cy="467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 y="2250440"/>
            <a:ext cx="1944014" cy="467360"/>
          </a:xfrm>
          <a:prstGeom prst="rect">
            <a:avLst/>
          </a:prstGeom>
          <a:noFill/>
        </p:spPr>
        <p:txBody>
          <a:bodyPr wrap="square" anchor="ctr">
            <a:spAutoFit/>
          </a:bodyPr>
          <a:lstStyle/>
          <a:p>
            <a:pPr algn="l">
              <a:spcAft>
                <a:spcPts val="400"/>
              </a:spcAft>
            </a:pPr>
            <a:r>
              <a:rPr sz="950" b="1">
                <a:solidFill>
                  <a:srgbClr val="161B26"/>
                </a:solidFill>
                <a:latin typeface="Arial"/>
              </a:rPr>
              <a:t>Plan</a:t>
            </a:r>
          </a:p>
        </p:txBody>
      </p:sp>
      <p:sp>
        <p:nvSpPr>
          <p:cNvPr id="15" name="Rectangle 14"/>
          <p:cNvSpPr/>
          <p:nvPr/>
        </p:nvSpPr>
        <p:spPr>
          <a:xfrm>
            <a:off x="2904134" y="2250440"/>
            <a:ext cx="3615720" cy="467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013862" y="2250440"/>
            <a:ext cx="3432840" cy="467360"/>
          </a:xfrm>
          <a:prstGeom prst="rect">
            <a:avLst/>
          </a:prstGeom>
          <a:noFill/>
        </p:spPr>
        <p:txBody>
          <a:bodyPr wrap="square" anchor="ctr">
            <a:spAutoFit/>
          </a:bodyPr>
          <a:lstStyle/>
          <a:p>
            <a:pPr algn="l">
              <a:spcAft>
                <a:spcPts val="400"/>
              </a:spcAft>
            </a:pPr>
            <a:r>
              <a:rPr sz="950" b="0">
                <a:solidFill>
                  <a:srgbClr val="161B26"/>
                </a:solidFill>
                <a:latin typeface="Arial"/>
              </a:rPr>
              <a:t>Story, shot list, dialogue, prompts</a:t>
            </a:r>
          </a:p>
        </p:txBody>
      </p:sp>
      <p:sp>
        <p:nvSpPr>
          <p:cNvPr id="17" name="Rectangle 16"/>
          <p:cNvSpPr/>
          <p:nvPr/>
        </p:nvSpPr>
        <p:spPr>
          <a:xfrm>
            <a:off x="6519854" y="2250440"/>
            <a:ext cx="4891857" cy="467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29582" y="2250440"/>
            <a:ext cx="4708977" cy="467360"/>
          </a:xfrm>
          <a:prstGeom prst="rect">
            <a:avLst/>
          </a:prstGeom>
          <a:noFill/>
        </p:spPr>
        <p:txBody>
          <a:bodyPr wrap="square" anchor="ctr">
            <a:spAutoFit/>
          </a:bodyPr>
          <a:lstStyle/>
          <a:p>
            <a:pPr algn="l">
              <a:spcAft>
                <a:spcPts val="400"/>
              </a:spcAft>
            </a:pPr>
            <a:r>
              <a:rPr sz="950" b="0">
                <a:solidFill>
                  <a:srgbClr val="161B26"/>
                </a:solidFill>
                <a:latin typeface="Arial"/>
              </a:rPr>
              <a:t>Claude and other LLMs</a:t>
            </a:r>
          </a:p>
        </p:txBody>
      </p:sp>
      <p:sp>
        <p:nvSpPr>
          <p:cNvPr id="19" name="Rectangle 18"/>
          <p:cNvSpPr/>
          <p:nvPr/>
        </p:nvSpPr>
        <p:spPr>
          <a:xfrm>
            <a:off x="777240" y="2717800"/>
            <a:ext cx="2126894" cy="467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2717800"/>
            <a:ext cx="1944014" cy="467360"/>
          </a:xfrm>
          <a:prstGeom prst="rect">
            <a:avLst/>
          </a:prstGeom>
          <a:noFill/>
        </p:spPr>
        <p:txBody>
          <a:bodyPr wrap="square" anchor="ctr">
            <a:spAutoFit/>
          </a:bodyPr>
          <a:lstStyle/>
          <a:p>
            <a:pPr algn="l">
              <a:spcAft>
                <a:spcPts val="400"/>
              </a:spcAft>
            </a:pPr>
            <a:r>
              <a:rPr sz="950" b="1">
                <a:solidFill>
                  <a:srgbClr val="161B26"/>
                </a:solidFill>
                <a:latin typeface="Arial"/>
              </a:rPr>
              <a:t>References and stills</a:t>
            </a:r>
          </a:p>
        </p:txBody>
      </p:sp>
      <p:sp>
        <p:nvSpPr>
          <p:cNvPr id="21" name="Rectangle 20"/>
          <p:cNvSpPr/>
          <p:nvPr/>
        </p:nvSpPr>
        <p:spPr>
          <a:xfrm>
            <a:off x="2904134" y="2717800"/>
            <a:ext cx="3615720" cy="467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013862" y="2717800"/>
            <a:ext cx="3432840" cy="467360"/>
          </a:xfrm>
          <a:prstGeom prst="rect">
            <a:avLst/>
          </a:prstGeom>
          <a:noFill/>
        </p:spPr>
        <p:txBody>
          <a:bodyPr wrap="square" anchor="ctr">
            <a:spAutoFit/>
          </a:bodyPr>
          <a:lstStyle/>
          <a:p>
            <a:pPr algn="l">
              <a:spcAft>
                <a:spcPts val="400"/>
              </a:spcAft>
            </a:pPr>
            <a:r>
              <a:rPr sz="950" b="0">
                <a:solidFill>
                  <a:srgbClr val="161B26"/>
                </a:solidFill>
                <a:latin typeface="Arial"/>
              </a:rPr>
              <a:t>Character sheets, locations, props, keyframes</a:t>
            </a:r>
          </a:p>
        </p:txBody>
      </p:sp>
      <p:sp>
        <p:nvSpPr>
          <p:cNvPr id="23" name="Rectangle 22"/>
          <p:cNvSpPr/>
          <p:nvPr/>
        </p:nvSpPr>
        <p:spPr>
          <a:xfrm>
            <a:off x="6519854" y="2717800"/>
            <a:ext cx="4891857" cy="467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29582" y="2717800"/>
            <a:ext cx="4708977" cy="467360"/>
          </a:xfrm>
          <a:prstGeom prst="rect">
            <a:avLst/>
          </a:prstGeom>
          <a:noFill/>
        </p:spPr>
        <p:txBody>
          <a:bodyPr wrap="square" anchor="ctr">
            <a:spAutoFit/>
          </a:bodyPr>
          <a:lstStyle/>
          <a:p>
            <a:pPr algn="l">
              <a:spcAft>
                <a:spcPts val="400"/>
              </a:spcAft>
            </a:pPr>
            <a:r>
              <a:rPr sz="950" b="0">
                <a:solidFill>
                  <a:srgbClr val="161B26"/>
                </a:solidFill>
                <a:latin typeface="Arial"/>
              </a:rPr>
              <a:t>Nano Banana, GPT Image, Soul Cinema, Gemini image models</a:t>
            </a:r>
          </a:p>
        </p:txBody>
      </p:sp>
      <p:sp>
        <p:nvSpPr>
          <p:cNvPr id="25" name="Rectangle 24"/>
          <p:cNvSpPr/>
          <p:nvPr/>
        </p:nvSpPr>
        <p:spPr>
          <a:xfrm>
            <a:off x="777240" y="3185160"/>
            <a:ext cx="2126894" cy="467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6968" y="3185160"/>
            <a:ext cx="1944014" cy="467360"/>
          </a:xfrm>
          <a:prstGeom prst="rect">
            <a:avLst/>
          </a:prstGeom>
          <a:noFill/>
        </p:spPr>
        <p:txBody>
          <a:bodyPr wrap="square" anchor="ctr">
            <a:spAutoFit/>
          </a:bodyPr>
          <a:lstStyle/>
          <a:p>
            <a:pPr algn="l">
              <a:spcAft>
                <a:spcPts val="400"/>
              </a:spcAft>
            </a:pPr>
            <a:r>
              <a:rPr sz="950" b="1">
                <a:solidFill>
                  <a:srgbClr val="161B26"/>
                </a:solidFill>
                <a:latin typeface="Arial"/>
              </a:rPr>
              <a:t>Storyboard</a:t>
            </a:r>
          </a:p>
        </p:txBody>
      </p:sp>
      <p:sp>
        <p:nvSpPr>
          <p:cNvPr id="27" name="Rectangle 26"/>
          <p:cNvSpPr/>
          <p:nvPr/>
        </p:nvSpPr>
        <p:spPr>
          <a:xfrm>
            <a:off x="2904134" y="3185160"/>
            <a:ext cx="3615720" cy="467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013862" y="3185160"/>
            <a:ext cx="3432840" cy="467360"/>
          </a:xfrm>
          <a:prstGeom prst="rect">
            <a:avLst/>
          </a:prstGeom>
          <a:noFill/>
        </p:spPr>
        <p:txBody>
          <a:bodyPr wrap="square" anchor="ctr">
            <a:spAutoFit/>
          </a:bodyPr>
          <a:lstStyle/>
          <a:p>
            <a:pPr algn="l">
              <a:spcAft>
                <a:spcPts val="400"/>
              </a:spcAft>
            </a:pPr>
            <a:r>
              <a:rPr sz="950" b="0">
                <a:solidFill>
                  <a:srgbClr val="161B26"/>
                </a:solidFill>
                <a:latin typeface="Arial"/>
              </a:rPr>
              <a:t>Arrange keyframes and references</a:t>
            </a:r>
          </a:p>
        </p:txBody>
      </p:sp>
      <p:sp>
        <p:nvSpPr>
          <p:cNvPr id="29" name="Rectangle 28"/>
          <p:cNvSpPr/>
          <p:nvPr/>
        </p:nvSpPr>
        <p:spPr>
          <a:xfrm>
            <a:off x="6519854" y="3185160"/>
            <a:ext cx="4891857" cy="467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29582" y="3185160"/>
            <a:ext cx="4708977" cy="467360"/>
          </a:xfrm>
          <a:prstGeom prst="rect">
            <a:avLst/>
          </a:prstGeom>
          <a:noFill/>
        </p:spPr>
        <p:txBody>
          <a:bodyPr wrap="square" anchor="ctr">
            <a:spAutoFit/>
          </a:bodyPr>
          <a:lstStyle/>
          <a:p>
            <a:pPr algn="l">
              <a:spcAft>
                <a:spcPts val="400"/>
              </a:spcAft>
            </a:pPr>
            <a:r>
              <a:rPr sz="950" b="0">
                <a:solidFill>
                  <a:srgbClr val="161B26"/>
                </a:solidFill>
                <a:latin typeface="Arial"/>
              </a:rPr>
              <a:t>Figma, node canvases (Flows)</a:t>
            </a:r>
          </a:p>
        </p:txBody>
      </p:sp>
      <p:sp>
        <p:nvSpPr>
          <p:cNvPr id="31" name="Rectangle 30"/>
          <p:cNvSpPr/>
          <p:nvPr/>
        </p:nvSpPr>
        <p:spPr>
          <a:xfrm>
            <a:off x="777240" y="3652520"/>
            <a:ext cx="2126894" cy="467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3652520"/>
            <a:ext cx="1944014" cy="467360"/>
          </a:xfrm>
          <a:prstGeom prst="rect">
            <a:avLst/>
          </a:prstGeom>
          <a:noFill/>
        </p:spPr>
        <p:txBody>
          <a:bodyPr wrap="square" anchor="ctr">
            <a:spAutoFit/>
          </a:bodyPr>
          <a:lstStyle/>
          <a:p>
            <a:pPr algn="l">
              <a:spcAft>
                <a:spcPts val="400"/>
              </a:spcAft>
            </a:pPr>
            <a:r>
              <a:rPr sz="950" b="1">
                <a:solidFill>
                  <a:srgbClr val="161B26"/>
                </a:solidFill>
                <a:latin typeface="Arial"/>
              </a:rPr>
              <a:t>Animate</a:t>
            </a:r>
          </a:p>
        </p:txBody>
      </p:sp>
      <p:sp>
        <p:nvSpPr>
          <p:cNvPr id="33" name="Rectangle 32"/>
          <p:cNvSpPr/>
          <p:nvPr/>
        </p:nvSpPr>
        <p:spPr>
          <a:xfrm>
            <a:off x="2904134" y="3652520"/>
            <a:ext cx="3615720" cy="467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013862" y="3652520"/>
            <a:ext cx="3432840" cy="467360"/>
          </a:xfrm>
          <a:prstGeom prst="rect">
            <a:avLst/>
          </a:prstGeom>
          <a:noFill/>
        </p:spPr>
        <p:txBody>
          <a:bodyPr wrap="square" anchor="ctr">
            <a:spAutoFit/>
          </a:bodyPr>
          <a:lstStyle/>
          <a:p>
            <a:pPr algn="l">
              <a:spcAft>
                <a:spcPts val="400"/>
              </a:spcAft>
            </a:pPr>
            <a:r>
              <a:rPr sz="950" b="0">
                <a:solidFill>
                  <a:srgbClr val="161B26"/>
                </a:solidFill>
                <a:latin typeface="Arial"/>
              </a:rPr>
              <a:t>Image-to-video, multi-shot, extension</a:t>
            </a:r>
          </a:p>
        </p:txBody>
      </p:sp>
      <p:sp>
        <p:nvSpPr>
          <p:cNvPr id="35" name="Rectangle 34"/>
          <p:cNvSpPr/>
          <p:nvPr/>
        </p:nvSpPr>
        <p:spPr>
          <a:xfrm>
            <a:off x="6519854" y="3652520"/>
            <a:ext cx="4891857" cy="467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629582" y="3652520"/>
            <a:ext cx="4708977" cy="467360"/>
          </a:xfrm>
          <a:prstGeom prst="rect">
            <a:avLst/>
          </a:prstGeom>
          <a:noFill/>
        </p:spPr>
        <p:txBody>
          <a:bodyPr wrap="square" anchor="ctr">
            <a:spAutoFit/>
          </a:bodyPr>
          <a:lstStyle/>
          <a:p>
            <a:pPr algn="l">
              <a:spcAft>
                <a:spcPts val="400"/>
              </a:spcAft>
            </a:pPr>
            <a:r>
              <a:rPr sz="950" b="0">
                <a:solidFill>
                  <a:srgbClr val="161B26"/>
                </a:solidFill>
                <a:latin typeface="Arial"/>
              </a:rPr>
              <a:t>Seedance, Veo, Kling, Cinema Studio</a:t>
            </a:r>
          </a:p>
        </p:txBody>
      </p:sp>
      <p:sp>
        <p:nvSpPr>
          <p:cNvPr id="37" name="Rectangle 36"/>
          <p:cNvSpPr/>
          <p:nvPr/>
        </p:nvSpPr>
        <p:spPr>
          <a:xfrm>
            <a:off x="777240" y="4119880"/>
            <a:ext cx="2126894" cy="467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86968" y="4119880"/>
            <a:ext cx="1944014" cy="467360"/>
          </a:xfrm>
          <a:prstGeom prst="rect">
            <a:avLst/>
          </a:prstGeom>
          <a:noFill/>
        </p:spPr>
        <p:txBody>
          <a:bodyPr wrap="square" anchor="ctr">
            <a:spAutoFit/>
          </a:bodyPr>
          <a:lstStyle/>
          <a:p>
            <a:pPr algn="l">
              <a:spcAft>
                <a:spcPts val="400"/>
              </a:spcAft>
            </a:pPr>
            <a:r>
              <a:rPr sz="950" b="1">
                <a:solidFill>
                  <a:srgbClr val="161B26"/>
                </a:solidFill>
                <a:latin typeface="Arial"/>
              </a:rPr>
              <a:t>Voice</a:t>
            </a:r>
          </a:p>
        </p:txBody>
      </p:sp>
      <p:sp>
        <p:nvSpPr>
          <p:cNvPr id="39" name="Rectangle 38"/>
          <p:cNvSpPr/>
          <p:nvPr/>
        </p:nvSpPr>
        <p:spPr>
          <a:xfrm>
            <a:off x="2904134" y="4119880"/>
            <a:ext cx="3615720" cy="467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013862" y="4119880"/>
            <a:ext cx="3432840" cy="467360"/>
          </a:xfrm>
          <a:prstGeom prst="rect">
            <a:avLst/>
          </a:prstGeom>
          <a:noFill/>
        </p:spPr>
        <p:txBody>
          <a:bodyPr wrap="square" anchor="ctr">
            <a:spAutoFit/>
          </a:bodyPr>
          <a:lstStyle/>
          <a:p>
            <a:pPr algn="l">
              <a:spcAft>
                <a:spcPts val="400"/>
              </a:spcAft>
            </a:pPr>
            <a:r>
              <a:rPr sz="950" b="0">
                <a:solidFill>
                  <a:srgbClr val="161B26"/>
                </a:solidFill>
                <a:latin typeface="Arial"/>
              </a:rPr>
              <a:t>Voiceover, dialogue, audio tags</a:t>
            </a:r>
          </a:p>
        </p:txBody>
      </p:sp>
      <p:sp>
        <p:nvSpPr>
          <p:cNvPr id="41" name="Rectangle 40"/>
          <p:cNvSpPr/>
          <p:nvPr/>
        </p:nvSpPr>
        <p:spPr>
          <a:xfrm>
            <a:off x="6519854" y="4119880"/>
            <a:ext cx="4891857" cy="467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629582" y="4119880"/>
            <a:ext cx="4708977" cy="467360"/>
          </a:xfrm>
          <a:prstGeom prst="rect">
            <a:avLst/>
          </a:prstGeom>
          <a:noFill/>
        </p:spPr>
        <p:txBody>
          <a:bodyPr wrap="square" anchor="ctr">
            <a:spAutoFit/>
          </a:bodyPr>
          <a:lstStyle/>
          <a:p>
            <a:pPr algn="l">
              <a:spcAft>
                <a:spcPts val="400"/>
              </a:spcAft>
            </a:pPr>
            <a:r>
              <a:rPr sz="950" b="0">
                <a:solidFill>
                  <a:srgbClr val="161B26"/>
                </a:solidFill>
                <a:latin typeface="Arial"/>
              </a:rPr>
              <a:t>ElevenLabs, Qwen Audio</a:t>
            </a:r>
          </a:p>
        </p:txBody>
      </p:sp>
      <p:sp>
        <p:nvSpPr>
          <p:cNvPr id="43" name="Rectangle 42"/>
          <p:cNvSpPr/>
          <p:nvPr/>
        </p:nvSpPr>
        <p:spPr>
          <a:xfrm>
            <a:off x="777240" y="4587240"/>
            <a:ext cx="2126894" cy="467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86968" y="4587240"/>
            <a:ext cx="1944014" cy="467360"/>
          </a:xfrm>
          <a:prstGeom prst="rect">
            <a:avLst/>
          </a:prstGeom>
          <a:noFill/>
        </p:spPr>
        <p:txBody>
          <a:bodyPr wrap="square" anchor="ctr">
            <a:spAutoFit/>
          </a:bodyPr>
          <a:lstStyle/>
          <a:p>
            <a:pPr algn="l">
              <a:spcAft>
                <a:spcPts val="400"/>
              </a:spcAft>
            </a:pPr>
            <a:r>
              <a:rPr sz="950" b="1">
                <a:solidFill>
                  <a:srgbClr val="161B26"/>
                </a:solidFill>
                <a:latin typeface="Arial"/>
              </a:rPr>
              <a:t>Music and effects</a:t>
            </a:r>
          </a:p>
        </p:txBody>
      </p:sp>
      <p:sp>
        <p:nvSpPr>
          <p:cNvPr id="45" name="Rectangle 44"/>
          <p:cNvSpPr/>
          <p:nvPr/>
        </p:nvSpPr>
        <p:spPr>
          <a:xfrm>
            <a:off x="2904134" y="4587240"/>
            <a:ext cx="3615720" cy="467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013862" y="4587240"/>
            <a:ext cx="3432840" cy="467360"/>
          </a:xfrm>
          <a:prstGeom prst="rect">
            <a:avLst/>
          </a:prstGeom>
          <a:noFill/>
        </p:spPr>
        <p:txBody>
          <a:bodyPr wrap="square" anchor="ctr">
            <a:spAutoFit/>
          </a:bodyPr>
          <a:lstStyle/>
          <a:p>
            <a:pPr algn="l">
              <a:spcAft>
                <a:spcPts val="400"/>
              </a:spcAft>
            </a:pPr>
            <a:r>
              <a:rPr sz="950" b="0">
                <a:solidFill>
                  <a:srgbClr val="161B26"/>
                </a:solidFill>
                <a:latin typeface="Arial"/>
              </a:rPr>
              <a:t>Score and sound design</a:t>
            </a:r>
          </a:p>
        </p:txBody>
      </p:sp>
      <p:sp>
        <p:nvSpPr>
          <p:cNvPr id="47" name="Rectangle 46"/>
          <p:cNvSpPr/>
          <p:nvPr/>
        </p:nvSpPr>
        <p:spPr>
          <a:xfrm>
            <a:off x="6519854" y="4587240"/>
            <a:ext cx="4891857" cy="467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629582" y="4587240"/>
            <a:ext cx="4708977" cy="467360"/>
          </a:xfrm>
          <a:prstGeom prst="rect">
            <a:avLst/>
          </a:prstGeom>
          <a:noFill/>
        </p:spPr>
        <p:txBody>
          <a:bodyPr wrap="square" anchor="ctr">
            <a:spAutoFit/>
          </a:bodyPr>
          <a:lstStyle/>
          <a:p>
            <a:pPr algn="l">
              <a:spcAft>
                <a:spcPts val="400"/>
              </a:spcAft>
            </a:pPr>
            <a:r>
              <a:rPr sz="950" b="0">
                <a:solidFill>
                  <a:srgbClr val="161B26"/>
                </a:solidFill>
                <a:latin typeface="Arial"/>
              </a:rPr>
              <a:t>Suno, ElevenLabs Music</a:t>
            </a:r>
          </a:p>
        </p:txBody>
      </p:sp>
      <p:sp>
        <p:nvSpPr>
          <p:cNvPr id="49" name="Rectangle 48"/>
          <p:cNvSpPr/>
          <p:nvPr/>
        </p:nvSpPr>
        <p:spPr>
          <a:xfrm>
            <a:off x="777240" y="5054600"/>
            <a:ext cx="2126894" cy="467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86968" y="5054600"/>
            <a:ext cx="1944014" cy="467360"/>
          </a:xfrm>
          <a:prstGeom prst="rect">
            <a:avLst/>
          </a:prstGeom>
          <a:noFill/>
        </p:spPr>
        <p:txBody>
          <a:bodyPr wrap="square" anchor="ctr">
            <a:spAutoFit/>
          </a:bodyPr>
          <a:lstStyle/>
          <a:p>
            <a:pPr algn="l">
              <a:spcAft>
                <a:spcPts val="400"/>
              </a:spcAft>
            </a:pPr>
            <a:r>
              <a:rPr sz="950" b="1">
                <a:solidFill>
                  <a:srgbClr val="161B26"/>
                </a:solidFill>
                <a:latin typeface="Arial"/>
              </a:rPr>
              <a:t>Edit and finish</a:t>
            </a:r>
          </a:p>
        </p:txBody>
      </p:sp>
      <p:sp>
        <p:nvSpPr>
          <p:cNvPr id="51" name="Rectangle 50"/>
          <p:cNvSpPr/>
          <p:nvPr/>
        </p:nvSpPr>
        <p:spPr>
          <a:xfrm>
            <a:off x="2904134" y="5054600"/>
            <a:ext cx="3615720" cy="467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013862" y="5054600"/>
            <a:ext cx="3432840" cy="467360"/>
          </a:xfrm>
          <a:prstGeom prst="rect">
            <a:avLst/>
          </a:prstGeom>
          <a:noFill/>
        </p:spPr>
        <p:txBody>
          <a:bodyPr wrap="square" anchor="ctr">
            <a:spAutoFit/>
          </a:bodyPr>
          <a:lstStyle/>
          <a:p>
            <a:pPr algn="l">
              <a:spcAft>
                <a:spcPts val="400"/>
              </a:spcAft>
            </a:pPr>
            <a:r>
              <a:rPr sz="950" b="0">
                <a:solidFill>
                  <a:srgbClr val="161B26"/>
                </a:solidFill>
                <a:latin typeface="Arial"/>
              </a:rPr>
              <a:t>Timeline, captions, export</a:t>
            </a:r>
          </a:p>
        </p:txBody>
      </p:sp>
      <p:sp>
        <p:nvSpPr>
          <p:cNvPr id="53" name="Rectangle 52"/>
          <p:cNvSpPr/>
          <p:nvPr/>
        </p:nvSpPr>
        <p:spPr>
          <a:xfrm>
            <a:off x="6519854" y="5054600"/>
            <a:ext cx="4891857" cy="467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629582" y="5054600"/>
            <a:ext cx="4708977" cy="467360"/>
          </a:xfrm>
          <a:prstGeom prst="rect">
            <a:avLst/>
          </a:prstGeom>
          <a:noFill/>
        </p:spPr>
        <p:txBody>
          <a:bodyPr wrap="square" anchor="ctr">
            <a:spAutoFit/>
          </a:bodyPr>
          <a:lstStyle/>
          <a:p>
            <a:pPr algn="l">
              <a:spcAft>
                <a:spcPts val="400"/>
              </a:spcAft>
            </a:pPr>
            <a:r>
              <a:rPr sz="950" b="0">
                <a:solidFill>
                  <a:srgbClr val="161B26"/>
                </a:solidFill>
                <a:latin typeface="Arial"/>
              </a:rPr>
              <a:t>CapCut, Premiere Pro, DaVinci Resolve</a:t>
            </a:r>
          </a:p>
        </p:txBody>
      </p:sp>
      <p:sp>
        <p:nvSpPr>
          <p:cNvPr id="55" name="Rectangle 54"/>
          <p:cNvSpPr/>
          <p:nvPr/>
        </p:nvSpPr>
        <p:spPr>
          <a:xfrm>
            <a:off x="777240" y="5521960"/>
            <a:ext cx="2126894" cy="467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86968" y="5521960"/>
            <a:ext cx="1944014" cy="467360"/>
          </a:xfrm>
          <a:prstGeom prst="rect">
            <a:avLst/>
          </a:prstGeom>
          <a:noFill/>
        </p:spPr>
        <p:txBody>
          <a:bodyPr wrap="square" anchor="ctr">
            <a:spAutoFit/>
          </a:bodyPr>
          <a:lstStyle/>
          <a:p>
            <a:pPr algn="l">
              <a:spcAft>
                <a:spcPts val="400"/>
              </a:spcAft>
            </a:pPr>
            <a:r>
              <a:rPr sz="950" b="1">
                <a:solidFill>
                  <a:srgbClr val="161B26"/>
                </a:solidFill>
                <a:latin typeface="Arial"/>
              </a:rPr>
              <a:t>All-in-one agents</a:t>
            </a:r>
          </a:p>
        </p:txBody>
      </p:sp>
      <p:sp>
        <p:nvSpPr>
          <p:cNvPr id="57" name="Rectangle 56"/>
          <p:cNvSpPr/>
          <p:nvPr/>
        </p:nvSpPr>
        <p:spPr>
          <a:xfrm>
            <a:off x="2904134" y="5521960"/>
            <a:ext cx="3615720" cy="467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013862" y="5521960"/>
            <a:ext cx="3432840" cy="467360"/>
          </a:xfrm>
          <a:prstGeom prst="rect">
            <a:avLst/>
          </a:prstGeom>
          <a:noFill/>
        </p:spPr>
        <p:txBody>
          <a:bodyPr wrap="square" anchor="ctr">
            <a:spAutoFit/>
          </a:bodyPr>
          <a:lstStyle/>
          <a:p>
            <a:pPr algn="l">
              <a:spcAft>
                <a:spcPts val="400"/>
              </a:spcAft>
            </a:pPr>
            <a:r>
              <a:rPr sz="950" b="0">
                <a:solidFill>
                  <a:srgbClr val="161B26"/>
                </a:solidFill>
                <a:latin typeface="Arial"/>
              </a:rPr>
              <a:t>Prompt + photo → drama</a:t>
            </a:r>
          </a:p>
        </p:txBody>
      </p:sp>
      <p:sp>
        <p:nvSpPr>
          <p:cNvPr id="59" name="Rectangle 58"/>
          <p:cNvSpPr/>
          <p:nvPr/>
        </p:nvSpPr>
        <p:spPr>
          <a:xfrm>
            <a:off x="6519854" y="5521960"/>
            <a:ext cx="4891857" cy="467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629582" y="5521960"/>
            <a:ext cx="4708977" cy="467360"/>
          </a:xfrm>
          <a:prstGeom prst="rect">
            <a:avLst/>
          </a:prstGeom>
          <a:noFill/>
        </p:spPr>
        <p:txBody>
          <a:bodyPr wrap="square" anchor="ctr">
            <a:spAutoFit/>
          </a:bodyPr>
          <a:lstStyle/>
          <a:p>
            <a:pPr algn="l">
              <a:spcAft>
                <a:spcPts val="400"/>
              </a:spcAft>
            </a:pPr>
            <a:r>
              <a:rPr sz="950" b="0">
                <a:solidFill>
                  <a:srgbClr val="161B26"/>
                </a:solidFill>
                <a:latin typeface="Arial"/>
              </a:rPr>
              <a:t>ZooClaw Vibe Drama, Higgsfield</a:t>
            </a:r>
          </a:p>
        </p:txBody>
      </p:sp>
      <p:sp>
        <p:nvSpPr>
          <p:cNvPr id="61" name="TextBox 60"/>
          <p:cNvSpPr txBox="1"/>
          <p:nvPr/>
        </p:nvSpPr>
        <p:spPr>
          <a:xfrm>
            <a:off x="777240" y="6053328"/>
            <a:ext cx="10698480" cy="457200"/>
          </a:xfrm>
          <a:prstGeom prst="rect">
            <a:avLst/>
          </a:prstGeom>
          <a:noFill/>
        </p:spPr>
        <p:txBody>
          <a:bodyPr wrap="square" anchor="t">
            <a:spAutoFit/>
          </a:bodyPr>
          <a:lstStyle/>
          <a:p>
            <a:pPr algn="ctr">
              <a:spcAft>
                <a:spcPts val="400"/>
              </a:spcAft>
            </a:pPr>
            <a:r>
              <a:rPr sz="1200" b="0">
                <a:solidFill>
                  <a:srgbClr val="5B6372"/>
                </a:solidFill>
                <a:latin typeface="Arial"/>
              </a:rPr>
              <a:t>Tool names come from the source tutorials (S6–S12) and change monthly. The course teaches the technique; check each tool's current terms before use.</a:t>
            </a:r>
          </a:p>
        </p:txBody>
      </p:sp>
      <p:sp>
        <p:nvSpPr>
          <p:cNvPr id="62" name="TextBox 6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63" name="TextBox 6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4" name="TextBox 6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fast">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DC2626"/>
                </a:solidFill>
                <a:latin typeface="Arial"/>
              </a:rPr>
              <a:t>K2 · CONSTRAINTS YOU DESIGN IN, NOT BOLT 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Responsible AI Film-Making, From Day One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823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CONSENT AND LIKENESS</a:t>
            </a:r>
          </a:p>
          <a:p>
            <a:pPr algn="l">
              <a:spcAft>
                <a:spcPts val="200"/>
              </a:spcAft>
            </a:pPr>
            <a:r>
              <a:rPr sz="1000" b="0">
                <a:solidFill>
                  <a:srgbClr val="5B6372"/>
                </a:solidFill>
                <a:latin typeface="Arial"/>
              </a:rPr>
              <a:t>No real face or voice is generated, cloned or altered without written consent.</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8236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RIGHTS AND LICENCES</a:t>
            </a:r>
          </a:p>
          <a:p>
            <a:pPr algn="l">
              <a:spcAft>
                <a:spcPts val="200"/>
              </a:spcAft>
            </a:pPr>
            <a:r>
              <a:rPr sz="1000" b="0">
                <a:solidFill>
                  <a:srgbClr val="5B6372"/>
                </a:solidFill>
                <a:latin typeface="Arial"/>
              </a:rPr>
              <a:t>Check commercial-use terms for every model, voice and music track you ship.</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04616"/>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PERSONAL DATA (PDPA)</a:t>
            </a:r>
          </a:p>
          <a:p>
            <a:pPr algn="l">
              <a:spcAft>
                <a:spcPts val="200"/>
              </a:spcAft>
            </a:pPr>
            <a:r>
              <a:rPr sz="1000" b="0">
                <a:solidFill>
                  <a:srgbClr val="5B6372"/>
                </a:solidFill>
                <a:latin typeface="Arial"/>
              </a:rPr>
              <a:t>Photos of customers or staff are personal data; they need a purpose and consent.</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04616"/>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DISCLOSURE</a:t>
            </a:r>
          </a:p>
          <a:p>
            <a:pPr algn="l">
              <a:spcAft>
                <a:spcPts val="200"/>
              </a:spcAft>
            </a:pPr>
            <a:r>
              <a:rPr sz="1000" b="0">
                <a:solidFill>
                  <a:srgbClr val="5B6372"/>
                </a:solidFill>
                <a:latin typeface="Arial"/>
              </a:rPr>
              <a:t>Label AI-generated content on upload and in the credits.</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256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34712"/>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PROVENANCE</a:t>
            </a:r>
          </a:p>
          <a:p>
            <a:pPr algn="l">
              <a:spcAft>
                <a:spcPts val="200"/>
              </a:spcAft>
            </a:pPr>
            <a:r>
              <a:rPr sz="1000" b="0">
                <a:solidFill>
                  <a:srgbClr val="5B6372"/>
                </a:solidFill>
                <a:latin typeface="Arial"/>
              </a:rPr>
              <a:t>Keep prompts, model IDs and dates; preserve C2PA credentials and watermarks such as SynthID.</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256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34712"/>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NO DECEPTION</a:t>
            </a:r>
          </a:p>
          <a:p>
            <a:pPr algn="l">
              <a:spcAft>
                <a:spcPts val="200"/>
              </a:spcAft>
            </a:pPr>
            <a:r>
              <a:rPr sz="1000" b="0">
                <a:solidFill>
                  <a:srgbClr val="5B6372"/>
                </a:solidFill>
                <a:latin typeface="Arial"/>
              </a:rPr>
              <a:t>Never depict a real event, person or product claim that did not happen.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fast">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0B981"/>
                </a:solidFill>
                <a:latin typeface="Arial"/>
              </a:rPr>
              <a:t>TOPIC 01 · ELO1 · A1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Lab 01 — Film Needs Analysis and AI Production Pipeline Specification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56231"/>
            <a:ext cx="3401568" cy="361188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56231"/>
            <a:ext cx="3401568"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130552"/>
            <a:ext cx="2999232" cy="457200"/>
          </a:xfrm>
          <a:prstGeom prst="rect">
            <a:avLst/>
          </a:prstGeom>
          <a:noFill/>
        </p:spPr>
        <p:txBody>
          <a:bodyPr wrap="square" anchor="t">
            <a:spAutoFit/>
          </a:bodyPr>
          <a:lstStyle/>
          <a:p>
            <a:pPr algn="l">
              <a:spcAft>
                <a:spcPts val="400"/>
              </a:spcAft>
            </a:pPr>
            <a:r>
              <a:rPr sz="1500" b="1">
                <a:solidFill>
                  <a:srgbClr val="10B981"/>
                </a:solidFill>
                <a:latin typeface="Arial"/>
              </a:rPr>
              <a:t>INPUTS</a:t>
            </a:r>
          </a:p>
        </p:txBody>
      </p:sp>
      <p:sp>
        <p:nvSpPr>
          <p:cNvPr id="10" name="TextBox 9"/>
          <p:cNvSpPr txBox="1"/>
          <p:nvPr/>
        </p:nvSpPr>
        <p:spPr>
          <a:xfrm>
            <a:off x="978408" y="2743200"/>
            <a:ext cx="2999232" cy="2468880"/>
          </a:xfrm>
          <a:prstGeom prst="rect">
            <a:avLst/>
          </a:prstGeom>
          <a:noFill/>
        </p:spPr>
        <p:txBody>
          <a:bodyPr wrap="square" anchor="t">
            <a:spAutoFit/>
          </a:bodyPr>
          <a:lstStyle/>
          <a:p>
            <a:pPr algn="l">
              <a:spcAft>
                <a:spcPts val="400"/>
              </a:spcAft>
            </a:pPr>
            <a:r>
              <a:rPr sz="1400" b="0">
                <a:solidFill>
                  <a:srgbClr val="161B26"/>
                </a:solidFill>
                <a:latin typeface="Arial"/>
              </a:rPr>
              <a:t>Concept key art for The Last Ferry (SIMULATED flat illustration, not AI output)</a:t>
            </a:r>
          </a:p>
        </p:txBody>
      </p:sp>
      <p:sp>
        <p:nvSpPr>
          <p:cNvPr id="11" name="Rounded Rectangle 10"/>
          <p:cNvSpPr/>
          <p:nvPr/>
        </p:nvSpPr>
        <p:spPr>
          <a:xfrm>
            <a:off x="4379976" y="1856231"/>
            <a:ext cx="3401568" cy="361188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9976" y="1856231"/>
            <a:ext cx="3401568"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81144" y="2130552"/>
            <a:ext cx="2999232" cy="457200"/>
          </a:xfrm>
          <a:prstGeom prst="rect">
            <a:avLst/>
          </a:prstGeom>
          <a:noFill/>
        </p:spPr>
        <p:txBody>
          <a:bodyPr wrap="square" anchor="t">
            <a:spAutoFit/>
          </a:bodyPr>
          <a:lstStyle/>
          <a:p>
            <a:pPr algn="l">
              <a:spcAft>
                <a:spcPts val="400"/>
              </a:spcAft>
            </a:pPr>
            <a:r>
              <a:rPr sz="1500" b="1">
                <a:solidFill>
                  <a:srgbClr val="10B981"/>
                </a:solidFill>
                <a:latin typeface="Arial"/>
              </a:rPr>
              <a:t>TECHNICAL QUESTION</a:t>
            </a:r>
          </a:p>
        </p:txBody>
      </p:sp>
      <p:sp>
        <p:nvSpPr>
          <p:cNvPr id="14" name="TextBox 13"/>
          <p:cNvSpPr txBox="1"/>
          <p:nvPr/>
        </p:nvSpPr>
        <p:spPr>
          <a:xfrm>
            <a:off x="4581144" y="2743200"/>
            <a:ext cx="2999232" cy="2468880"/>
          </a:xfrm>
          <a:prstGeom prst="rect">
            <a:avLst/>
          </a:prstGeom>
          <a:noFill/>
        </p:spPr>
        <p:txBody>
          <a:bodyPr wrap="square" anchor="t">
            <a:spAutoFit/>
          </a:bodyPr>
          <a:lstStyle/>
          <a:p>
            <a:pPr algn="l">
              <a:spcAft>
                <a:spcPts val="400"/>
              </a:spcAft>
            </a:pPr>
            <a:r>
              <a:rPr sz="1400" b="0">
                <a:solidFill>
                  <a:srgbClr val="161B26"/>
                </a:solidFill>
                <a:latin typeface="Arial"/>
              </a:rPr>
              <a:t>Which film projects meet the weighted need criteria AND every gate — and which workflow suits each?</a:t>
            </a:r>
          </a:p>
        </p:txBody>
      </p:sp>
      <p:sp>
        <p:nvSpPr>
          <p:cNvPr id="15" name="Rounded Rectangle 14"/>
          <p:cNvSpPr/>
          <p:nvPr/>
        </p:nvSpPr>
        <p:spPr>
          <a:xfrm>
            <a:off x="7982712" y="1856231"/>
            <a:ext cx="3401568" cy="361188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82712" y="1856231"/>
            <a:ext cx="3401568"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83880" y="2130552"/>
            <a:ext cx="2999232" cy="457200"/>
          </a:xfrm>
          <a:prstGeom prst="rect">
            <a:avLst/>
          </a:prstGeom>
          <a:noFill/>
        </p:spPr>
        <p:txBody>
          <a:bodyPr wrap="square" anchor="t">
            <a:spAutoFit/>
          </a:bodyPr>
          <a:lstStyle/>
          <a:p>
            <a:pPr algn="l">
              <a:spcAft>
                <a:spcPts val="400"/>
              </a:spcAft>
            </a:pPr>
            <a:r>
              <a:rPr sz="1500" b="1">
                <a:solidFill>
                  <a:srgbClr val="10B981"/>
                </a:solidFill>
                <a:latin typeface="Arial"/>
              </a:rPr>
              <a:t>EVIDENCE TO PRODUCE</a:t>
            </a:r>
          </a:p>
        </p:txBody>
      </p:sp>
      <p:sp>
        <p:nvSpPr>
          <p:cNvPr id="18" name="TextBox 17"/>
          <p:cNvSpPr txBox="1"/>
          <p:nvPr/>
        </p:nvSpPr>
        <p:spPr>
          <a:xfrm>
            <a:off x="8183880" y="2743200"/>
            <a:ext cx="2999232" cy="2468880"/>
          </a:xfrm>
          <a:prstGeom prst="rect">
            <a:avLst/>
          </a:prstGeom>
          <a:noFill/>
        </p:spPr>
        <p:txBody>
          <a:bodyPr wrap="square" anchor="t">
            <a:spAutoFit/>
          </a:bodyPr>
          <a:lstStyle/>
          <a:p>
            <a:pPr algn="l">
              <a:spcAft>
                <a:spcPts val="400"/>
              </a:spcAft>
            </a:pPr>
            <a:r>
              <a:rPr sz="1400" b="0">
                <a:solidFill>
                  <a:srgbClr val="161B26"/>
                </a:solidFill>
                <a:latin typeface="Arial"/>
              </a:rPr>
              <a:t>A scored shortlist with a written rationale for every rejected or held project, a workflow-pattern choice per selected project, and a five-stage pipeline specification for The Last Ferry listing the references it needs.</a:t>
            </a:r>
          </a:p>
        </p:txBody>
      </p:sp>
      <p:sp>
        <p:nvSpPr>
          <p:cNvPr id="19" name="TextBox 18"/>
          <p:cNvSpPr txBox="1"/>
          <p:nvPr/>
        </p:nvSpPr>
        <p:spPr>
          <a:xfrm>
            <a:off x="777240" y="5623560"/>
            <a:ext cx="10607040" cy="685800"/>
          </a:xfrm>
          <a:prstGeom prst="rect">
            <a:avLst/>
          </a:prstGeom>
          <a:noFill/>
        </p:spPr>
        <p:txBody>
          <a:bodyPr wrap="square" anchor="t">
            <a:spAutoFit/>
          </a:bodyPr>
          <a:lstStyle/>
          <a:p>
            <a:pPr algn="l">
              <a:spcAft>
                <a:spcPts val="400"/>
              </a:spcAft>
            </a:pPr>
            <a:r>
              <a:rPr sz="1150" b="0">
                <a:solidFill>
                  <a:srgbClr val="5B6372"/>
                </a:solidFill>
                <a:latin typeface="Arial"/>
              </a:rPr>
              <a:t>LAB 01  ·  IN-CLASS · Spreadsheet or text editor · Python 3 (optional baseline scorer) · no paid service required</a:t>
            </a:r>
          </a:p>
          <a:p>
            <a:pPr algn="l">
              <a:spcAft>
                <a:spcPts val="400"/>
              </a:spcAft>
            </a:pPr>
            <a:r>
              <a:rPr sz="1150" b="0">
                <a:solidFill>
                  <a:srgbClr val="5B6372"/>
                </a:solidFill>
                <a:latin typeface="Arial"/>
              </a:rPr>
              <a:t>Detailed procedures and prompts: Learner Guide / labs/lab-01-film-needs-analysis/README.md</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fast">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700" b="1">
                <a:solidFill>
                  <a:srgbClr val="1F6FEB"/>
                </a:solidFill>
                <a:latin typeface="Arial"/>
              </a:rPr>
              <a:t>TOPIC 02</a:t>
            </a:r>
          </a:p>
        </p:txBody>
      </p:sp>
      <p:sp>
        <p:nvSpPr>
          <p:cNvPr id="6" name="TextBox 5"/>
          <p:cNvSpPr txBox="1"/>
          <p:nvPr/>
        </p:nvSpPr>
        <p:spPr>
          <a:xfrm>
            <a:off x="1143000" y="2743200"/>
            <a:ext cx="9144000" cy="1463040"/>
          </a:xfrm>
          <a:prstGeom prst="rect">
            <a:avLst/>
          </a:prstGeom>
          <a:noFill/>
        </p:spPr>
        <p:txBody>
          <a:bodyPr wrap="square" anchor="t">
            <a:spAutoFit/>
          </a:bodyPr>
          <a:lstStyle/>
          <a:p>
            <a:pPr algn="l">
              <a:spcAft>
                <a:spcPts val="400"/>
              </a:spcAft>
            </a:pPr>
            <a:r>
              <a:rPr sz="3000" b="1">
                <a:solidFill>
                  <a:srgbClr val="161B26"/>
                </a:solidFill>
                <a:latin typeface="Arial"/>
              </a:rPr>
              <a:t>AI Image Processing, Generation and Visual Enhancement</a:t>
            </a:r>
          </a:p>
        </p:txBody>
      </p:sp>
      <p:sp>
        <p:nvSpPr>
          <p:cNvPr id="7" name="TextBox 6"/>
          <p:cNvSpPr txBox="1"/>
          <p:nvPr/>
        </p:nvSpPr>
        <p:spPr>
          <a:xfrm>
            <a:off x="1161288" y="4297680"/>
            <a:ext cx="9692640" cy="1280160"/>
          </a:xfrm>
          <a:prstGeom prst="rect">
            <a:avLst/>
          </a:prstGeom>
          <a:noFill/>
        </p:spPr>
        <p:txBody>
          <a:bodyPr wrap="square" anchor="t">
            <a:spAutoFit/>
          </a:bodyPr>
          <a:lstStyle/>
          <a:p>
            <a:pPr algn="l">
              <a:spcAft>
                <a:spcPts val="400"/>
              </a:spcAft>
            </a:pPr>
            <a:r>
              <a:rPr sz="1400" b="0">
                <a:solidFill>
                  <a:srgbClr val="5B6372"/>
                </a:solidFill>
                <a:latin typeface="Arial"/>
              </a:rPr>
              <a:t>Frames, resolution, frame rate, aspect ratio and bitrate · structured prompting for cinematic stills · state variants, inpainting and outpainting for reframing · colour grading, denoising, sharpening and upscaling measured with PSNR and SSIM</a:t>
            </a:r>
          </a:p>
        </p:txBody>
      </p:sp>
      <p:sp>
        <p:nvSpPr>
          <p:cNvPr id="8" name="TextBox 7"/>
          <p:cNvSpPr txBox="1"/>
          <p:nvPr/>
        </p:nvSpPr>
        <p:spPr>
          <a:xfrm>
            <a:off x="9326880" y="640080"/>
            <a:ext cx="2377440" cy="1463040"/>
          </a:xfrm>
          <a:prstGeom prst="rect">
            <a:avLst/>
          </a:prstGeom>
          <a:noFill/>
        </p:spPr>
        <p:txBody>
          <a:bodyPr wrap="square" anchor="t">
            <a:spAutoFit/>
          </a:bodyPr>
          <a:lstStyle/>
          <a:p>
            <a:pPr algn="r">
              <a:spcAft>
                <a:spcPts val="400"/>
              </a:spcAft>
            </a:pPr>
            <a:r>
              <a:rPr sz="68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fast">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LU2 · ELO2 · K3, K4, A2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Key Concepts — Topic 02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823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64336"/>
          </a:xfrm>
          <a:prstGeom prst="rect">
            <a:avLst/>
          </a:prstGeom>
          <a:noFill/>
        </p:spPr>
        <p:txBody>
          <a:bodyPr wrap="square" anchor="ctr">
            <a:spAutoFit/>
          </a:bodyPr>
          <a:lstStyle/>
          <a:p>
            <a:pPr algn="l">
              <a:spcAft>
                <a:spcPts val="200"/>
              </a:spcAft>
            </a:pPr>
            <a:r>
              <a:rPr sz="1350" b="1">
                <a:solidFill>
                  <a:srgbClr val="161B26"/>
                </a:solidFill>
                <a:latin typeface="Arial"/>
              </a:rPr>
              <a:t>A frame is an H x W x C array; a film is frames plus a clock</a:t>
            </a:r>
          </a:p>
          <a:p>
            <a:pPr algn="l">
              <a:spcAft>
                <a:spcPts val="200"/>
              </a:spcAft>
            </a:pPr>
            <a:r>
              <a:rPr sz="1050" b="0">
                <a:solidFill>
                  <a:srgbClr val="5B6372"/>
                </a:solidFill>
                <a:latin typeface="Arial"/>
              </a:rPr>
              <a:t>OpenCV returns H x W x 3 uint8 in BGR order. A 1920x1080 RGB stream at 24 fps is 1920*1080*3*24 = 149.3 MB/s uncompressed; a delivery codec brings that to a few MB/s. Frame count / fps = duration.</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8236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64336"/>
          </a:xfrm>
          <a:prstGeom prst="rect">
            <a:avLst/>
          </a:prstGeom>
          <a:noFill/>
        </p:spPr>
        <p:txBody>
          <a:bodyPr wrap="square" anchor="ctr">
            <a:spAutoFit/>
          </a:bodyPr>
          <a:lstStyle/>
          <a:p>
            <a:pPr algn="l">
              <a:spcAft>
                <a:spcPts val="200"/>
              </a:spcAft>
            </a:pPr>
            <a:r>
              <a:rPr sz="1350" b="1">
                <a:solidFill>
                  <a:srgbClr val="161B26"/>
                </a:solidFill>
                <a:latin typeface="Arial"/>
              </a:rPr>
              <a:t>Aspect ratio is a delivery decision made before generation</a:t>
            </a:r>
          </a:p>
          <a:p>
            <a:pPr algn="l">
              <a:spcAft>
                <a:spcPts val="200"/>
              </a:spcAft>
            </a:pPr>
            <a:r>
              <a:rPr sz="1050" b="0">
                <a:solidFill>
                  <a:srgbClr val="5B6372"/>
                </a:solidFill>
                <a:latin typeface="Arial"/>
              </a:rPr>
              <a:t>16:9 for YouTube and screens, 9:16 for Reels, Shorts and TikTok, 4:5 or 1:1 for feeds. A 9:16 centre crop of a 16:9 frame keeps only 31.6% of its width, so decide the master format first and keep action inside the shared safe area.</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04616"/>
            <a:ext cx="4027932" cy="1164336"/>
          </a:xfrm>
          <a:prstGeom prst="rect">
            <a:avLst/>
          </a:prstGeom>
          <a:noFill/>
        </p:spPr>
        <p:txBody>
          <a:bodyPr wrap="square" anchor="ctr">
            <a:spAutoFit/>
          </a:bodyPr>
          <a:lstStyle/>
          <a:p>
            <a:pPr algn="l">
              <a:spcAft>
                <a:spcPts val="200"/>
              </a:spcAft>
            </a:pPr>
            <a:r>
              <a:rPr sz="1350" b="1">
                <a:solidFill>
                  <a:srgbClr val="161B26"/>
                </a:solidFill>
                <a:latin typeface="Arial"/>
              </a:rPr>
              <a:t>Structured prompts reduce variance</a:t>
            </a:r>
          </a:p>
          <a:p>
            <a:pPr algn="l">
              <a:spcAft>
                <a:spcPts val="200"/>
              </a:spcAft>
            </a:pPr>
            <a:r>
              <a:rPr sz="1050" b="0">
                <a:solidFill>
                  <a:srgbClr val="5B6372"/>
                </a:solidFill>
                <a:latin typeface="Arial"/>
              </a:rPr>
              <a:t>Six fields — subject, action, environment, camera, style, constraints — or the same fields as JSON. Lock the fields that must not change, vary one factor at a time, and explore on a fast, cheap model before committing credits.</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04616"/>
            <a:ext cx="4027932" cy="1164336"/>
          </a:xfrm>
          <a:prstGeom prst="rect">
            <a:avLst/>
          </a:prstGeom>
          <a:noFill/>
        </p:spPr>
        <p:txBody>
          <a:bodyPr wrap="square" anchor="ctr">
            <a:spAutoFit/>
          </a:bodyPr>
          <a:lstStyle/>
          <a:p>
            <a:pPr algn="l">
              <a:spcAft>
                <a:spcPts val="200"/>
              </a:spcAft>
            </a:pPr>
            <a:r>
              <a:rPr sz="1350" b="1">
                <a:solidFill>
                  <a:srgbClr val="161B26"/>
                </a:solidFill>
                <a:latin typeface="Arial"/>
              </a:rPr>
              <a:t>An edit is masked, conditioned regeneration</a:t>
            </a:r>
          </a:p>
          <a:p>
            <a:pPr algn="l">
              <a:spcAft>
                <a:spcPts val="200"/>
              </a:spcAft>
            </a:pPr>
            <a:r>
              <a:rPr sz="1050" b="0">
                <a:solidFill>
                  <a:srgbClr val="5B6372"/>
                </a:solidFill>
                <a:latin typeface="Arial"/>
              </a:rPr>
              <a:t>State variants ('same pier, ferry pulling away — change nothing else'), inpainting to remove a stray object, outpainting to extend 16:9 to 9:16. White = edit, black = preserve in these labs. Always measure the pixels outside the mask: a good-looking edit can still move the background.</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256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34712"/>
            <a:ext cx="4027932" cy="1164336"/>
          </a:xfrm>
          <a:prstGeom prst="rect">
            <a:avLst/>
          </a:prstGeom>
          <a:noFill/>
        </p:spPr>
        <p:txBody>
          <a:bodyPr wrap="square" anchor="ctr">
            <a:spAutoFit/>
          </a:bodyPr>
          <a:lstStyle/>
          <a:p>
            <a:pPr algn="l">
              <a:spcAft>
                <a:spcPts val="200"/>
              </a:spcAft>
            </a:pPr>
            <a:r>
              <a:rPr sz="1350" b="1">
                <a:solidFill>
                  <a:srgbClr val="161B26"/>
                </a:solidFill>
                <a:latin typeface="Arial"/>
              </a:rPr>
              <a:t>Grading is a point operation; filtering is a neighbourhood operation</a:t>
            </a:r>
          </a:p>
          <a:p>
            <a:pPr algn="l">
              <a:spcAft>
                <a:spcPts val="200"/>
              </a:spcAft>
            </a:pPr>
            <a:r>
              <a:rPr sz="1050" b="0">
                <a:solidFill>
                  <a:srgbClr val="5B6372"/>
                </a:solidFill>
                <a:latin typeface="Arial"/>
              </a:rPr>
              <a:t>White balance, curves and a teal-and-orange LUT map each pixel on its own. Blur, denoise and unsharp masking combine neighbouring pixels with a kernel. Resizing and reframing are geometric transforms (affine / perspective).</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256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34712"/>
            <a:ext cx="4027932" cy="1164336"/>
          </a:xfrm>
          <a:prstGeom prst="rect">
            <a:avLst/>
          </a:prstGeom>
          <a:noFill/>
        </p:spPr>
        <p:txBody>
          <a:bodyPr wrap="square" anchor="ctr">
            <a:spAutoFit/>
          </a:bodyPr>
          <a:lstStyle/>
          <a:p>
            <a:pPr algn="l">
              <a:spcAft>
                <a:spcPts val="200"/>
              </a:spcAft>
            </a:pPr>
            <a:r>
              <a:rPr sz="1350" b="1">
                <a:solidFill>
                  <a:srgbClr val="161B26"/>
                </a:solidFill>
                <a:latin typeface="Arial"/>
              </a:rPr>
              <a:t>Enhancement must be measured, not admired</a:t>
            </a:r>
          </a:p>
          <a:p>
            <a:pPr algn="l">
              <a:spcAft>
                <a:spcPts val="200"/>
              </a:spcAft>
            </a:pPr>
            <a:r>
              <a:rPr sz="1050" b="0">
                <a:solidFill>
                  <a:srgbClr val="5B6372"/>
                </a:solidFill>
                <a:latin typeface="Arial"/>
              </a:rPr>
              <a:t>PSNR rewards per-pixel accuracy and forgives blur; SSIM rewards preserved structure. Upscale only the takes you keep, and check for halos and plastic skin before an enhancement reaches the timeline.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fast">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K3 · REPRESENTING IMAGE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 Frame Is a Typed 3-D Array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400800" cy="41605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938528"/>
            <a:ext cx="6035040" cy="3849624"/>
          </a:xfrm>
          <a:prstGeom prst="rect">
            <a:avLst/>
          </a:prstGeom>
          <a:noFill/>
        </p:spPr>
        <p:txBody>
          <a:bodyPr wrap="none" lIns="0" rIns="0" tIns="0" bIns="0" anchor="t">
            <a:noAutofit/>
          </a:bodyPr>
          <a:lstStyle/>
          <a:p>
            <a:pPr>
              <a:spcAft>
                <a:spcPts val="100"/>
              </a:spcAft>
            </a:pPr>
            <a:r>
              <a:rPr sz="1200">
                <a:solidFill>
                  <a:srgbClr val="9CDCFE"/>
                </a:solidFill>
                <a:latin typeface="Consolas"/>
              </a:rPr>
              <a:t>&gt;&gt;&gt; im = cv2.imread('reference/keyframe-shot2.png')</a:t>
            </a:r>
          </a:p>
          <a:p>
            <a:pPr>
              <a:spcAft>
                <a:spcPts val="100"/>
              </a:spcAft>
            </a:pPr>
            <a:r>
              <a:rPr sz="1200">
                <a:solidFill>
                  <a:srgbClr val="9CDCFE"/>
                </a:solidFill>
                <a:latin typeface="Consolas"/>
              </a:rPr>
              <a:t>&gt;&gt;&gt; im.shape, im.dtype</a:t>
            </a:r>
          </a:p>
          <a:p>
            <a:pPr>
              <a:spcAft>
                <a:spcPts val="100"/>
              </a:spcAft>
            </a:pPr>
            <a:r>
              <a:rPr sz="1200">
                <a:solidFill>
                  <a:srgbClr val="9CDCFE"/>
                </a:solidFill>
                <a:latin typeface="Consolas"/>
              </a:rPr>
              <a:t>((540, 960, 3), dtype('uint8'))      # H, W, C</a:t>
            </a:r>
          </a:p>
          <a:p>
            <a:pPr>
              <a:spcAft>
                <a:spcPts val="100"/>
              </a:spcAft>
            </a:pPr>
            <a:r>
              <a:rPr sz="1200">
                <a:solidFill>
                  <a:srgbClr val="9CDCFE"/>
                </a:solidFill>
                <a:latin typeface="Consolas"/>
              </a:rPr>
              <a:t>&gt;&gt;&gt; im[515, 21]                      # [row, col] = [y, x]</a:t>
            </a:r>
          </a:p>
          <a:p>
            <a:pPr>
              <a:spcAft>
                <a:spcPts val="100"/>
              </a:spcAft>
            </a:pPr>
            <a:r>
              <a:rPr sz="1200">
                <a:solidFill>
                  <a:srgbClr val="9CDCFE"/>
                </a:solidFill>
                <a:latin typeface="Consolas"/>
              </a:rPr>
              <a:t>array([255,   0,   0], dtype=uint8)  # pure BLUE: OpenCV is BGR</a:t>
            </a:r>
          </a:p>
          <a:p>
            <a:pPr>
              <a:spcAft>
                <a:spcPts val="100"/>
              </a:spcAft>
            </a:pPr>
            <a:r>
              <a:rPr sz="1200">
                <a:solidFill>
                  <a:srgbClr val="9CDCFE"/>
                </a:solidFill>
                <a:latin typeface="Consolas"/>
              </a:rPr>
              <a:t>&gt;&gt;&gt; cv2.cvtColor(np.uint8([[im[515,21]]]), cv2.COLOR_BGR2HSV)</a:t>
            </a:r>
          </a:p>
          <a:p>
            <a:pPr>
              <a:spcAft>
                <a:spcPts val="100"/>
              </a:spcAft>
            </a:pPr>
            <a:r>
              <a:rPr sz="1200">
                <a:solidFill>
                  <a:srgbClr val="9CDCFE"/>
                </a:solidFill>
                <a:latin typeface="Consolas"/>
              </a:rPr>
              <a:t>array([[[120, 255, 255]]])           # hue 0-179 in 8-bit HSV</a:t>
            </a:r>
          </a:p>
          <a:p>
            <a:pPr>
              <a:spcAft>
                <a:spcPts val="100"/>
              </a:spcAft>
            </a:pPr>
            <a:r>
              <a:rPr sz="1200">
                <a:solidFill>
                  <a:srgbClr val="9CDCFE"/>
                </a:solidFill>
                <a:latin typeface="Consolas"/>
              </a:rPr>
              <a:t>&gt;&gt;&gt; cv2.imread('reference/nope.png')</a:t>
            </a:r>
          </a:p>
          <a:p>
            <a:pPr>
              <a:spcAft>
                <a:spcPts val="100"/>
              </a:spcAft>
            </a:pPr>
            <a:r>
              <a:rPr sz="1200">
                <a:solidFill>
                  <a:srgbClr val="9CDCFE"/>
                </a:solidFill>
                <a:latin typeface="Consolas"/>
              </a:rPr>
              <a:t>None                                 # no exception: guard it</a:t>
            </a:r>
          </a:p>
        </p:txBody>
      </p:sp>
      <p:sp>
        <p:nvSpPr>
          <p:cNvPr id="9" name="Rectangle 8"/>
          <p:cNvSpPr/>
          <p:nvPr/>
        </p:nvSpPr>
        <p:spPr>
          <a:xfrm>
            <a:off x="7406640" y="1783080"/>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06640" y="1783080"/>
            <a:ext cx="82296" cy="91668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26096" y="1783080"/>
            <a:ext cx="3602736" cy="916686"/>
          </a:xfrm>
          <a:prstGeom prst="rect">
            <a:avLst/>
          </a:prstGeom>
          <a:noFill/>
        </p:spPr>
        <p:txBody>
          <a:bodyPr wrap="square" anchor="ctr">
            <a:spAutoFit/>
          </a:bodyPr>
          <a:lstStyle/>
          <a:p>
            <a:pPr algn="l">
              <a:spcAft>
                <a:spcPts val="200"/>
              </a:spcAft>
            </a:pPr>
            <a:r>
              <a:rPr sz="1300" b="1">
                <a:solidFill>
                  <a:srgbClr val="1F6FEB"/>
                </a:solidFill>
                <a:latin typeface="Arial"/>
              </a:rPr>
              <a:t>Shape is (H, W, C)</a:t>
            </a:r>
          </a:p>
          <a:p>
            <a:pPr algn="l">
              <a:spcAft>
                <a:spcPts val="200"/>
              </a:spcAft>
            </a:pPr>
            <a:r>
              <a:rPr sz="1150" b="0">
                <a:solidFill>
                  <a:srgbClr val="161B26"/>
                </a:solidFill>
                <a:latin typeface="Arial"/>
              </a:rPr>
              <a:t>Height first. Index with [y, x]; draw with (x, y).</a:t>
            </a:r>
          </a:p>
        </p:txBody>
      </p:sp>
      <p:sp>
        <p:nvSpPr>
          <p:cNvPr id="12" name="Rectangle 11"/>
          <p:cNvSpPr/>
          <p:nvPr/>
        </p:nvSpPr>
        <p:spPr>
          <a:xfrm>
            <a:off x="7406640" y="2864358"/>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406640" y="2864358"/>
            <a:ext cx="82296" cy="91668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26096" y="2864358"/>
            <a:ext cx="3602736" cy="916686"/>
          </a:xfrm>
          <a:prstGeom prst="rect">
            <a:avLst/>
          </a:prstGeom>
          <a:noFill/>
        </p:spPr>
        <p:txBody>
          <a:bodyPr wrap="square" anchor="ctr">
            <a:spAutoFit/>
          </a:bodyPr>
          <a:lstStyle/>
          <a:p>
            <a:pPr algn="l">
              <a:spcAft>
                <a:spcPts val="200"/>
              </a:spcAft>
            </a:pPr>
            <a:r>
              <a:rPr sz="1300" b="1">
                <a:solidFill>
                  <a:srgbClr val="10B981"/>
                </a:solidFill>
                <a:latin typeface="Arial"/>
              </a:rPr>
              <a:t>BGR, not RGB</a:t>
            </a:r>
          </a:p>
          <a:p>
            <a:pPr algn="l">
              <a:spcAft>
                <a:spcPts val="200"/>
              </a:spcAft>
            </a:pPr>
            <a:r>
              <a:rPr sz="1150" b="0">
                <a:solidFill>
                  <a:srgbClr val="161B26"/>
                </a:solidFill>
                <a:latin typeface="Arial"/>
              </a:rPr>
              <a:t>Convert before plotting or sending to a model API.</a:t>
            </a:r>
          </a:p>
        </p:txBody>
      </p:sp>
      <p:sp>
        <p:nvSpPr>
          <p:cNvPr id="15" name="Rectangle 14"/>
          <p:cNvSpPr/>
          <p:nvPr/>
        </p:nvSpPr>
        <p:spPr>
          <a:xfrm>
            <a:off x="7406640" y="3945636"/>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06640" y="3945636"/>
            <a:ext cx="82296" cy="91668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26096" y="3945636"/>
            <a:ext cx="3602736" cy="916686"/>
          </a:xfrm>
          <a:prstGeom prst="rect">
            <a:avLst/>
          </a:prstGeom>
          <a:noFill/>
        </p:spPr>
        <p:txBody>
          <a:bodyPr wrap="square" anchor="ctr">
            <a:spAutoFit/>
          </a:bodyPr>
          <a:lstStyle/>
          <a:p>
            <a:pPr algn="l">
              <a:spcAft>
                <a:spcPts val="200"/>
              </a:spcAft>
            </a:pPr>
            <a:r>
              <a:rPr sz="1300" b="1">
                <a:solidFill>
                  <a:srgbClr val="7C3AED"/>
                </a:solidFill>
                <a:latin typeface="Arial"/>
              </a:rPr>
              <a:t>uint8 wraps</a:t>
            </a:r>
          </a:p>
          <a:p>
            <a:pPr algn="l">
              <a:spcAft>
                <a:spcPts val="200"/>
              </a:spcAft>
            </a:pPr>
            <a:r>
              <a:rPr sz="1150" b="0">
                <a:solidFill>
                  <a:srgbClr val="161B26"/>
                </a:solidFill>
                <a:latin typeface="Arial"/>
              </a:rPr>
              <a:t>200 + 100 = 44 in uint8. Convert to float for maths.</a:t>
            </a:r>
          </a:p>
        </p:txBody>
      </p:sp>
      <p:sp>
        <p:nvSpPr>
          <p:cNvPr id="18" name="Rectangle 17"/>
          <p:cNvSpPr/>
          <p:nvPr/>
        </p:nvSpPr>
        <p:spPr>
          <a:xfrm>
            <a:off x="7406640" y="5026914"/>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406640" y="5026914"/>
            <a:ext cx="82296" cy="91668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26096" y="5026914"/>
            <a:ext cx="3602736" cy="916686"/>
          </a:xfrm>
          <a:prstGeom prst="rect">
            <a:avLst/>
          </a:prstGeom>
          <a:noFill/>
        </p:spPr>
        <p:txBody>
          <a:bodyPr wrap="square" anchor="ctr">
            <a:spAutoFit/>
          </a:bodyPr>
          <a:lstStyle/>
          <a:p>
            <a:pPr algn="l">
              <a:spcAft>
                <a:spcPts val="200"/>
              </a:spcAft>
            </a:pPr>
            <a:r>
              <a:rPr sz="1300" b="1">
                <a:solidFill>
                  <a:srgbClr val="F59E0B"/>
                </a:solidFill>
                <a:latin typeface="Arial"/>
              </a:rPr>
              <a:t>imread fails silently</a:t>
            </a:r>
          </a:p>
          <a:p>
            <a:pPr algn="l">
              <a:spcAft>
                <a:spcPts val="200"/>
              </a:spcAft>
            </a:pPr>
            <a:r>
              <a:rPr sz="1150" b="0">
                <a:solidFill>
                  <a:srgbClr val="161B26"/>
                </a:solidFill>
                <a:latin typeface="Arial"/>
              </a:rPr>
              <a:t>It returns None; check before using the array.</a:t>
            </a:r>
          </a:p>
        </p:txBody>
      </p:sp>
      <p:sp>
        <p:nvSpPr>
          <p:cNvPr id="21" name="Rectangle 20"/>
          <p:cNvSpPr/>
          <p:nvPr/>
        </p:nvSpPr>
        <p:spPr>
          <a:xfrm>
            <a:off x="777240" y="6053328"/>
            <a:ext cx="10634472" cy="40233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6053328"/>
            <a:ext cx="10241280" cy="402336"/>
          </a:xfrm>
          <a:prstGeom prst="rect">
            <a:avLst/>
          </a:prstGeom>
          <a:noFill/>
        </p:spPr>
        <p:txBody>
          <a:bodyPr wrap="square" anchor="ctr">
            <a:spAutoFit/>
          </a:bodyPr>
          <a:lstStyle/>
          <a:p>
            <a:pPr algn="l">
              <a:spcAft>
                <a:spcPts val="400"/>
              </a:spcAft>
            </a:pPr>
            <a:r>
              <a:rPr sz="1100" b="1">
                <a:solidFill>
                  <a:srgbClr val="127A3E"/>
                </a:solidFill>
                <a:latin typeface="Arial"/>
              </a:rPr>
              <a:t>VERIFY   </a:t>
            </a:r>
            <a:r>
              <a:rPr sz="1200" b="0">
                <a:solidFill>
                  <a:srgbClr val="161B26"/>
                </a:solidFill>
                <a:latin typeface="Arial"/>
              </a:rPr>
              <a:t>Run in Lab 02 — the four colour chips prove the channel order.</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fast">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K3 · REPRESENTING VIDEO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 Film Is Frames Plus a Clock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74519"/>
            <a:ext cx="336194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112263"/>
            <a:ext cx="2996184" cy="457200"/>
          </a:xfrm>
          <a:prstGeom prst="rect">
            <a:avLst/>
          </a:prstGeom>
          <a:noFill/>
        </p:spPr>
        <p:txBody>
          <a:bodyPr wrap="square" anchor="t">
            <a:spAutoFit/>
          </a:bodyPr>
          <a:lstStyle/>
          <a:p>
            <a:pPr algn="l">
              <a:spcAft>
                <a:spcPts val="400"/>
              </a:spcAft>
            </a:pPr>
            <a:r>
              <a:rPr sz="1500" b="1">
                <a:solidFill>
                  <a:srgbClr val="1F6FEB"/>
                </a:solidFill>
                <a:latin typeface="Arial"/>
              </a:rPr>
              <a:t>Duration</a:t>
            </a:r>
          </a:p>
        </p:txBody>
      </p:sp>
      <p:sp>
        <p:nvSpPr>
          <p:cNvPr id="10" name="Rectangle 9"/>
          <p:cNvSpPr/>
          <p:nvPr/>
        </p:nvSpPr>
        <p:spPr>
          <a:xfrm>
            <a:off x="960120" y="2715767"/>
            <a:ext cx="2996184" cy="104241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2715767"/>
            <a:ext cx="2813304" cy="1042416"/>
          </a:xfrm>
          <a:prstGeom prst="rect">
            <a:avLst/>
          </a:prstGeom>
          <a:noFill/>
        </p:spPr>
        <p:txBody>
          <a:bodyPr wrap="none" lIns="0" rIns="0" tIns="0" bIns="0" anchor="ctr">
            <a:noAutofit/>
          </a:bodyPr>
          <a:lstStyle/>
          <a:p>
            <a:pPr>
              <a:spcAft>
                <a:spcPts val="100"/>
              </a:spcAft>
            </a:pPr>
            <a:r>
              <a:rPr sz="1400">
                <a:solidFill>
                  <a:srgbClr val="9CDCFE"/>
                </a:solidFill>
                <a:latin typeface="Consolas"/>
              </a:rPr>
              <a:t>duration_s = frames / fps</a:t>
            </a:r>
          </a:p>
          <a:p>
            <a:pPr>
              <a:spcAft>
                <a:spcPts val="100"/>
              </a:spcAft>
            </a:pPr>
            <a:r>
              <a:rPr sz="1400">
                <a:solidFill>
                  <a:srgbClr val="9CDCFE"/>
                </a:solidFill>
                <a:latin typeface="Consolas"/>
              </a:rPr>
              <a:t>288 / 24 = 12.0 s</a:t>
            </a:r>
          </a:p>
        </p:txBody>
      </p:sp>
      <p:sp>
        <p:nvSpPr>
          <p:cNvPr id="12" name="TextBox 11"/>
          <p:cNvSpPr txBox="1"/>
          <p:nvPr/>
        </p:nvSpPr>
        <p:spPr>
          <a:xfrm>
            <a:off x="960120" y="3867911"/>
            <a:ext cx="2996184" cy="1490472"/>
          </a:xfrm>
          <a:prstGeom prst="rect">
            <a:avLst/>
          </a:prstGeom>
          <a:noFill/>
        </p:spPr>
        <p:txBody>
          <a:bodyPr wrap="square" anchor="t">
            <a:spAutoFit/>
          </a:bodyPr>
          <a:lstStyle/>
          <a:p>
            <a:pPr algn="l">
              <a:spcAft>
                <a:spcPts val="400"/>
              </a:spcAft>
            </a:pPr>
            <a:r>
              <a:rPr sz="1200" b="0">
                <a:solidFill>
                  <a:srgbClr val="5B6372"/>
                </a:solidFill>
                <a:latin typeface="Arial"/>
              </a:rPr>
              <a:t>Count frames when it matters: containers can misreport the declared count.</a:t>
            </a:r>
          </a:p>
        </p:txBody>
      </p:sp>
      <p:sp>
        <p:nvSpPr>
          <p:cNvPr id="13" name="Rectangle 12"/>
          <p:cNvSpPr/>
          <p:nvPr/>
        </p:nvSpPr>
        <p:spPr>
          <a:xfrm>
            <a:off x="4413504"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13504" y="1874519"/>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96384" y="2112263"/>
            <a:ext cx="2996184" cy="457200"/>
          </a:xfrm>
          <a:prstGeom prst="rect">
            <a:avLst/>
          </a:prstGeom>
          <a:noFill/>
        </p:spPr>
        <p:txBody>
          <a:bodyPr wrap="square" anchor="t">
            <a:spAutoFit/>
          </a:bodyPr>
          <a:lstStyle/>
          <a:p>
            <a:pPr algn="l">
              <a:spcAft>
                <a:spcPts val="400"/>
              </a:spcAft>
            </a:pPr>
            <a:r>
              <a:rPr sz="1500" b="1">
                <a:solidFill>
                  <a:srgbClr val="10B981"/>
                </a:solidFill>
                <a:latin typeface="Arial"/>
              </a:rPr>
              <a:t>Uncompressed rate</a:t>
            </a:r>
          </a:p>
        </p:txBody>
      </p:sp>
      <p:sp>
        <p:nvSpPr>
          <p:cNvPr id="16" name="Rectangle 15"/>
          <p:cNvSpPr/>
          <p:nvPr/>
        </p:nvSpPr>
        <p:spPr>
          <a:xfrm>
            <a:off x="4596384" y="2715767"/>
            <a:ext cx="2996184" cy="104241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87824" y="2715767"/>
            <a:ext cx="2813304" cy="1042416"/>
          </a:xfrm>
          <a:prstGeom prst="rect">
            <a:avLst/>
          </a:prstGeom>
          <a:noFill/>
        </p:spPr>
        <p:txBody>
          <a:bodyPr wrap="none" lIns="0" rIns="0" tIns="0" bIns="0" anchor="ctr">
            <a:noAutofit/>
          </a:bodyPr>
          <a:lstStyle/>
          <a:p>
            <a:pPr>
              <a:spcAft>
                <a:spcPts val="100"/>
              </a:spcAft>
            </a:pPr>
            <a:r>
              <a:rPr sz="1300">
                <a:solidFill>
                  <a:srgbClr val="9CDCFE"/>
                </a:solidFill>
                <a:latin typeface="Consolas"/>
              </a:rPr>
              <a:t>W x H x 3 x fps</a:t>
            </a:r>
          </a:p>
          <a:p>
            <a:pPr>
              <a:spcAft>
                <a:spcPts val="100"/>
              </a:spcAft>
            </a:pPr>
            <a:r>
              <a:rPr sz="1300">
                <a:solidFill>
                  <a:srgbClr val="9CDCFE"/>
                </a:solidFill>
                <a:latin typeface="Consolas"/>
              </a:rPr>
              <a:t>1920x1080x3x24 = 149.3 MB/s</a:t>
            </a:r>
          </a:p>
        </p:txBody>
      </p:sp>
      <p:sp>
        <p:nvSpPr>
          <p:cNvPr id="18" name="TextBox 17"/>
          <p:cNvSpPr txBox="1"/>
          <p:nvPr/>
        </p:nvSpPr>
        <p:spPr>
          <a:xfrm>
            <a:off x="4596384" y="3867911"/>
            <a:ext cx="2996184" cy="1490472"/>
          </a:xfrm>
          <a:prstGeom prst="rect">
            <a:avLst/>
          </a:prstGeom>
          <a:noFill/>
        </p:spPr>
        <p:txBody>
          <a:bodyPr wrap="square" anchor="t">
            <a:spAutoFit/>
          </a:bodyPr>
          <a:lstStyle/>
          <a:p>
            <a:pPr algn="l">
              <a:spcAft>
                <a:spcPts val="400"/>
              </a:spcAft>
            </a:pPr>
            <a:r>
              <a:rPr sz="1200" b="0">
                <a:solidFill>
                  <a:srgbClr val="5B6372"/>
                </a:solidFill>
                <a:latin typeface="Arial"/>
              </a:rPr>
              <a:t>Why raw frames never travel: a 48-second master would be 7.2 GB.</a:t>
            </a:r>
          </a:p>
        </p:txBody>
      </p:sp>
      <p:sp>
        <p:nvSpPr>
          <p:cNvPr id="19" name="Rectangle 18"/>
          <p:cNvSpPr/>
          <p:nvPr/>
        </p:nvSpPr>
        <p:spPr>
          <a:xfrm>
            <a:off x="8049768"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9768" y="1874519"/>
            <a:ext cx="336194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2648" y="2112263"/>
            <a:ext cx="2996184" cy="457200"/>
          </a:xfrm>
          <a:prstGeom prst="rect">
            <a:avLst/>
          </a:prstGeom>
          <a:noFill/>
        </p:spPr>
        <p:txBody>
          <a:bodyPr wrap="square" anchor="t">
            <a:spAutoFit/>
          </a:bodyPr>
          <a:lstStyle/>
          <a:p>
            <a:pPr algn="l">
              <a:spcAft>
                <a:spcPts val="400"/>
              </a:spcAft>
            </a:pPr>
            <a:r>
              <a:rPr sz="1500" b="1">
                <a:solidFill>
                  <a:srgbClr val="7C3AED"/>
                </a:solidFill>
                <a:latin typeface="Arial"/>
              </a:rPr>
              <a:t>Bitrate</a:t>
            </a:r>
          </a:p>
        </p:txBody>
      </p:sp>
      <p:sp>
        <p:nvSpPr>
          <p:cNvPr id="22" name="Rectangle 21"/>
          <p:cNvSpPr/>
          <p:nvPr/>
        </p:nvSpPr>
        <p:spPr>
          <a:xfrm>
            <a:off x="8232648" y="2715767"/>
            <a:ext cx="2996184" cy="104241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24088" y="2715767"/>
            <a:ext cx="2813304" cy="1042416"/>
          </a:xfrm>
          <a:prstGeom prst="rect">
            <a:avLst/>
          </a:prstGeom>
          <a:noFill/>
        </p:spPr>
        <p:txBody>
          <a:bodyPr wrap="none" lIns="0" rIns="0" tIns="0" bIns="0" anchor="ctr">
            <a:noAutofit/>
          </a:bodyPr>
          <a:lstStyle/>
          <a:p>
            <a:pPr>
              <a:spcAft>
                <a:spcPts val="100"/>
              </a:spcAft>
            </a:pPr>
            <a:r>
              <a:rPr sz="1170">
                <a:solidFill>
                  <a:srgbClr val="9CDCFE"/>
                </a:solidFill>
                <a:latin typeface="Consolas"/>
              </a:rPr>
              <a:t>bitrate = bytes x 8 / duration</a:t>
            </a:r>
          </a:p>
          <a:p>
            <a:pPr>
              <a:spcAft>
                <a:spcPts val="100"/>
              </a:spcAft>
            </a:pPr>
            <a:r>
              <a:rPr sz="1170">
                <a:solidFill>
                  <a:srgbClr val="9CDCFE"/>
                </a:solidFill>
                <a:latin typeface="Consolas"/>
              </a:rPr>
              <a:t>4.87 MB -&gt; 3.2 Mb/s</a:t>
            </a:r>
          </a:p>
        </p:txBody>
      </p:sp>
      <p:sp>
        <p:nvSpPr>
          <p:cNvPr id="24" name="TextBox 23"/>
          <p:cNvSpPr txBox="1"/>
          <p:nvPr/>
        </p:nvSpPr>
        <p:spPr>
          <a:xfrm>
            <a:off x="8232648" y="3867911"/>
            <a:ext cx="2996184" cy="1490472"/>
          </a:xfrm>
          <a:prstGeom prst="rect">
            <a:avLst/>
          </a:prstGeom>
          <a:noFill/>
        </p:spPr>
        <p:txBody>
          <a:bodyPr wrap="square" anchor="t">
            <a:spAutoFit/>
          </a:bodyPr>
          <a:lstStyle/>
          <a:p>
            <a:pPr algn="l">
              <a:spcAft>
                <a:spcPts val="400"/>
              </a:spcAft>
            </a:pPr>
            <a:r>
              <a:rPr sz="1200" b="0">
                <a:solidFill>
                  <a:srgbClr val="5B6372"/>
                </a:solidFill>
                <a:latin typeface="Arial"/>
              </a:rPr>
              <a:t>The classroom rough cut compresses about 92:1 against its raw rate.</a:t>
            </a:r>
          </a:p>
        </p:txBody>
      </p:sp>
      <p:sp>
        <p:nvSpPr>
          <p:cNvPr id="25" name="TextBox 24"/>
          <p:cNvSpPr txBox="1"/>
          <p:nvPr/>
        </p:nvSpPr>
        <p:spPr>
          <a:xfrm>
            <a:off x="777240" y="5715000"/>
            <a:ext cx="10698480" cy="548640"/>
          </a:xfrm>
          <a:prstGeom prst="rect">
            <a:avLst/>
          </a:prstGeom>
          <a:noFill/>
        </p:spPr>
        <p:txBody>
          <a:bodyPr wrap="square" anchor="ctr">
            <a:spAutoFit/>
          </a:bodyPr>
          <a:lstStyle/>
          <a:p>
            <a:pPr algn="ctr">
              <a:spcAft>
                <a:spcPts val="400"/>
              </a:spcAft>
            </a:pPr>
            <a:r>
              <a:rPr sz="1300" b="0">
                <a:solidFill>
                  <a:srgbClr val="5B6372"/>
                </a:solidFill>
                <a:latin typeface="Arial"/>
              </a:rPr>
              <a:t>Measured on the Lab 02 rough cut (960x540, 24 fps). A production master is 1920x1080 at the same aspect ratio.</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fast">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K3 · ASPECT RATIO IS A DELIVERY DECISION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What Each Delivery Format Keeps of a 16:9 Master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6675120" cy="3977639"/>
        </p:xfrm>
        <a:graphic>
          <a:graphicData uri="http://schemas.openxmlformats.org/drawingml/2006/chart">
            <c:chart xmlns:c="http://schemas.openxmlformats.org/drawingml/2006/chart" r:id="rId2"/>
          </a:graphicData>
        </a:graphic>
      </p:graphicFrame>
      <p:sp>
        <p:nvSpPr>
          <p:cNvPr id="8" name="Rectangle 7"/>
          <p:cNvSpPr/>
          <p:nvPr/>
        </p:nvSpPr>
        <p:spPr>
          <a:xfrm>
            <a:off x="7680960" y="1783080"/>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80960" y="1783080"/>
            <a:ext cx="82296" cy="87096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82128" y="1783080"/>
            <a:ext cx="3346704" cy="870965"/>
          </a:xfrm>
          <a:prstGeom prst="rect">
            <a:avLst/>
          </a:prstGeom>
          <a:noFill/>
        </p:spPr>
        <p:txBody>
          <a:bodyPr wrap="square" anchor="ctr">
            <a:spAutoFit/>
          </a:bodyPr>
          <a:lstStyle/>
          <a:p>
            <a:pPr algn="l">
              <a:spcAft>
                <a:spcPts val="200"/>
              </a:spcAft>
            </a:pPr>
            <a:r>
              <a:rPr sz="1250" b="1">
                <a:solidFill>
                  <a:srgbClr val="1F6FEB"/>
                </a:solidFill>
                <a:latin typeface="Arial"/>
              </a:rPr>
              <a:t>9:16 keeps under a third</a:t>
            </a:r>
          </a:p>
          <a:p>
            <a:pPr algn="l">
              <a:spcAft>
                <a:spcPts val="200"/>
              </a:spcAft>
            </a:pPr>
            <a:r>
              <a:rPr sz="1100" b="0">
                <a:solidFill>
                  <a:srgbClr val="161B26"/>
                </a:solidFill>
                <a:latin typeface="Arial"/>
              </a:rPr>
              <a:t>Anything outside the centre third is lost.</a:t>
            </a:r>
          </a:p>
        </p:txBody>
      </p:sp>
      <p:sp>
        <p:nvSpPr>
          <p:cNvPr id="11" name="Rectangle 10"/>
          <p:cNvSpPr/>
          <p:nvPr/>
        </p:nvSpPr>
        <p:spPr>
          <a:xfrm>
            <a:off x="7680960" y="2818637"/>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680960" y="2818637"/>
            <a:ext cx="82296" cy="87096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82128" y="2818637"/>
            <a:ext cx="3346704" cy="870965"/>
          </a:xfrm>
          <a:prstGeom prst="rect">
            <a:avLst/>
          </a:prstGeom>
          <a:noFill/>
        </p:spPr>
        <p:txBody>
          <a:bodyPr wrap="square" anchor="ctr">
            <a:spAutoFit/>
          </a:bodyPr>
          <a:lstStyle/>
          <a:p>
            <a:pPr algn="l">
              <a:spcAft>
                <a:spcPts val="200"/>
              </a:spcAft>
            </a:pPr>
            <a:r>
              <a:rPr sz="1250" b="1">
                <a:solidFill>
                  <a:srgbClr val="10B981"/>
                </a:solidFill>
                <a:latin typeface="Arial"/>
              </a:rPr>
              <a:t>Decide before generating</a:t>
            </a:r>
          </a:p>
          <a:p>
            <a:pPr algn="l">
              <a:spcAft>
                <a:spcPts val="200"/>
              </a:spcAft>
            </a:pPr>
            <a:r>
              <a:rPr sz="1100" b="0">
                <a:solidFill>
                  <a:srgbClr val="161B26"/>
                </a:solidFill>
                <a:latin typeface="Arial"/>
              </a:rPr>
              <a:t>Native vertical, or keep action central.</a:t>
            </a:r>
          </a:p>
        </p:txBody>
      </p:sp>
      <p:sp>
        <p:nvSpPr>
          <p:cNvPr id="14" name="Rectangle 13"/>
          <p:cNvSpPr/>
          <p:nvPr/>
        </p:nvSpPr>
        <p:spPr>
          <a:xfrm>
            <a:off x="7680960" y="3854194"/>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680960" y="3854194"/>
            <a:ext cx="82296" cy="870965"/>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82128" y="3854194"/>
            <a:ext cx="3346704" cy="870965"/>
          </a:xfrm>
          <a:prstGeom prst="rect">
            <a:avLst/>
          </a:prstGeom>
          <a:noFill/>
        </p:spPr>
        <p:txBody>
          <a:bodyPr wrap="square" anchor="ctr">
            <a:spAutoFit/>
          </a:bodyPr>
          <a:lstStyle/>
          <a:p>
            <a:pPr algn="l">
              <a:spcAft>
                <a:spcPts val="200"/>
              </a:spcAft>
            </a:pPr>
            <a:r>
              <a:rPr sz="1250" b="1">
                <a:solidFill>
                  <a:srgbClr val="7C3AED"/>
                </a:solidFill>
                <a:latin typeface="Arial"/>
              </a:rPr>
              <a:t>Mind the UI zones</a:t>
            </a:r>
          </a:p>
          <a:p>
            <a:pPr algn="l">
              <a:spcAft>
                <a:spcPts val="200"/>
              </a:spcAft>
            </a:pPr>
            <a:r>
              <a:rPr sz="1100" b="0">
                <a:solidFill>
                  <a:srgbClr val="161B26"/>
                </a:solidFill>
                <a:latin typeface="Arial"/>
              </a:rPr>
              <a:t>Vertical apps cover ~14% top and ~20% bottom.</a:t>
            </a:r>
          </a:p>
        </p:txBody>
      </p:sp>
      <p:sp>
        <p:nvSpPr>
          <p:cNvPr id="17" name="Rectangle 16"/>
          <p:cNvSpPr/>
          <p:nvPr/>
        </p:nvSpPr>
        <p:spPr>
          <a:xfrm>
            <a:off x="7680960" y="4889751"/>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0" y="4889751"/>
            <a:ext cx="82296" cy="870965"/>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82128" y="4889751"/>
            <a:ext cx="3346704" cy="870965"/>
          </a:xfrm>
          <a:prstGeom prst="rect">
            <a:avLst/>
          </a:prstGeom>
          <a:noFill/>
        </p:spPr>
        <p:txBody>
          <a:bodyPr wrap="square" anchor="ctr">
            <a:spAutoFit/>
          </a:bodyPr>
          <a:lstStyle/>
          <a:p>
            <a:pPr algn="l">
              <a:spcAft>
                <a:spcPts val="200"/>
              </a:spcAft>
            </a:pPr>
            <a:r>
              <a:rPr sz="1250" b="1">
                <a:solidFill>
                  <a:srgbClr val="F59E0B"/>
                </a:solidFill>
                <a:latin typeface="Arial"/>
              </a:rPr>
              <a:t>Upscaling is not free</a:t>
            </a:r>
          </a:p>
          <a:p>
            <a:pPr algn="l">
              <a:spcAft>
                <a:spcPts val="200"/>
              </a:spcAft>
            </a:pPr>
            <a:r>
              <a:rPr sz="1100" b="0">
                <a:solidFill>
                  <a:srgbClr val="161B26"/>
                </a:solidFill>
                <a:latin typeface="Arial"/>
              </a:rPr>
              <a:t>A 9:16 crop needs about 3.6x to reach 1080x1920.</a:t>
            </a:r>
          </a:p>
        </p:txBody>
      </p:sp>
      <p:sp>
        <p:nvSpPr>
          <p:cNvPr id="20" name="Rectangle 19"/>
          <p:cNvSpPr/>
          <p:nvPr/>
        </p:nvSpPr>
        <p:spPr>
          <a:xfrm>
            <a:off x="777240" y="5925312"/>
            <a:ext cx="1417320"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925312"/>
            <a:ext cx="1417320" cy="310896"/>
          </a:xfrm>
          <a:prstGeom prst="rect">
            <a:avLst/>
          </a:prstGeom>
          <a:noFill/>
        </p:spPr>
        <p:txBody>
          <a:bodyPr wrap="square" anchor="ctr">
            <a:spAutoFit/>
          </a:bodyPr>
          <a:lstStyle/>
          <a:p>
            <a:pPr algn="ctr">
              <a:spcAft>
                <a:spcPts val="400"/>
              </a:spcAft>
            </a:pPr>
            <a:r>
              <a:rPr sz="1050" b="1">
                <a:solidFill>
                  <a:srgbClr val="FFFFFF"/>
                </a:solidFill>
                <a:latin typeface="Arial"/>
              </a:rPr>
              <a:t>MEASURED</a:t>
            </a:r>
          </a:p>
        </p:txBody>
      </p:sp>
      <p:sp>
        <p:nvSpPr>
          <p:cNvPr id="22" name="TextBox 21"/>
          <p:cNvSpPr txBox="1"/>
          <p:nvPr/>
        </p:nvSpPr>
        <p:spPr>
          <a:xfrm>
            <a:off x="2331720" y="5925312"/>
            <a:ext cx="9098280" cy="457200"/>
          </a:xfrm>
          <a:prstGeom prst="rect">
            <a:avLst/>
          </a:prstGeom>
          <a:noFill/>
        </p:spPr>
        <p:txBody>
          <a:bodyPr wrap="square" anchor="ctr">
            <a:spAutoFit/>
          </a:bodyPr>
          <a:lstStyle/>
          <a:p>
            <a:pPr algn="l">
              <a:spcAft>
                <a:spcPts val="400"/>
              </a:spcAft>
            </a:pPr>
            <a:r>
              <a:rPr sz="1150" b="0">
                <a:solidFill>
                  <a:srgbClr val="5B6372"/>
                </a:solidFill>
                <a:latin typeface="Arial"/>
              </a:rPr>
              <a:t>Centre crops of the Lab 02 master, computed by inspect_clip.py.</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fast">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A2 · LAB 02 OUTPUT · YELLOW = PLATFORM SAFE AREA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Reframing the Same Frame for Four Platforms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755648"/>
            <a:ext cx="2562606" cy="146546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02-reframe-youtube.png"/>
          <p:cNvPicPr>
            <a:picLocks noChangeAspect="1"/>
          </p:cNvPicPr>
          <p:nvPr/>
        </p:nvPicPr>
        <p:blipFill>
          <a:blip r:embed="rId2"/>
          <a:stretch>
            <a:fillRect/>
          </a:stretch>
        </p:blipFill>
        <p:spPr>
          <a:xfrm>
            <a:off x="777240" y="1783080"/>
            <a:ext cx="2507742" cy="1410604"/>
          </a:xfrm>
          <a:prstGeom prst="rect">
            <a:avLst/>
          </a:prstGeom>
        </p:spPr>
      </p:pic>
      <p:sp>
        <p:nvSpPr>
          <p:cNvPr id="9" name="TextBox 8"/>
          <p:cNvSpPr txBox="1"/>
          <p:nvPr/>
        </p:nvSpPr>
        <p:spPr>
          <a:xfrm>
            <a:off x="777240" y="3230260"/>
            <a:ext cx="2507742" cy="310896"/>
          </a:xfrm>
          <a:prstGeom prst="rect">
            <a:avLst/>
          </a:prstGeom>
          <a:noFill/>
        </p:spPr>
        <p:txBody>
          <a:bodyPr wrap="square" anchor="t">
            <a:spAutoFit/>
          </a:bodyPr>
          <a:lstStyle/>
          <a:p>
            <a:pPr algn="ctr">
              <a:spcAft>
                <a:spcPts val="400"/>
              </a:spcAft>
            </a:pPr>
            <a:r>
              <a:rPr sz="1050" b="0">
                <a:solidFill>
                  <a:srgbClr val="5B6372"/>
                </a:solidFill>
                <a:latin typeface="Arial"/>
              </a:rPr>
              <a:t>16:9 master</a:t>
            </a:r>
          </a:p>
        </p:txBody>
      </p:sp>
      <p:sp>
        <p:nvSpPr>
          <p:cNvPr id="10" name="Rectangle 9"/>
          <p:cNvSpPr/>
          <p:nvPr/>
        </p:nvSpPr>
        <p:spPr>
          <a:xfrm>
            <a:off x="3458718" y="1755648"/>
            <a:ext cx="2562606" cy="256260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l02-reframe-square.png"/>
          <p:cNvPicPr>
            <a:picLocks noChangeAspect="1"/>
          </p:cNvPicPr>
          <p:nvPr/>
        </p:nvPicPr>
        <p:blipFill>
          <a:blip r:embed="rId3"/>
          <a:stretch>
            <a:fillRect/>
          </a:stretch>
        </p:blipFill>
        <p:spPr>
          <a:xfrm>
            <a:off x="3486150" y="1783080"/>
            <a:ext cx="2507742" cy="2507742"/>
          </a:xfrm>
          <a:prstGeom prst="rect">
            <a:avLst/>
          </a:prstGeom>
        </p:spPr>
      </p:pic>
      <p:sp>
        <p:nvSpPr>
          <p:cNvPr id="12" name="TextBox 11"/>
          <p:cNvSpPr txBox="1"/>
          <p:nvPr/>
        </p:nvSpPr>
        <p:spPr>
          <a:xfrm>
            <a:off x="3486150" y="4327398"/>
            <a:ext cx="2507742" cy="310896"/>
          </a:xfrm>
          <a:prstGeom prst="rect">
            <a:avLst/>
          </a:prstGeom>
          <a:noFill/>
        </p:spPr>
        <p:txBody>
          <a:bodyPr wrap="square" anchor="t">
            <a:spAutoFit/>
          </a:bodyPr>
          <a:lstStyle/>
          <a:p>
            <a:pPr algn="ctr">
              <a:spcAft>
                <a:spcPts val="400"/>
              </a:spcAft>
            </a:pPr>
            <a:r>
              <a:rPr sz="1050" b="0">
                <a:solidFill>
                  <a:srgbClr val="5B6372"/>
                </a:solidFill>
                <a:latin typeface="Arial"/>
              </a:rPr>
              <a:t>1:1</a:t>
            </a:r>
          </a:p>
        </p:txBody>
      </p:sp>
      <p:sp>
        <p:nvSpPr>
          <p:cNvPr id="13" name="Rectangle 12"/>
          <p:cNvSpPr/>
          <p:nvPr/>
        </p:nvSpPr>
        <p:spPr>
          <a:xfrm>
            <a:off x="6167628" y="1755648"/>
            <a:ext cx="2562606" cy="3184897"/>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l02-reframe-feed.png"/>
          <p:cNvPicPr>
            <a:picLocks noChangeAspect="1"/>
          </p:cNvPicPr>
          <p:nvPr/>
        </p:nvPicPr>
        <p:blipFill>
          <a:blip r:embed="rId4"/>
          <a:stretch>
            <a:fillRect/>
          </a:stretch>
        </p:blipFill>
        <p:spPr>
          <a:xfrm>
            <a:off x="6195060" y="1783080"/>
            <a:ext cx="2507742" cy="3130033"/>
          </a:xfrm>
          <a:prstGeom prst="rect">
            <a:avLst/>
          </a:prstGeom>
        </p:spPr>
      </p:pic>
      <p:sp>
        <p:nvSpPr>
          <p:cNvPr id="15" name="TextBox 14"/>
          <p:cNvSpPr txBox="1"/>
          <p:nvPr/>
        </p:nvSpPr>
        <p:spPr>
          <a:xfrm>
            <a:off x="6195060" y="4949689"/>
            <a:ext cx="2507742" cy="310896"/>
          </a:xfrm>
          <a:prstGeom prst="rect">
            <a:avLst/>
          </a:prstGeom>
          <a:noFill/>
        </p:spPr>
        <p:txBody>
          <a:bodyPr wrap="square" anchor="t">
            <a:spAutoFit/>
          </a:bodyPr>
          <a:lstStyle/>
          <a:p>
            <a:pPr algn="ctr">
              <a:spcAft>
                <a:spcPts val="400"/>
              </a:spcAft>
            </a:pPr>
            <a:r>
              <a:rPr sz="1050" b="0">
                <a:solidFill>
                  <a:srgbClr val="5B6372"/>
                </a:solidFill>
                <a:latin typeface="Arial"/>
              </a:rPr>
              <a:t>4:5</a:t>
            </a:r>
          </a:p>
        </p:txBody>
      </p:sp>
      <p:sp>
        <p:nvSpPr>
          <p:cNvPr id="16" name="Rectangle 15"/>
          <p:cNvSpPr/>
          <p:nvPr/>
        </p:nvSpPr>
        <p:spPr>
          <a:xfrm>
            <a:off x="9137713" y="1755648"/>
            <a:ext cx="2040255" cy="358444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l02-reframe-reels.png"/>
          <p:cNvPicPr>
            <a:picLocks noChangeAspect="1"/>
          </p:cNvPicPr>
          <p:nvPr/>
        </p:nvPicPr>
        <p:blipFill>
          <a:blip r:embed="rId5"/>
          <a:stretch>
            <a:fillRect/>
          </a:stretch>
        </p:blipFill>
        <p:spPr>
          <a:xfrm>
            <a:off x="9165145" y="1783080"/>
            <a:ext cx="1985391" cy="3529584"/>
          </a:xfrm>
          <a:prstGeom prst="rect">
            <a:avLst/>
          </a:prstGeom>
        </p:spPr>
      </p:pic>
      <p:sp>
        <p:nvSpPr>
          <p:cNvPr id="18" name="TextBox 17"/>
          <p:cNvSpPr txBox="1"/>
          <p:nvPr/>
        </p:nvSpPr>
        <p:spPr>
          <a:xfrm>
            <a:off x="8903970" y="5349240"/>
            <a:ext cx="2507742" cy="310896"/>
          </a:xfrm>
          <a:prstGeom prst="rect">
            <a:avLst/>
          </a:prstGeom>
          <a:noFill/>
        </p:spPr>
        <p:txBody>
          <a:bodyPr wrap="square" anchor="t">
            <a:spAutoFit/>
          </a:bodyPr>
          <a:lstStyle/>
          <a:p>
            <a:pPr algn="ctr">
              <a:spcAft>
                <a:spcPts val="400"/>
              </a:spcAft>
            </a:pPr>
            <a:r>
              <a:rPr sz="1050" b="0">
                <a:solidFill>
                  <a:srgbClr val="5B6372"/>
                </a:solidFill>
                <a:latin typeface="Arial"/>
              </a:rPr>
              <a:t>9:16</a:t>
            </a:r>
          </a:p>
        </p:txBody>
      </p:sp>
      <p:sp>
        <p:nvSpPr>
          <p:cNvPr id="19" name="TextBox 18"/>
          <p:cNvSpPr txBox="1"/>
          <p:nvPr/>
        </p:nvSpPr>
        <p:spPr>
          <a:xfrm>
            <a:off x="777240" y="5806440"/>
            <a:ext cx="10634472" cy="548640"/>
          </a:xfrm>
          <a:prstGeom prst="rect">
            <a:avLst/>
          </a:prstGeom>
          <a:noFill/>
        </p:spPr>
        <p:txBody>
          <a:bodyPr wrap="square" anchor="ctr">
            <a:spAutoFit/>
          </a:bodyPr>
          <a:lstStyle/>
          <a:p>
            <a:pPr algn="ctr">
              <a:spcAft>
                <a:spcPts val="400"/>
              </a:spcAft>
            </a:pPr>
            <a:r>
              <a:rPr sz="1250" b="0">
                <a:solidFill>
                  <a:srgbClr val="5B6372"/>
                </a:solidFill>
                <a:latin typeface="Arial"/>
              </a:rPr>
              <a:t>Blocking rule for every shot of The Last Ferry: faces, the red box and all captions stay inside the centre third of the 16:9 frame.</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fast">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K4 · SUBJECT · ACTION · ENVIRONMENT · CAMERA · STYLE · CONSTRAINTS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The Six-Field Shot Prompt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823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SUBJECT</a:t>
            </a:r>
          </a:p>
          <a:p>
            <a:pPr algn="l">
              <a:spcAft>
                <a:spcPts val="200"/>
              </a:spcAft>
            </a:pPr>
            <a:r>
              <a:rPr sz="1000" b="0">
                <a:solidFill>
                  <a:srgbClr val="5B6372"/>
                </a:solidFill>
                <a:latin typeface="Arial"/>
              </a:rPr>
              <a:t>Who, with the element reference: @mei in the yellow raincoat and red scarf.</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8236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ACTION</a:t>
            </a:r>
          </a:p>
          <a:p>
            <a:pPr algn="l">
              <a:spcAft>
                <a:spcPts val="200"/>
              </a:spcAft>
            </a:pPr>
            <a:r>
              <a:rPr sz="1000" b="0">
                <a:solidFill>
                  <a:srgbClr val="5B6372"/>
                </a:solidFill>
                <a:latin typeface="Arial"/>
              </a:rPr>
              <a:t>One clear action per shot: runs past neon signs, box under one arm.</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04616"/>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ENVIRONMENT</a:t>
            </a:r>
          </a:p>
          <a:p>
            <a:pPr algn="l">
              <a:spcAft>
                <a:spcPts val="200"/>
              </a:spcAft>
            </a:pPr>
            <a:r>
              <a:rPr sz="1000" b="0">
                <a:solidFill>
                  <a:srgbClr val="5B6372"/>
                </a:solidFill>
                <a:latin typeface="Arial"/>
              </a:rPr>
              <a:t>The saved location: @night_market, rain, steam, wet ground.</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04616"/>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CAMERA</a:t>
            </a:r>
          </a:p>
          <a:p>
            <a:pPr algn="l">
              <a:spcAft>
                <a:spcPts val="200"/>
              </a:spcAft>
            </a:pPr>
            <a:r>
              <a:rPr sz="1000" b="0">
                <a:solidFill>
                  <a:srgbClr val="5B6372"/>
                </a:solidFill>
                <a:latin typeface="Arial"/>
              </a:rPr>
              <a:t>Shot size, angle, lens, movement — described once.</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256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34712"/>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STYLE</a:t>
            </a:r>
          </a:p>
          <a:p>
            <a:pPr algn="l">
              <a:spcAft>
                <a:spcPts val="200"/>
              </a:spcAft>
            </a:pPr>
            <a:r>
              <a:rPr sz="1000" b="0">
                <a:solidFill>
                  <a:srgbClr val="5B6372"/>
                </a:solidFill>
                <a:latin typeface="Arial"/>
              </a:rPr>
              <a:t>The look bible: blue hour, teal shadows, warm practicals, film grain.</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256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34712"/>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CONSTRAINTS</a:t>
            </a:r>
          </a:p>
          <a:p>
            <a:pPr algn="l">
              <a:spcAft>
                <a:spcPts val="200"/>
              </a:spcAft>
            </a:pPr>
            <a:r>
              <a:rPr sz="1000" b="0">
                <a:solidFill>
                  <a:srgbClr val="5B6372"/>
                </a:solidFill>
                <a:latin typeface="Arial"/>
              </a:rPr>
              <a:t>What must not change: wardrobe colours, no extras, safe area.</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fast">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A2 · LAB 03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Lint Before You Spend a Credit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400800" cy="44348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938528"/>
            <a:ext cx="6035040" cy="4123944"/>
          </a:xfrm>
          <a:prstGeom prst="rect">
            <a:avLst/>
          </a:prstGeom>
          <a:noFill/>
        </p:spPr>
        <p:txBody>
          <a:bodyPr wrap="none" lIns="0" rIns="0" tIns="0" bIns="0" anchor="t">
            <a:noAutofit/>
          </a:bodyPr>
          <a:lstStyle/>
          <a:p>
            <a:pPr>
              <a:spcAft>
                <a:spcPts val="100"/>
              </a:spcAft>
            </a:pPr>
            <a:r>
              <a:rPr sz="1140">
                <a:solidFill>
                  <a:srgbClr val="9CDCFE"/>
                </a:solidFill>
                <a:latin typeface="Consolas"/>
              </a:rPr>
              <a:t>$ python3 prompt_lab.py compose --fields data/shot2-fields-v1.json</a:t>
            </a:r>
          </a:p>
          <a:p>
            <a:pPr>
              <a:spcAft>
                <a:spcPts val="100"/>
              </a:spcAft>
            </a:pPr>
            <a:r>
              <a:rPr sz="1140">
                <a:solidFill>
                  <a:srgbClr val="9CDCFE"/>
                </a:solidFill>
                <a:latin typeface="Consolas"/>
              </a:rPr>
              <a:t>PROMPT (28 words)</a:t>
            </a:r>
          </a:p>
          <a:p>
            <a:pPr>
              <a:spcAft>
                <a:spcPts val="100"/>
              </a:spcAft>
            </a:pPr>
            <a:r>
              <a:rPr sz="1140">
                <a:solidFill>
                  <a:srgbClr val="9CDCFE"/>
                </a:solidFill>
                <a:latin typeface="Consolas"/>
              </a:rPr>
              <a:t>  A young woman courier. runs through the market holding a box.</a:t>
            </a:r>
          </a:p>
          <a:p>
            <a:pPr>
              <a:spcAft>
                <a:spcPts val="100"/>
              </a:spcAft>
            </a:pPr>
            <a:r>
              <a:rPr sz="1140">
                <a:solidFill>
                  <a:srgbClr val="9CDCFE"/>
                </a:solidFill>
                <a:latin typeface="Consolas"/>
              </a:rPr>
              <a:t>  a busy night market at noon, neon signs. close-up wide shot.</a:t>
            </a:r>
          </a:p>
          <a:p>
            <a:pPr>
              <a:spcAft>
                <a:spcPts val="100"/>
              </a:spcAft>
            </a:pPr>
            <a:r>
              <a:rPr sz="1140">
                <a:solidFill>
                  <a:srgbClr val="9CDCFE"/>
                </a:solidFill>
                <a:latin typeface="Consolas"/>
              </a:rPr>
              <a:t>  cinematic, cinematic, cinematic film look.</a:t>
            </a:r>
          </a:p>
          <a:p>
            <a:pPr>
              <a:spcAft>
                <a:spcPts val="100"/>
              </a:spcAft>
            </a:pPr>
            <a:r>
              <a:rPr sz="1140">
                <a:solidFill>
                  <a:srgbClr val="9CDCFE"/>
                </a:solidFill>
                <a:latin typeface="Consolas"/>
              </a:rPr>
              <a:t>LINT</a:t>
            </a:r>
          </a:p>
          <a:p>
            <a:pPr>
              <a:spcAft>
                <a:spcPts val="100"/>
              </a:spcAft>
            </a:pPr>
            <a:r>
              <a:rPr sz="1140">
                <a:solidFill>
                  <a:srgbClr val="9CDCFE"/>
                </a:solidFill>
                <a:latin typeface="Consolas"/>
              </a:rPr>
              <a:t>  - MISSING field 'constraints' - the model will invent it</a:t>
            </a:r>
          </a:p>
          <a:p>
            <a:pPr>
              <a:spcAft>
                <a:spcPts val="100"/>
              </a:spcAft>
            </a:pPr>
            <a:r>
              <a:rPr sz="1140">
                <a:solidFill>
                  <a:srgbClr val="9CDCFE"/>
                </a:solidFill>
                <a:latin typeface="Consolas"/>
              </a:rPr>
              <a:t>  - CONFLICT 'night' vs 'noon' - pick one</a:t>
            </a:r>
          </a:p>
          <a:p>
            <a:pPr>
              <a:spcAft>
                <a:spcPts val="100"/>
              </a:spcAft>
            </a:pPr>
            <a:r>
              <a:rPr sz="1140">
                <a:solidFill>
                  <a:srgbClr val="9CDCFE"/>
                </a:solidFill>
                <a:latin typeface="Consolas"/>
              </a:rPr>
              <a:t>  - CONFLICT 'close-up' vs 'wide shot' - pick one</a:t>
            </a:r>
          </a:p>
          <a:p>
            <a:pPr>
              <a:spcAft>
                <a:spcPts val="100"/>
              </a:spcAft>
            </a:pPr>
            <a:r>
              <a:rPr sz="1140">
                <a:solidFill>
                  <a:srgbClr val="9CDCFE"/>
                </a:solidFill>
                <a:latin typeface="Consolas"/>
              </a:rPr>
              <a:t>  - REPEATED ['cinematic'] - repetition dilutes</a:t>
            </a:r>
          </a:p>
          <a:p>
            <a:pPr>
              <a:spcAft>
                <a:spcPts val="100"/>
              </a:spcAft>
            </a:pPr>
            <a:r>
              <a:rPr sz="1140">
                <a:solidFill>
                  <a:srgbClr val="9CDCFE"/>
                </a:solidFill>
                <a:latin typeface="Consolas"/>
              </a:rPr>
              <a:t>  - NO references - attach the character sheet and plate</a:t>
            </a:r>
          </a:p>
        </p:txBody>
      </p:sp>
      <p:sp>
        <p:nvSpPr>
          <p:cNvPr id="9" name="Rectangle 8"/>
          <p:cNvSpPr/>
          <p:nvPr/>
        </p:nvSpPr>
        <p:spPr>
          <a:xfrm>
            <a:off x="7406640" y="1783080"/>
            <a:ext cx="4005072" cy="98526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06640" y="1783080"/>
            <a:ext cx="82296" cy="98526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26096" y="1783080"/>
            <a:ext cx="3602736" cy="985266"/>
          </a:xfrm>
          <a:prstGeom prst="rect">
            <a:avLst/>
          </a:prstGeom>
          <a:noFill/>
        </p:spPr>
        <p:txBody>
          <a:bodyPr wrap="square" anchor="ctr">
            <a:spAutoFit/>
          </a:bodyPr>
          <a:lstStyle/>
          <a:p>
            <a:pPr algn="l">
              <a:spcAft>
                <a:spcPts val="200"/>
              </a:spcAft>
            </a:pPr>
            <a:r>
              <a:rPr sz="1300" b="1">
                <a:solidFill>
                  <a:srgbClr val="1F6FEB"/>
                </a:solidFill>
                <a:latin typeface="Arial"/>
              </a:rPr>
              <a:t>Missing field = invented</a:t>
            </a:r>
          </a:p>
          <a:p>
            <a:pPr algn="l">
              <a:spcAft>
                <a:spcPts val="200"/>
              </a:spcAft>
            </a:pPr>
            <a:r>
              <a:rPr sz="1150" b="0">
                <a:solidFill>
                  <a:srgbClr val="161B26"/>
                </a:solidFill>
                <a:latin typeface="Arial"/>
              </a:rPr>
              <a:t>Anything you leave out, the model decides for you.</a:t>
            </a:r>
          </a:p>
        </p:txBody>
      </p:sp>
      <p:sp>
        <p:nvSpPr>
          <p:cNvPr id="12" name="Rectangle 11"/>
          <p:cNvSpPr/>
          <p:nvPr/>
        </p:nvSpPr>
        <p:spPr>
          <a:xfrm>
            <a:off x="7406640" y="2932938"/>
            <a:ext cx="4005072" cy="98526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406640" y="2932938"/>
            <a:ext cx="82296" cy="98526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26096" y="2932938"/>
            <a:ext cx="3602736" cy="985266"/>
          </a:xfrm>
          <a:prstGeom prst="rect">
            <a:avLst/>
          </a:prstGeom>
          <a:noFill/>
        </p:spPr>
        <p:txBody>
          <a:bodyPr wrap="square" anchor="ctr">
            <a:spAutoFit/>
          </a:bodyPr>
          <a:lstStyle/>
          <a:p>
            <a:pPr algn="l">
              <a:spcAft>
                <a:spcPts val="200"/>
              </a:spcAft>
            </a:pPr>
            <a:r>
              <a:rPr sz="1300" b="1">
                <a:solidFill>
                  <a:srgbClr val="10B981"/>
                </a:solidFill>
                <a:latin typeface="Arial"/>
              </a:rPr>
              <a:t>Contradictions</a:t>
            </a:r>
          </a:p>
          <a:p>
            <a:pPr algn="l">
              <a:spcAft>
                <a:spcPts val="200"/>
              </a:spcAft>
            </a:pPr>
            <a:r>
              <a:rPr sz="1150" b="0">
                <a:solidFill>
                  <a:srgbClr val="161B26"/>
                </a:solidFill>
                <a:latin typeface="Arial"/>
              </a:rPr>
              <a:t>Night and noon cannot both win; one silently loses.</a:t>
            </a:r>
          </a:p>
        </p:txBody>
      </p:sp>
      <p:sp>
        <p:nvSpPr>
          <p:cNvPr id="15" name="Rectangle 14"/>
          <p:cNvSpPr/>
          <p:nvPr/>
        </p:nvSpPr>
        <p:spPr>
          <a:xfrm>
            <a:off x="7406640" y="4082796"/>
            <a:ext cx="4005072" cy="98526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06640" y="4082796"/>
            <a:ext cx="82296" cy="9852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26096" y="4082796"/>
            <a:ext cx="3602736" cy="985266"/>
          </a:xfrm>
          <a:prstGeom prst="rect">
            <a:avLst/>
          </a:prstGeom>
          <a:noFill/>
        </p:spPr>
        <p:txBody>
          <a:bodyPr wrap="square" anchor="ctr">
            <a:spAutoFit/>
          </a:bodyPr>
          <a:lstStyle/>
          <a:p>
            <a:pPr algn="l">
              <a:spcAft>
                <a:spcPts val="200"/>
              </a:spcAft>
            </a:pPr>
            <a:r>
              <a:rPr sz="1300" b="1">
                <a:solidFill>
                  <a:srgbClr val="7C3AED"/>
                </a:solidFill>
                <a:latin typeface="Arial"/>
              </a:rPr>
              <a:t>Repetition</a:t>
            </a:r>
          </a:p>
          <a:p>
            <a:pPr algn="l">
              <a:spcAft>
                <a:spcPts val="200"/>
              </a:spcAft>
            </a:pPr>
            <a:r>
              <a:rPr sz="1150" b="0">
                <a:solidFill>
                  <a:srgbClr val="161B26"/>
                </a:solidFill>
                <a:latin typeface="Arial"/>
              </a:rPr>
              <a:t>Saying it three times does not emphasise it.</a:t>
            </a:r>
          </a:p>
        </p:txBody>
      </p:sp>
      <p:sp>
        <p:nvSpPr>
          <p:cNvPr id="18" name="Rectangle 17"/>
          <p:cNvSpPr/>
          <p:nvPr/>
        </p:nvSpPr>
        <p:spPr>
          <a:xfrm>
            <a:off x="7406640" y="5232654"/>
            <a:ext cx="4005072" cy="98526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406640" y="5232654"/>
            <a:ext cx="82296" cy="98526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26096" y="5232654"/>
            <a:ext cx="3602736" cy="985266"/>
          </a:xfrm>
          <a:prstGeom prst="rect">
            <a:avLst/>
          </a:prstGeom>
          <a:noFill/>
        </p:spPr>
        <p:txBody>
          <a:bodyPr wrap="square" anchor="ctr">
            <a:spAutoFit/>
          </a:bodyPr>
          <a:lstStyle/>
          <a:p>
            <a:pPr algn="l">
              <a:spcAft>
                <a:spcPts val="200"/>
              </a:spcAft>
            </a:pPr>
            <a:r>
              <a:rPr sz="1300" b="1">
                <a:solidFill>
                  <a:srgbClr val="F59E0B"/>
                </a:solidFill>
                <a:latin typeface="Arial"/>
              </a:rPr>
              <a:t>References first</a:t>
            </a:r>
          </a:p>
          <a:p>
            <a:pPr algn="l">
              <a:spcAft>
                <a:spcPts val="200"/>
              </a:spcAft>
            </a:pPr>
            <a:r>
              <a:rPr sz="1150" b="0">
                <a:solidFill>
                  <a:srgbClr val="161B26"/>
                </a:solidFill>
                <a:latin typeface="Arial"/>
              </a:rPr>
              <a:t>@elements go at the front of every prompt.</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fast">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K4 · JSON PROMPTING FOR REPEATABILITY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The Same Shot as a Versioned JSON Prompt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400800" cy="44348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938528"/>
            <a:ext cx="6035040" cy="4123944"/>
          </a:xfrm>
          <a:prstGeom prst="rect">
            <a:avLst/>
          </a:prstGeom>
          <a:noFill/>
        </p:spPr>
        <p:txBody>
          <a:bodyPr wrap="none" lIns="0" rIns="0" tIns="0" bIns="0" anchor="t">
            <a:noAutofit/>
          </a:bodyPr>
          <a:lstStyle/>
          <a:p>
            <a:pPr>
              <a:spcAft>
                <a:spcPts val="100"/>
              </a:spcAft>
            </a:pPr>
            <a:r>
              <a:rPr sz="1050">
                <a:solidFill>
                  <a:srgbClr val="9CDCFE"/>
                </a:solidFill>
                <a:latin typeface="Consolas"/>
              </a:rPr>
              <a:t>{</a:t>
            </a:r>
          </a:p>
          <a:p>
            <a:pPr>
              <a:spcAft>
                <a:spcPts val="100"/>
              </a:spcAft>
            </a:pPr>
            <a:r>
              <a:rPr sz="1050">
                <a:solidFill>
                  <a:srgbClr val="9CDCFE"/>
                </a:solidFill>
                <a:latin typeface="Consolas"/>
              </a:rPr>
              <a:t>  "prompt_version": "shot2-v2",</a:t>
            </a:r>
          </a:p>
          <a:p>
            <a:pPr>
              <a:spcAft>
                <a:spcPts val="100"/>
              </a:spcAft>
            </a:pPr>
            <a:r>
              <a:rPr sz="1050">
                <a:solidFill>
                  <a:srgbClr val="9CDCFE"/>
                </a:solidFill>
                <a:latin typeface="Consolas"/>
              </a:rPr>
              <a:t>  "references": ["mei_sheet_v1", "night_market_plate_v1", "red_box_v1"],</a:t>
            </a:r>
          </a:p>
          <a:p>
            <a:pPr>
              <a:spcAft>
                <a:spcPts val="100"/>
              </a:spcAft>
            </a:pPr>
            <a:r>
              <a:rPr sz="1050">
                <a:solidFill>
                  <a:srgbClr val="9CDCFE"/>
                </a:solidFill>
                <a:latin typeface="Consolas"/>
              </a:rPr>
              <a:t>  "subject": "MEI: yellow hooded raincoat, red scarf, black bag ...",</a:t>
            </a:r>
          </a:p>
          <a:p>
            <a:pPr>
              <a:spcAft>
                <a:spcPts val="100"/>
              </a:spcAft>
            </a:pPr>
            <a:r>
              <a:rPr sz="1050">
                <a:solidFill>
                  <a:srgbClr val="9CDCFE"/>
                </a:solidFill>
                <a:latin typeface="Consolas"/>
              </a:rPr>
              <a:t>  "action": "runs past neon signs, the red box under one arm",</a:t>
            </a:r>
          </a:p>
          <a:p>
            <a:pPr>
              <a:spcAft>
                <a:spcPts val="100"/>
              </a:spcAft>
            </a:pPr>
            <a:r>
              <a:rPr sz="1050">
                <a:solidFill>
                  <a:srgbClr val="9CDCFE"/>
                </a:solidFill>
                <a:latin typeface="Consolas"/>
              </a:rPr>
              <a:t>  "environment": "night market, light rain, steam, wet ground",</a:t>
            </a:r>
          </a:p>
          <a:p>
            <a:pPr>
              <a:spcAft>
                <a:spcPts val="100"/>
              </a:spcAft>
            </a:pPr>
            <a:r>
              <a:rPr sz="1050">
                <a:solidFill>
                  <a:srgbClr val="9CDCFE"/>
                </a:solidFill>
                <a:latin typeface="Consolas"/>
              </a:rPr>
              <a:t>  "camera": "medium shot, eye level, 35mm, tracking left to right",</a:t>
            </a:r>
          </a:p>
          <a:p>
            <a:pPr>
              <a:spcAft>
                <a:spcPts val="100"/>
              </a:spcAft>
            </a:pPr>
            <a:r>
              <a:rPr sz="1050">
                <a:solidFill>
                  <a:srgbClr val="9CDCFE"/>
                </a:solidFill>
                <a:latin typeface="Consolas"/>
              </a:rPr>
              <a:t>  "style": "blue hour, teal shadows, warm lanterns, 35mm grain",</a:t>
            </a:r>
          </a:p>
          <a:p>
            <a:pPr>
              <a:spcAft>
                <a:spcPts val="100"/>
              </a:spcAft>
            </a:pPr>
            <a:r>
              <a:rPr sz="1050">
                <a:solidFill>
                  <a:srgbClr val="9CDCFE"/>
                </a:solidFill>
                <a:latin typeface="Consolas"/>
              </a:rPr>
              <a:t>  "constraints": "coat and scarf exactly as the sheet; no extras",</a:t>
            </a:r>
          </a:p>
          <a:p>
            <a:pPr>
              <a:spcAft>
                <a:spcPts val="100"/>
              </a:spcAft>
            </a:pPr>
            <a:r>
              <a:rPr sz="1050">
                <a:solidFill>
                  <a:srgbClr val="9CDCFE"/>
                </a:solidFill>
                <a:latin typeface="Consolas"/>
              </a:rPr>
              <a:t>  "negative": ["extra people in foreground", "text", "daylight"],</a:t>
            </a:r>
          </a:p>
          <a:p>
            <a:pPr>
              <a:spcAft>
                <a:spcPts val="100"/>
              </a:spcAft>
            </a:pPr>
            <a:r>
              <a:rPr sz="1050">
                <a:solidFill>
                  <a:srgbClr val="9CDCFE"/>
                </a:solidFill>
                <a:latin typeface="Consolas"/>
              </a:rPr>
              <a:t>  "aspect_ratio": "16:9", "resolution": "1K draft", "seed": 4127</a:t>
            </a:r>
          </a:p>
          <a:p>
            <a:pPr>
              <a:spcAft>
                <a:spcPts val="100"/>
              </a:spcAft>
            </a:pPr>
            <a:r>
              <a:rPr sz="1050">
                <a:solidFill>
                  <a:srgbClr val="9CDCFE"/>
                </a:solidFill>
                <a:latin typeface="Consolas"/>
              </a:rPr>
              <a:t>}</a:t>
            </a:r>
          </a:p>
        </p:txBody>
      </p:sp>
      <p:sp>
        <p:nvSpPr>
          <p:cNvPr id="9" name="Rectangle 8"/>
          <p:cNvSpPr/>
          <p:nvPr/>
        </p:nvSpPr>
        <p:spPr>
          <a:xfrm>
            <a:off x="7406640" y="1783080"/>
            <a:ext cx="4005072" cy="98526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06640" y="1783080"/>
            <a:ext cx="82296" cy="98526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26096" y="1783080"/>
            <a:ext cx="3602736" cy="985266"/>
          </a:xfrm>
          <a:prstGeom prst="rect">
            <a:avLst/>
          </a:prstGeom>
          <a:noFill/>
        </p:spPr>
        <p:txBody>
          <a:bodyPr wrap="square" anchor="ctr">
            <a:spAutoFit/>
          </a:bodyPr>
          <a:lstStyle/>
          <a:p>
            <a:pPr algn="l">
              <a:spcAft>
                <a:spcPts val="200"/>
              </a:spcAft>
            </a:pPr>
            <a:r>
              <a:rPr sz="1300" b="1">
                <a:solidFill>
                  <a:srgbClr val="1F6FEB"/>
                </a:solidFill>
                <a:latin typeface="Arial"/>
              </a:rPr>
              <a:t>Versioned</a:t>
            </a:r>
          </a:p>
          <a:p>
            <a:pPr algn="l">
              <a:spcAft>
                <a:spcPts val="200"/>
              </a:spcAft>
            </a:pPr>
            <a:r>
              <a:rPr sz="1150" b="0">
                <a:solidFill>
                  <a:srgbClr val="161B26"/>
                </a:solidFill>
                <a:latin typeface="Arial"/>
              </a:rPr>
              <a:t>shot2-v2 can be diffed, reviewed and rolled back.</a:t>
            </a:r>
          </a:p>
        </p:txBody>
      </p:sp>
      <p:sp>
        <p:nvSpPr>
          <p:cNvPr id="12" name="Rectangle 11"/>
          <p:cNvSpPr/>
          <p:nvPr/>
        </p:nvSpPr>
        <p:spPr>
          <a:xfrm>
            <a:off x="7406640" y="2932938"/>
            <a:ext cx="4005072" cy="98526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406640" y="2932938"/>
            <a:ext cx="82296" cy="98526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26096" y="2932938"/>
            <a:ext cx="3602736" cy="985266"/>
          </a:xfrm>
          <a:prstGeom prst="rect">
            <a:avLst/>
          </a:prstGeom>
          <a:noFill/>
        </p:spPr>
        <p:txBody>
          <a:bodyPr wrap="square" anchor="ctr">
            <a:spAutoFit/>
          </a:bodyPr>
          <a:lstStyle/>
          <a:p>
            <a:pPr algn="l">
              <a:spcAft>
                <a:spcPts val="200"/>
              </a:spcAft>
            </a:pPr>
            <a:r>
              <a:rPr sz="1300" b="1">
                <a:solidFill>
                  <a:srgbClr val="10B981"/>
                </a:solidFill>
                <a:latin typeface="Arial"/>
              </a:rPr>
              <a:t>Reusable</a:t>
            </a:r>
          </a:p>
          <a:p>
            <a:pPr algn="l">
              <a:spcAft>
                <a:spcPts val="200"/>
              </a:spcAft>
            </a:pPr>
            <a:r>
              <a:rPr sz="1150" b="0">
                <a:solidFill>
                  <a:srgbClr val="161B26"/>
                </a:solidFill>
                <a:latin typeface="Arial"/>
              </a:rPr>
              <a:t>Swap one field to make the next shot.</a:t>
            </a:r>
          </a:p>
        </p:txBody>
      </p:sp>
      <p:sp>
        <p:nvSpPr>
          <p:cNvPr id="15" name="Rectangle 14"/>
          <p:cNvSpPr/>
          <p:nvPr/>
        </p:nvSpPr>
        <p:spPr>
          <a:xfrm>
            <a:off x="7406640" y="4082796"/>
            <a:ext cx="4005072" cy="98526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06640" y="4082796"/>
            <a:ext cx="82296" cy="9852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26096" y="4082796"/>
            <a:ext cx="3602736" cy="985266"/>
          </a:xfrm>
          <a:prstGeom prst="rect">
            <a:avLst/>
          </a:prstGeom>
          <a:noFill/>
        </p:spPr>
        <p:txBody>
          <a:bodyPr wrap="square" anchor="ctr">
            <a:spAutoFit/>
          </a:bodyPr>
          <a:lstStyle/>
          <a:p>
            <a:pPr algn="l">
              <a:spcAft>
                <a:spcPts val="200"/>
              </a:spcAft>
            </a:pPr>
            <a:r>
              <a:rPr sz="1300" b="1">
                <a:solidFill>
                  <a:srgbClr val="7C3AED"/>
                </a:solidFill>
                <a:latin typeface="Arial"/>
              </a:rPr>
              <a:t>Draft first</a:t>
            </a:r>
          </a:p>
          <a:p>
            <a:pPr algn="l">
              <a:spcAft>
                <a:spcPts val="200"/>
              </a:spcAft>
            </a:pPr>
            <a:r>
              <a:rPr sz="1150" b="0">
                <a:solidFill>
                  <a:srgbClr val="161B26"/>
                </a:solidFill>
                <a:latin typeface="Arial"/>
              </a:rPr>
              <a:t>1K draft on a fast model; upscale only keepers.</a:t>
            </a:r>
          </a:p>
        </p:txBody>
      </p:sp>
      <p:sp>
        <p:nvSpPr>
          <p:cNvPr id="18" name="Rectangle 17"/>
          <p:cNvSpPr/>
          <p:nvPr/>
        </p:nvSpPr>
        <p:spPr>
          <a:xfrm>
            <a:off x="7406640" y="5232654"/>
            <a:ext cx="4005072" cy="98526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406640" y="5232654"/>
            <a:ext cx="82296" cy="98526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26096" y="5232654"/>
            <a:ext cx="3602736" cy="985266"/>
          </a:xfrm>
          <a:prstGeom prst="rect">
            <a:avLst/>
          </a:prstGeom>
          <a:noFill/>
        </p:spPr>
        <p:txBody>
          <a:bodyPr wrap="square" anchor="ctr">
            <a:spAutoFit/>
          </a:bodyPr>
          <a:lstStyle/>
          <a:p>
            <a:pPr algn="l">
              <a:spcAft>
                <a:spcPts val="200"/>
              </a:spcAft>
            </a:pPr>
            <a:r>
              <a:rPr sz="1300" b="1">
                <a:solidFill>
                  <a:srgbClr val="F59E0B"/>
                </a:solidFill>
                <a:latin typeface="Arial"/>
              </a:rPr>
              <a:t>Rewriting off</a:t>
            </a:r>
          </a:p>
          <a:p>
            <a:pPr algn="l">
              <a:spcAft>
                <a:spcPts val="200"/>
              </a:spcAft>
            </a:pPr>
            <a:r>
              <a:rPr sz="1150" b="0">
                <a:solidFill>
                  <a:srgbClr val="161B26"/>
                </a:solidFill>
                <a:latin typeface="Arial"/>
              </a:rPr>
              <a:t>Turn automatic prompt rewriting off for long prompts.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fast">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A2 · LAB 03 MEASUREMENT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Locking Fields Reduces Take-to-Take Variation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6675120" cy="3977639"/>
        </p:xfrm>
        <a:graphic>
          <a:graphicData uri="http://schemas.openxmlformats.org/drawingml/2006/chart">
            <c:chart xmlns:c="http://schemas.openxmlformats.org/drawingml/2006/chart" r:id="rId2"/>
          </a:graphicData>
        </a:graphic>
      </p:graphicFrame>
      <p:sp>
        <p:nvSpPr>
          <p:cNvPr id="8" name="Rectangle 7"/>
          <p:cNvSpPr/>
          <p:nvPr/>
        </p:nvSpPr>
        <p:spPr>
          <a:xfrm>
            <a:off x="7680960" y="1783080"/>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80960" y="1783080"/>
            <a:ext cx="82296" cy="87096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82128" y="1783080"/>
            <a:ext cx="3346704" cy="870965"/>
          </a:xfrm>
          <a:prstGeom prst="rect">
            <a:avLst/>
          </a:prstGeom>
          <a:noFill/>
        </p:spPr>
        <p:txBody>
          <a:bodyPr wrap="square" anchor="ctr">
            <a:spAutoFit/>
          </a:bodyPr>
          <a:lstStyle/>
          <a:p>
            <a:pPr algn="l">
              <a:spcAft>
                <a:spcPts val="200"/>
              </a:spcAft>
            </a:pPr>
            <a:r>
              <a:rPr sz="1250" b="1">
                <a:solidFill>
                  <a:srgbClr val="1F6FEB"/>
                </a:solidFill>
                <a:latin typeface="Arial"/>
              </a:rPr>
              <a:t>Subject reference</a:t>
            </a:r>
          </a:p>
          <a:p>
            <a:pPr algn="l">
              <a:spcAft>
                <a:spcPts val="200"/>
              </a:spcAft>
            </a:pPr>
            <a:r>
              <a:rPr sz="1100" b="0">
                <a:solidFill>
                  <a:srgbClr val="161B26"/>
                </a:solidFill>
                <a:latin typeface="Arial"/>
              </a:rPr>
              <a:t>Removes most wardrobe (coat hue) drift.</a:t>
            </a:r>
          </a:p>
        </p:txBody>
      </p:sp>
      <p:sp>
        <p:nvSpPr>
          <p:cNvPr id="11" name="Rectangle 10"/>
          <p:cNvSpPr/>
          <p:nvPr/>
        </p:nvSpPr>
        <p:spPr>
          <a:xfrm>
            <a:off x="7680960" y="2818637"/>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680960" y="2818637"/>
            <a:ext cx="82296" cy="87096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82128" y="2818637"/>
            <a:ext cx="3346704" cy="870965"/>
          </a:xfrm>
          <a:prstGeom prst="rect">
            <a:avLst/>
          </a:prstGeom>
          <a:noFill/>
        </p:spPr>
        <p:txBody>
          <a:bodyPr wrap="square" anchor="ctr">
            <a:spAutoFit/>
          </a:bodyPr>
          <a:lstStyle/>
          <a:p>
            <a:pPr algn="l">
              <a:spcAft>
                <a:spcPts val="200"/>
              </a:spcAft>
            </a:pPr>
            <a:r>
              <a:rPr sz="1250" b="1">
                <a:solidFill>
                  <a:srgbClr val="10B981"/>
                </a:solidFill>
                <a:latin typeface="Arial"/>
              </a:rPr>
              <a:t>Look locked</a:t>
            </a:r>
          </a:p>
          <a:p>
            <a:pPr algn="l">
              <a:spcAft>
                <a:spcPts val="200"/>
              </a:spcAft>
            </a:pPr>
            <a:r>
              <a:rPr sz="1100" b="0">
                <a:solidFill>
                  <a:srgbClr val="161B26"/>
                </a:solidFill>
                <a:latin typeface="Arial"/>
              </a:rPr>
              <a:t>Removes most background warmth drift.</a:t>
            </a:r>
          </a:p>
        </p:txBody>
      </p:sp>
      <p:sp>
        <p:nvSpPr>
          <p:cNvPr id="14" name="Rectangle 13"/>
          <p:cNvSpPr/>
          <p:nvPr/>
        </p:nvSpPr>
        <p:spPr>
          <a:xfrm>
            <a:off x="7680960" y="3854194"/>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680960" y="3854194"/>
            <a:ext cx="82296" cy="870965"/>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82128" y="3854194"/>
            <a:ext cx="3346704" cy="870965"/>
          </a:xfrm>
          <a:prstGeom prst="rect">
            <a:avLst/>
          </a:prstGeom>
          <a:noFill/>
        </p:spPr>
        <p:txBody>
          <a:bodyPr wrap="square" anchor="ctr">
            <a:spAutoFit/>
          </a:bodyPr>
          <a:lstStyle/>
          <a:p>
            <a:pPr algn="l">
              <a:spcAft>
                <a:spcPts val="200"/>
              </a:spcAft>
            </a:pPr>
            <a:r>
              <a:rPr sz="1250" b="1">
                <a:solidFill>
                  <a:srgbClr val="7C3AED"/>
                </a:solidFill>
                <a:latin typeface="Arial"/>
              </a:rPr>
              <a:t>Camera + constraints</a:t>
            </a:r>
          </a:p>
          <a:p>
            <a:pPr algn="l">
              <a:spcAft>
                <a:spcPts val="200"/>
              </a:spcAft>
            </a:pPr>
            <a:r>
              <a:rPr sz="1100" b="0">
                <a:solidFill>
                  <a:srgbClr val="161B26"/>
                </a:solidFill>
                <a:latin typeface="Arial"/>
              </a:rPr>
              <a:t>Removes blocking and framing drift.</a:t>
            </a:r>
          </a:p>
        </p:txBody>
      </p:sp>
      <p:sp>
        <p:nvSpPr>
          <p:cNvPr id="17" name="Rectangle 16"/>
          <p:cNvSpPr/>
          <p:nvPr/>
        </p:nvSpPr>
        <p:spPr>
          <a:xfrm>
            <a:off x="7680960" y="4889751"/>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0" y="4889751"/>
            <a:ext cx="82296" cy="870965"/>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82128" y="4889751"/>
            <a:ext cx="3346704" cy="870965"/>
          </a:xfrm>
          <a:prstGeom prst="rect">
            <a:avLst/>
          </a:prstGeom>
          <a:noFill/>
        </p:spPr>
        <p:txBody>
          <a:bodyPr wrap="square" anchor="ctr">
            <a:spAutoFit/>
          </a:bodyPr>
          <a:lstStyle/>
          <a:p>
            <a:pPr algn="l">
              <a:spcAft>
                <a:spcPts val="200"/>
              </a:spcAft>
            </a:pPr>
            <a:r>
              <a:rPr sz="1250" b="1">
                <a:solidFill>
                  <a:srgbClr val="F59E0B"/>
                </a:solidFill>
                <a:latin typeface="Arial"/>
              </a:rPr>
              <a:t>Leave some freedom</a:t>
            </a:r>
          </a:p>
          <a:p>
            <a:pPr algn="l">
              <a:spcAft>
                <a:spcPts val="200"/>
              </a:spcAft>
            </a:pPr>
            <a:r>
              <a:rPr sz="1100" b="0">
                <a:solidFill>
                  <a:srgbClr val="161B26"/>
                </a:solidFill>
                <a:latin typeface="Arial"/>
              </a:rPr>
              <a:t>Crowd and steam may vary; the cast may not.</a:t>
            </a:r>
          </a:p>
        </p:txBody>
      </p:sp>
      <p:sp>
        <p:nvSpPr>
          <p:cNvPr id="20" name="Rectangle 19"/>
          <p:cNvSpPr/>
          <p:nvPr/>
        </p:nvSpPr>
        <p:spPr>
          <a:xfrm>
            <a:off x="777240" y="5925312"/>
            <a:ext cx="1417320"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925312"/>
            <a:ext cx="1417320" cy="310896"/>
          </a:xfrm>
          <a:prstGeom prst="rect">
            <a:avLst/>
          </a:prstGeom>
          <a:noFill/>
        </p:spPr>
        <p:txBody>
          <a:bodyPr wrap="square" anchor="ctr">
            <a:spAutoFit/>
          </a:bodyPr>
          <a:lstStyle/>
          <a:p>
            <a:pPr algn="ctr">
              <a:spcAft>
                <a:spcPts val="400"/>
              </a:spcAft>
            </a:pPr>
            <a:r>
              <a:rPr sz="1050" b="1">
                <a:solidFill>
                  <a:srgbClr val="FFFFFF"/>
                </a:solidFill>
                <a:latin typeface="Arial"/>
              </a:rPr>
              <a:t>MEASURED</a:t>
            </a:r>
          </a:p>
        </p:txBody>
      </p:sp>
      <p:sp>
        <p:nvSpPr>
          <p:cNvPr id="22" name="TextBox 21"/>
          <p:cNvSpPr txBox="1"/>
          <p:nvPr/>
        </p:nvSpPr>
        <p:spPr>
          <a:xfrm>
            <a:off x="2331720" y="5925312"/>
            <a:ext cx="9098280" cy="457200"/>
          </a:xfrm>
          <a:prstGeom prst="rect">
            <a:avLst/>
          </a:prstGeom>
          <a:noFill/>
        </p:spPr>
        <p:txBody>
          <a:bodyPr wrap="square" anchor="ctr">
            <a:spAutoFit/>
          </a:bodyPr>
          <a:lstStyle/>
          <a:p>
            <a:pPr algn="l">
              <a:spcAft>
                <a:spcPts val="400"/>
              </a:spcAft>
            </a:pPr>
            <a:r>
              <a:rPr sz="1150" b="0">
                <a:solidFill>
                  <a:srgbClr val="5B6372"/>
                </a:solidFill>
                <a:latin typeface="Arial"/>
              </a:rPr>
              <a:t>Measured by prompt_lab.py on 16 SIMULATED takes with a designed spread; real model output is noisier — rerun on your own takes.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fast">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A2 · SEE THE NUMBERS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Sixteen Takes, Four Prompt Designs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755648"/>
            <a:ext cx="6684264" cy="37839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03-takes-grid.png"/>
          <p:cNvPicPr>
            <a:picLocks noChangeAspect="1"/>
          </p:cNvPicPr>
          <p:nvPr/>
        </p:nvPicPr>
        <p:blipFill>
          <a:blip r:embed="rId2"/>
          <a:stretch>
            <a:fillRect/>
          </a:stretch>
        </p:blipFill>
        <p:spPr>
          <a:xfrm>
            <a:off x="777240" y="1783080"/>
            <a:ext cx="6629400" cy="3729037"/>
          </a:xfrm>
          <a:prstGeom prst="rect">
            <a:avLst/>
          </a:prstGeom>
        </p:spPr>
      </p:pic>
      <p:sp>
        <p:nvSpPr>
          <p:cNvPr id="9" name="TextBox 8"/>
          <p:cNvSpPr txBox="1"/>
          <p:nvPr/>
        </p:nvSpPr>
        <p:spPr>
          <a:xfrm>
            <a:off x="777240" y="5548693"/>
            <a:ext cx="6629400" cy="310896"/>
          </a:xfrm>
          <a:prstGeom prst="rect">
            <a:avLst/>
          </a:prstGeom>
          <a:noFill/>
        </p:spPr>
        <p:txBody>
          <a:bodyPr wrap="square" anchor="t">
            <a:spAutoFit/>
          </a:bodyPr>
          <a:lstStyle/>
          <a:p>
            <a:pPr algn="ctr">
              <a:spcAft>
                <a:spcPts val="400"/>
              </a:spcAft>
            </a:pPr>
            <a:r>
              <a:rPr sz="1050" b="0">
                <a:solidFill>
                  <a:srgbClr val="5B6372"/>
                </a:solidFill>
                <a:latin typeface="Arial"/>
              </a:rPr>
              <a:t>Rows A→D: each row locks more fields; columns are four takes</a:t>
            </a:r>
          </a:p>
        </p:txBody>
      </p:sp>
      <p:sp>
        <p:nvSpPr>
          <p:cNvPr id="10" name="Rectangle 9"/>
          <p:cNvSpPr/>
          <p:nvPr/>
        </p:nvSpPr>
        <p:spPr>
          <a:xfrm>
            <a:off x="7680960" y="1783080"/>
            <a:ext cx="3730752"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680960" y="1783080"/>
            <a:ext cx="82296" cy="92811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82128" y="1783080"/>
            <a:ext cx="3346704" cy="928116"/>
          </a:xfrm>
          <a:prstGeom prst="rect">
            <a:avLst/>
          </a:prstGeom>
          <a:noFill/>
        </p:spPr>
        <p:txBody>
          <a:bodyPr wrap="square" anchor="ctr">
            <a:spAutoFit/>
          </a:bodyPr>
          <a:lstStyle/>
          <a:p>
            <a:pPr algn="l">
              <a:spcAft>
                <a:spcPts val="200"/>
              </a:spcAft>
            </a:pPr>
            <a:r>
              <a:rPr sz="1250" b="1">
                <a:solidFill>
                  <a:srgbClr val="1F6FEB"/>
                </a:solidFill>
                <a:latin typeface="Arial"/>
              </a:rPr>
              <a:t>Row A</a:t>
            </a:r>
          </a:p>
          <a:p>
            <a:pPr algn="l">
              <a:spcAft>
                <a:spcPts val="200"/>
              </a:spcAft>
            </a:pPr>
            <a:r>
              <a:rPr sz="1100" b="0">
                <a:solidFill>
                  <a:srgbClr val="161B26"/>
                </a:solidFill>
                <a:latin typeface="Arial"/>
              </a:rPr>
              <a:t>Coat colour, position and size all wander.</a:t>
            </a:r>
          </a:p>
        </p:txBody>
      </p:sp>
      <p:sp>
        <p:nvSpPr>
          <p:cNvPr id="13" name="Rectangle 12"/>
          <p:cNvSpPr/>
          <p:nvPr/>
        </p:nvSpPr>
        <p:spPr>
          <a:xfrm>
            <a:off x="7680960" y="2875788"/>
            <a:ext cx="3730752"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680960" y="2875788"/>
            <a:ext cx="82296" cy="9281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82128" y="2875788"/>
            <a:ext cx="3346704" cy="928116"/>
          </a:xfrm>
          <a:prstGeom prst="rect">
            <a:avLst/>
          </a:prstGeom>
          <a:noFill/>
        </p:spPr>
        <p:txBody>
          <a:bodyPr wrap="square" anchor="ctr">
            <a:spAutoFit/>
          </a:bodyPr>
          <a:lstStyle/>
          <a:p>
            <a:pPr algn="l">
              <a:spcAft>
                <a:spcPts val="200"/>
              </a:spcAft>
            </a:pPr>
            <a:r>
              <a:rPr sz="1250" b="1">
                <a:solidFill>
                  <a:srgbClr val="10B981"/>
                </a:solidFill>
                <a:latin typeface="Arial"/>
              </a:rPr>
              <a:t>Row B</a:t>
            </a:r>
          </a:p>
          <a:p>
            <a:pPr algn="l">
              <a:spcAft>
                <a:spcPts val="200"/>
              </a:spcAft>
            </a:pPr>
            <a:r>
              <a:rPr sz="1100" b="0">
                <a:solidFill>
                  <a:srgbClr val="161B26"/>
                </a:solidFill>
                <a:latin typeface="Arial"/>
              </a:rPr>
              <a:t>Coat fixed by the sheet; framing still drifts.</a:t>
            </a:r>
          </a:p>
        </p:txBody>
      </p:sp>
      <p:sp>
        <p:nvSpPr>
          <p:cNvPr id="16" name="Rectangle 15"/>
          <p:cNvSpPr/>
          <p:nvPr/>
        </p:nvSpPr>
        <p:spPr>
          <a:xfrm>
            <a:off x="7680960" y="3968496"/>
            <a:ext cx="3730752"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80960" y="3968496"/>
            <a:ext cx="82296" cy="92811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82128" y="3968496"/>
            <a:ext cx="3346704" cy="928116"/>
          </a:xfrm>
          <a:prstGeom prst="rect">
            <a:avLst/>
          </a:prstGeom>
          <a:noFill/>
        </p:spPr>
        <p:txBody>
          <a:bodyPr wrap="square" anchor="ctr">
            <a:spAutoFit/>
          </a:bodyPr>
          <a:lstStyle/>
          <a:p>
            <a:pPr algn="l">
              <a:spcAft>
                <a:spcPts val="200"/>
              </a:spcAft>
            </a:pPr>
            <a:r>
              <a:rPr sz="1250" b="1">
                <a:solidFill>
                  <a:srgbClr val="7C3AED"/>
                </a:solidFill>
                <a:latin typeface="Arial"/>
              </a:rPr>
              <a:t>Row C</a:t>
            </a:r>
          </a:p>
          <a:p>
            <a:pPr algn="l">
              <a:spcAft>
                <a:spcPts val="200"/>
              </a:spcAft>
            </a:pPr>
            <a:r>
              <a:rPr sz="1100" b="0">
                <a:solidFill>
                  <a:srgbClr val="161B26"/>
                </a:solidFill>
                <a:latin typeface="Arial"/>
              </a:rPr>
              <a:t>Look fixed; blocking still moves.</a:t>
            </a:r>
          </a:p>
        </p:txBody>
      </p:sp>
      <p:sp>
        <p:nvSpPr>
          <p:cNvPr id="19" name="Rectangle 18"/>
          <p:cNvSpPr/>
          <p:nvPr/>
        </p:nvSpPr>
        <p:spPr>
          <a:xfrm>
            <a:off x="7680960" y="5061204"/>
            <a:ext cx="3730752"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680960" y="5061204"/>
            <a:ext cx="82296" cy="92811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82128" y="5061204"/>
            <a:ext cx="3346704" cy="928116"/>
          </a:xfrm>
          <a:prstGeom prst="rect">
            <a:avLst/>
          </a:prstGeom>
          <a:noFill/>
        </p:spPr>
        <p:txBody>
          <a:bodyPr wrap="square" anchor="ctr">
            <a:spAutoFit/>
          </a:bodyPr>
          <a:lstStyle/>
          <a:p>
            <a:pPr algn="l">
              <a:spcAft>
                <a:spcPts val="200"/>
              </a:spcAft>
            </a:pPr>
            <a:r>
              <a:rPr sz="1250" b="1">
                <a:solidFill>
                  <a:srgbClr val="F59E0B"/>
                </a:solidFill>
                <a:latin typeface="Arial"/>
              </a:rPr>
              <a:t>Row D</a:t>
            </a:r>
          </a:p>
          <a:p>
            <a:pPr algn="l">
              <a:spcAft>
                <a:spcPts val="200"/>
              </a:spcAft>
            </a:pPr>
            <a:r>
              <a:rPr sz="1100" b="0">
                <a:solidFill>
                  <a:srgbClr val="161B26"/>
                </a:solidFill>
                <a:latin typeface="Arial"/>
              </a:rPr>
              <a:t>Four near-identical takes: pick on performance.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fast">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F59E0B"/>
                </a:solidFill>
                <a:latin typeface="Arial"/>
              </a:rPr>
              <a:t>K4 · CREDIT DISCIPLINE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Explore Cheap, Commit Late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6489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929384"/>
          </a:xfrm>
          <a:prstGeom prst="rect">
            <a:avLst/>
          </a:prstGeom>
          <a:noFill/>
        </p:spPr>
        <p:txBody>
          <a:bodyPr wrap="square" anchor="ctr">
            <a:spAutoFit/>
          </a:bodyPr>
          <a:lstStyle/>
          <a:p>
            <a:pPr algn="l">
              <a:spcAft>
                <a:spcPts val="200"/>
              </a:spcAft>
            </a:pPr>
            <a:r>
              <a:rPr sz="1400" b="1">
                <a:solidFill>
                  <a:srgbClr val="161B26"/>
                </a:solidFill>
                <a:latin typeface="Arial"/>
              </a:rPr>
              <a:t>DRAFT MODELS</a:t>
            </a:r>
          </a:p>
          <a:p>
            <a:pPr algn="l">
              <a:spcAft>
                <a:spcPts val="200"/>
              </a:spcAft>
            </a:pPr>
            <a:r>
              <a:rPr sz="1100" b="0">
                <a:solidFill>
                  <a:srgbClr val="5B6372"/>
                </a:solidFill>
                <a:latin typeface="Arial"/>
              </a:rPr>
              <a:t>Explore looks on a fast, cheap image model at 1K before any high-quality generation.</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6489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929384"/>
          </a:xfrm>
          <a:prstGeom prst="rect">
            <a:avLst/>
          </a:prstGeom>
          <a:noFill/>
        </p:spPr>
        <p:txBody>
          <a:bodyPr wrap="square" anchor="ctr">
            <a:spAutoFit/>
          </a:bodyPr>
          <a:lstStyle/>
          <a:p>
            <a:pPr algn="l">
              <a:spcAft>
                <a:spcPts val="200"/>
              </a:spcAft>
            </a:pPr>
            <a:r>
              <a:rPr sz="1400" b="1">
                <a:solidFill>
                  <a:srgbClr val="161B26"/>
                </a:solidFill>
                <a:latin typeface="Arial"/>
              </a:rPr>
              <a:t>VARIATIONS</a:t>
            </a:r>
          </a:p>
          <a:p>
            <a:pPr algn="l">
              <a:spcAft>
                <a:spcPts val="200"/>
              </a:spcAft>
            </a:pPr>
            <a:r>
              <a:rPr sz="1100" b="0">
                <a:solidFill>
                  <a:srgbClr val="5B6372"/>
                </a:solidFill>
                <a:latin typeface="Arial"/>
              </a:rPr>
              <a:t>Ask for four variations of one prompt, not four prompts.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0036"/>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69664"/>
            <a:ext cx="4027932" cy="1929384"/>
          </a:xfrm>
          <a:prstGeom prst="rect">
            <a:avLst/>
          </a:prstGeom>
          <a:noFill/>
        </p:spPr>
        <p:txBody>
          <a:bodyPr wrap="square" anchor="ctr">
            <a:spAutoFit/>
          </a:bodyPr>
          <a:lstStyle/>
          <a:p>
            <a:pPr algn="l">
              <a:spcAft>
                <a:spcPts val="200"/>
              </a:spcAft>
            </a:pPr>
            <a:r>
              <a:rPr sz="1400" b="1">
                <a:solidFill>
                  <a:srgbClr val="161B26"/>
                </a:solidFill>
                <a:latin typeface="Arial"/>
              </a:rPr>
              <a:t>STILLS BEFORE VIDEO</a:t>
            </a:r>
          </a:p>
          <a:p>
            <a:pPr algn="l">
              <a:spcAft>
                <a:spcPts val="200"/>
              </a:spcAft>
            </a:pPr>
            <a:r>
              <a:rPr sz="1100" b="0">
                <a:solidFill>
                  <a:srgbClr val="5B6372"/>
                </a:solidFill>
                <a:latin typeface="Arial"/>
              </a:rPr>
              <a:t>A still costs a fraction of a clip. Approve the frame, then animate it.</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60036"/>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69664"/>
            <a:ext cx="4027932" cy="1929384"/>
          </a:xfrm>
          <a:prstGeom prst="rect">
            <a:avLst/>
          </a:prstGeom>
          <a:noFill/>
        </p:spPr>
        <p:txBody>
          <a:bodyPr wrap="square" anchor="ctr">
            <a:spAutoFit/>
          </a:bodyPr>
          <a:lstStyle/>
          <a:p>
            <a:pPr algn="l">
              <a:spcAft>
                <a:spcPts val="200"/>
              </a:spcAft>
            </a:pPr>
            <a:r>
              <a:rPr sz="1400" b="1">
                <a:solidFill>
                  <a:srgbClr val="161B26"/>
                </a:solidFill>
                <a:latin typeface="Arial"/>
              </a:rPr>
              <a:t>UPSCALE KEEPERS ONLY</a:t>
            </a:r>
          </a:p>
          <a:p>
            <a:pPr algn="l">
              <a:spcAft>
                <a:spcPts val="200"/>
              </a:spcAft>
            </a:pPr>
            <a:r>
              <a:rPr sz="1100" b="0">
                <a:solidFill>
                  <a:srgbClr val="5B6372"/>
                </a:solidFill>
                <a:latin typeface="Arial"/>
              </a:rPr>
              <a:t>Generate at low resolution; upscale only approved takes.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fast">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K4 · IMAGE TRANSFORMATION AND EDITING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Editing Is Masked, Conditioned Regeneration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74519"/>
            <a:ext cx="336194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112263"/>
            <a:ext cx="2996184" cy="457200"/>
          </a:xfrm>
          <a:prstGeom prst="rect">
            <a:avLst/>
          </a:prstGeom>
          <a:noFill/>
        </p:spPr>
        <p:txBody>
          <a:bodyPr wrap="square" anchor="t">
            <a:spAutoFit/>
          </a:bodyPr>
          <a:lstStyle/>
          <a:p>
            <a:pPr algn="l">
              <a:spcAft>
                <a:spcPts val="400"/>
              </a:spcAft>
            </a:pPr>
            <a:r>
              <a:rPr sz="1500" b="1">
                <a:solidFill>
                  <a:srgbClr val="1F6FEB"/>
                </a:solidFill>
                <a:latin typeface="Arial"/>
              </a:rPr>
              <a:t>Inpaint</a:t>
            </a:r>
          </a:p>
        </p:txBody>
      </p:sp>
      <p:sp>
        <p:nvSpPr>
          <p:cNvPr id="10" name="Rectangle 9"/>
          <p:cNvSpPr/>
          <p:nvPr/>
        </p:nvSpPr>
        <p:spPr>
          <a:xfrm>
            <a:off x="960120" y="2715767"/>
            <a:ext cx="2996184" cy="104241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2715767"/>
            <a:ext cx="2813304" cy="1042416"/>
          </a:xfrm>
          <a:prstGeom prst="rect">
            <a:avLst/>
          </a:prstGeom>
          <a:noFill/>
        </p:spPr>
        <p:txBody>
          <a:bodyPr wrap="none" lIns="0" rIns="0" tIns="0" bIns="0" anchor="ctr">
            <a:noAutofit/>
          </a:bodyPr>
          <a:lstStyle/>
          <a:p>
            <a:pPr>
              <a:spcAft>
                <a:spcPts val="100"/>
              </a:spcAft>
            </a:pPr>
            <a:r>
              <a:rPr sz="1350">
                <a:solidFill>
                  <a:srgbClr val="9CDCFE"/>
                </a:solidFill>
                <a:latin typeface="Consolas"/>
              </a:rPr>
              <a:t>mask = WHITE on the object</a:t>
            </a:r>
          </a:p>
          <a:p>
            <a:pPr>
              <a:spcAft>
                <a:spcPts val="100"/>
              </a:spcAft>
            </a:pPr>
            <a:r>
              <a:rPr sz="1350">
                <a:solidFill>
                  <a:srgbClr val="9CDCFE"/>
                </a:solidFill>
                <a:latin typeface="Consolas"/>
              </a:rPr>
              <a:t>edit inside, keep outside</a:t>
            </a:r>
          </a:p>
        </p:txBody>
      </p:sp>
      <p:sp>
        <p:nvSpPr>
          <p:cNvPr id="12" name="TextBox 11"/>
          <p:cNvSpPr txBox="1"/>
          <p:nvPr/>
        </p:nvSpPr>
        <p:spPr>
          <a:xfrm>
            <a:off x="960120" y="3867911"/>
            <a:ext cx="2996184" cy="1490472"/>
          </a:xfrm>
          <a:prstGeom prst="rect">
            <a:avLst/>
          </a:prstGeom>
          <a:noFill/>
        </p:spPr>
        <p:txBody>
          <a:bodyPr wrap="square" anchor="t">
            <a:spAutoFit/>
          </a:bodyPr>
          <a:lstStyle/>
          <a:p>
            <a:pPr algn="l">
              <a:spcAft>
                <a:spcPts val="400"/>
              </a:spcAft>
            </a:pPr>
            <a:r>
              <a:rPr sz="1200" b="0">
                <a:solidFill>
                  <a:srgbClr val="5B6372"/>
                </a:solidFill>
                <a:latin typeface="Arial"/>
              </a:rPr>
              <a:t>Remove the stray cone; the planks are continued from their surroundings.</a:t>
            </a:r>
          </a:p>
        </p:txBody>
      </p:sp>
      <p:sp>
        <p:nvSpPr>
          <p:cNvPr id="13" name="Rectangle 12"/>
          <p:cNvSpPr/>
          <p:nvPr/>
        </p:nvSpPr>
        <p:spPr>
          <a:xfrm>
            <a:off x="4413504"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13504" y="1874519"/>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96384" y="2112263"/>
            <a:ext cx="2996184" cy="457200"/>
          </a:xfrm>
          <a:prstGeom prst="rect">
            <a:avLst/>
          </a:prstGeom>
          <a:noFill/>
        </p:spPr>
        <p:txBody>
          <a:bodyPr wrap="square" anchor="t">
            <a:spAutoFit/>
          </a:bodyPr>
          <a:lstStyle/>
          <a:p>
            <a:pPr algn="l">
              <a:spcAft>
                <a:spcPts val="400"/>
              </a:spcAft>
            </a:pPr>
            <a:r>
              <a:rPr sz="1500" b="1">
                <a:solidFill>
                  <a:srgbClr val="10B981"/>
                </a:solidFill>
                <a:latin typeface="Arial"/>
              </a:rPr>
              <a:t>State variant</a:t>
            </a:r>
          </a:p>
        </p:txBody>
      </p:sp>
      <p:sp>
        <p:nvSpPr>
          <p:cNvPr id="16" name="Rectangle 15"/>
          <p:cNvSpPr/>
          <p:nvPr/>
        </p:nvSpPr>
        <p:spPr>
          <a:xfrm>
            <a:off x="4596384" y="2715767"/>
            <a:ext cx="2996184" cy="104241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87824" y="2715767"/>
            <a:ext cx="2813304" cy="1042416"/>
          </a:xfrm>
          <a:prstGeom prst="rect">
            <a:avLst/>
          </a:prstGeom>
          <a:noFill/>
        </p:spPr>
        <p:txBody>
          <a:bodyPr wrap="none" lIns="0" rIns="0" tIns="0" bIns="0" anchor="ctr">
            <a:noAutofit/>
          </a:bodyPr>
          <a:lstStyle/>
          <a:p>
            <a:pPr>
              <a:spcAft>
                <a:spcPts val="100"/>
              </a:spcAft>
            </a:pPr>
            <a:r>
              <a:rPr sz="1030">
                <a:solidFill>
                  <a:srgbClr val="9CDCFE"/>
                </a:solidFill>
                <a:latin typeface="Consolas"/>
              </a:rPr>
              <a:t>same plate + 'change nothing else'</a:t>
            </a:r>
          </a:p>
          <a:p>
            <a:pPr>
              <a:spcAft>
                <a:spcPts val="100"/>
              </a:spcAft>
            </a:pPr>
            <a:r>
              <a:rPr sz="1030">
                <a:solidFill>
                  <a:srgbClr val="9CDCFE"/>
                </a:solidFill>
                <a:latin typeface="Consolas"/>
              </a:rPr>
              <a:t>+ allowed zone</a:t>
            </a:r>
          </a:p>
        </p:txBody>
      </p:sp>
      <p:sp>
        <p:nvSpPr>
          <p:cNvPr id="18" name="TextBox 17"/>
          <p:cNvSpPr txBox="1"/>
          <p:nvPr/>
        </p:nvSpPr>
        <p:spPr>
          <a:xfrm>
            <a:off x="4596384" y="3867911"/>
            <a:ext cx="2996184" cy="1490472"/>
          </a:xfrm>
          <a:prstGeom prst="rect">
            <a:avLst/>
          </a:prstGeom>
          <a:noFill/>
        </p:spPr>
        <p:txBody>
          <a:bodyPr wrap="square" anchor="t">
            <a:spAutoFit/>
          </a:bodyPr>
          <a:lstStyle/>
          <a:p>
            <a:pPr algn="l">
              <a:spcAft>
                <a:spcPts val="400"/>
              </a:spcAft>
            </a:pPr>
            <a:r>
              <a:rPr sz="1200" b="0">
                <a:solidFill>
                  <a:srgbClr val="5B6372"/>
                </a:solidFill>
                <a:latin typeface="Arial"/>
              </a:rPr>
              <a:t>Same pier, ferry pulling away. Verify every pixel outside the zone.</a:t>
            </a:r>
          </a:p>
        </p:txBody>
      </p:sp>
      <p:sp>
        <p:nvSpPr>
          <p:cNvPr id="19" name="Rectangle 18"/>
          <p:cNvSpPr/>
          <p:nvPr/>
        </p:nvSpPr>
        <p:spPr>
          <a:xfrm>
            <a:off x="8049768"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9768" y="1874519"/>
            <a:ext cx="336194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2648" y="2112263"/>
            <a:ext cx="2996184" cy="457200"/>
          </a:xfrm>
          <a:prstGeom prst="rect">
            <a:avLst/>
          </a:prstGeom>
          <a:noFill/>
        </p:spPr>
        <p:txBody>
          <a:bodyPr wrap="square" anchor="t">
            <a:spAutoFit/>
          </a:bodyPr>
          <a:lstStyle/>
          <a:p>
            <a:pPr algn="l">
              <a:spcAft>
                <a:spcPts val="400"/>
              </a:spcAft>
            </a:pPr>
            <a:r>
              <a:rPr sz="1500" b="1">
                <a:solidFill>
                  <a:srgbClr val="7C3AED"/>
                </a:solidFill>
                <a:latin typeface="Arial"/>
              </a:rPr>
              <a:t>Outpaint</a:t>
            </a:r>
          </a:p>
        </p:txBody>
      </p:sp>
      <p:sp>
        <p:nvSpPr>
          <p:cNvPr id="22" name="Rectangle 21"/>
          <p:cNvSpPr/>
          <p:nvPr/>
        </p:nvSpPr>
        <p:spPr>
          <a:xfrm>
            <a:off x="8232648" y="2715767"/>
            <a:ext cx="2996184" cy="104241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24088" y="2715767"/>
            <a:ext cx="2813304" cy="1042416"/>
          </a:xfrm>
          <a:prstGeom prst="rect">
            <a:avLst/>
          </a:prstGeom>
          <a:noFill/>
        </p:spPr>
        <p:txBody>
          <a:bodyPr wrap="none" lIns="0" rIns="0" tIns="0" bIns="0" anchor="ctr">
            <a:noAutofit/>
          </a:bodyPr>
          <a:lstStyle/>
          <a:p>
            <a:pPr>
              <a:spcAft>
                <a:spcPts val="100"/>
              </a:spcAft>
            </a:pPr>
            <a:r>
              <a:rPr sz="1400">
                <a:solidFill>
                  <a:srgbClr val="9CDCFE"/>
                </a:solidFill>
                <a:latin typeface="Consolas"/>
              </a:rPr>
              <a:t>canvas 16:9 -&gt; 9:16</a:t>
            </a:r>
          </a:p>
          <a:p>
            <a:pPr>
              <a:spcAft>
                <a:spcPts val="100"/>
              </a:spcAft>
            </a:pPr>
            <a:r>
              <a:rPr sz="1400">
                <a:solidFill>
                  <a:srgbClr val="9CDCFE"/>
                </a:solidFill>
                <a:latin typeface="Consolas"/>
              </a:rPr>
              <a:t>mask = WHITE on new area</a:t>
            </a:r>
          </a:p>
        </p:txBody>
      </p:sp>
      <p:sp>
        <p:nvSpPr>
          <p:cNvPr id="24" name="TextBox 23"/>
          <p:cNvSpPr txBox="1"/>
          <p:nvPr/>
        </p:nvSpPr>
        <p:spPr>
          <a:xfrm>
            <a:off x="8232648" y="3867911"/>
            <a:ext cx="2996184" cy="1490472"/>
          </a:xfrm>
          <a:prstGeom prst="rect">
            <a:avLst/>
          </a:prstGeom>
          <a:noFill/>
        </p:spPr>
        <p:txBody>
          <a:bodyPr wrap="square" anchor="t">
            <a:spAutoFit/>
          </a:bodyPr>
          <a:lstStyle/>
          <a:p>
            <a:pPr algn="l">
              <a:spcAft>
                <a:spcPts val="400"/>
              </a:spcAft>
            </a:pPr>
            <a:r>
              <a:rPr sz="1200" b="0">
                <a:solidFill>
                  <a:srgbClr val="5B6372"/>
                </a:solidFill>
                <a:latin typeface="Arial"/>
              </a:rPr>
              <a:t>Keeps 100% of the source but must generate ~70% of the pixels.</a:t>
            </a:r>
          </a:p>
        </p:txBody>
      </p:sp>
      <p:sp>
        <p:nvSpPr>
          <p:cNvPr id="25" name="TextBox 24"/>
          <p:cNvSpPr txBox="1"/>
          <p:nvPr/>
        </p:nvSpPr>
        <p:spPr>
          <a:xfrm>
            <a:off x="777240" y="5715000"/>
            <a:ext cx="10698480" cy="548640"/>
          </a:xfrm>
          <a:prstGeom prst="rect">
            <a:avLst/>
          </a:prstGeom>
          <a:noFill/>
        </p:spPr>
        <p:txBody>
          <a:bodyPr wrap="square" anchor="ctr">
            <a:spAutoFit/>
          </a:bodyPr>
          <a:lstStyle/>
          <a:p>
            <a:pPr algn="ctr">
              <a:spcAft>
                <a:spcPts val="400"/>
              </a:spcAft>
            </a:pPr>
            <a:r>
              <a:rPr sz="1300" b="0">
                <a:solidFill>
                  <a:srgbClr val="5B6372"/>
                </a:solidFill>
                <a:latin typeface="Arial"/>
              </a:rPr>
              <a:t>Mask convention in this course: WHITE = edit, BLACK = preserve. Some tools use the opposite — always check.</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fast">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A2 · LAB 04 VERIFICATION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'Change Nothing Else' Is a Request, Not a Guarantee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755648"/>
            <a:ext cx="3465576" cy="1973389"/>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04-pier-docked.png"/>
          <p:cNvPicPr>
            <a:picLocks noChangeAspect="1"/>
          </p:cNvPicPr>
          <p:nvPr/>
        </p:nvPicPr>
        <p:blipFill>
          <a:blip r:embed="rId2"/>
          <a:stretch>
            <a:fillRect/>
          </a:stretch>
        </p:blipFill>
        <p:spPr>
          <a:xfrm>
            <a:off x="777240" y="1783080"/>
            <a:ext cx="3410712" cy="1918525"/>
          </a:xfrm>
          <a:prstGeom prst="rect">
            <a:avLst/>
          </a:prstGeom>
        </p:spPr>
      </p:pic>
      <p:sp>
        <p:nvSpPr>
          <p:cNvPr id="9" name="TextBox 8"/>
          <p:cNvSpPr txBox="1"/>
          <p:nvPr/>
        </p:nvSpPr>
        <p:spPr>
          <a:xfrm>
            <a:off x="777240" y="3738181"/>
            <a:ext cx="3410712" cy="310896"/>
          </a:xfrm>
          <a:prstGeom prst="rect">
            <a:avLst/>
          </a:prstGeom>
          <a:noFill/>
        </p:spPr>
        <p:txBody>
          <a:bodyPr wrap="square" anchor="t">
            <a:spAutoFit/>
          </a:bodyPr>
          <a:lstStyle/>
          <a:p>
            <a:pPr algn="ctr">
              <a:spcAft>
                <a:spcPts val="400"/>
              </a:spcAft>
            </a:pPr>
            <a:r>
              <a:rPr sz="1050" b="0">
                <a:solidFill>
                  <a:srgbClr val="5B6372"/>
                </a:solidFill>
                <a:latin typeface="Arial"/>
              </a:rPr>
              <a:t>State A — the plate</a:t>
            </a:r>
          </a:p>
        </p:txBody>
      </p:sp>
      <p:sp>
        <p:nvSpPr>
          <p:cNvPr id="10" name="Rectangle 9"/>
          <p:cNvSpPr/>
          <p:nvPr/>
        </p:nvSpPr>
        <p:spPr>
          <a:xfrm>
            <a:off x="4361688" y="1755648"/>
            <a:ext cx="3465576" cy="1973389"/>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l04-pier-leaving-edit.png"/>
          <p:cNvPicPr>
            <a:picLocks noChangeAspect="1"/>
          </p:cNvPicPr>
          <p:nvPr/>
        </p:nvPicPr>
        <p:blipFill>
          <a:blip r:embed="rId3"/>
          <a:stretch>
            <a:fillRect/>
          </a:stretch>
        </p:blipFill>
        <p:spPr>
          <a:xfrm>
            <a:off x="4389120" y="1783080"/>
            <a:ext cx="3410712" cy="1918525"/>
          </a:xfrm>
          <a:prstGeom prst="rect">
            <a:avLst/>
          </a:prstGeom>
        </p:spPr>
      </p:pic>
      <p:sp>
        <p:nvSpPr>
          <p:cNvPr id="12" name="TextBox 11"/>
          <p:cNvSpPr txBox="1"/>
          <p:nvPr/>
        </p:nvSpPr>
        <p:spPr>
          <a:xfrm>
            <a:off x="4389120" y="3738181"/>
            <a:ext cx="3410712" cy="310896"/>
          </a:xfrm>
          <a:prstGeom prst="rect">
            <a:avLst/>
          </a:prstGeom>
          <a:noFill/>
        </p:spPr>
        <p:txBody>
          <a:bodyPr wrap="square" anchor="t">
            <a:spAutoFit/>
          </a:bodyPr>
          <a:lstStyle/>
          <a:p>
            <a:pPr algn="ctr">
              <a:spcAft>
                <a:spcPts val="400"/>
              </a:spcAft>
            </a:pPr>
            <a:r>
              <a:rPr sz="1050" b="0">
                <a:solidFill>
                  <a:srgbClr val="5B6372"/>
                </a:solidFill>
                <a:latin typeface="Arial"/>
              </a:rPr>
              <a:t>State B — as the model returned it</a:t>
            </a:r>
          </a:p>
        </p:txBody>
      </p:sp>
      <p:sp>
        <p:nvSpPr>
          <p:cNvPr id="13" name="Rectangle 12"/>
          <p:cNvSpPr/>
          <p:nvPr/>
        </p:nvSpPr>
        <p:spPr>
          <a:xfrm>
            <a:off x="7973568" y="1755648"/>
            <a:ext cx="3465576" cy="1973389"/>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l04-heatmap.png"/>
          <p:cNvPicPr>
            <a:picLocks noChangeAspect="1"/>
          </p:cNvPicPr>
          <p:nvPr/>
        </p:nvPicPr>
        <p:blipFill>
          <a:blip r:embed="rId4"/>
          <a:stretch>
            <a:fillRect/>
          </a:stretch>
        </p:blipFill>
        <p:spPr>
          <a:xfrm>
            <a:off x="8001000" y="1783080"/>
            <a:ext cx="3410712" cy="1918525"/>
          </a:xfrm>
          <a:prstGeom prst="rect">
            <a:avLst/>
          </a:prstGeom>
        </p:spPr>
      </p:pic>
      <p:sp>
        <p:nvSpPr>
          <p:cNvPr id="15" name="TextBox 14"/>
          <p:cNvSpPr txBox="1"/>
          <p:nvPr/>
        </p:nvSpPr>
        <p:spPr>
          <a:xfrm>
            <a:off x="8001000" y="3738181"/>
            <a:ext cx="3410712" cy="310896"/>
          </a:xfrm>
          <a:prstGeom prst="rect">
            <a:avLst/>
          </a:prstGeom>
          <a:noFill/>
        </p:spPr>
        <p:txBody>
          <a:bodyPr wrap="square" anchor="t">
            <a:spAutoFit/>
          </a:bodyPr>
          <a:lstStyle/>
          <a:p>
            <a:pPr algn="ctr">
              <a:spcAft>
                <a:spcPts val="400"/>
              </a:spcAft>
            </a:pPr>
            <a:r>
              <a:rPr sz="1050" b="0">
                <a:solidFill>
                  <a:srgbClr val="5B6372"/>
                </a:solidFill>
                <a:latin typeface="Arial"/>
              </a:rPr>
              <a:t>Difference: white box = allowed, red = unrequested</a:t>
            </a:r>
          </a:p>
        </p:txBody>
      </p:sp>
      <p:sp>
        <p:nvSpPr>
          <p:cNvPr id="16" name="TextBox 15"/>
          <p:cNvSpPr txBox="1"/>
          <p:nvPr/>
        </p:nvSpPr>
        <p:spPr>
          <a:xfrm>
            <a:off x="777240" y="5806440"/>
            <a:ext cx="10634472" cy="548640"/>
          </a:xfrm>
          <a:prstGeom prst="rect">
            <a:avLst/>
          </a:prstGeom>
          <a:noFill/>
        </p:spPr>
        <p:txBody>
          <a:bodyPr wrap="square" anchor="ctr">
            <a:spAutoFit/>
          </a:bodyPr>
          <a:lstStyle/>
          <a:p>
            <a:pPr algn="ctr">
              <a:spcAft>
                <a:spcPts val="400"/>
              </a:spcAft>
            </a:pPr>
            <a:r>
              <a:rPr sz="1250" b="0">
                <a:solidFill>
                  <a:srgbClr val="5B6372"/>
                </a:solidFill>
                <a:latin typeface="Arial"/>
              </a:rPr>
              <a:t>The ferry change sits inside the allowed zone. The lamp glow also changed (region [711, 48, 120, 120]): verdict REGENERATE, or fix the lamp with a second masked edit.</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fast">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A2 · LAB 04 REFRAME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Crop or Outpaint for the 9:16 Cut-Down?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6675120" cy="3977639"/>
        </p:xfrm>
        <a:graphic>
          <a:graphicData uri="http://schemas.openxmlformats.org/drawingml/2006/chart">
            <c:chart xmlns:c="http://schemas.openxmlformats.org/drawingml/2006/chart" r:id="rId2"/>
          </a:graphicData>
        </a:graphic>
      </p:graphicFrame>
      <p:sp>
        <p:nvSpPr>
          <p:cNvPr id="8" name="Rectangle 7"/>
          <p:cNvSpPr/>
          <p:nvPr/>
        </p:nvSpPr>
        <p:spPr>
          <a:xfrm>
            <a:off x="7680960" y="1783080"/>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80960" y="1783080"/>
            <a:ext cx="82296" cy="87096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82128" y="1783080"/>
            <a:ext cx="3346704" cy="870965"/>
          </a:xfrm>
          <a:prstGeom prst="rect">
            <a:avLst/>
          </a:prstGeom>
          <a:noFill/>
        </p:spPr>
        <p:txBody>
          <a:bodyPr wrap="square" anchor="ctr">
            <a:spAutoFit/>
          </a:bodyPr>
          <a:lstStyle/>
          <a:p>
            <a:pPr algn="l">
              <a:spcAft>
                <a:spcPts val="200"/>
              </a:spcAft>
            </a:pPr>
            <a:r>
              <a:rPr sz="1250" b="1">
                <a:solidFill>
                  <a:srgbClr val="1F6FEB"/>
                </a:solidFill>
                <a:latin typeface="Arial"/>
              </a:rPr>
              <a:t>Crop</a:t>
            </a:r>
          </a:p>
          <a:p>
            <a:pPr algn="l">
              <a:spcAft>
                <a:spcPts val="200"/>
              </a:spcAft>
            </a:pPr>
            <a:r>
              <a:rPr sz="1100" b="0">
                <a:solidFill>
                  <a:srgbClr val="161B26"/>
                </a:solidFill>
                <a:latin typeface="Arial"/>
              </a:rPr>
              <a:t>Nothing invented; two-thirds of the frame lost.</a:t>
            </a:r>
          </a:p>
        </p:txBody>
      </p:sp>
      <p:sp>
        <p:nvSpPr>
          <p:cNvPr id="11" name="Rectangle 10"/>
          <p:cNvSpPr/>
          <p:nvPr/>
        </p:nvSpPr>
        <p:spPr>
          <a:xfrm>
            <a:off x="7680960" y="2818637"/>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680960" y="2818637"/>
            <a:ext cx="82296" cy="87096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82128" y="2818637"/>
            <a:ext cx="3346704" cy="870965"/>
          </a:xfrm>
          <a:prstGeom prst="rect">
            <a:avLst/>
          </a:prstGeom>
          <a:noFill/>
        </p:spPr>
        <p:txBody>
          <a:bodyPr wrap="square" anchor="ctr">
            <a:spAutoFit/>
          </a:bodyPr>
          <a:lstStyle/>
          <a:p>
            <a:pPr algn="l">
              <a:spcAft>
                <a:spcPts val="200"/>
              </a:spcAft>
            </a:pPr>
            <a:r>
              <a:rPr sz="1250" b="1">
                <a:solidFill>
                  <a:srgbClr val="10B981"/>
                </a:solidFill>
                <a:latin typeface="Arial"/>
              </a:rPr>
              <a:t>Outpaint</a:t>
            </a:r>
          </a:p>
          <a:p>
            <a:pPr algn="l">
              <a:spcAft>
                <a:spcPts val="200"/>
              </a:spcAft>
            </a:pPr>
            <a:r>
              <a:rPr sz="1100" b="0">
                <a:solidFill>
                  <a:srgbClr val="161B26"/>
                </a:solidFill>
                <a:latin typeface="Arial"/>
              </a:rPr>
              <a:t>Whole frame kept; most of the picture is new.</a:t>
            </a:r>
          </a:p>
        </p:txBody>
      </p:sp>
      <p:sp>
        <p:nvSpPr>
          <p:cNvPr id="14" name="Rectangle 13"/>
          <p:cNvSpPr/>
          <p:nvPr/>
        </p:nvSpPr>
        <p:spPr>
          <a:xfrm>
            <a:off x="7680960" y="3854194"/>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680960" y="3854194"/>
            <a:ext cx="82296" cy="870965"/>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82128" y="3854194"/>
            <a:ext cx="3346704" cy="870965"/>
          </a:xfrm>
          <a:prstGeom prst="rect">
            <a:avLst/>
          </a:prstGeom>
          <a:noFill/>
        </p:spPr>
        <p:txBody>
          <a:bodyPr wrap="square" anchor="ctr">
            <a:spAutoFit/>
          </a:bodyPr>
          <a:lstStyle/>
          <a:p>
            <a:pPr algn="l">
              <a:spcAft>
                <a:spcPts val="200"/>
              </a:spcAft>
            </a:pPr>
            <a:r>
              <a:rPr sz="1250" b="1">
                <a:solidFill>
                  <a:srgbClr val="7C3AED"/>
                </a:solidFill>
                <a:latin typeface="Arial"/>
              </a:rPr>
              <a:t>Verify the new area</a:t>
            </a:r>
          </a:p>
          <a:p>
            <a:pPr algn="l">
              <a:spcAft>
                <a:spcPts val="200"/>
              </a:spcAft>
            </a:pPr>
            <a:r>
              <a:rPr sz="1100" b="0">
                <a:solidFill>
                  <a:srgbClr val="161B26"/>
                </a:solidFill>
                <a:latin typeface="Arial"/>
              </a:rPr>
              <a:t>Outpainted sky and pier must match the look.</a:t>
            </a:r>
          </a:p>
        </p:txBody>
      </p:sp>
      <p:sp>
        <p:nvSpPr>
          <p:cNvPr id="17" name="Rectangle 16"/>
          <p:cNvSpPr/>
          <p:nvPr/>
        </p:nvSpPr>
        <p:spPr>
          <a:xfrm>
            <a:off x="7680960" y="4889751"/>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0" y="4889751"/>
            <a:ext cx="82296" cy="870965"/>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82128" y="4889751"/>
            <a:ext cx="3346704" cy="870965"/>
          </a:xfrm>
          <a:prstGeom prst="rect">
            <a:avLst/>
          </a:prstGeom>
          <a:noFill/>
        </p:spPr>
        <p:txBody>
          <a:bodyPr wrap="square" anchor="ctr">
            <a:spAutoFit/>
          </a:bodyPr>
          <a:lstStyle/>
          <a:p>
            <a:pPr algn="l">
              <a:spcAft>
                <a:spcPts val="200"/>
              </a:spcAft>
            </a:pPr>
            <a:r>
              <a:rPr sz="1250" b="1">
                <a:solidFill>
                  <a:srgbClr val="F59E0B"/>
                </a:solidFill>
                <a:latin typeface="Arial"/>
              </a:rPr>
              <a:t>Or generate natively</a:t>
            </a:r>
          </a:p>
          <a:p>
            <a:pPr algn="l">
              <a:spcAft>
                <a:spcPts val="200"/>
              </a:spcAft>
            </a:pPr>
            <a:r>
              <a:rPr sz="1100" b="0">
                <a:solidFill>
                  <a:srgbClr val="161B26"/>
                </a:solidFill>
                <a:latin typeface="Arial"/>
              </a:rPr>
              <a:t>A 9:16 generation avoids both costs.</a:t>
            </a:r>
          </a:p>
        </p:txBody>
      </p:sp>
      <p:sp>
        <p:nvSpPr>
          <p:cNvPr id="20" name="Rectangle 19"/>
          <p:cNvSpPr/>
          <p:nvPr/>
        </p:nvSpPr>
        <p:spPr>
          <a:xfrm>
            <a:off x="777240" y="5925312"/>
            <a:ext cx="1417320"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925312"/>
            <a:ext cx="1417320" cy="310896"/>
          </a:xfrm>
          <a:prstGeom prst="rect">
            <a:avLst/>
          </a:prstGeom>
          <a:noFill/>
        </p:spPr>
        <p:txBody>
          <a:bodyPr wrap="square" anchor="ctr">
            <a:spAutoFit/>
          </a:bodyPr>
          <a:lstStyle/>
          <a:p>
            <a:pPr algn="ctr">
              <a:spcAft>
                <a:spcPts val="400"/>
              </a:spcAft>
            </a:pPr>
            <a:r>
              <a:rPr sz="1050" b="1">
                <a:solidFill>
                  <a:srgbClr val="FFFFFF"/>
                </a:solidFill>
                <a:latin typeface="Arial"/>
              </a:rPr>
              <a:t>MEASURED</a:t>
            </a:r>
          </a:p>
        </p:txBody>
      </p:sp>
      <p:sp>
        <p:nvSpPr>
          <p:cNvPr id="22" name="TextBox 21"/>
          <p:cNvSpPr txBox="1"/>
          <p:nvPr/>
        </p:nvSpPr>
        <p:spPr>
          <a:xfrm>
            <a:off x="2331720" y="5925312"/>
            <a:ext cx="9098280" cy="457200"/>
          </a:xfrm>
          <a:prstGeom prst="rect">
            <a:avLst/>
          </a:prstGeom>
          <a:noFill/>
        </p:spPr>
        <p:txBody>
          <a:bodyPr wrap="square" anchor="ctr">
            <a:spAutoFit/>
          </a:bodyPr>
          <a:lstStyle/>
          <a:p>
            <a:pPr algn="l">
              <a:spcAft>
                <a:spcPts val="400"/>
              </a:spcAft>
            </a:pPr>
            <a:r>
              <a:rPr sz="1150" b="0">
                <a:solidFill>
                  <a:srgbClr val="5B6372"/>
                </a:solidFill>
                <a:latin typeface="Arial"/>
              </a:rPr>
              <a:t>Computed by edit_lab.py reframe on the 960x516 pier plate (banner removed).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fast">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K4 · PROCESSING AND FILTERING METHODS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Point Operations versus Neighbourhood Operations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965960"/>
            <a:ext cx="4754880" cy="365760"/>
          </a:xfrm>
          <a:prstGeom prst="rect">
            <a:avLst/>
          </a:prstGeom>
          <a:noFill/>
        </p:spPr>
        <p:txBody>
          <a:bodyPr wrap="square" anchor="t">
            <a:spAutoFit/>
          </a:bodyPr>
          <a:lstStyle/>
          <a:p>
            <a:pPr algn="l">
              <a:spcAft>
                <a:spcPts val="400"/>
              </a:spcAft>
            </a:pPr>
            <a:r>
              <a:rPr sz="1500" b="1">
                <a:solidFill>
                  <a:srgbClr val="1F6FEB"/>
                </a:solidFill>
                <a:latin typeface="Arial"/>
              </a:rPr>
              <a:t>Grade</a:t>
            </a:r>
          </a:p>
        </p:txBody>
      </p:sp>
      <p:sp>
        <p:nvSpPr>
          <p:cNvPr id="12" name="TextBox 11"/>
          <p:cNvSpPr txBox="1"/>
          <p:nvPr/>
        </p:nvSpPr>
        <p:spPr>
          <a:xfrm>
            <a:off x="6583680" y="1965960"/>
            <a:ext cx="4572000" cy="365760"/>
          </a:xfrm>
          <a:prstGeom prst="rect">
            <a:avLst/>
          </a:prstGeom>
          <a:noFill/>
        </p:spPr>
        <p:txBody>
          <a:bodyPr wrap="square" anchor="t">
            <a:spAutoFit/>
          </a:bodyPr>
          <a:lstStyle/>
          <a:p>
            <a:pPr algn="l">
              <a:spcAft>
                <a:spcPts val="400"/>
              </a:spcAft>
            </a:pPr>
            <a:r>
              <a:rPr sz="1500" b="1">
                <a:solidFill>
                  <a:srgbClr val="10B981"/>
                </a:solidFill>
                <a:latin typeface="Arial"/>
              </a:rPr>
              <a:t>Filter</a:t>
            </a:r>
          </a:p>
        </p:txBody>
      </p:sp>
      <p:sp>
        <p:nvSpPr>
          <p:cNvPr id="13" name="TextBox 12"/>
          <p:cNvSpPr txBox="1"/>
          <p:nvPr/>
        </p:nvSpPr>
        <p:spPr>
          <a:xfrm>
            <a:off x="1005840" y="2423160"/>
            <a:ext cx="4754880" cy="3520440"/>
          </a:xfrm>
          <a:prstGeom prst="rect">
            <a:avLst/>
          </a:prstGeom>
          <a:noFill/>
        </p:spPr>
        <p:txBody>
          <a:bodyPr wrap="square">
            <a:spAutoFit/>
          </a:bodyPr>
          <a:lstStyle/>
          <a:p>
            <a:pPr>
              <a:spcAft>
                <a:spcPts val="800"/>
              </a:spcAft>
            </a:pPr>
            <a:r>
              <a:rPr sz="1300" b="1">
                <a:solidFill>
                  <a:srgbClr val="161B26"/>
                </a:solidFill>
                <a:latin typeface="Arial"/>
              </a:rPr>
              <a:t>•  Point operation: pixel → pixel</a:t>
            </a:r>
          </a:p>
          <a:p>
            <a:pPr>
              <a:spcAft>
                <a:spcPts val="800"/>
              </a:spcAft>
            </a:pPr>
            <a:r>
              <a:rPr sz="1100" b="0">
                <a:solidFill>
                  <a:srgbClr val="5B6372"/>
                </a:solidFill>
                <a:latin typeface="Arial"/>
              </a:rPr>
              <a:t>–  Each output pixel depends only on the same input pixel.</a:t>
            </a:r>
          </a:p>
          <a:p>
            <a:pPr>
              <a:spcAft>
                <a:spcPts val="800"/>
              </a:spcAft>
            </a:pPr>
            <a:r>
              <a:rPr sz="1100" b="0">
                <a:solidFill>
                  <a:srgbClr val="5B6372"/>
                </a:solidFill>
                <a:latin typeface="Arial"/>
              </a:rPr>
              <a:t>–  White balance, exposure, curves, levels.</a:t>
            </a:r>
          </a:p>
          <a:p>
            <a:pPr>
              <a:spcAft>
                <a:spcPts val="800"/>
              </a:spcAft>
            </a:pPr>
            <a:r>
              <a:rPr sz="1100" b="0">
                <a:solidFill>
                  <a:srgbClr val="5B6372"/>
                </a:solidFill>
                <a:latin typeface="Arial"/>
              </a:rPr>
              <a:t>–  A LUT: one lookup table per channel.</a:t>
            </a:r>
          </a:p>
          <a:p>
            <a:pPr>
              <a:spcAft>
                <a:spcPts val="800"/>
              </a:spcAft>
            </a:pPr>
            <a:r>
              <a:rPr sz="1100" b="0">
                <a:solidFill>
                  <a:srgbClr val="5B6372"/>
                </a:solidFill>
                <a:latin typeface="Arial"/>
              </a:rPr>
              <a:t>–  The teal-and-orange look of the film.</a:t>
            </a:r>
          </a:p>
          <a:p>
            <a:pPr>
              <a:spcAft>
                <a:spcPts val="800"/>
              </a:spcAft>
            </a:pPr>
            <a:r>
              <a:rPr sz="1100" b="0">
                <a:solidFill>
                  <a:srgbClr val="5B6372"/>
                </a:solidFill>
                <a:latin typeface="Arial"/>
              </a:rPr>
              <a:t>–  Cannot sharpen, denoise or remove blur.</a:t>
            </a:r>
          </a:p>
        </p:txBody>
      </p:sp>
      <p:sp>
        <p:nvSpPr>
          <p:cNvPr id="14" name="TextBox 13"/>
          <p:cNvSpPr txBox="1"/>
          <p:nvPr/>
        </p:nvSpPr>
        <p:spPr>
          <a:xfrm>
            <a:off x="6583680" y="2423160"/>
            <a:ext cx="4617720" cy="3520440"/>
          </a:xfrm>
          <a:prstGeom prst="rect">
            <a:avLst/>
          </a:prstGeom>
          <a:noFill/>
        </p:spPr>
        <p:txBody>
          <a:bodyPr wrap="square">
            <a:spAutoFit/>
          </a:bodyPr>
          <a:lstStyle/>
          <a:p>
            <a:pPr>
              <a:spcAft>
                <a:spcPts val="800"/>
              </a:spcAft>
            </a:pPr>
            <a:r>
              <a:rPr sz="1300" b="1">
                <a:solidFill>
                  <a:srgbClr val="161B26"/>
                </a:solidFill>
                <a:latin typeface="Arial"/>
              </a:rPr>
              <a:t>•  Neighbourhood operation: kernel</a:t>
            </a:r>
          </a:p>
          <a:p>
            <a:pPr>
              <a:spcAft>
                <a:spcPts val="800"/>
              </a:spcAft>
            </a:pPr>
            <a:r>
              <a:rPr sz="1100" b="0">
                <a:solidFill>
                  <a:srgbClr val="5B6372"/>
                </a:solidFill>
                <a:latin typeface="Arial"/>
              </a:rPr>
              <a:t>–  Each output pixel combines its neighbours.</a:t>
            </a:r>
          </a:p>
          <a:p>
            <a:pPr>
              <a:spcAft>
                <a:spcPts val="800"/>
              </a:spcAft>
            </a:pPr>
            <a:r>
              <a:rPr sz="1100" b="0">
                <a:solidFill>
                  <a:srgbClr val="5B6372"/>
                </a:solidFill>
                <a:latin typeface="Arial"/>
              </a:rPr>
              <a:t>–  Blur, denoise (bilateral, non-local means).</a:t>
            </a:r>
          </a:p>
          <a:p>
            <a:pPr>
              <a:spcAft>
                <a:spcPts val="800"/>
              </a:spcAft>
            </a:pPr>
            <a:r>
              <a:rPr sz="1100" b="0">
                <a:solidFill>
                  <a:srgbClr val="5B6372"/>
                </a:solidFill>
                <a:latin typeface="Arial"/>
              </a:rPr>
              <a:t>–  Sharpen: unsharp mask, Laplacian kernel.</a:t>
            </a:r>
          </a:p>
          <a:p>
            <a:pPr>
              <a:spcAft>
                <a:spcPts val="800"/>
              </a:spcAft>
            </a:pPr>
            <a:r>
              <a:rPr sz="1100" b="0">
                <a:solidFill>
                  <a:srgbClr val="5B6372"/>
                </a:solidFill>
                <a:latin typeface="Arial"/>
              </a:rPr>
              <a:t>–  Resize: nearest, cubic, Lanczos.</a:t>
            </a:r>
          </a:p>
          <a:p>
            <a:pPr>
              <a:spcAft>
                <a:spcPts val="800"/>
              </a:spcAft>
            </a:pPr>
            <a:r>
              <a:rPr sz="1100" b="0">
                <a:solidFill>
                  <a:srgbClr val="5B6372"/>
                </a:solidFill>
                <a:latin typeface="Arial"/>
              </a:rPr>
              <a:t>–  Changes structure — so it can create halos.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fast">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K4 · FILTERS AND METRICS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Measuring an Enhancement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74519"/>
            <a:ext cx="336194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112263"/>
            <a:ext cx="2996184" cy="457200"/>
          </a:xfrm>
          <a:prstGeom prst="rect">
            <a:avLst/>
          </a:prstGeom>
          <a:noFill/>
        </p:spPr>
        <p:txBody>
          <a:bodyPr wrap="square" anchor="t">
            <a:spAutoFit/>
          </a:bodyPr>
          <a:lstStyle/>
          <a:p>
            <a:pPr algn="l">
              <a:spcAft>
                <a:spcPts val="400"/>
              </a:spcAft>
            </a:pPr>
            <a:r>
              <a:rPr sz="1500" b="1">
                <a:solidFill>
                  <a:srgbClr val="1F6FEB"/>
                </a:solidFill>
                <a:latin typeface="Arial"/>
              </a:rPr>
              <a:t>Unsharp mask</a:t>
            </a:r>
          </a:p>
        </p:txBody>
      </p:sp>
      <p:sp>
        <p:nvSpPr>
          <p:cNvPr id="10" name="Rectangle 9"/>
          <p:cNvSpPr/>
          <p:nvPr/>
        </p:nvSpPr>
        <p:spPr>
          <a:xfrm>
            <a:off x="960120" y="2715767"/>
            <a:ext cx="2996184" cy="104241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2715767"/>
            <a:ext cx="2813304" cy="1042416"/>
          </a:xfrm>
          <a:prstGeom prst="rect">
            <a:avLst/>
          </a:prstGeom>
          <a:noFill/>
        </p:spPr>
        <p:txBody>
          <a:bodyPr wrap="none" lIns="0" rIns="0" tIns="0" bIns="0" anchor="ctr">
            <a:noAutofit/>
          </a:bodyPr>
          <a:lstStyle/>
          <a:p>
            <a:pPr>
              <a:spcAft>
                <a:spcPts val="100"/>
              </a:spcAft>
            </a:pPr>
            <a:r>
              <a:rPr sz="1400">
                <a:solidFill>
                  <a:srgbClr val="9CDCFE"/>
                </a:solidFill>
                <a:latin typeface="Consolas"/>
              </a:rPr>
              <a:t>out = (1 + a) * img</a:t>
            </a:r>
          </a:p>
          <a:p>
            <a:pPr>
              <a:spcAft>
                <a:spcPts val="100"/>
              </a:spcAft>
            </a:pPr>
            <a:r>
              <a:rPr sz="1400">
                <a:solidFill>
                  <a:srgbClr val="9CDCFE"/>
                </a:solidFill>
                <a:latin typeface="Consolas"/>
              </a:rPr>
              <a:t>      - a * blur(img, s)</a:t>
            </a:r>
          </a:p>
        </p:txBody>
      </p:sp>
      <p:sp>
        <p:nvSpPr>
          <p:cNvPr id="12" name="TextBox 11"/>
          <p:cNvSpPr txBox="1"/>
          <p:nvPr/>
        </p:nvSpPr>
        <p:spPr>
          <a:xfrm>
            <a:off x="960120" y="3867911"/>
            <a:ext cx="2996184" cy="1490472"/>
          </a:xfrm>
          <a:prstGeom prst="rect">
            <a:avLst/>
          </a:prstGeom>
          <a:noFill/>
        </p:spPr>
        <p:txBody>
          <a:bodyPr wrap="square" anchor="t">
            <a:spAutoFit/>
          </a:bodyPr>
          <a:lstStyle/>
          <a:p>
            <a:pPr algn="l">
              <a:spcAft>
                <a:spcPts val="400"/>
              </a:spcAft>
            </a:pPr>
            <a:r>
              <a:rPr sz="1200" b="0">
                <a:solidFill>
                  <a:srgbClr val="5B6372"/>
                </a:solidFill>
                <a:latin typeface="Arial"/>
              </a:rPr>
              <a:t>Adds back the detail a blur removes. Too large an amount a creates halos.</a:t>
            </a:r>
          </a:p>
        </p:txBody>
      </p:sp>
      <p:sp>
        <p:nvSpPr>
          <p:cNvPr id="13" name="Rectangle 12"/>
          <p:cNvSpPr/>
          <p:nvPr/>
        </p:nvSpPr>
        <p:spPr>
          <a:xfrm>
            <a:off x="4413504"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13504" y="1874519"/>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96384" y="2112263"/>
            <a:ext cx="2996184" cy="457200"/>
          </a:xfrm>
          <a:prstGeom prst="rect">
            <a:avLst/>
          </a:prstGeom>
          <a:noFill/>
        </p:spPr>
        <p:txBody>
          <a:bodyPr wrap="square" anchor="t">
            <a:spAutoFit/>
          </a:bodyPr>
          <a:lstStyle/>
          <a:p>
            <a:pPr algn="l">
              <a:spcAft>
                <a:spcPts val="400"/>
              </a:spcAft>
            </a:pPr>
            <a:r>
              <a:rPr sz="1500" b="1">
                <a:solidFill>
                  <a:srgbClr val="10B981"/>
                </a:solidFill>
                <a:latin typeface="Arial"/>
              </a:rPr>
              <a:t>PSNR</a:t>
            </a:r>
          </a:p>
        </p:txBody>
      </p:sp>
      <p:sp>
        <p:nvSpPr>
          <p:cNvPr id="16" name="Rectangle 15"/>
          <p:cNvSpPr/>
          <p:nvPr/>
        </p:nvSpPr>
        <p:spPr>
          <a:xfrm>
            <a:off x="4596384" y="2715767"/>
            <a:ext cx="2996184" cy="67665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87824" y="2715767"/>
            <a:ext cx="2813304" cy="676656"/>
          </a:xfrm>
          <a:prstGeom prst="rect">
            <a:avLst/>
          </a:prstGeom>
          <a:noFill/>
        </p:spPr>
        <p:txBody>
          <a:bodyPr wrap="none" lIns="0" rIns="0" tIns="0" bIns="0" anchor="ctr">
            <a:noAutofit/>
          </a:bodyPr>
          <a:lstStyle/>
          <a:p>
            <a:pPr>
              <a:spcAft>
                <a:spcPts val="100"/>
              </a:spcAft>
            </a:pPr>
            <a:r>
              <a:rPr sz="1400">
                <a:solidFill>
                  <a:srgbClr val="9CDCFE"/>
                </a:solidFill>
                <a:latin typeface="Consolas"/>
              </a:rPr>
              <a:t>10 * log10(255^2 / MSE)</a:t>
            </a:r>
          </a:p>
        </p:txBody>
      </p:sp>
      <p:sp>
        <p:nvSpPr>
          <p:cNvPr id="18" name="TextBox 17"/>
          <p:cNvSpPr txBox="1"/>
          <p:nvPr/>
        </p:nvSpPr>
        <p:spPr>
          <a:xfrm>
            <a:off x="4596384" y="3502151"/>
            <a:ext cx="2996184" cy="1856232"/>
          </a:xfrm>
          <a:prstGeom prst="rect">
            <a:avLst/>
          </a:prstGeom>
          <a:noFill/>
        </p:spPr>
        <p:txBody>
          <a:bodyPr wrap="square" anchor="t">
            <a:spAutoFit/>
          </a:bodyPr>
          <a:lstStyle/>
          <a:p>
            <a:pPr algn="l">
              <a:spcAft>
                <a:spcPts val="400"/>
              </a:spcAft>
            </a:pPr>
            <a:r>
              <a:rPr sz="1200" b="0">
                <a:solidFill>
                  <a:srgbClr val="5B6372"/>
                </a:solidFill>
                <a:latin typeface="Arial"/>
              </a:rPr>
              <a:t>Per-pixel error in dB. Rewards smoothing, forgives lost texture.</a:t>
            </a:r>
          </a:p>
        </p:txBody>
      </p:sp>
      <p:sp>
        <p:nvSpPr>
          <p:cNvPr id="19" name="Rectangle 18"/>
          <p:cNvSpPr/>
          <p:nvPr/>
        </p:nvSpPr>
        <p:spPr>
          <a:xfrm>
            <a:off x="8049768"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9768" y="1874519"/>
            <a:ext cx="336194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2648" y="2112263"/>
            <a:ext cx="2996184" cy="457200"/>
          </a:xfrm>
          <a:prstGeom prst="rect">
            <a:avLst/>
          </a:prstGeom>
          <a:noFill/>
        </p:spPr>
        <p:txBody>
          <a:bodyPr wrap="square" anchor="t">
            <a:spAutoFit/>
          </a:bodyPr>
          <a:lstStyle/>
          <a:p>
            <a:pPr algn="l">
              <a:spcAft>
                <a:spcPts val="400"/>
              </a:spcAft>
            </a:pPr>
            <a:r>
              <a:rPr sz="1500" b="1">
                <a:solidFill>
                  <a:srgbClr val="7C3AED"/>
                </a:solidFill>
                <a:latin typeface="Arial"/>
              </a:rPr>
              <a:t>SSIM</a:t>
            </a:r>
          </a:p>
        </p:txBody>
      </p:sp>
      <p:sp>
        <p:nvSpPr>
          <p:cNvPr id="22" name="Rectangle 21"/>
          <p:cNvSpPr/>
          <p:nvPr/>
        </p:nvSpPr>
        <p:spPr>
          <a:xfrm>
            <a:off x="8232648" y="2715767"/>
            <a:ext cx="2996184" cy="67665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24088" y="2715767"/>
            <a:ext cx="2813304" cy="676656"/>
          </a:xfrm>
          <a:prstGeom prst="rect">
            <a:avLst/>
          </a:prstGeom>
          <a:noFill/>
        </p:spPr>
        <p:txBody>
          <a:bodyPr wrap="none" lIns="0" rIns="0" tIns="0" bIns="0" anchor="ctr">
            <a:noAutofit/>
          </a:bodyPr>
          <a:lstStyle/>
          <a:p>
            <a:pPr>
              <a:spcAft>
                <a:spcPts val="100"/>
              </a:spcAft>
            </a:pPr>
            <a:r>
              <a:rPr sz="1170">
                <a:solidFill>
                  <a:srgbClr val="9CDCFE"/>
                </a:solidFill>
                <a:latin typeface="Consolas"/>
              </a:rPr>
              <a:t>[l * c * s] over 11x11 windows</a:t>
            </a:r>
          </a:p>
        </p:txBody>
      </p:sp>
      <p:sp>
        <p:nvSpPr>
          <p:cNvPr id="24" name="TextBox 23"/>
          <p:cNvSpPr txBox="1"/>
          <p:nvPr/>
        </p:nvSpPr>
        <p:spPr>
          <a:xfrm>
            <a:off x="8232648" y="3502151"/>
            <a:ext cx="2996184" cy="1856232"/>
          </a:xfrm>
          <a:prstGeom prst="rect">
            <a:avLst/>
          </a:prstGeom>
          <a:noFill/>
        </p:spPr>
        <p:txBody>
          <a:bodyPr wrap="square" anchor="t">
            <a:spAutoFit/>
          </a:bodyPr>
          <a:lstStyle/>
          <a:p>
            <a:pPr algn="l">
              <a:spcAft>
                <a:spcPts val="400"/>
              </a:spcAft>
            </a:pPr>
            <a:r>
              <a:rPr sz="1200" b="0">
                <a:solidFill>
                  <a:srgbClr val="5B6372"/>
                </a:solidFill>
                <a:latin typeface="Arial"/>
              </a:rPr>
              <a:t>Luminance, contrast and structure. Punishes lost texture PSNR forgives.</a:t>
            </a:r>
          </a:p>
        </p:txBody>
      </p:sp>
      <p:sp>
        <p:nvSpPr>
          <p:cNvPr id="25" name="TextBox 24"/>
          <p:cNvSpPr txBox="1"/>
          <p:nvPr/>
        </p:nvSpPr>
        <p:spPr>
          <a:xfrm>
            <a:off x="777240" y="5715000"/>
            <a:ext cx="10698480" cy="548640"/>
          </a:xfrm>
          <a:prstGeom prst="rect">
            <a:avLst/>
          </a:prstGeom>
          <a:noFill/>
        </p:spPr>
        <p:txBody>
          <a:bodyPr wrap="square" anchor="ctr">
            <a:spAutoFit/>
          </a:bodyPr>
          <a:lstStyle/>
          <a:p>
            <a:pPr algn="ctr">
              <a:spcAft>
                <a:spcPts val="400"/>
              </a:spcAft>
            </a:pPr>
            <a:r>
              <a:rPr sz="1300" b="0">
                <a:solidFill>
                  <a:srgbClr val="5B6372"/>
                </a:solidFill>
                <a:latin typeface="Arial"/>
              </a:rPr>
              <a:t>cv2.quality (SSIM) is contrib-only; the course ships a NumPy SSIM in ssim.py.</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fast">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A2 · LAB 05 MEASUREMENT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Best Repair per Defect — SSIM Against the Master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6675120" cy="3977639"/>
        </p:xfrm>
        <a:graphic>
          <a:graphicData uri="http://schemas.openxmlformats.org/drawingml/2006/chart">
            <c:chart xmlns:c="http://schemas.openxmlformats.org/drawingml/2006/chart" r:id="rId2"/>
          </a:graphicData>
        </a:graphic>
      </p:graphicFrame>
      <p:sp>
        <p:nvSpPr>
          <p:cNvPr id="8" name="Rectangle 7"/>
          <p:cNvSpPr/>
          <p:nvPr/>
        </p:nvSpPr>
        <p:spPr>
          <a:xfrm>
            <a:off x="7680960" y="1783080"/>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80960" y="1783080"/>
            <a:ext cx="82296" cy="87096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82128" y="1783080"/>
            <a:ext cx="3346704" cy="870965"/>
          </a:xfrm>
          <a:prstGeom prst="rect">
            <a:avLst/>
          </a:prstGeom>
          <a:noFill/>
        </p:spPr>
        <p:txBody>
          <a:bodyPr wrap="square" anchor="ctr">
            <a:spAutoFit/>
          </a:bodyPr>
          <a:lstStyle/>
          <a:p>
            <a:pPr algn="l">
              <a:spcAft>
                <a:spcPts val="200"/>
              </a:spcAft>
            </a:pPr>
            <a:r>
              <a:rPr sz="1250" b="1">
                <a:solidFill>
                  <a:srgbClr val="1F6FEB"/>
                </a:solidFill>
                <a:latin typeface="Arial"/>
              </a:rPr>
              <a:t>Noise</a:t>
            </a:r>
          </a:p>
          <a:p>
            <a:pPr algn="l">
              <a:spcAft>
                <a:spcPts val="200"/>
              </a:spcAft>
            </a:pPr>
            <a:r>
              <a:rPr sz="1100" b="0">
                <a:solidFill>
                  <a:srgbClr val="161B26"/>
                </a:solidFill>
                <a:latin typeface="Arial"/>
              </a:rPr>
              <a:t>The biggest gain: 0.50 → 0.93.</a:t>
            </a:r>
          </a:p>
        </p:txBody>
      </p:sp>
      <p:sp>
        <p:nvSpPr>
          <p:cNvPr id="11" name="Rectangle 10"/>
          <p:cNvSpPr/>
          <p:nvPr/>
        </p:nvSpPr>
        <p:spPr>
          <a:xfrm>
            <a:off x="7680960" y="2818637"/>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680960" y="2818637"/>
            <a:ext cx="82296" cy="87096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82128" y="2818637"/>
            <a:ext cx="3346704" cy="870965"/>
          </a:xfrm>
          <a:prstGeom prst="rect">
            <a:avLst/>
          </a:prstGeom>
          <a:noFill/>
        </p:spPr>
        <p:txBody>
          <a:bodyPr wrap="square" anchor="ctr">
            <a:spAutoFit/>
          </a:bodyPr>
          <a:lstStyle/>
          <a:p>
            <a:pPr algn="l">
              <a:spcAft>
                <a:spcPts val="200"/>
              </a:spcAft>
            </a:pPr>
            <a:r>
              <a:rPr sz="1250" b="1">
                <a:solidFill>
                  <a:srgbClr val="10B981"/>
                </a:solidFill>
                <a:latin typeface="Arial"/>
              </a:rPr>
              <a:t>PSNR disagrees</a:t>
            </a:r>
          </a:p>
          <a:p>
            <a:pPr algn="l">
              <a:spcAft>
                <a:spcPts val="200"/>
              </a:spcAft>
            </a:pPr>
            <a:r>
              <a:rPr sz="1100" b="0">
                <a:solidFill>
                  <a:srgbClr val="161B26"/>
                </a:solidFill>
                <a:latin typeface="Arial"/>
              </a:rPr>
              <a:t>PSNR prefers bilateral (34.6 dB); SSIM prefers Gaussian.</a:t>
            </a:r>
          </a:p>
        </p:txBody>
      </p:sp>
      <p:sp>
        <p:nvSpPr>
          <p:cNvPr id="14" name="Rectangle 13"/>
          <p:cNvSpPr/>
          <p:nvPr/>
        </p:nvSpPr>
        <p:spPr>
          <a:xfrm>
            <a:off x="7680960" y="3854194"/>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680960" y="3854194"/>
            <a:ext cx="82296" cy="870965"/>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82128" y="3854194"/>
            <a:ext cx="3346704" cy="870965"/>
          </a:xfrm>
          <a:prstGeom prst="rect">
            <a:avLst/>
          </a:prstGeom>
          <a:noFill/>
        </p:spPr>
        <p:txBody>
          <a:bodyPr wrap="square" anchor="ctr">
            <a:spAutoFit/>
          </a:bodyPr>
          <a:lstStyle/>
          <a:p>
            <a:pPr algn="l">
              <a:spcAft>
                <a:spcPts val="200"/>
              </a:spcAft>
            </a:pPr>
            <a:r>
              <a:rPr sz="1250" b="1">
                <a:solidFill>
                  <a:srgbClr val="7C3AED"/>
                </a:solidFill>
                <a:latin typeface="Arial"/>
              </a:rPr>
              <a:t>Over-sharpen</a:t>
            </a:r>
          </a:p>
          <a:p>
            <a:pPr algn="l">
              <a:spcAft>
                <a:spcPts val="200"/>
              </a:spcAft>
            </a:pPr>
            <a:r>
              <a:rPr sz="1100" b="0">
                <a:solidFill>
                  <a:srgbClr val="161B26"/>
                </a:solidFill>
                <a:latin typeface="Arial"/>
              </a:rPr>
              <a:t>Unsharp 2.5 wins PSNR, loses SSIM: halos.</a:t>
            </a:r>
          </a:p>
        </p:txBody>
      </p:sp>
      <p:sp>
        <p:nvSpPr>
          <p:cNvPr id="17" name="Rectangle 16"/>
          <p:cNvSpPr/>
          <p:nvPr/>
        </p:nvSpPr>
        <p:spPr>
          <a:xfrm>
            <a:off x="7680960" y="4889751"/>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0" y="4889751"/>
            <a:ext cx="82296" cy="870965"/>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82128" y="4889751"/>
            <a:ext cx="3346704" cy="870965"/>
          </a:xfrm>
          <a:prstGeom prst="rect">
            <a:avLst/>
          </a:prstGeom>
          <a:noFill/>
        </p:spPr>
        <p:txBody>
          <a:bodyPr wrap="square" anchor="ctr">
            <a:spAutoFit/>
          </a:bodyPr>
          <a:lstStyle/>
          <a:p>
            <a:pPr algn="l">
              <a:spcAft>
                <a:spcPts val="200"/>
              </a:spcAft>
            </a:pPr>
            <a:r>
              <a:rPr sz="1250" b="1">
                <a:solidFill>
                  <a:srgbClr val="F59E0B"/>
                </a:solidFill>
                <a:latin typeface="Arial"/>
              </a:rPr>
              <a:t>Over-clip</a:t>
            </a:r>
          </a:p>
          <a:p>
            <a:pPr algn="l">
              <a:spcAft>
                <a:spcPts val="200"/>
              </a:spcAft>
            </a:pPr>
            <a:r>
              <a:rPr sz="1100" b="0">
                <a:solidFill>
                  <a:srgbClr val="161B26"/>
                </a:solidFill>
                <a:latin typeface="Arial"/>
              </a:rPr>
              <a:t>Levels 60-190 collapses SSIM to 0.40.</a:t>
            </a:r>
          </a:p>
        </p:txBody>
      </p:sp>
      <p:sp>
        <p:nvSpPr>
          <p:cNvPr id="20" name="Rectangle 19"/>
          <p:cNvSpPr/>
          <p:nvPr/>
        </p:nvSpPr>
        <p:spPr>
          <a:xfrm>
            <a:off x="777240" y="5925312"/>
            <a:ext cx="1417320"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925312"/>
            <a:ext cx="1417320" cy="310896"/>
          </a:xfrm>
          <a:prstGeom prst="rect">
            <a:avLst/>
          </a:prstGeom>
          <a:noFill/>
        </p:spPr>
        <p:txBody>
          <a:bodyPr wrap="square" anchor="ctr">
            <a:spAutoFit/>
          </a:bodyPr>
          <a:lstStyle/>
          <a:p>
            <a:pPr algn="ctr">
              <a:spcAft>
                <a:spcPts val="400"/>
              </a:spcAft>
            </a:pPr>
            <a:r>
              <a:rPr sz="1050" b="1">
                <a:solidFill>
                  <a:srgbClr val="FFFFFF"/>
                </a:solidFill>
                <a:latin typeface="Arial"/>
              </a:rPr>
              <a:t>MEASURED</a:t>
            </a:r>
          </a:p>
        </p:txBody>
      </p:sp>
      <p:sp>
        <p:nvSpPr>
          <p:cNvPr id="22" name="TextBox 21"/>
          <p:cNvSpPr txBox="1"/>
          <p:nvPr/>
        </p:nvSpPr>
        <p:spPr>
          <a:xfrm>
            <a:off x="2331720" y="5925312"/>
            <a:ext cx="9098280" cy="457200"/>
          </a:xfrm>
          <a:prstGeom prst="rect">
            <a:avLst/>
          </a:prstGeom>
          <a:noFill/>
        </p:spPr>
        <p:txBody>
          <a:bodyPr wrap="square" anchor="ctr">
            <a:spAutoFit/>
          </a:bodyPr>
          <a:lstStyle/>
          <a:p>
            <a:pPr algn="l">
              <a:spcAft>
                <a:spcPts val="400"/>
              </a:spcAft>
            </a:pPr>
            <a:r>
              <a:rPr sz="1150" b="0">
                <a:solidFill>
                  <a:srgbClr val="5B6372"/>
                </a:solidFill>
                <a:latin typeface="Arial"/>
              </a:rPr>
              <a:t>grade_lab.py on the SIMULATED graded master of shot S2. Best repairs: Gaussian blur, unsharp 0.8, levels 36-214, cubic x2.</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fast">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A2 · LAB 05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Grading the Look as a Point Operation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755648"/>
            <a:ext cx="6684264" cy="183651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05-graded-look.png"/>
          <p:cNvPicPr>
            <a:picLocks noChangeAspect="1"/>
          </p:cNvPicPr>
          <p:nvPr/>
        </p:nvPicPr>
        <p:blipFill>
          <a:blip r:embed="rId2"/>
          <a:stretch>
            <a:fillRect/>
          </a:stretch>
        </p:blipFill>
        <p:spPr>
          <a:xfrm>
            <a:off x="777240" y="1783080"/>
            <a:ext cx="6629400" cy="1781651"/>
          </a:xfrm>
          <a:prstGeom prst="rect">
            <a:avLst/>
          </a:prstGeom>
        </p:spPr>
      </p:pic>
      <p:sp>
        <p:nvSpPr>
          <p:cNvPr id="9" name="TextBox 8"/>
          <p:cNvSpPr txBox="1"/>
          <p:nvPr/>
        </p:nvSpPr>
        <p:spPr>
          <a:xfrm>
            <a:off x="777240" y="3601307"/>
            <a:ext cx="6629400" cy="310896"/>
          </a:xfrm>
          <a:prstGeom prst="rect">
            <a:avLst/>
          </a:prstGeom>
          <a:noFill/>
        </p:spPr>
        <p:txBody>
          <a:bodyPr wrap="square" anchor="t">
            <a:spAutoFit/>
          </a:bodyPr>
          <a:lstStyle/>
          <a:p>
            <a:pPr algn="ctr">
              <a:spcAft>
                <a:spcPts val="400"/>
              </a:spcAft>
            </a:pPr>
            <a:r>
              <a:rPr sz="1050" b="0">
                <a:solidFill>
                  <a:srgbClr val="5B6372"/>
                </a:solidFill>
                <a:latin typeface="Arial"/>
              </a:rPr>
              <a:t>Left: flat, log-like draft · Right: levels + teal-and-orange LUT</a:t>
            </a:r>
          </a:p>
        </p:txBody>
      </p:sp>
      <p:sp>
        <p:nvSpPr>
          <p:cNvPr id="10" name="Rectangle 9"/>
          <p:cNvSpPr/>
          <p:nvPr/>
        </p:nvSpPr>
        <p:spPr>
          <a:xfrm>
            <a:off x="7680960" y="1783080"/>
            <a:ext cx="3730752"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680960" y="1783080"/>
            <a:ext cx="82296" cy="92811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82128" y="1783080"/>
            <a:ext cx="3346704" cy="928116"/>
          </a:xfrm>
          <a:prstGeom prst="rect">
            <a:avLst/>
          </a:prstGeom>
          <a:noFill/>
        </p:spPr>
        <p:txBody>
          <a:bodyPr wrap="square" anchor="ctr">
            <a:spAutoFit/>
          </a:bodyPr>
          <a:lstStyle/>
          <a:p>
            <a:pPr algn="l">
              <a:spcAft>
                <a:spcPts val="200"/>
              </a:spcAft>
            </a:pPr>
            <a:r>
              <a:rPr sz="1250" b="1">
                <a:solidFill>
                  <a:srgbClr val="1F6FEB"/>
                </a:solidFill>
                <a:latin typeface="Arial"/>
              </a:rPr>
              <a:t>Shadows cooler</a:t>
            </a:r>
          </a:p>
          <a:p>
            <a:pPr algn="l">
              <a:spcAft>
                <a:spcPts val="200"/>
              </a:spcAft>
            </a:pPr>
            <a:r>
              <a:rPr sz="1100" b="0">
                <a:solidFill>
                  <a:srgbClr val="161B26"/>
                </a:solidFill>
                <a:latin typeface="Arial"/>
              </a:rPr>
              <a:t>Red minus blue in the shadows falls.</a:t>
            </a:r>
          </a:p>
        </p:txBody>
      </p:sp>
      <p:sp>
        <p:nvSpPr>
          <p:cNvPr id="13" name="Rectangle 12"/>
          <p:cNvSpPr/>
          <p:nvPr/>
        </p:nvSpPr>
        <p:spPr>
          <a:xfrm>
            <a:off x="7680960" y="2875788"/>
            <a:ext cx="3730752"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680960" y="2875788"/>
            <a:ext cx="82296" cy="9281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82128" y="2875788"/>
            <a:ext cx="3346704" cy="928116"/>
          </a:xfrm>
          <a:prstGeom prst="rect">
            <a:avLst/>
          </a:prstGeom>
          <a:noFill/>
        </p:spPr>
        <p:txBody>
          <a:bodyPr wrap="square" anchor="ctr">
            <a:spAutoFit/>
          </a:bodyPr>
          <a:lstStyle/>
          <a:p>
            <a:pPr algn="l">
              <a:spcAft>
                <a:spcPts val="200"/>
              </a:spcAft>
            </a:pPr>
            <a:r>
              <a:rPr sz="1250" b="1">
                <a:solidFill>
                  <a:srgbClr val="10B981"/>
                </a:solidFill>
                <a:latin typeface="Arial"/>
              </a:rPr>
              <a:t>Highlights warmer</a:t>
            </a:r>
          </a:p>
          <a:p>
            <a:pPr algn="l">
              <a:spcAft>
                <a:spcPts val="200"/>
              </a:spcAft>
            </a:pPr>
            <a:r>
              <a:rPr sz="1100" b="0">
                <a:solidFill>
                  <a:srgbClr val="161B26"/>
                </a:solidFill>
                <a:latin typeface="Arial"/>
              </a:rPr>
              <a:t>Lanterns and skin gain warmth.</a:t>
            </a:r>
          </a:p>
        </p:txBody>
      </p:sp>
      <p:sp>
        <p:nvSpPr>
          <p:cNvPr id="16" name="Rectangle 15"/>
          <p:cNvSpPr/>
          <p:nvPr/>
        </p:nvSpPr>
        <p:spPr>
          <a:xfrm>
            <a:off x="7680960" y="3968496"/>
            <a:ext cx="3730752"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80960" y="3968496"/>
            <a:ext cx="82296" cy="92811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82128" y="3968496"/>
            <a:ext cx="3346704" cy="928116"/>
          </a:xfrm>
          <a:prstGeom prst="rect">
            <a:avLst/>
          </a:prstGeom>
          <a:noFill/>
        </p:spPr>
        <p:txBody>
          <a:bodyPr wrap="square" anchor="ctr">
            <a:spAutoFit/>
          </a:bodyPr>
          <a:lstStyle/>
          <a:p>
            <a:pPr algn="l">
              <a:spcAft>
                <a:spcPts val="200"/>
              </a:spcAft>
            </a:pPr>
            <a:r>
              <a:rPr sz="1250" b="1">
                <a:solidFill>
                  <a:srgbClr val="7C3AED"/>
                </a:solidFill>
                <a:latin typeface="Arial"/>
              </a:rPr>
              <a:t>Grade stills first</a:t>
            </a:r>
          </a:p>
          <a:p>
            <a:pPr algn="l">
              <a:spcAft>
                <a:spcPts val="200"/>
              </a:spcAft>
            </a:pPr>
            <a:r>
              <a:rPr sz="1100" b="0">
                <a:solidFill>
                  <a:srgbClr val="161B26"/>
                </a:solidFill>
                <a:latin typeface="Arial"/>
              </a:rPr>
              <a:t>Animate the graded still; the clip inherits the look.</a:t>
            </a:r>
          </a:p>
        </p:txBody>
      </p:sp>
      <p:sp>
        <p:nvSpPr>
          <p:cNvPr id="19" name="Rectangle 18"/>
          <p:cNvSpPr/>
          <p:nvPr/>
        </p:nvSpPr>
        <p:spPr>
          <a:xfrm>
            <a:off x="7680960" y="5061204"/>
            <a:ext cx="3730752"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680960" y="5061204"/>
            <a:ext cx="82296" cy="92811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82128" y="5061204"/>
            <a:ext cx="3346704" cy="928116"/>
          </a:xfrm>
          <a:prstGeom prst="rect">
            <a:avLst/>
          </a:prstGeom>
          <a:noFill/>
        </p:spPr>
        <p:txBody>
          <a:bodyPr wrap="square" anchor="ctr">
            <a:spAutoFit/>
          </a:bodyPr>
          <a:lstStyle/>
          <a:p>
            <a:pPr algn="l">
              <a:spcAft>
                <a:spcPts val="200"/>
              </a:spcAft>
            </a:pPr>
            <a:r>
              <a:rPr sz="1250" b="1">
                <a:solidFill>
                  <a:srgbClr val="F59E0B"/>
                </a:solidFill>
                <a:latin typeface="Arial"/>
              </a:rPr>
              <a:t>Measure it</a:t>
            </a:r>
          </a:p>
          <a:p>
            <a:pPr algn="l">
              <a:spcAft>
                <a:spcPts val="200"/>
              </a:spcAft>
            </a:pPr>
            <a:r>
              <a:rPr sz="1100" b="0">
                <a:solidFill>
                  <a:srgbClr val="161B26"/>
                </a:solidFill>
                <a:latin typeface="Arial"/>
              </a:rPr>
              <a:t>The warmth numbers go in the look bible (Lab 07).</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fast">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0B981"/>
                </a:solidFill>
                <a:latin typeface="Arial"/>
              </a:rPr>
              <a:t>TOPIC 02 · ELO2 · A2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Lab 02 — Frames, Formats and Aspect Ratios for Film Delivery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56231"/>
            <a:ext cx="3401568" cy="361188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56231"/>
            <a:ext cx="3401568"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130552"/>
            <a:ext cx="2999232" cy="457200"/>
          </a:xfrm>
          <a:prstGeom prst="rect">
            <a:avLst/>
          </a:prstGeom>
          <a:noFill/>
        </p:spPr>
        <p:txBody>
          <a:bodyPr wrap="square" anchor="t">
            <a:spAutoFit/>
          </a:bodyPr>
          <a:lstStyle/>
          <a:p>
            <a:pPr algn="l">
              <a:spcAft>
                <a:spcPts val="400"/>
              </a:spcAft>
            </a:pPr>
            <a:r>
              <a:rPr sz="1500" b="1">
                <a:solidFill>
                  <a:srgbClr val="10B981"/>
                </a:solidFill>
                <a:latin typeface="Arial"/>
              </a:rPr>
              <a:t>INPUTS</a:t>
            </a:r>
          </a:p>
        </p:txBody>
      </p:sp>
      <p:sp>
        <p:nvSpPr>
          <p:cNvPr id="10" name="TextBox 9"/>
          <p:cNvSpPr txBox="1"/>
          <p:nvPr/>
        </p:nvSpPr>
        <p:spPr>
          <a:xfrm>
            <a:off x="978408" y="2743200"/>
            <a:ext cx="2999232" cy="2468880"/>
          </a:xfrm>
          <a:prstGeom prst="rect">
            <a:avLst/>
          </a:prstGeom>
          <a:noFill/>
        </p:spPr>
        <p:txBody>
          <a:bodyPr wrap="square" anchor="t">
            <a:spAutoFit/>
          </a:bodyPr>
          <a:lstStyle/>
          <a:p>
            <a:pPr algn="l">
              <a:spcAft>
                <a:spcPts val="400"/>
              </a:spcAft>
            </a:pPr>
            <a:r>
              <a:rPr sz="1400" b="0">
                <a:solidFill>
                  <a:srgbClr val="161B26"/>
                </a:solidFill>
                <a:latin typeface="Arial"/>
              </a:rPr>
              <a:t>Keyframe of shot S2 with four exact colour chips bottom-left (SIMULATED)</a:t>
            </a:r>
          </a:p>
        </p:txBody>
      </p:sp>
      <p:sp>
        <p:nvSpPr>
          <p:cNvPr id="11" name="Rounded Rectangle 10"/>
          <p:cNvSpPr/>
          <p:nvPr/>
        </p:nvSpPr>
        <p:spPr>
          <a:xfrm>
            <a:off x="4379976" y="1856231"/>
            <a:ext cx="3401568" cy="361188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9976" y="1856231"/>
            <a:ext cx="3401568"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81144" y="2130552"/>
            <a:ext cx="2999232" cy="457200"/>
          </a:xfrm>
          <a:prstGeom prst="rect">
            <a:avLst/>
          </a:prstGeom>
          <a:noFill/>
        </p:spPr>
        <p:txBody>
          <a:bodyPr wrap="square" anchor="t">
            <a:spAutoFit/>
          </a:bodyPr>
          <a:lstStyle/>
          <a:p>
            <a:pPr algn="l">
              <a:spcAft>
                <a:spcPts val="400"/>
              </a:spcAft>
            </a:pPr>
            <a:r>
              <a:rPr sz="1500" b="1">
                <a:solidFill>
                  <a:srgbClr val="10B981"/>
                </a:solidFill>
                <a:latin typeface="Arial"/>
              </a:rPr>
              <a:t>TECHNICAL QUESTION</a:t>
            </a:r>
          </a:p>
        </p:txBody>
      </p:sp>
      <p:sp>
        <p:nvSpPr>
          <p:cNvPr id="14" name="TextBox 13"/>
          <p:cNvSpPr txBox="1"/>
          <p:nvPr/>
        </p:nvSpPr>
        <p:spPr>
          <a:xfrm>
            <a:off x="4581144" y="2743200"/>
            <a:ext cx="2999232" cy="2468880"/>
          </a:xfrm>
          <a:prstGeom prst="rect">
            <a:avLst/>
          </a:prstGeom>
          <a:noFill/>
        </p:spPr>
        <p:txBody>
          <a:bodyPr wrap="square" anchor="t">
            <a:spAutoFit/>
          </a:bodyPr>
          <a:lstStyle/>
          <a:p>
            <a:pPr algn="l">
              <a:spcAft>
                <a:spcPts val="400"/>
              </a:spcAft>
            </a:pPr>
            <a:r>
              <a:rPr sz="1400" b="0">
                <a:solidFill>
                  <a:srgbClr val="161B26"/>
                </a:solidFill>
                <a:latin typeface="Arial"/>
              </a:rPr>
              <a:t>What does each delivery format keep of the 16:9 master, and what does the payload cost?</a:t>
            </a:r>
          </a:p>
        </p:txBody>
      </p:sp>
      <p:sp>
        <p:nvSpPr>
          <p:cNvPr id="15" name="Rounded Rectangle 14"/>
          <p:cNvSpPr/>
          <p:nvPr/>
        </p:nvSpPr>
        <p:spPr>
          <a:xfrm>
            <a:off x="7982712" y="1856231"/>
            <a:ext cx="3401568" cy="361188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82712" y="1856231"/>
            <a:ext cx="3401568"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83880" y="2130552"/>
            <a:ext cx="2999232" cy="457200"/>
          </a:xfrm>
          <a:prstGeom prst="rect">
            <a:avLst/>
          </a:prstGeom>
          <a:noFill/>
        </p:spPr>
        <p:txBody>
          <a:bodyPr wrap="square" anchor="t">
            <a:spAutoFit/>
          </a:bodyPr>
          <a:lstStyle/>
          <a:p>
            <a:pPr algn="l">
              <a:spcAft>
                <a:spcPts val="400"/>
              </a:spcAft>
            </a:pPr>
            <a:r>
              <a:rPr sz="1500" b="1">
                <a:solidFill>
                  <a:srgbClr val="10B981"/>
                </a:solidFill>
                <a:latin typeface="Arial"/>
              </a:rPr>
              <a:t>EVIDENCE TO PRODUCE</a:t>
            </a:r>
          </a:p>
        </p:txBody>
      </p:sp>
      <p:sp>
        <p:nvSpPr>
          <p:cNvPr id="18" name="TextBox 17"/>
          <p:cNvSpPr txBox="1"/>
          <p:nvPr/>
        </p:nvSpPr>
        <p:spPr>
          <a:xfrm>
            <a:off x="8183880" y="2743200"/>
            <a:ext cx="2999232" cy="2468880"/>
          </a:xfrm>
          <a:prstGeom prst="rect">
            <a:avLst/>
          </a:prstGeom>
          <a:noFill/>
        </p:spPr>
        <p:txBody>
          <a:bodyPr wrap="square" anchor="t">
            <a:spAutoFit/>
          </a:bodyPr>
          <a:lstStyle/>
          <a:p>
            <a:pPr algn="l">
              <a:spcAft>
                <a:spcPts val="400"/>
              </a:spcAft>
            </a:pPr>
            <a:r>
              <a:rPr sz="1400" b="0">
                <a:solidFill>
                  <a:srgbClr val="161B26"/>
                </a:solidFill>
                <a:latin typeface="Arial"/>
              </a:rPr>
              <a:t>A clip report (shape, dtype, BGR/RGB/HSV of the calibration chips, fps, frame count, duration, bitrate, compression ratio), a contact sheet, and a reframe per delivery format with the percentage of the master each one keeps.</a:t>
            </a:r>
          </a:p>
        </p:txBody>
      </p:sp>
      <p:sp>
        <p:nvSpPr>
          <p:cNvPr id="19" name="TextBox 18"/>
          <p:cNvSpPr txBox="1"/>
          <p:nvPr/>
        </p:nvSpPr>
        <p:spPr>
          <a:xfrm>
            <a:off x="777240" y="5623560"/>
            <a:ext cx="10607040" cy="685800"/>
          </a:xfrm>
          <a:prstGeom prst="rect">
            <a:avLst/>
          </a:prstGeom>
          <a:noFill/>
        </p:spPr>
        <p:txBody>
          <a:bodyPr wrap="square" anchor="t">
            <a:spAutoFit/>
          </a:bodyPr>
          <a:lstStyle/>
          <a:p>
            <a:pPr algn="l">
              <a:spcAft>
                <a:spcPts val="400"/>
              </a:spcAft>
            </a:pPr>
            <a:r>
              <a:rPr sz="1150" b="0">
                <a:solidFill>
                  <a:srgbClr val="5B6372"/>
                </a:solidFill>
                <a:latin typeface="Arial"/>
              </a:rPr>
              <a:t>LAB 02  ·  15 MIN · Python 3 · opencv-python · NumPy · no network</a:t>
            </a:r>
          </a:p>
          <a:p>
            <a:pPr algn="l">
              <a:spcAft>
                <a:spcPts val="400"/>
              </a:spcAft>
            </a:pPr>
            <a:r>
              <a:rPr sz="1150" b="0">
                <a:solidFill>
                  <a:srgbClr val="5B6372"/>
                </a:solidFill>
                <a:latin typeface="Arial"/>
              </a:rPr>
              <a:t>Detailed procedures and prompts: Learner Guide / labs/lab-02-frames-formats-aspect-ratios/README.md</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fast">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0B981"/>
                </a:solidFill>
                <a:latin typeface="Arial"/>
              </a:rPr>
              <a:t>TOPIC 02 · ELO2 · A2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Lab 03 — Structured Prompting for Cinematic Stills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56231"/>
            <a:ext cx="3401568" cy="361188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56231"/>
            <a:ext cx="3401568"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130552"/>
            <a:ext cx="2999232" cy="457200"/>
          </a:xfrm>
          <a:prstGeom prst="rect">
            <a:avLst/>
          </a:prstGeom>
          <a:noFill/>
        </p:spPr>
        <p:txBody>
          <a:bodyPr wrap="square" anchor="t">
            <a:spAutoFit/>
          </a:bodyPr>
          <a:lstStyle/>
          <a:p>
            <a:pPr algn="l">
              <a:spcAft>
                <a:spcPts val="400"/>
              </a:spcAft>
            </a:pPr>
            <a:r>
              <a:rPr sz="1500" b="1">
                <a:solidFill>
                  <a:srgbClr val="10B981"/>
                </a:solidFill>
                <a:latin typeface="Arial"/>
              </a:rPr>
              <a:t>INPUTS</a:t>
            </a:r>
          </a:p>
        </p:txBody>
      </p:sp>
      <p:sp>
        <p:nvSpPr>
          <p:cNvPr id="10" name="TextBox 9"/>
          <p:cNvSpPr txBox="1"/>
          <p:nvPr/>
        </p:nvSpPr>
        <p:spPr>
          <a:xfrm>
            <a:off x="978408" y="2743200"/>
            <a:ext cx="2999232" cy="2468880"/>
          </a:xfrm>
          <a:prstGeom prst="rect">
            <a:avLst/>
          </a:prstGeom>
          <a:noFill/>
        </p:spPr>
        <p:txBody>
          <a:bodyPr wrap="square" anchor="t">
            <a:spAutoFit/>
          </a:bodyPr>
          <a:lstStyle/>
          <a:p>
            <a:pPr algn="l">
              <a:spcAft>
                <a:spcPts val="400"/>
              </a:spcAft>
            </a:pPr>
            <a:r>
              <a:rPr sz="1400" b="0">
                <a:solidFill>
                  <a:srgbClr val="161B26"/>
                </a:solidFill>
                <a:latin typeface="Arial"/>
              </a:rPr>
              <a:t>16 takes of shot S2: four prompt designs × four takes (SIMULATED, designed spread)</a:t>
            </a:r>
          </a:p>
        </p:txBody>
      </p:sp>
      <p:sp>
        <p:nvSpPr>
          <p:cNvPr id="11" name="Rounded Rectangle 10"/>
          <p:cNvSpPr/>
          <p:nvPr/>
        </p:nvSpPr>
        <p:spPr>
          <a:xfrm>
            <a:off x="4379976" y="1856231"/>
            <a:ext cx="3401568" cy="361188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9976" y="1856231"/>
            <a:ext cx="3401568"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81144" y="2130552"/>
            <a:ext cx="2999232" cy="457200"/>
          </a:xfrm>
          <a:prstGeom prst="rect">
            <a:avLst/>
          </a:prstGeom>
          <a:noFill/>
        </p:spPr>
        <p:txBody>
          <a:bodyPr wrap="square" anchor="t">
            <a:spAutoFit/>
          </a:bodyPr>
          <a:lstStyle/>
          <a:p>
            <a:pPr algn="l">
              <a:spcAft>
                <a:spcPts val="400"/>
              </a:spcAft>
            </a:pPr>
            <a:r>
              <a:rPr sz="1500" b="1">
                <a:solidFill>
                  <a:srgbClr val="10B981"/>
                </a:solidFill>
                <a:latin typeface="Arial"/>
              </a:rPr>
              <a:t>TECHNICAL QUESTION</a:t>
            </a:r>
          </a:p>
        </p:txBody>
      </p:sp>
      <p:sp>
        <p:nvSpPr>
          <p:cNvPr id="14" name="TextBox 13"/>
          <p:cNvSpPr txBox="1"/>
          <p:nvPr/>
        </p:nvSpPr>
        <p:spPr>
          <a:xfrm>
            <a:off x="4581144" y="2743200"/>
            <a:ext cx="2999232" cy="2468880"/>
          </a:xfrm>
          <a:prstGeom prst="rect">
            <a:avLst/>
          </a:prstGeom>
          <a:noFill/>
        </p:spPr>
        <p:txBody>
          <a:bodyPr wrap="square" anchor="t">
            <a:spAutoFit/>
          </a:bodyPr>
          <a:lstStyle/>
          <a:p>
            <a:pPr algn="l">
              <a:spcAft>
                <a:spcPts val="400"/>
              </a:spcAft>
            </a:pPr>
            <a:r>
              <a:rPr sz="1400" b="0">
                <a:solidFill>
                  <a:srgbClr val="161B26"/>
                </a:solidFill>
                <a:latin typeface="Arial"/>
              </a:rPr>
              <a:t>How much does each locked prompt field reduce the measured variation between takes?</a:t>
            </a:r>
          </a:p>
        </p:txBody>
      </p:sp>
      <p:sp>
        <p:nvSpPr>
          <p:cNvPr id="15" name="Rounded Rectangle 14"/>
          <p:cNvSpPr/>
          <p:nvPr/>
        </p:nvSpPr>
        <p:spPr>
          <a:xfrm>
            <a:off x="7982712" y="1856231"/>
            <a:ext cx="3401568" cy="361188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82712" y="1856231"/>
            <a:ext cx="3401568"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83880" y="2130552"/>
            <a:ext cx="2999232" cy="457200"/>
          </a:xfrm>
          <a:prstGeom prst="rect">
            <a:avLst/>
          </a:prstGeom>
          <a:noFill/>
        </p:spPr>
        <p:txBody>
          <a:bodyPr wrap="square" anchor="t">
            <a:spAutoFit/>
          </a:bodyPr>
          <a:lstStyle/>
          <a:p>
            <a:pPr algn="l">
              <a:spcAft>
                <a:spcPts val="400"/>
              </a:spcAft>
            </a:pPr>
            <a:r>
              <a:rPr sz="1500" b="1">
                <a:solidFill>
                  <a:srgbClr val="10B981"/>
                </a:solidFill>
                <a:latin typeface="Arial"/>
              </a:rPr>
              <a:t>EVIDENCE TO PRODUCE</a:t>
            </a:r>
          </a:p>
        </p:txBody>
      </p:sp>
      <p:sp>
        <p:nvSpPr>
          <p:cNvPr id="18" name="TextBox 17"/>
          <p:cNvSpPr txBox="1"/>
          <p:nvPr/>
        </p:nvSpPr>
        <p:spPr>
          <a:xfrm>
            <a:off x="8183880" y="2743200"/>
            <a:ext cx="2999232" cy="2468880"/>
          </a:xfrm>
          <a:prstGeom prst="rect">
            <a:avLst/>
          </a:prstGeom>
          <a:noFill/>
        </p:spPr>
        <p:txBody>
          <a:bodyPr wrap="square" anchor="t">
            <a:spAutoFit/>
          </a:bodyPr>
          <a:lstStyle/>
          <a:p>
            <a:pPr algn="l">
              <a:spcAft>
                <a:spcPts val="400"/>
              </a:spcAft>
            </a:pPr>
            <a:r>
              <a:rPr sz="1400" b="0">
                <a:solidFill>
                  <a:srgbClr val="161B26"/>
                </a:solidFill>
                <a:latin typeface="Arial"/>
              </a:rPr>
              <a:t>A linted v1 prompt with its problems listed, your corrected v2 prompt in prose and JSON, and a variance table showing how much each prompt design reduced wardrobe, blocking, framing and look drift.</a:t>
            </a:r>
          </a:p>
        </p:txBody>
      </p:sp>
      <p:sp>
        <p:nvSpPr>
          <p:cNvPr id="19" name="TextBox 18"/>
          <p:cNvSpPr txBox="1"/>
          <p:nvPr/>
        </p:nvSpPr>
        <p:spPr>
          <a:xfrm>
            <a:off x="777240" y="5623560"/>
            <a:ext cx="10607040" cy="685800"/>
          </a:xfrm>
          <a:prstGeom prst="rect">
            <a:avLst/>
          </a:prstGeom>
          <a:noFill/>
        </p:spPr>
        <p:txBody>
          <a:bodyPr wrap="square" anchor="t">
            <a:spAutoFit/>
          </a:bodyPr>
          <a:lstStyle/>
          <a:p>
            <a:pPr algn="l">
              <a:spcAft>
                <a:spcPts val="400"/>
              </a:spcAft>
            </a:pPr>
            <a:r>
              <a:rPr sz="1150" b="0">
                <a:solidFill>
                  <a:srgbClr val="5B6372"/>
                </a:solidFill>
                <a:latin typeface="Arial"/>
              </a:rPr>
              <a:t>LAB 03  ·  15 MIN · Python 3 · opencv-python · NumPy · optional: any image generator for your own takes</a:t>
            </a:r>
          </a:p>
          <a:p>
            <a:pPr algn="l">
              <a:spcAft>
                <a:spcPts val="400"/>
              </a:spcAft>
            </a:pPr>
            <a:r>
              <a:rPr sz="1150" b="0">
                <a:solidFill>
                  <a:srgbClr val="5B6372"/>
                </a:solidFill>
                <a:latin typeface="Arial"/>
              </a:rPr>
              <a:t>Detailed procedures and prompts: Learner Guide / labs/lab-03-structured-prompting-stills/README.md</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fast">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0B981"/>
                </a:solidFill>
                <a:latin typeface="Arial"/>
              </a:rPr>
              <a:t>TOPIC 02 · ELO2 · A2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Lab 04 — State Variants, Clean-Up and Reframing with Masks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56231"/>
            <a:ext cx="3401568" cy="361188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56231"/>
            <a:ext cx="3401568"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130552"/>
            <a:ext cx="2999232" cy="457200"/>
          </a:xfrm>
          <a:prstGeom prst="rect">
            <a:avLst/>
          </a:prstGeom>
          <a:noFill/>
        </p:spPr>
        <p:txBody>
          <a:bodyPr wrap="square" anchor="t">
            <a:spAutoFit/>
          </a:bodyPr>
          <a:lstStyle/>
          <a:p>
            <a:pPr algn="l">
              <a:spcAft>
                <a:spcPts val="400"/>
              </a:spcAft>
            </a:pPr>
            <a:r>
              <a:rPr sz="1500" b="1">
                <a:solidFill>
                  <a:srgbClr val="10B981"/>
                </a:solidFill>
                <a:latin typeface="Arial"/>
              </a:rPr>
              <a:t>INPUTS</a:t>
            </a:r>
          </a:p>
        </p:txBody>
      </p:sp>
      <p:sp>
        <p:nvSpPr>
          <p:cNvPr id="10" name="TextBox 9"/>
          <p:cNvSpPr txBox="1"/>
          <p:nvPr/>
        </p:nvSpPr>
        <p:spPr>
          <a:xfrm>
            <a:off x="978408" y="2743200"/>
            <a:ext cx="2999232" cy="2468880"/>
          </a:xfrm>
          <a:prstGeom prst="rect">
            <a:avLst/>
          </a:prstGeom>
          <a:noFill/>
        </p:spPr>
        <p:txBody>
          <a:bodyPr wrap="square" anchor="t">
            <a:spAutoFit/>
          </a:bodyPr>
          <a:lstStyle/>
          <a:p>
            <a:pPr algn="l">
              <a:spcAft>
                <a:spcPts val="400"/>
              </a:spcAft>
            </a:pPr>
            <a:r>
              <a:rPr sz="1400" b="0">
                <a:solidFill>
                  <a:srgbClr val="161B26"/>
                </a:solidFill>
                <a:latin typeface="Arial"/>
              </a:rPr>
              <a:t>HARBOUR PIER state A with a stray orange cone (SIMULATED)</a:t>
            </a:r>
          </a:p>
        </p:txBody>
      </p:sp>
      <p:sp>
        <p:nvSpPr>
          <p:cNvPr id="11" name="Rounded Rectangle 10"/>
          <p:cNvSpPr/>
          <p:nvPr/>
        </p:nvSpPr>
        <p:spPr>
          <a:xfrm>
            <a:off x="4379976" y="1856231"/>
            <a:ext cx="3401568" cy="361188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9976" y="1856231"/>
            <a:ext cx="3401568"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81144" y="2130552"/>
            <a:ext cx="2999232" cy="457200"/>
          </a:xfrm>
          <a:prstGeom prst="rect">
            <a:avLst/>
          </a:prstGeom>
          <a:noFill/>
        </p:spPr>
        <p:txBody>
          <a:bodyPr wrap="square" anchor="t">
            <a:spAutoFit/>
          </a:bodyPr>
          <a:lstStyle/>
          <a:p>
            <a:pPr algn="l">
              <a:spcAft>
                <a:spcPts val="400"/>
              </a:spcAft>
            </a:pPr>
            <a:r>
              <a:rPr sz="1500" b="1">
                <a:solidFill>
                  <a:srgbClr val="10B981"/>
                </a:solidFill>
                <a:latin typeface="Arial"/>
              </a:rPr>
              <a:t>TECHNICAL QUESTION</a:t>
            </a:r>
          </a:p>
        </p:txBody>
      </p:sp>
      <p:sp>
        <p:nvSpPr>
          <p:cNvPr id="14" name="TextBox 13"/>
          <p:cNvSpPr txBox="1"/>
          <p:nvPr/>
        </p:nvSpPr>
        <p:spPr>
          <a:xfrm>
            <a:off x="4581144" y="2743200"/>
            <a:ext cx="2999232" cy="2468880"/>
          </a:xfrm>
          <a:prstGeom prst="rect">
            <a:avLst/>
          </a:prstGeom>
          <a:noFill/>
        </p:spPr>
        <p:txBody>
          <a:bodyPr wrap="square" anchor="t">
            <a:spAutoFit/>
          </a:bodyPr>
          <a:lstStyle/>
          <a:p>
            <a:pPr algn="l">
              <a:spcAft>
                <a:spcPts val="400"/>
              </a:spcAft>
            </a:pPr>
            <a:r>
              <a:rPr sz="1400" b="0">
                <a:solidFill>
                  <a:srgbClr val="161B26"/>
                </a:solidFill>
                <a:latin typeface="Arial"/>
              </a:rPr>
              <a:t>Which pixels changed inside and outside each edit mask, and did the edit obey 'change nothing else'?</a:t>
            </a:r>
          </a:p>
        </p:txBody>
      </p:sp>
      <p:sp>
        <p:nvSpPr>
          <p:cNvPr id="15" name="Rounded Rectangle 14"/>
          <p:cNvSpPr/>
          <p:nvPr/>
        </p:nvSpPr>
        <p:spPr>
          <a:xfrm>
            <a:off x="7982712" y="1856231"/>
            <a:ext cx="3401568" cy="361188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82712" y="1856231"/>
            <a:ext cx="3401568"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83880" y="2130552"/>
            <a:ext cx="2999232" cy="457200"/>
          </a:xfrm>
          <a:prstGeom prst="rect">
            <a:avLst/>
          </a:prstGeom>
          <a:noFill/>
        </p:spPr>
        <p:txBody>
          <a:bodyPr wrap="square" anchor="t">
            <a:spAutoFit/>
          </a:bodyPr>
          <a:lstStyle/>
          <a:p>
            <a:pPr algn="l">
              <a:spcAft>
                <a:spcPts val="400"/>
              </a:spcAft>
            </a:pPr>
            <a:r>
              <a:rPr sz="1500" b="1">
                <a:solidFill>
                  <a:srgbClr val="10B981"/>
                </a:solidFill>
                <a:latin typeface="Arial"/>
              </a:rPr>
              <a:t>EVIDENCE TO PRODUCE</a:t>
            </a:r>
          </a:p>
        </p:txBody>
      </p:sp>
      <p:sp>
        <p:nvSpPr>
          <p:cNvPr id="18" name="TextBox 17"/>
          <p:cNvSpPr txBox="1"/>
          <p:nvPr/>
        </p:nvSpPr>
        <p:spPr>
          <a:xfrm>
            <a:off x="8183880" y="2743200"/>
            <a:ext cx="2999232" cy="2468880"/>
          </a:xfrm>
          <a:prstGeom prst="rect">
            <a:avLst/>
          </a:prstGeom>
          <a:noFill/>
        </p:spPr>
        <p:txBody>
          <a:bodyPr wrap="square" anchor="t">
            <a:spAutoFit/>
          </a:bodyPr>
          <a:lstStyle/>
          <a:p>
            <a:pPr algn="l">
              <a:spcAft>
                <a:spcPts val="400"/>
              </a:spcAft>
            </a:pPr>
            <a:r>
              <a:rPr sz="1400" b="0">
                <a:solidFill>
                  <a:srgbClr val="161B26"/>
                </a:solidFill>
                <a:latin typeface="Arial"/>
              </a:rPr>
              <a:t>An inpainted plate with proof that nothing outside the mask moved, a verification heat-map and verdict for the state edit, and a 9:16 crop and outpaint mask with the percentage of pixels each approach keeps or must generate.</a:t>
            </a:r>
          </a:p>
        </p:txBody>
      </p:sp>
      <p:sp>
        <p:nvSpPr>
          <p:cNvPr id="19" name="TextBox 18"/>
          <p:cNvSpPr txBox="1"/>
          <p:nvPr/>
        </p:nvSpPr>
        <p:spPr>
          <a:xfrm>
            <a:off x="777240" y="5623560"/>
            <a:ext cx="10607040" cy="685800"/>
          </a:xfrm>
          <a:prstGeom prst="rect">
            <a:avLst/>
          </a:prstGeom>
          <a:noFill/>
        </p:spPr>
        <p:txBody>
          <a:bodyPr wrap="square" anchor="t">
            <a:spAutoFit/>
          </a:bodyPr>
          <a:lstStyle/>
          <a:p>
            <a:pPr algn="l">
              <a:spcAft>
                <a:spcPts val="400"/>
              </a:spcAft>
            </a:pPr>
            <a:r>
              <a:rPr sz="1150" b="0">
                <a:solidFill>
                  <a:srgbClr val="5B6372"/>
                </a:solidFill>
                <a:latin typeface="Arial"/>
              </a:rPr>
              <a:t>LAB 04  ·  15 MIN · Python 3 · opencv-python · NumPy · optional: an image editor or generative edit tool</a:t>
            </a:r>
          </a:p>
          <a:p>
            <a:pPr algn="l">
              <a:spcAft>
                <a:spcPts val="400"/>
              </a:spcAft>
            </a:pPr>
            <a:r>
              <a:rPr sz="1150" b="0">
                <a:solidFill>
                  <a:srgbClr val="5B6372"/>
                </a:solidFill>
                <a:latin typeface="Arial"/>
              </a:rPr>
              <a:t>Detailed procedures and prompts: Learner Guide / labs/lab-04-state-variants-reframing/README.md</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fast">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0B981"/>
                </a:solidFill>
                <a:latin typeface="Arial"/>
              </a:rPr>
              <a:t>TOPIC 02 · ELO2 · A2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Lab 05 — Cinematic Grading and Enhancement Measured with PSNR and SSIM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56231"/>
            <a:ext cx="3401568" cy="361188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56231"/>
            <a:ext cx="3401568"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130552"/>
            <a:ext cx="2999232" cy="457200"/>
          </a:xfrm>
          <a:prstGeom prst="rect">
            <a:avLst/>
          </a:prstGeom>
          <a:noFill/>
        </p:spPr>
        <p:txBody>
          <a:bodyPr wrap="square" anchor="t">
            <a:spAutoFit/>
          </a:bodyPr>
          <a:lstStyle/>
          <a:p>
            <a:pPr algn="l">
              <a:spcAft>
                <a:spcPts val="400"/>
              </a:spcAft>
            </a:pPr>
            <a:r>
              <a:rPr sz="1500" b="1">
                <a:solidFill>
                  <a:srgbClr val="10B981"/>
                </a:solidFill>
                <a:latin typeface="Arial"/>
              </a:rPr>
              <a:t>INPUTS</a:t>
            </a:r>
          </a:p>
        </p:txBody>
      </p:sp>
      <p:sp>
        <p:nvSpPr>
          <p:cNvPr id="10" name="TextBox 9"/>
          <p:cNvSpPr txBox="1"/>
          <p:nvPr/>
        </p:nvSpPr>
        <p:spPr>
          <a:xfrm>
            <a:off x="978408" y="2743200"/>
            <a:ext cx="2999232" cy="2468880"/>
          </a:xfrm>
          <a:prstGeom prst="rect">
            <a:avLst/>
          </a:prstGeom>
          <a:noFill/>
        </p:spPr>
        <p:txBody>
          <a:bodyPr wrap="square" anchor="t">
            <a:spAutoFit/>
          </a:bodyPr>
          <a:lstStyle/>
          <a:p>
            <a:pPr algn="l">
              <a:spcAft>
                <a:spcPts val="400"/>
              </a:spcAft>
            </a:pPr>
            <a:r>
              <a:rPr sz="1400" b="0">
                <a:solidFill>
                  <a:srgbClr val="161B26"/>
                </a:solidFill>
                <a:latin typeface="Arial"/>
              </a:rPr>
              <a:t>Approved graded master of shot S2 (SIMULATED)</a:t>
            </a:r>
          </a:p>
        </p:txBody>
      </p:sp>
      <p:sp>
        <p:nvSpPr>
          <p:cNvPr id="11" name="Rounded Rectangle 10"/>
          <p:cNvSpPr/>
          <p:nvPr/>
        </p:nvSpPr>
        <p:spPr>
          <a:xfrm>
            <a:off x="4379976" y="1856231"/>
            <a:ext cx="3401568" cy="361188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9976" y="1856231"/>
            <a:ext cx="3401568"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81144" y="2130552"/>
            <a:ext cx="2999232" cy="457200"/>
          </a:xfrm>
          <a:prstGeom prst="rect">
            <a:avLst/>
          </a:prstGeom>
          <a:noFill/>
        </p:spPr>
        <p:txBody>
          <a:bodyPr wrap="square" anchor="t">
            <a:spAutoFit/>
          </a:bodyPr>
          <a:lstStyle/>
          <a:p>
            <a:pPr algn="l">
              <a:spcAft>
                <a:spcPts val="400"/>
              </a:spcAft>
            </a:pPr>
            <a:r>
              <a:rPr sz="1500" b="1">
                <a:solidFill>
                  <a:srgbClr val="10B981"/>
                </a:solidFill>
                <a:latin typeface="Arial"/>
              </a:rPr>
              <a:t>TECHNICAL QUESTION</a:t>
            </a:r>
          </a:p>
        </p:txBody>
      </p:sp>
      <p:sp>
        <p:nvSpPr>
          <p:cNvPr id="14" name="TextBox 13"/>
          <p:cNvSpPr txBox="1"/>
          <p:nvPr/>
        </p:nvSpPr>
        <p:spPr>
          <a:xfrm>
            <a:off x="4581144" y="2743200"/>
            <a:ext cx="2999232" cy="2468880"/>
          </a:xfrm>
          <a:prstGeom prst="rect">
            <a:avLst/>
          </a:prstGeom>
          <a:noFill/>
        </p:spPr>
        <p:txBody>
          <a:bodyPr wrap="square" anchor="t">
            <a:spAutoFit/>
          </a:bodyPr>
          <a:lstStyle/>
          <a:p>
            <a:pPr algn="l">
              <a:spcAft>
                <a:spcPts val="400"/>
              </a:spcAft>
            </a:pPr>
            <a:r>
              <a:rPr sz="1400" b="0">
                <a:solidFill>
                  <a:srgbClr val="161B26"/>
                </a:solidFill>
                <a:latin typeface="Arial"/>
              </a:rPr>
              <a:t>Which enhancement best repairs each defect by PSNR and SSIM, and do the two metrics agree?</a:t>
            </a:r>
          </a:p>
        </p:txBody>
      </p:sp>
      <p:sp>
        <p:nvSpPr>
          <p:cNvPr id="15" name="Rounded Rectangle 14"/>
          <p:cNvSpPr/>
          <p:nvPr/>
        </p:nvSpPr>
        <p:spPr>
          <a:xfrm>
            <a:off x="7982712" y="1856231"/>
            <a:ext cx="3401568" cy="361188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82712" y="1856231"/>
            <a:ext cx="3401568"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83880" y="2130552"/>
            <a:ext cx="2999232" cy="457200"/>
          </a:xfrm>
          <a:prstGeom prst="rect">
            <a:avLst/>
          </a:prstGeom>
          <a:noFill/>
        </p:spPr>
        <p:txBody>
          <a:bodyPr wrap="square" anchor="t">
            <a:spAutoFit/>
          </a:bodyPr>
          <a:lstStyle/>
          <a:p>
            <a:pPr algn="l">
              <a:spcAft>
                <a:spcPts val="400"/>
              </a:spcAft>
            </a:pPr>
            <a:r>
              <a:rPr sz="1500" b="1">
                <a:solidFill>
                  <a:srgbClr val="10B981"/>
                </a:solidFill>
                <a:latin typeface="Arial"/>
              </a:rPr>
              <a:t>EVIDENCE TO PRODUCE</a:t>
            </a:r>
          </a:p>
        </p:txBody>
      </p:sp>
      <p:sp>
        <p:nvSpPr>
          <p:cNvPr id="18" name="TextBox 17"/>
          <p:cNvSpPr txBox="1"/>
          <p:nvPr/>
        </p:nvSpPr>
        <p:spPr>
          <a:xfrm>
            <a:off x="8183880" y="2743200"/>
            <a:ext cx="2999232" cy="2468880"/>
          </a:xfrm>
          <a:prstGeom prst="rect">
            <a:avLst/>
          </a:prstGeom>
          <a:noFill/>
        </p:spPr>
        <p:txBody>
          <a:bodyPr wrap="square" anchor="t">
            <a:spAutoFit/>
          </a:bodyPr>
          <a:lstStyle/>
          <a:p>
            <a:pPr algn="l">
              <a:spcAft>
                <a:spcPts val="400"/>
              </a:spcAft>
            </a:pPr>
            <a:r>
              <a:rPr sz="1400" b="0">
                <a:solidFill>
                  <a:srgbClr val="161B26"/>
                </a:solidFill>
                <a:latin typeface="Arial"/>
              </a:rPr>
              <a:t>An enhancement score table (4 defects × 3 repairs + unrepaired), a before/after sheet of the best repair per defect, and a flat-versus-graded comparison with the measured shift in shadow and highlight warmth.</a:t>
            </a:r>
          </a:p>
        </p:txBody>
      </p:sp>
      <p:sp>
        <p:nvSpPr>
          <p:cNvPr id="19" name="TextBox 18"/>
          <p:cNvSpPr txBox="1"/>
          <p:nvPr/>
        </p:nvSpPr>
        <p:spPr>
          <a:xfrm>
            <a:off x="777240" y="5623560"/>
            <a:ext cx="10607040" cy="685800"/>
          </a:xfrm>
          <a:prstGeom prst="rect">
            <a:avLst/>
          </a:prstGeom>
          <a:noFill/>
        </p:spPr>
        <p:txBody>
          <a:bodyPr wrap="square" anchor="t">
            <a:spAutoFit/>
          </a:bodyPr>
          <a:lstStyle/>
          <a:p>
            <a:pPr algn="l">
              <a:spcAft>
                <a:spcPts val="400"/>
              </a:spcAft>
            </a:pPr>
            <a:r>
              <a:rPr sz="1150" b="0">
                <a:solidFill>
                  <a:srgbClr val="5B6372"/>
                </a:solidFill>
                <a:latin typeface="Arial"/>
              </a:rPr>
              <a:t>LAB 05  ·  15 MIN · Python 3 · opencv-python · NumPy · no network</a:t>
            </a:r>
          </a:p>
          <a:p>
            <a:pPr algn="l">
              <a:spcAft>
                <a:spcPts val="400"/>
              </a:spcAft>
            </a:pPr>
            <a:r>
              <a:rPr sz="1150" b="0">
                <a:solidFill>
                  <a:srgbClr val="5B6372"/>
                </a:solidFill>
                <a:latin typeface="Arial"/>
              </a:rPr>
              <a:t>Detailed procedures and prompts: Learner Guide / labs/lab-05-grading-enhancement-metrics/README.md</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fast">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700" b="1">
                <a:solidFill>
                  <a:srgbClr val="1F6FEB"/>
                </a:solidFill>
                <a:latin typeface="Arial"/>
              </a:rPr>
              <a:t>TOPIC 03</a:t>
            </a:r>
          </a:p>
        </p:txBody>
      </p:sp>
      <p:sp>
        <p:nvSpPr>
          <p:cNvPr id="6" name="TextBox 5"/>
          <p:cNvSpPr txBox="1"/>
          <p:nvPr/>
        </p:nvSpPr>
        <p:spPr>
          <a:xfrm>
            <a:off x="1143000" y="2743200"/>
            <a:ext cx="9144000" cy="1463040"/>
          </a:xfrm>
          <a:prstGeom prst="rect">
            <a:avLst/>
          </a:prstGeom>
          <a:noFill/>
        </p:spPr>
        <p:txBody>
          <a:bodyPr wrap="square" anchor="t">
            <a:spAutoFit/>
          </a:bodyPr>
          <a:lstStyle/>
          <a:p>
            <a:pPr algn="l">
              <a:spcAft>
                <a:spcPts val="400"/>
              </a:spcAft>
            </a:pPr>
            <a:r>
              <a:rPr sz="3000" b="1">
                <a:solidFill>
                  <a:srgbClr val="161B26"/>
                </a:solidFill>
                <a:latin typeface="Arial"/>
              </a:rPr>
              <a:t>AI Visual Features, Character Consistency and Scene Design</a:t>
            </a:r>
          </a:p>
        </p:txBody>
      </p:sp>
      <p:sp>
        <p:nvSpPr>
          <p:cNvPr id="7" name="TextBox 6"/>
          <p:cNvSpPr txBox="1"/>
          <p:nvPr/>
        </p:nvSpPr>
        <p:spPr>
          <a:xfrm>
            <a:off x="1161288" y="4297680"/>
            <a:ext cx="9692640" cy="1280160"/>
          </a:xfrm>
          <a:prstGeom prst="rect">
            <a:avLst/>
          </a:prstGeom>
          <a:noFill/>
        </p:spPr>
        <p:txBody>
          <a:bodyPr wrap="square" anchor="t">
            <a:spAutoFit/>
          </a:bodyPr>
          <a:lstStyle/>
          <a:p>
            <a:pPr algn="l">
              <a:spcAft>
                <a:spcPts val="400"/>
              </a:spcAft>
            </a:pPr>
            <a:r>
              <a:rPr sz="1400" b="0">
                <a:solidFill>
                  <a:srgbClr val="5B6372"/>
                </a:solidFill>
                <a:latin typeface="Arial"/>
              </a:rPr>
              <a:t>Features as the language of consistency · character reference sheets and AI casting · local features — colour, edge, texture and keypoints · global features — histograms, statistics and moments for the look of a shot · shot size, camera angle, movement and lighting</a:t>
            </a:r>
          </a:p>
        </p:txBody>
      </p:sp>
      <p:sp>
        <p:nvSpPr>
          <p:cNvPr id="8" name="TextBox 7"/>
          <p:cNvSpPr txBox="1"/>
          <p:nvPr/>
        </p:nvSpPr>
        <p:spPr>
          <a:xfrm>
            <a:off x="9326880" y="640080"/>
            <a:ext cx="2377440" cy="1463040"/>
          </a:xfrm>
          <a:prstGeom prst="rect">
            <a:avLst/>
          </a:prstGeom>
          <a:noFill/>
        </p:spPr>
        <p:txBody>
          <a:bodyPr wrap="square" anchor="t">
            <a:spAutoFit/>
          </a:bodyPr>
          <a:lstStyle/>
          <a:p>
            <a:pPr algn="r">
              <a:spcAft>
                <a:spcPts val="400"/>
              </a:spcAft>
            </a:pPr>
            <a:r>
              <a:rPr sz="68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fast">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LU3 · ELO3 · K5, K6, K7, A3, A4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Key Concepts — Topic 03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823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64336"/>
          </a:xfrm>
          <a:prstGeom prst="rect">
            <a:avLst/>
          </a:prstGeom>
          <a:noFill/>
        </p:spPr>
        <p:txBody>
          <a:bodyPr wrap="square" anchor="ctr">
            <a:spAutoFit/>
          </a:bodyPr>
          <a:lstStyle/>
          <a:p>
            <a:pPr algn="l">
              <a:spcAft>
                <a:spcPts val="200"/>
              </a:spcAft>
            </a:pPr>
            <a:r>
              <a:rPr sz="1350" b="1">
                <a:solidFill>
                  <a:srgbClr val="161B26"/>
                </a:solidFill>
                <a:latin typeface="Arial"/>
              </a:rPr>
              <a:t>Consistency is a feature-matching problem</a:t>
            </a:r>
          </a:p>
          <a:p>
            <a:pPr algn="l">
              <a:spcAft>
                <a:spcPts val="200"/>
              </a:spcAft>
            </a:pPr>
            <a:r>
              <a:rPr sz="1050" b="0">
                <a:solidFill>
                  <a:srgbClr val="5B6372"/>
                </a:solidFill>
                <a:latin typeface="Arial"/>
              </a:rPr>
              <a:t>A character is 'the same' when repeatable features match across shots: wardrobe colours, silhouette, facial landmarks, a distinctive prop. The video model conditions on those features, and your QA measures them.</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8236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64336"/>
          </a:xfrm>
          <a:prstGeom prst="rect">
            <a:avLst/>
          </a:prstGeom>
          <a:noFill/>
        </p:spPr>
        <p:txBody>
          <a:bodyPr wrap="square" anchor="ctr">
            <a:spAutoFit/>
          </a:bodyPr>
          <a:lstStyle/>
          <a:p>
            <a:pPr algn="l">
              <a:spcAft>
                <a:spcPts val="200"/>
              </a:spcAft>
            </a:pPr>
            <a:r>
              <a:rPr sz="1350" b="1">
                <a:solidFill>
                  <a:srgbClr val="161B26"/>
                </a:solidFill>
                <a:latin typeface="Arial"/>
              </a:rPr>
              <a:t>A character reference sheet is a feature specification</a:t>
            </a:r>
          </a:p>
          <a:p>
            <a:pPr algn="l">
              <a:spcAft>
                <a:spcPts val="200"/>
              </a:spcAft>
            </a:pPr>
            <a:r>
              <a:rPr sz="1050" b="0">
                <a:solidFill>
                  <a:srgbClr val="5B6372"/>
                </a:solidFill>
                <a:latin typeface="Arial"/>
              </a:rPr>
              <a:t>Front, side and back views plus close-ups and expressions, one outfit, fixed colours. Casting attributes — genre, era, archetype, identity, build, details, outfit — pin the look before the first shot is generated.</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04616"/>
            <a:ext cx="4027932" cy="1164336"/>
          </a:xfrm>
          <a:prstGeom prst="rect">
            <a:avLst/>
          </a:prstGeom>
          <a:noFill/>
        </p:spPr>
        <p:txBody>
          <a:bodyPr wrap="square" anchor="ctr">
            <a:spAutoFit/>
          </a:bodyPr>
          <a:lstStyle/>
          <a:p>
            <a:pPr algn="l">
              <a:spcAft>
                <a:spcPts val="200"/>
              </a:spcAft>
            </a:pPr>
            <a:r>
              <a:rPr sz="1350" b="1">
                <a:solidFill>
                  <a:srgbClr val="161B26"/>
                </a:solidFill>
                <a:latin typeface="Arial"/>
              </a:rPr>
              <a:t>Local features answer 'what is here?'</a:t>
            </a:r>
          </a:p>
          <a:p>
            <a:pPr algn="l">
              <a:spcAft>
                <a:spcPts val="200"/>
              </a:spcAft>
            </a:pPr>
            <a:r>
              <a:rPr sz="1050" b="0">
                <a:solidFill>
                  <a:srgbClr val="5B6372"/>
                </a:solidFill>
                <a:latin typeface="Arial"/>
              </a:rPr>
              <a:t>Dominant colour in HSV, Canny edges of the silhouette, texture energy and ORB keypoints on the face or prop. They are compared crop to crop, so they catch a scarf that changed colour or a prop that lost its clasp.</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04616"/>
            <a:ext cx="4027932" cy="1164336"/>
          </a:xfrm>
          <a:prstGeom prst="rect">
            <a:avLst/>
          </a:prstGeom>
          <a:noFill/>
        </p:spPr>
        <p:txBody>
          <a:bodyPr wrap="square" anchor="ctr">
            <a:spAutoFit/>
          </a:bodyPr>
          <a:lstStyle/>
          <a:p>
            <a:pPr algn="l">
              <a:spcAft>
                <a:spcPts val="200"/>
              </a:spcAft>
            </a:pPr>
            <a:r>
              <a:rPr sz="1350" b="1">
                <a:solidFill>
                  <a:srgbClr val="161B26"/>
                </a:solidFill>
                <a:latin typeface="Arial"/>
              </a:rPr>
              <a:t>Global features answer 'does this whole shot belong?'</a:t>
            </a:r>
          </a:p>
          <a:p>
            <a:pPr algn="l">
              <a:spcAft>
                <a:spcPts val="200"/>
              </a:spcAft>
            </a:pPr>
            <a:r>
              <a:rPr sz="1050" b="0">
                <a:solidFill>
                  <a:srgbClr val="5B6372"/>
                </a:solidFill>
                <a:latin typeface="Arial"/>
              </a:rPr>
              <a:t>HSV histograms compared with Bhattacharyya distance, mean luminance, contrast, warm/cool balance and Hu moments of the composition mask. Together they form a numeric 'look bible' that every shot must stay close to.</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256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34712"/>
            <a:ext cx="4027932" cy="1164336"/>
          </a:xfrm>
          <a:prstGeom prst="rect">
            <a:avLst/>
          </a:prstGeom>
          <a:noFill/>
        </p:spPr>
        <p:txBody>
          <a:bodyPr wrap="square" anchor="ctr">
            <a:spAutoFit/>
          </a:bodyPr>
          <a:lstStyle/>
          <a:p>
            <a:pPr algn="l">
              <a:spcAft>
                <a:spcPts val="200"/>
              </a:spcAft>
            </a:pPr>
            <a:r>
              <a:rPr sz="1350" b="1">
                <a:solidFill>
                  <a:srgbClr val="161B26"/>
                </a:solidFill>
                <a:latin typeface="Arial"/>
              </a:rPr>
              <a:t>Scene design is composition, camera and light</a:t>
            </a:r>
          </a:p>
          <a:p>
            <a:pPr algn="l">
              <a:spcAft>
                <a:spcPts val="200"/>
              </a:spcAft>
            </a:pPr>
            <a:r>
              <a:rPr sz="1050" b="0">
                <a:solidFill>
                  <a:srgbClr val="5B6372"/>
                </a:solidFill>
                <a:latin typeface="Arial"/>
              </a:rPr>
              <a:t>Shot size (wide, medium, close-up), angle (eye-level, low, high, over-the-shoulder), movement (push-in, pan, tracking, handheld) and lighting (key, fill, rim, practicals, blue hour). The rule of thirds and the 180-degree rule keep a cut readable.</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256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34712"/>
            <a:ext cx="4027932" cy="1164336"/>
          </a:xfrm>
          <a:prstGeom prst="rect">
            <a:avLst/>
          </a:prstGeom>
          <a:noFill/>
        </p:spPr>
        <p:txBody>
          <a:bodyPr wrap="square" anchor="ctr">
            <a:spAutoFit/>
          </a:bodyPr>
          <a:lstStyle/>
          <a:p>
            <a:pPr algn="l">
              <a:spcAft>
                <a:spcPts val="200"/>
              </a:spcAft>
            </a:pPr>
            <a:r>
              <a:rPr sz="1350" b="1">
                <a:solidFill>
                  <a:srgbClr val="161B26"/>
                </a:solidFill>
                <a:latin typeface="Arial"/>
              </a:rPr>
              <a:t>Locations and props need angles and states</a:t>
            </a:r>
          </a:p>
          <a:p>
            <a:pPr algn="l">
              <a:spcAft>
                <a:spcPts val="200"/>
              </a:spcAft>
            </a:pPr>
            <a:r>
              <a:rPr sz="1050" b="0">
                <a:solidFill>
                  <a:srgbClr val="5B6372"/>
                </a:solidFill>
                <a:latin typeface="Arial"/>
              </a:rPr>
              <a:t>Generate a multi-angle location grid and each story state of a location (ferry docked, ferry leaving) as its own reference, plus a clean hero plate of every prop. The model reuses what you give it and invents what you don't.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fast">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500" b="1">
                <a:solidFill>
                  <a:srgbClr val="7C3AED"/>
                </a:solidFill>
                <a:latin typeface="Arial"/>
              </a:rPr>
              <a:t>K5 · FEATURE EXTRACTION AND REPRESENTATION</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400" b="1">
                <a:solidFill>
                  <a:srgbClr val="161B26"/>
                </a:solidFill>
                <a:latin typeface="Arial"/>
              </a:rPr>
              <a:t>Consistency is a feature-matching problem.</a:t>
            </a:r>
          </a:p>
        </p:txBody>
      </p:sp>
      <p:sp>
        <p:nvSpPr>
          <p:cNvPr id="6" name="TextBox 5"/>
          <p:cNvSpPr txBox="1"/>
          <p:nvPr/>
        </p:nvSpPr>
        <p:spPr>
          <a:xfrm>
            <a:off x="1024128" y="4480560"/>
            <a:ext cx="10058400" cy="1280160"/>
          </a:xfrm>
          <a:prstGeom prst="rect">
            <a:avLst/>
          </a:prstGeom>
          <a:noFill/>
        </p:spPr>
        <p:txBody>
          <a:bodyPr wrap="square" anchor="t">
            <a:spAutoFit/>
          </a:bodyPr>
          <a:lstStyle/>
          <a:p>
            <a:pPr algn="l">
              <a:spcAft>
                <a:spcPts val="400"/>
              </a:spcAft>
            </a:pPr>
            <a:r>
              <a:rPr sz="1700" b="0">
                <a:solidFill>
                  <a:srgbClr val="5B6372"/>
                </a:solidFill>
                <a:latin typeface="Arial"/>
              </a:rPr>
              <a:t>A character is 'the same' across shots when repeatable features match: wardrobe colours, silhouette, a face, a distinctive prop. The generator conditions on those features — and your quality check measures them.</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fast">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A4 · DESIGN THE FEATURES BEFORE THE SHOTS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 Reference Sheet Is a Feature Specification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755648"/>
            <a:ext cx="6684264" cy="37839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mei-sheet.png"/>
          <p:cNvPicPr>
            <a:picLocks noChangeAspect="1"/>
          </p:cNvPicPr>
          <p:nvPr/>
        </p:nvPicPr>
        <p:blipFill>
          <a:blip r:embed="rId2"/>
          <a:stretch>
            <a:fillRect/>
          </a:stretch>
        </p:blipFill>
        <p:spPr>
          <a:xfrm>
            <a:off x="777240" y="1783080"/>
            <a:ext cx="6629400" cy="3729037"/>
          </a:xfrm>
          <a:prstGeom prst="rect">
            <a:avLst/>
          </a:prstGeom>
        </p:spPr>
      </p:pic>
      <p:sp>
        <p:nvSpPr>
          <p:cNvPr id="9" name="TextBox 8"/>
          <p:cNvSpPr txBox="1"/>
          <p:nvPr/>
        </p:nvSpPr>
        <p:spPr>
          <a:xfrm>
            <a:off x="777240" y="5548693"/>
            <a:ext cx="6629400" cy="310896"/>
          </a:xfrm>
          <a:prstGeom prst="rect">
            <a:avLst/>
          </a:prstGeom>
          <a:noFill/>
        </p:spPr>
        <p:txBody>
          <a:bodyPr wrap="square" anchor="t">
            <a:spAutoFit/>
          </a:bodyPr>
          <a:lstStyle/>
          <a:p>
            <a:pPr algn="ctr">
              <a:spcAft>
                <a:spcPts val="400"/>
              </a:spcAft>
            </a:pPr>
            <a:r>
              <a:rPr sz="1050" b="0">
                <a:solidFill>
                  <a:srgbClr val="5B6372"/>
                </a:solidFill>
                <a:latin typeface="Arial"/>
              </a:rPr>
              <a:t>MEI — front, side, back, close-up and the RED BOX prop</a:t>
            </a:r>
          </a:p>
        </p:txBody>
      </p:sp>
      <p:sp>
        <p:nvSpPr>
          <p:cNvPr id="10" name="Rectangle 9"/>
          <p:cNvSpPr/>
          <p:nvPr/>
        </p:nvSpPr>
        <p:spPr>
          <a:xfrm>
            <a:off x="7680960" y="1783080"/>
            <a:ext cx="3730752"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680960" y="1783080"/>
            <a:ext cx="82296" cy="92811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82128" y="1783080"/>
            <a:ext cx="3346704" cy="928116"/>
          </a:xfrm>
          <a:prstGeom prst="rect">
            <a:avLst/>
          </a:prstGeom>
          <a:noFill/>
        </p:spPr>
        <p:txBody>
          <a:bodyPr wrap="square" anchor="ctr">
            <a:spAutoFit/>
          </a:bodyPr>
          <a:lstStyle/>
          <a:p>
            <a:pPr algn="l">
              <a:spcAft>
                <a:spcPts val="200"/>
              </a:spcAft>
            </a:pPr>
            <a:r>
              <a:rPr sz="1250" b="1">
                <a:solidFill>
                  <a:srgbClr val="1F6FEB"/>
                </a:solidFill>
                <a:latin typeface="Arial"/>
              </a:rPr>
              <a:t>Three views</a:t>
            </a:r>
          </a:p>
          <a:p>
            <a:pPr algn="l">
              <a:spcAft>
                <a:spcPts val="200"/>
              </a:spcAft>
            </a:pPr>
            <a:r>
              <a:rPr sz="1100" b="0">
                <a:solidFill>
                  <a:srgbClr val="161B26"/>
                </a:solidFill>
                <a:latin typeface="Arial"/>
              </a:rPr>
              <a:t>Front, side and back fix the silhouette from every angle.</a:t>
            </a:r>
          </a:p>
        </p:txBody>
      </p:sp>
      <p:sp>
        <p:nvSpPr>
          <p:cNvPr id="13" name="Rectangle 12"/>
          <p:cNvSpPr/>
          <p:nvPr/>
        </p:nvSpPr>
        <p:spPr>
          <a:xfrm>
            <a:off x="7680960" y="2875788"/>
            <a:ext cx="3730752"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680960" y="2875788"/>
            <a:ext cx="82296" cy="9281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82128" y="2875788"/>
            <a:ext cx="3346704" cy="928116"/>
          </a:xfrm>
          <a:prstGeom prst="rect">
            <a:avLst/>
          </a:prstGeom>
          <a:noFill/>
        </p:spPr>
        <p:txBody>
          <a:bodyPr wrap="square" anchor="ctr">
            <a:spAutoFit/>
          </a:bodyPr>
          <a:lstStyle/>
          <a:p>
            <a:pPr algn="l">
              <a:spcAft>
                <a:spcPts val="200"/>
              </a:spcAft>
            </a:pPr>
            <a:r>
              <a:rPr sz="1250" b="1">
                <a:solidFill>
                  <a:srgbClr val="10B981"/>
                </a:solidFill>
                <a:latin typeface="Arial"/>
              </a:rPr>
              <a:t>Close-up</a:t>
            </a:r>
          </a:p>
          <a:p>
            <a:pPr algn="l">
              <a:spcAft>
                <a:spcPts val="200"/>
              </a:spcAft>
            </a:pPr>
            <a:r>
              <a:rPr sz="1100" b="0">
                <a:solidFill>
                  <a:srgbClr val="161B26"/>
                </a:solidFill>
                <a:latin typeface="Arial"/>
              </a:rPr>
              <a:t>Face, scarf and the chequered bag patch at full detail.</a:t>
            </a:r>
          </a:p>
        </p:txBody>
      </p:sp>
      <p:sp>
        <p:nvSpPr>
          <p:cNvPr id="16" name="Rectangle 15"/>
          <p:cNvSpPr/>
          <p:nvPr/>
        </p:nvSpPr>
        <p:spPr>
          <a:xfrm>
            <a:off x="7680960" y="3968496"/>
            <a:ext cx="3730752"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80960" y="3968496"/>
            <a:ext cx="82296" cy="92811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82128" y="3968496"/>
            <a:ext cx="3346704" cy="928116"/>
          </a:xfrm>
          <a:prstGeom prst="rect">
            <a:avLst/>
          </a:prstGeom>
          <a:noFill/>
        </p:spPr>
        <p:txBody>
          <a:bodyPr wrap="square" anchor="ctr">
            <a:spAutoFit/>
          </a:bodyPr>
          <a:lstStyle/>
          <a:p>
            <a:pPr algn="l">
              <a:spcAft>
                <a:spcPts val="200"/>
              </a:spcAft>
            </a:pPr>
            <a:r>
              <a:rPr sz="1250" b="1">
                <a:solidFill>
                  <a:srgbClr val="7C3AED"/>
                </a:solidFill>
                <a:latin typeface="Arial"/>
              </a:rPr>
              <a:t>One outfit</a:t>
            </a:r>
          </a:p>
          <a:p>
            <a:pPr algn="l">
              <a:spcAft>
                <a:spcPts val="200"/>
              </a:spcAft>
            </a:pPr>
            <a:r>
              <a:rPr sz="1100" b="0">
                <a:solidFill>
                  <a:srgbClr val="161B26"/>
                </a:solidFill>
                <a:latin typeface="Arial"/>
              </a:rPr>
              <a:t>Fixed colours: yellow raincoat, red scarf, black bag.</a:t>
            </a:r>
          </a:p>
        </p:txBody>
      </p:sp>
      <p:sp>
        <p:nvSpPr>
          <p:cNvPr id="19" name="Rectangle 18"/>
          <p:cNvSpPr/>
          <p:nvPr/>
        </p:nvSpPr>
        <p:spPr>
          <a:xfrm>
            <a:off x="7680960" y="5061204"/>
            <a:ext cx="3730752"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680960" y="5061204"/>
            <a:ext cx="82296" cy="92811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82128" y="5061204"/>
            <a:ext cx="3346704" cy="928116"/>
          </a:xfrm>
          <a:prstGeom prst="rect">
            <a:avLst/>
          </a:prstGeom>
          <a:noFill/>
        </p:spPr>
        <p:txBody>
          <a:bodyPr wrap="square" anchor="ctr">
            <a:spAutoFit/>
          </a:bodyPr>
          <a:lstStyle/>
          <a:p>
            <a:pPr algn="l">
              <a:spcAft>
                <a:spcPts val="200"/>
              </a:spcAft>
            </a:pPr>
            <a:r>
              <a:rPr sz="1250" b="1">
                <a:solidFill>
                  <a:srgbClr val="F59E0B"/>
                </a:solidFill>
                <a:latin typeface="Arial"/>
              </a:rPr>
              <a:t>Save as an element</a:t>
            </a:r>
          </a:p>
          <a:p>
            <a:pPr algn="l">
              <a:spcAft>
                <a:spcPts val="200"/>
              </a:spcAft>
            </a:pPr>
            <a:r>
              <a:rPr sz="1100" b="0">
                <a:solidFill>
                  <a:srgbClr val="161B26"/>
                </a:solidFill>
                <a:latin typeface="Arial"/>
              </a:rPr>
              <a:t>Name it (@mei) and reuse it — never re-describe her.</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fast">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K5 · STRUCTURED CASTING ATTRIBUTES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Casting a Character Without a Photo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823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GENRE</a:t>
            </a:r>
          </a:p>
          <a:p>
            <a:pPr algn="l">
              <a:spcAft>
                <a:spcPts val="200"/>
              </a:spcAft>
            </a:pPr>
            <a:r>
              <a:rPr sz="1000" b="0">
                <a:solidFill>
                  <a:srgbClr val="5B6372"/>
                </a:solidFill>
                <a:latin typeface="Arial"/>
              </a:rPr>
              <a:t>Sets the visual register: drama, action, thriller, romance.</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8236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BUDGET AND ERA</a:t>
            </a:r>
          </a:p>
          <a:p>
            <a:pPr algn="l">
              <a:spcAft>
                <a:spcPts val="200"/>
              </a:spcAft>
            </a:pPr>
            <a:r>
              <a:rPr sz="1000" b="0">
                <a:solidFill>
                  <a:srgbClr val="5B6372"/>
                </a:solidFill>
                <a:latin typeface="Arial"/>
              </a:rPr>
              <a:t>Production scale and period shape wardrobe and grooming.</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04616"/>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ARCHETYPE</a:t>
            </a:r>
          </a:p>
          <a:p>
            <a:pPr algn="l">
              <a:spcAft>
                <a:spcPts val="200"/>
              </a:spcAft>
            </a:pPr>
            <a:r>
              <a:rPr sz="1000" b="0">
                <a:solidFill>
                  <a:srgbClr val="5B6372"/>
                </a:solidFill>
                <a:latin typeface="Arial"/>
              </a:rPr>
              <a:t>The role in the story: hero, sage, innocent, rebel.</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04616"/>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IDENTITY</a:t>
            </a:r>
          </a:p>
          <a:p>
            <a:pPr algn="l">
              <a:spcAft>
                <a:spcPts val="200"/>
              </a:spcAft>
            </a:pPr>
            <a:r>
              <a:rPr sz="1000" b="0">
                <a:solidFill>
                  <a:srgbClr val="5B6372"/>
                </a:solidFill>
                <a:latin typeface="Arial"/>
              </a:rPr>
              <a:t>Gender, age and ethnicity chosen deliberately, not left to chance.</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256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34712"/>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BUILD AND DETAILS</a:t>
            </a:r>
          </a:p>
          <a:p>
            <a:pPr algn="l">
              <a:spcAft>
                <a:spcPts val="200"/>
              </a:spcAft>
            </a:pPr>
            <a:r>
              <a:rPr sz="1000" b="0">
                <a:solidFill>
                  <a:srgbClr val="5B6372"/>
                </a:solidFill>
                <a:latin typeface="Arial"/>
              </a:rPr>
              <a:t>Body type, height, facial hair, scars, tattoos.</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256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34712"/>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OUTFIT</a:t>
            </a:r>
          </a:p>
          <a:p>
            <a:pPr algn="l">
              <a:spcAft>
                <a:spcPts val="200"/>
              </a:spcAft>
            </a:pPr>
            <a:r>
              <a:rPr sz="1000" b="0">
                <a:solidFill>
                  <a:srgbClr val="5B6372"/>
                </a:solidFill>
                <a:latin typeface="Arial"/>
              </a:rPr>
              <a:t>One costume, specified exactly — it is the strongest feature.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ransition spd="fast">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0B981"/>
                </a:solidFill>
                <a:latin typeface="Arial"/>
              </a:rPr>
              <a:t>K5 · ASSET MANAGEMENT KEEPS THE CAST CONSISTENT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Generate, Approve, Save, Reuse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240280"/>
            <a:ext cx="1878177" cy="288036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4028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50568" y="2606040"/>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50568" y="260604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1" name="TextBox 10"/>
          <p:cNvSpPr txBox="1"/>
          <p:nvPr/>
        </p:nvSpPr>
        <p:spPr>
          <a:xfrm>
            <a:off x="905256" y="3611880"/>
            <a:ext cx="1622145" cy="1399032"/>
          </a:xfrm>
          <a:prstGeom prst="rect">
            <a:avLst/>
          </a:prstGeom>
          <a:noFill/>
        </p:spPr>
        <p:txBody>
          <a:bodyPr wrap="square" anchor="t">
            <a:spAutoFit/>
          </a:bodyPr>
          <a:lstStyle/>
          <a:p>
            <a:pPr algn="ctr">
              <a:spcAft>
                <a:spcPts val="400"/>
              </a:spcAft>
            </a:pPr>
            <a:r>
              <a:rPr sz="1250" b="0">
                <a:solidFill>
                  <a:srgbClr val="161B26"/>
                </a:solidFill>
                <a:latin typeface="Arial"/>
              </a:rPr>
              <a:t>Generate the sheet — cheap draft model first</a:t>
            </a:r>
          </a:p>
        </p:txBody>
      </p:sp>
      <p:cxnSp>
        <p:nvCxnSpPr>
          <p:cNvPr id="12" name="Connector 11"/>
          <p:cNvCxnSpPr/>
          <p:nvPr/>
        </p:nvCxnSpPr>
        <p:spPr>
          <a:xfrm>
            <a:off x="2691993" y="3680460"/>
            <a:ext cx="237744" cy="0"/>
          </a:xfrm>
          <a:prstGeom prst="line">
            <a:avLst/>
          </a:prstGeom>
          <a:ln w="22225">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66313" y="2240280"/>
            <a:ext cx="1878177" cy="288036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24028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9641" y="2606040"/>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9641" y="260604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7" name="TextBox 16"/>
          <p:cNvSpPr txBox="1"/>
          <p:nvPr/>
        </p:nvSpPr>
        <p:spPr>
          <a:xfrm>
            <a:off x="3094329" y="3611880"/>
            <a:ext cx="1622145" cy="1399032"/>
          </a:xfrm>
          <a:prstGeom prst="rect">
            <a:avLst/>
          </a:prstGeom>
          <a:noFill/>
        </p:spPr>
        <p:txBody>
          <a:bodyPr wrap="square" anchor="t">
            <a:spAutoFit/>
          </a:bodyPr>
          <a:lstStyle/>
          <a:p>
            <a:pPr algn="ctr">
              <a:spcAft>
                <a:spcPts val="400"/>
              </a:spcAft>
            </a:pPr>
            <a:r>
              <a:rPr sz="1250" b="0">
                <a:solidFill>
                  <a:srgbClr val="161B26"/>
                </a:solidFill>
                <a:latin typeface="Arial"/>
              </a:rPr>
              <a:t>Approve against the character brief</a:t>
            </a:r>
          </a:p>
        </p:txBody>
      </p:sp>
      <p:cxnSp>
        <p:nvCxnSpPr>
          <p:cNvPr id="18" name="Connector 17"/>
          <p:cNvCxnSpPr/>
          <p:nvPr/>
        </p:nvCxnSpPr>
        <p:spPr>
          <a:xfrm>
            <a:off x="4881066" y="3680460"/>
            <a:ext cx="237744" cy="0"/>
          </a:xfrm>
          <a:prstGeom prst="line">
            <a:avLst/>
          </a:prstGeom>
          <a:ln w="22225">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155386" y="2240280"/>
            <a:ext cx="1878177" cy="288036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24028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28714" y="2606040"/>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28714" y="260604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3" name="TextBox 22"/>
          <p:cNvSpPr txBox="1"/>
          <p:nvPr/>
        </p:nvSpPr>
        <p:spPr>
          <a:xfrm>
            <a:off x="5283402" y="3611880"/>
            <a:ext cx="1622145" cy="1399032"/>
          </a:xfrm>
          <a:prstGeom prst="rect">
            <a:avLst/>
          </a:prstGeom>
          <a:noFill/>
        </p:spPr>
        <p:txBody>
          <a:bodyPr wrap="square" anchor="t">
            <a:spAutoFit/>
          </a:bodyPr>
          <a:lstStyle/>
          <a:p>
            <a:pPr algn="ctr">
              <a:spcAft>
                <a:spcPts val="400"/>
              </a:spcAft>
            </a:pPr>
            <a:r>
              <a:rPr sz="1250" b="0">
                <a:solidFill>
                  <a:srgbClr val="161B26"/>
                </a:solidFill>
                <a:latin typeface="Arial"/>
              </a:rPr>
              <a:t>Save as a named element (@mei, @red_box)</a:t>
            </a:r>
          </a:p>
        </p:txBody>
      </p:sp>
      <p:cxnSp>
        <p:nvCxnSpPr>
          <p:cNvPr id="24" name="Connector 23"/>
          <p:cNvCxnSpPr/>
          <p:nvPr/>
        </p:nvCxnSpPr>
        <p:spPr>
          <a:xfrm>
            <a:off x="7070139" y="3680460"/>
            <a:ext cx="237744" cy="0"/>
          </a:xfrm>
          <a:prstGeom prst="line">
            <a:avLst/>
          </a:prstGeom>
          <a:ln w="22225">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44459" y="2240280"/>
            <a:ext cx="1878177" cy="288036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24028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17787" y="2606040"/>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17787" y="260604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9" name="TextBox 28"/>
          <p:cNvSpPr txBox="1"/>
          <p:nvPr/>
        </p:nvSpPr>
        <p:spPr>
          <a:xfrm>
            <a:off x="7472475" y="3611880"/>
            <a:ext cx="1622145" cy="1399032"/>
          </a:xfrm>
          <a:prstGeom prst="rect">
            <a:avLst/>
          </a:prstGeom>
          <a:noFill/>
        </p:spPr>
        <p:txBody>
          <a:bodyPr wrap="square" anchor="t">
            <a:spAutoFit/>
          </a:bodyPr>
          <a:lstStyle/>
          <a:p>
            <a:pPr algn="ctr">
              <a:spcAft>
                <a:spcPts val="400"/>
              </a:spcAft>
            </a:pPr>
            <a:r>
              <a:rPr sz="1250" b="0">
                <a:solidFill>
                  <a:srgbClr val="161B26"/>
                </a:solidFill>
                <a:latin typeface="Arial"/>
              </a:rPr>
              <a:t>Reference the element in every still and shot</a:t>
            </a:r>
          </a:p>
        </p:txBody>
      </p:sp>
      <p:cxnSp>
        <p:nvCxnSpPr>
          <p:cNvPr id="30" name="Connector 29"/>
          <p:cNvCxnSpPr/>
          <p:nvPr/>
        </p:nvCxnSpPr>
        <p:spPr>
          <a:xfrm>
            <a:off x="9259212" y="3680460"/>
            <a:ext cx="237744" cy="0"/>
          </a:xfrm>
          <a:prstGeom prst="line">
            <a:avLst/>
          </a:prstGeom>
          <a:ln w="22225">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533532" y="2240280"/>
            <a:ext cx="1878177" cy="288036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24028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106860" y="2606040"/>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106860" y="260604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5" name="TextBox 34"/>
          <p:cNvSpPr txBox="1"/>
          <p:nvPr/>
        </p:nvSpPr>
        <p:spPr>
          <a:xfrm>
            <a:off x="9661548" y="3611880"/>
            <a:ext cx="1622145" cy="1399032"/>
          </a:xfrm>
          <a:prstGeom prst="rect">
            <a:avLst/>
          </a:prstGeom>
          <a:noFill/>
        </p:spPr>
        <p:txBody>
          <a:bodyPr wrap="square" anchor="t">
            <a:spAutoFit/>
          </a:bodyPr>
          <a:lstStyle/>
          <a:p>
            <a:pPr algn="ctr">
              <a:spcAft>
                <a:spcPts val="400"/>
              </a:spcAft>
            </a:pPr>
            <a:r>
              <a:rPr sz="1250" b="0">
                <a:solidFill>
                  <a:srgbClr val="161B26"/>
                </a:solidFill>
                <a:latin typeface="Arial"/>
              </a:rPr>
              <a:t>Measure each shot against the sheet (Lab 06)</a:t>
            </a:r>
          </a:p>
        </p:txBody>
      </p:sp>
      <p:sp>
        <p:nvSpPr>
          <p:cNvPr id="36" name="TextBox 35"/>
          <p:cNvSpPr txBox="1"/>
          <p:nvPr/>
        </p:nvSpPr>
        <p:spPr>
          <a:xfrm>
            <a:off x="777240" y="5394960"/>
            <a:ext cx="10698480" cy="731520"/>
          </a:xfrm>
          <a:prstGeom prst="rect">
            <a:avLst/>
          </a:prstGeom>
          <a:noFill/>
        </p:spPr>
        <p:txBody>
          <a:bodyPr wrap="square" anchor="t">
            <a:spAutoFit/>
          </a:bodyPr>
          <a:lstStyle/>
          <a:p>
            <a:pPr algn="ctr">
              <a:spcAft>
                <a:spcPts val="400"/>
              </a:spcAft>
            </a:pPr>
            <a:r>
              <a:rPr sz="1300" b="0">
                <a:solidFill>
                  <a:srgbClr val="5B6372"/>
                </a:solidFill>
                <a:latin typeface="Arial"/>
              </a:rPr>
              <a:t>The model then loads the same approved reference every time instead of reading a fresh description and guessing.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ransition spd="fast">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K6 · LOCAL FEATURES: EDGE, COLOUR, TEXTURE, KEYPOINTS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Local Features and the Failure Each One Catches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807860" cy="60089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1624980" cy="600891"/>
          </a:xfrm>
          <a:prstGeom prst="rect">
            <a:avLst/>
          </a:prstGeom>
          <a:noFill/>
        </p:spPr>
        <p:txBody>
          <a:bodyPr wrap="square" anchor="ctr">
            <a:spAutoFit/>
          </a:bodyPr>
          <a:lstStyle/>
          <a:p>
            <a:pPr algn="l">
              <a:spcAft>
                <a:spcPts val="400"/>
              </a:spcAft>
            </a:pPr>
            <a:r>
              <a:rPr sz="1050" b="1">
                <a:solidFill>
                  <a:srgbClr val="FFFFFF"/>
                </a:solidFill>
                <a:latin typeface="Arial"/>
              </a:rPr>
              <a:t>Feature</a:t>
            </a:r>
          </a:p>
        </p:txBody>
      </p:sp>
      <p:sp>
        <p:nvSpPr>
          <p:cNvPr id="9" name="Rectangle 8"/>
          <p:cNvSpPr/>
          <p:nvPr/>
        </p:nvSpPr>
        <p:spPr>
          <a:xfrm>
            <a:off x="2585100" y="1783080"/>
            <a:ext cx="3722065" cy="60089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694828" y="1783080"/>
            <a:ext cx="3539185" cy="600891"/>
          </a:xfrm>
          <a:prstGeom prst="rect">
            <a:avLst/>
          </a:prstGeom>
          <a:noFill/>
        </p:spPr>
        <p:txBody>
          <a:bodyPr wrap="square" anchor="ctr">
            <a:spAutoFit/>
          </a:bodyPr>
          <a:lstStyle/>
          <a:p>
            <a:pPr algn="l">
              <a:spcAft>
                <a:spcPts val="400"/>
              </a:spcAft>
            </a:pPr>
            <a:r>
              <a:rPr sz="1050" b="1">
                <a:solidFill>
                  <a:srgbClr val="FFFFFF"/>
                </a:solidFill>
                <a:latin typeface="Arial"/>
              </a:rPr>
              <a:t>How it is computed</a:t>
            </a:r>
          </a:p>
        </p:txBody>
      </p:sp>
      <p:sp>
        <p:nvSpPr>
          <p:cNvPr id="11" name="Rectangle 10"/>
          <p:cNvSpPr/>
          <p:nvPr/>
        </p:nvSpPr>
        <p:spPr>
          <a:xfrm>
            <a:off x="6307165" y="1783080"/>
            <a:ext cx="2764962" cy="60089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16893" y="1783080"/>
            <a:ext cx="2582082" cy="600891"/>
          </a:xfrm>
          <a:prstGeom prst="rect">
            <a:avLst/>
          </a:prstGeom>
          <a:noFill/>
        </p:spPr>
        <p:txBody>
          <a:bodyPr wrap="square" anchor="ctr">
            <a:spAutoFit/>
          </a:bodyPr>
          <a:lstStyle/>
          <a:p>
            <a:pPr algn="l">
              <a:spcAft>
                <a:spcPts val="400"/>
              </a:spcAft>
            </a:pPr>
            <a:r>
              <a:rPr sz="1050" b="1">
                <a:solidFill>
                  <a:srgbClr val="FFFFFF"/>
                </a:solidFill>
                <a:latin typeface="Arial"/>
              </a:rPr>
              <a:t>Catches</a:t>
            </a:r>
          </a:p>
        </p:txBody>
      </p:sp>
      <p:sp>
        <p:nvSpPr>
          <p:cNvPr id="13" name="Rectangle 12"/>
          <p:cNvSpPr/>
          <p:nvPr/>
        </p:nvSpPr>
        <p:spPr>
          <a:xfrm>
            <a:off x="9072127" y="1783080"/>
            <a:ext cx="2339583" cy="60089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81855" y="1783080"/>
            <a:ext cx="2156703" cy="600891"/>
          </a:xfrm>
          <a:prstGeom prst="rect">
            <a:avLst/>
          </a:prstGeom>
          <a:noFill/>
        </p:spPr>
        <p:txBody>
          <a:bodyPr wrap="square" anchor="ctr">
            <a:spAutoFit/>
          </a:bodyPr>
          <a:lstStyle/>
          <a:p>
            <a:pPr algn="l">
              <a:spcAft>
                <a:spcPts val="400"/>
              </a:spcAft>
            </a:pPr>
            <a:r>
              <a:rPr sz="1050" b="1">
                <a:solidFill>
                  <a:srgbClr val="FFFFFF"/>
                </a:solidFill>
                <a:latin typeface="Arial"/>
              </a:rPr>
              <a:t>Blind to</a:t>
            </a:r>
          </a:p>
        </p:txBody>
      </p:sp>
      <p:sp>
        <p:nvSpPr>
          <p:cNvPr id="15" name="Rectangle 14"/>
          <p:cNvSpPr/>
          <p:nvPr/>
        </p:nvSpPr>
        <p:spPr>
          <a:xfrm>
            <a:off x="777240" y="2383971"/>
            <a:ext cx="1807860"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6968" y="2383971"/>
            <a:ext cx="1624980" cy="600891"/>
          </a:xfrm>
          <a:prstGeom prst="rect">
            <a:avLst/>
          </a:prstGeom>
          <a:noFill/>
        </p:spPr>
        <p:txBody>
          <a:bodyPr wrap="square" anchor="ctr">
            <a:spAutoFit/>
          </a:bodyPr>
          <a:lstStyle/>
          <a:p>
            <a:pPr algn="l">
              <a:spcAft>
                <a:spcPts val="400"/>
              </a:spcAft>
            </a:pPr>
            <a:r>
              <a:rPr sz="950" b="1">
                <a:solidFill>
                  <a:srgbClr val="161B26"/>
                </a:solidFill>
                <a:latin typeface="Arial"/>
              </a:rPr>
              <a:t>Coat hue</a:t>
            </a:r>
          </a:p>
        </p:txBody>
      </p:sp>
      <p:sp>
        <p:nvSpPr>
          <p:cNvPr id="17" name="Rectangle 16"/>
          <p:cNvSpPr/>
          <p:nvPr/>
        </p:nvSpPr>
        <p:spPr>
          <a:xfrm>
            <a:off x="2585100" y="2383971"/>
            <a:ext cx="3722065"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694828" y="2383971"/>
            <a:ext cx="3539185" cy="600891"/>
          </a:xfrm>
          <a:prstGeom prst="rect">
            <a:avLst/>
          </a:prstGeom>
          <a:noFill/>
        </p:spPr>
        <p:txBody>
          <a:bodyPr wrap="square" anchor="ctr">
            <a:spAutoFit/>
          </a:bodyPr>
          <a:lstStyle/>
          <a:p>
            <a:pPr algn="l">
              <a:spcAft>
                <a:spcPts val="400"/>
              </a:spcAft>
            </a:pPr>
            <a:r>
              <a:rPr sz="950" b="0">
                <a:solidFill>
                  <a:srgbClr val="161B26"/>
                </a:solidFill>
                <a:latin typeface="Arial"/>
              </a:rPr>
              <a:t>Median OpenCV hue inside the coat mask</a:t>
            </a:r>
          </a:p>
        </p:txBody>
      </p:sp>
      <p:sp>
        <p:nvSpPr>
          <p:cNvPr id="19" name="Rectangle 18"/>
          <p:cNvSpPr/>
          <p:nvPr/>
        </p:nvSpPr>
        <p:spPr>
          <a:xfrm>
            <a:off x="6307165" y="2383971"/>
            <a:ext cx="2764962"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16893" y="2383971"/>
            <a:ext cx="2582082" cy="600891"/>
          </a:xfrm>
          <a:prstGeom prst="rect">
            <a:avLst/>
          </a:prstGeom>
          <a:noFill/>
        </p:spPr>
        <p:txBody>
          <a:bodyPr wrap="square" anchor="ctr">
            <a:spAutoFit/>
          </a:bodyPr>
          <a:lstStyle/>
          <a:p>
            <a:pPr algn="l">
              <a:spcAft>
                <a:spcPts val="400"/>
              </a:spcAft>
            </a:pPr>
            <a:r>
              <a:rPr sz="950" b="0">
                <a:solidFill>
                  <a:srgbClr val="161B26"/>
                </a:solidFill>
                <a:latin typeface="Arial"/>
              </a:rPr>
              <a:t>Wardrobe colour drift</a:t>
            </a:r>
          </a:p>
        </p:txBody>
      </p:sp>
      <p:sp>
        <p:nvSpPr>
          <p:cNvPr id="21" name="Rectangle 20"/>
          <p:cNvSpPr/>
          <p:nvPr/>
        </p:nvSpPr>
        <p:spPr>
          <a:xfrm>
            <a:off x="9072127" y="2383971"/>
            <a:ext cx="2339583"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81855" y="2383971"/>
            <a:ext cx="2156703" cy="600891"/>
          </a:xfrm>
          <a:prstGeom prst="rect">
            <a:avLst/>
          </a:prstGeom>
          <a:noFill/>
        </p:spPr>
        <p:txBody>
          <a:bodyPr wrap="square" anchor="ctr">
            <a:spAutoFit/>
          </a:bodyPr>
          <a:lstStyle/>
          <a:p>
            <a:pPr algn="l">
              <a:spcAft>
                <a:spcPts val="400"/>
              </a:spcAft>
            </a:pPr>
            <a:r>
              <a:rPr sz="950" b="0">
                <a:solidFill>
                  <a:srgbClr val="161B26"/>
                </a:solidFill>
                <a:latin typeface="Arial"/>
              </a:rPr>
              <a:t>Shape changes</a:t>
            </a:r>
          </a:p>
        </p:txBody>
      </p:sp>
      <p:sp>
        <p:nvSpPr>
          <p:cNvPr id="23" name="Rectangle 22"/>
          <p:cNvSpPr/>
          <p:nvPr/>
        </p:nvSpPr>
        <p:spPr>
          <a:xfrm>
            <a:off x="777240" y="2984862"/>
            <a:ext cx="1807860"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6968" y="2984862"/>
            <a:ext cx="1624980" cy="600891"/>
          </a:xfrm>
          <a:prstGeom prst="rect">
            <a:avLst/>
          </a:prstGeom>
          <a:noFill/>
        </p:spPr>
        <p:txBody>
          <a:bodyPr wrap="square" anchor="ctr">
            <a:spAutoFit/>
          </a:bodyPr>
          <a:lstStyle/>
          <a:p>
            <a:pPr algn="l">
              <a:spcAft>
                <a:spcPts val="400"/>
              </a:spcAft>
            </a:pPr>
            <a:r>
              <a:rPr sz="950" b="1">
                <a:solidFill>
                  <a:srgbClr val="161B26"/>
                </a:solidFill>
                <a:latin typeface="Arial"/>
              </a:rPr>
              <a:t>Scarf red cover</a:t>
            </a:r>
          </a:p>
        </p:txBody>
      </p:sp>
      <p:sp>
        <p:nvSpPr>
          <p:cNvPr id="25" name="Rectangle 24"/>
          <p:cNvSpPr/>
          <p:nvPr/>
        </p:nvSpPr>
        <p:spPr>
          <a:xfrm>
            <a:off x="2585100" y="2984862"/>
            <a:ext cx="3722065"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694828" y="2984862"/>
            <a:ext cx="3539185" cy="600891"/>
          </a:xfrm>
          <a:prstGeom prst="rect">
            <a:avLst/>
          </a:prstGeom>
          <a:noFill/>
        </p:spPr>
        <p:txBody>
          <a:bodyPr wrap="square" anchor="ctr">
            <a:spAutoFit/>
          </a:bodyPr>
          <a:lstStyle/>
          <a:p>
            <a:pPr algn="l">
              <a:spcAft>
                <a:spcPts val="400"/>
              </a:spcAft>
            </a:pPr>
            <a:r>
              <a:rPr sz="950" b="0">
                <a:solidFill>
                  <a:srgbClr val="161B26"/>
                </a:solidFill>
                <a:latin typeface="Arial"/>
              </a:rPr>
              <a:t>Share of red pixels in the upper body</a:t>
            </a:r>
          </a:p>
        </p:txBody>
      </p:sp>
      <p:sp>
        <p:nvSpPr>
          <p:cNvPr id="27" name="Rectangle 26"/>
          <p:cNvSpPr/>
          <p:nvPr/>
        </p:nvSpPr>
        <p:spPr>
          <a:xfrm>
            <a:off x="6307165" y="2984862"/>
            <a:ext cx="2764962"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16893" y="2984862"/>
            <a:ext cx="2582082" cy="600891"/>
          </a:xfrm>
          <a:prstGeom prst="rect">
            <a:avLst/>
          </a:prstGeom>
          <a:noFill/>
        </p:spPr>
        <p:txBody>
          <a:bodyPr wrap="square" anchor="ctr">
            <a:spAutoFit/>
          </a:bodyPr>
          <a:lstStyle/>
          <a:p>
            <a:pPr algn="l">
              <a:spcAft>
                <a:spcPts val="400"/>
              </a:spcAft>
            </a:pPr>
            <a:r>
              <a:rPr sz="950" b="0">
                <a:solidFill>
                  <a:srgbClr val="161B26"/>
                </a:solidFill>
                <a:latin typeface="Arial"/>
              </a:rPr>
              <a:t>Scarf changed or missing</a:t>
            </a:r>
          </a:p>
        </p:txBody>
      </p:sp>
      <p:sp>
        <p:nvSpPr>
          <p:cNvPr id="29" name="Rectangle 28"/>
          <p:cNvSpPr/>
          <p:nvPr/>
        </p:nvSpPr>
        <p:spPr>
          <a:xfrm>
            <a:off x="9072127" y="2984862"/>
            <a:ext cx="2339583"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81855" y="2984862"/>
            <a:ext cx="2156703" cy="600891"/>
          </a:xfrm>
          <a:prstGeom prst="rect">
            <a:avLst/>
          </a:prstGeom>
          <a:noFill/>
        </p:spPr>
        <p:txBody>
          <a:bodyPr wrap="square" anchor="ctr">
            <a:spAutoFit/>
          </a:bodyPr>
          <a:lstStyle/>
          <a:p>
            <a:pPr algn="l">
              <a:spcAft>
                <a:spcPts val="400"/>
              </a:spcAft>
            </a:pPr>
            <a:r>
              <a:rPr sz="950" b="0">
                <a:solidFill>
                  <a:srgbClr val="161B26"/>
                </a:solidFill>
                <a:latin typeface="Arial"/>
              </a:rPr>
              <a:t>Which red</a:t>
            </a:r>
          </a:p>
        </p:txBody>
      </p:sp>
      <p:sp>
        <p:nvSpPr>
          <p:cNvPr id="31" name="Rectangle 30"/>
          <p:cNvSpPr/>
          <p:nvPr/>
        </p:nvSpPr>
        <p:spPr>
          <a:xfrm>
            <a:off x="777240" y="3585753"/>
            <a:ext cx="1807860"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3585753"/>
            <a:ext cx="1624980" cy="600891"/>
          </a:xfrm>
          <a:prstGeom prst="rect">
            <a:avLst/>
          </a:prstGeom>
          <a:noFill/>
        </p:spPr>
        <p:txBody>
          <a:bodyPr wrap="square" anchor="ctr">
            <a:spAutoFit/>
          </a:bodyPr>
          <a:lstStyle/>
          <a:p>
            <a:pPr algn="l">
              <a:spcAft>
                <a:spcPts val="400"/>
              </a:spcAft>
            </a:pPr>
            <a:r>
              <a:rPr sz="950" b="1">
                <a:solidFill>
                  <a:srgbClr val="161B26"/>
                </a:solidFill>
                <a:latin typeface="Arial"/>
              </a:rPr>
              <a:t>Edge density</a:t>
            </a:r>
          </a:p>
        </p:txBody>
      </p:sp>
      <p:sp>
        <p:nvSpPr>
          <p:cNvPr id="33" name="Rectangle 32"/>
          <p:cNvSpPr/>
          <p:nvPr/>
        </p:nvSpPr>
        <p:spPr>
          <a:xfrm>
            <a:off x="2585100" y="3585753"/>
            <a:ext cx="3722065"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694828" y="3585753"/>
            <a:ext cx="3539185" cy="600891"/>
          </a:xfrm>
          <a:prstGeom prst="rect">
            <a:avLst/>
          </a:prstGeom>
          <a:noFill/>
        </p:spPr>
        <p:txBody>
          <a:bodyPr wrap="square" anchor="ctr">
            <a:spAutoFit/>
          </a:bodyPr>
          <a:lstStyle/>
          <a:p>
            <a:pPr algn="l">
              <a:spcAft>
                <a:spcPts val="400"/>
              </a:spcAft>
            </a:pPr>
            <a:r>
              <a:rPr sz="950" b="0">
                <a:solidFill>
                  <a:srgbClr val="161B26"/>
                </a:solidFill>
                <a:latin typeface="Arial"/>
              </a:rPr>
              <a:t>Canny edge pixels / crop pixels</a:t>
            </a:r>
          </a:p>
        </p:txBody>
      </p:sp>
      <p:sp>
        <p:nvSpPr>
          <p:cNvPr id="35" name="Rectangle 34"/>
          <p:cNvSpPr/>
          <p:nvPr/>
        </p:nvSpPr>
        <p:spPr>
          <a:xfrm>
            <a:off x="6307165" y="3585753"/>
            <a:ext cx="2764962"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16893" y="3585753"/>
            <a:ext cx="2582082" cy="600891"/>
          </a:xfrm>
          <a:prstGeom prst="rect">
            <a:avLst/>
          </a:prstGeom>
          <a:noFill/>
        </p:spPr>
        <p:txBody>
          <a:bodyPr wrap="square" anchor="ctr">
            <a:spAutoFit/>
          </a:bodyPr>
          <a:lstStyle/>
          <a:p>
            <a:pPr algn="l">
              <a:spcAft>
                <a:spcPts val="400"/>
              </a:spcAft>
            </a:pPr>
            <a:r>
              <a:rPr sz="950" b="0">
                <a:solidFill>
                  <a:srgbClr val="161B26"/>
                </a:solidFill>
                <a:latin typeface="Arial"/>
              </a:rPr>
              <a:t>Silhouette and detail changes</a:t>
            </a:r>
          </a:p>
        </p:txBody>
      </p:sp>
      <p:sp>
        <p:nvSpPr>
          <p:cNvPr id="37" name="Rectangle 36"/>
          <p:cNvSpPr/>
          <p:nvPr/>
        </p:nvSpPr>
        <p:spPr>
          <a:xfrm>
            <a:off x="9072127" y="3585753"/>
            <a:ext cx="2339583"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81855" y="3585753"/>
            <a:ext cx="2156703" cy="600891"/>
          </a:xfrm>
          <a:prstGeom prst="rect">
            <a:avLst/>
          </a:prstGeom>
          <a:noFill/>
        </p:spPr>
        <p:txBody>
          <a:bodyPr wrap="square" anchor="ctr">
            <a:spAutoFit/>
          </a:bodyPr>
          <a:lstStyle/>
          <a:p>
            <a:pPr algn="l">
              <a:spcAft>
                <a:spcPts val="400"/>
              </a:spcAft>
            </a:pPr>
            <a:r>
              <a:rPr sz="950" b="0">
                <a:solidFill>
                  <a:srgbClr val="161B26"/>
                </a:solidFill>
                <a:latin typeface="Arial"/>
              </a:rPr>
              <a:t>Colour</a:t>
            </a:r>
          </a:p>
        </p:txBody>
      </p:sp>
      <p:sp>
        <p:nvSpPr>
          <p:cNvPr id="39" name="Rectangle 38"/>
          <p:cNvSpPr/>
          <p:nvPr/>
        </p:nvSpPr>
        <p:spPr>
          <a:xfrm>
            <a:off x="777240" y="4186644"/>
            <a:ext cx="1807860"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86968" y="4186644"/>
            <a:ext cx="1624980" cy="600891"/>
          </a:xfrm>
          <a:prstGeom prst="rect">
            <a:avLst/>
          </a:prstGeom>
          <a:noFill/>
        </p:spPr>
        <p:txBody>
          <a:bodyPr wrap="square" anchor="ctr">
            <a:spAutoFit/>
          </a:bodyPr>
          <a:lstStyle/>
          <a:p>
            <a:pPr algn="l">
              <a:spcAft>
                <a:spcPts val="400"/>
              </a:spcAft>
            </a:pPr>
            <a:r>
              <a:rPr sz="950" b="1">
                <a:solidFill>
                  <a:srgbClr val="161B26"/>
                </a:solidFill>
                <a:latin typeface="Arial"/>
              </a:rPr>
              <a:t>Texture energy</a:t>
            </a:r>
          </a:p>
        </p:txBody>
      </p:sp>
      <p:sp>
        <p:nvSpPr>
          <p:cNvPr id="41" name="Rectangle 40"/>
          <p:cNvSpPr/>
          <p:nvPr/>
        </p:nvSpPr>
        <p:spPr>
          <a:xfrm>
            <a:off x="2585100" y="4186644"/>
            <a:ext cx="3722065"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694828" y="4186644"/>
            <a:ext cx="3539185" cy="600891"/>
          </a:xfrm>
          <a:prstGeom prst="rect">
            <a:avLst/>
          </a:prstGeom>
          <a:noFill/>
        </p:spPr>
        <p:txBody>
          <a:bodyPr wrap="square" anchor="ctr">
            <a:spAutoFit/>
          </a:bodyPr>
          <a:lstStyle/>
          <a:p>
            <a:pPr algn="l">
              <a:spcAft>
                <a:spcPts val="400"/>
              </a:spcAft>
            </a:pPr>
            <a:r>
              <a:rPr sz="950" b="0">
                <a:solidFill>
                  <a:srgbClr val="161B26"/>
                </a:solidFill>
                <a:latin typeface="Arial"/>
              </a:rPr>
              <a:t>Variance of the Laplacian</a:t>
            </a:r>
          </a:p>
        </p:txBody>
      </p:sp>
      <p:sp>
        <p:nvSpPr>
          <p:cNvPr id="43" name="Rectangle 42"/>
          <p:cNvSpPr/>
          <p:nvPr/>
        </p:nvSpPr>
        <p:spPr>
          <a:xfrm>
            <a:off x="6307165" y="4186644"/>
            <a:ext cx="2764962"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16893" y="4186644"/>
            <a:ext cx="2582082" cy="600891"/>
          </a:xfrm>
          <a:prstGeom prst="rect">
            <a:avLst/>
          </a:prstGeom>
          <a:noFill/>
        </p:spPr>
        <p:txBody>
          <a:bodyPr wrap="square" anchor="ctr">
            <a:spAutoFit/>
          </a:bodyPr>
          <a:lstStyle/>
          <a:p>
            <a:pPr algn="l">
              <a:spcAft>
                <a:spcPts val="400"/>
              </a:spcAft>
            </a:pPr>
            <a:r>
              <a:rPr sz="950" b="0">
                <a:solidFill>
                  <a:srgbClr val="161B26"/>
                </a:solidFill>
                <a:latin typeface="Arial"/>
              </a:rPr>
              <a:t>Plastic, over-smoothed faces</a:t>
            </a:r>
          </a:p>
        </p:txBody>
      </p:sp>
      <p:sp>
        <p:nvSpPr>
          <p:cNvPr id="45" name="Rectangle 44"/>
          <p:cNvSpPr/>
          <p:nvPr/>
        </p:nvSpPr>
        <p:spPr>
          <a:xfrm>
            <a:off x="9072127" y="4186644"/>
            <a:ext cx="2339583"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181855" y="4186644"/>
            <a:ext cx="2156703" cy="600891"/>
          </a:xfrm>
          <a:prstGeom prst="rect">
            <a:avLst/>
          </a:prstGeom>
          <a:noFill/>
        </p:spPr>
        <p:txBody>
          <a:bodyPr wrap="square" anchor="ctr">
            <a:spAutoFit/>
          </a:bodyPr>
          <a:lstStyle/>
          <a:p>
            <a:pPr algn="l">
              <a:spcAft>
                <a:spcPts val="400"/>
              </a:spcAft>
            </a:pPr>
            <a:r>
              <a:rPr sz="950" b="0">
                <a:solidFill>
                  <a:srgbClr val="161B26"/>
                </a:solidFill>
                <a:latin typeface="Arial"/>
              </a:rPr>
              <a:t>Identity</a:t>
            </a:r>
          </a:p>
        </p:txBody>
      </p:sp>
      <p:sp>
        <p:nvSpPr>
          <p:cNvPr id="47" name="Rectangle 46"/>
          <p:cNvSpPr/>
          <p:nvPr/>
        </p:nvSpPr>
        <p:spPr>
          <a:xfrm>
            <a:off x="777240" y="4787535"/>
            <a:ext cx="1807860"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86968" y="4787535"/>
            <a:ext cx="1624980" cy="600891"/>
          </a:xfrm>
          <a:prstGeom prst="rect">
            <a:avLst/>
          </a:prstGeom>
          <a:noFill/>
        </p:spPr>
        <p:txBody>
          <a:bodyPr wrap="square" anchor="ctr">
            <a:spAutoFit/>
          </a:bodyPr>
          <a:lstStyle/>
          <a:p>
            <a:pPr algn="l">
              <a:spcAft>
                <a:spcPts val="400"/>
              </a:spcAft>
            </a:pPr>
            <a:r>
              <a:rPr sz="950" b="1">
                <a:solidFill>
                  <a:srgbClr val="161B26"/>
                </a:solidFill>
                <a:latin typeface="Arial"/>
              </a:rPr>
              <a:t>ORB matches</a:t>
            </a:r>
          </a:p>
        </p:txBody>
      </p:sp>
      <p:sp>
        <p:nvSpPr>
          <p:cNvPr id="49" name="Rectangle 48"/>
          <p:cNvSpPr/>
          <p:nvPr/>
        </p:nvSpPr>
        <p:spPr>
          <a:xfrm>
            <a:off x="2585100" y="4787535"/>
            <a:ext cx="3722065"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694828" y="4787535"/>
            <a:ext cx="3539185" cy="600891"/>
          </a:xfrm>
          <a:prstGeom prst="rect">
            <a:avLst/>
          </a:prstGeom>
          <a:noFill/>
        </p:spPr>
        <p:txBody>
          <a:bodyPr wrap="square" anchor="ctr">
            <a:spAutoFit/>
          </a:bodyPr>
          <a:lstStyle/>
          <a:p>
            <a:pPr algn="l">
              <a:spcAft>
                <a:spcPts val="400"/>
              </a:spcAft>
            </a:pPr>
            <a:r>
              <a:rPr sz="950" b="0">
                <a:solidFill>
                  <a:srgbClr val="161B26"/>
                </a:solidFill>
                <a:latin typeface="Arial"/>
              </a:rPr>
              <a:t>Keypoints + Hamming + ratio test vs the sheet</a:t>
            </a:r>
          </a:p>
        </p:txBody>
      </p:sp>
      <p:sp>
        <p:nvSpPr>
          <p:cNvPr id="51" name="Rectangle 50"/>
          <p:cNvSpPr/>
          <p:nvPr/>
        </p:nvSpPr>
        <p:spPr>
          <a:xfrm>
            <a:off x="6307165" y="4787535"/>
            <a:ext cx="2764962"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416893" y="4787535"/>
            <a:ext cx="2582082" cy="600891"/>
          </a:xfrm>
          <a:prstGeom prst="rect">
            <a:avLst/>
          </a:prstGeom>
          <a:noFill/>
        </p:spPr>
        <p:txBody>
          <a:bodyPr wrap="square" anchor="ctr">
            <a:spAutoFit/>
          </a:bodyPr>
          <a:lstStyle/>
          <a:p>
            <a:pPr algn="l">
              <a:spcAft>
                <a:spcPts val="400"/>
              </a:spcAft>
            </a:pPr>
            <a:r>
              <a:rPr sz="950" b="0">
                <a:solidFill>
                  <a:srgbClr val="161B26"/>
                </a:solidFill>
                <a:latin typeface="Arial"/>
              </a:rPr>
              <a:t>A different patch, face or prop</a:t>
            </a:r>
          </a:p>
        </p:txBody>
      </p:sp>
      <p:sp>
        <p:nvSpPr>
          <p:cNvPr id="53" name="Rectangle 52"/>
          <p:cNvSpPr/>
          <p:nvPr/>
        </p:nvSpPr>
        <p:spPr>
          <a:xfrm>
            <a:off x="9072127" y="4787535"/>
            <a:ext cx="2339583"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181855" y="4787535"/>
            <a:ext cx="2156703" cy="600891"/>
          </a:xfrm>
          <a:prstGeom prst="rect">
            <a:avLst/>
          </a:prstGeom>
          <a:noFill/>
        </p:spPr>
        <p:txBody>
          <a:bodyPr wrap="square" anchor="ctr">
            <a:spAutoFit/>
          </a:bodyPr>
          <a:lstStyle/>
          <a:p>
            <a:pPr algn="l">
              <a:spcAft>
                <a:spcPts val="400"/>
              </a:spcAft>
            </a:pPr>
            <a:r>
              <a:rPr sz="950" b="0">
                <a:solidFill>
                  <a:srgbClr val="161B26"/>
                </a:solidFill>
                <a:latin typeface="Arial"/>
              </a:rPr>
              <a:t>Colour: it runs on grey</a:t>
            </a:r>
          </a:p>
        </p:txBody>
      </p:sp>
      <p:sp>
        <p:nvSpPr>
          <p:cNvPr id="55" name="Rectangle 54"/>
          <p:cNvSpPr/>
          <p:nvPr/>
        </p:nvSpPr>
        <p:spPr>
          <a:xfrm>
            <a:off x="777240" y="5388426"/>
            <a:ext cx="1807860"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86968" y="5388426"/>
            <a:ext cx="1624980" cy="600891"/>
          </a:xfrm>
          <a:prstGeom prst="rect">
            <a:avLst/>
          </a:prstGeom>
          <a:noFill/>
        </p:spPr>
        <p:txBody>
          <a:bodyPr wrap="square" anchor="ctr">
            <a:spAutoFit/>
          </a:bodyPr>
          <a:lstStyle/>
          <a:p>
            <a:pPr algn="l">
              <a:spcAft>
                <a:spcPts val="400"/>
              </a:spcAft>
            </a:pPr>
            <a:r>
              <a:rPr sz="950" b="1">
                <a:solidFill>
                  <a:srgbClr val="161B26"/>
                </a:solidFill>
                <a:latin typeface="Arial"/>
              </a:rPr>
              <a:t>Clasp window</a:t>
            </a:r>
          </a:p>
        </p:txBody>
      </p:sp>
      <p:sp>
        <p:nvSpPr>
          <p:cNvPr id="57" name="Rectangle 56"/>
          <p:cNvSpPr/>
          <p:nvPr/>
        </p:nvSpPr>
        <p:spPr>
          <a:xfrm>
            <a:off x="2585100" y="5388426"/>
            <a:ext cx="3722065"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694828" y="5388426"/>
            <a:ext cx="3539185" cy="600891"/>
          </a:xfrm>
          <a:prstGeom prst="rect">
            <a:avLst/>
          </a:prstGeom>
          <a:noFill/>
        </p:spPr>
        <p:txBody>
          <a:bodyPr wrap="square" anchor="ctr">
            <a:spAutoFit/>
          </a:bodyPr>
          <a:lstStyle/>
          <a:p>
            <a:pPr algn="l">
              <a:spcAft>
                <a:spcPts val="400"/>
              </a:spcAft>
            </a:pPr>
            <a:r>
              <a:rPr sz="950" b="0">
                <a:solidFill>
                  <a:srgbClr val="161B26"/>
                </a:solidFill>
                <a:latin typeface="Arial"/>
              </a:rPr>
              <a:t>Brass pixels inside the clasp box only</a:t>
            </a:r>
          </a:p>
        </p:txBody>
      </p:sp>
      <p:sp>
        <p:nvSpPr>
          <p:cNvPr id="59" name="Rectangle 58"/>
          <p:cNvSpPr/>
          <p:nvPr/>
        </p:nvSpPr>
        <p:spPr>
          <a:xfrm>
            <a:off x="6307165" y="5388426"/>
            <a:ext cx="2764962"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416893" y="5388426"/>
            <a:ext cx="2582082" cy="600891"/>
          </a:xfrm>
          <a:prstGeom prst="rect">
            <a:avLst/>
          </a:prstGeom>
          <a:noFill/>
        </p:spPr>
        <p:txBody>
          <a:bodyPr wrap="square" anchor="ctr">
            <a:spAutoFit/>
          </a:bodyPr>
          <a:lstStyle/>
          <a:p>
            <a:pPr algn="l">
              <a:spcAft>
                <a:spcPts val="400"/>
              </a:spcAft>
            </a:pPr>
            <a:r>
              <a:rPr sz="950" b="0">
                <a:solidFill>
                  <a:srgbClr val="161B26"/>
                </a:solidFill>
                <a:latin typeface="Arial"/>
              </a:rPr>
              <a:t>Lost prop detail</a:t>
            </a:r>
          </a:p>
        </p:txBody>
      </p:sp>
      <p:sp>
        <p:nvSpPr>
          <p:cNvPr id="61" name="Rectangle 60"/>
          <p:cNvSpPr/>
          <p:nvPr/>
        </p:nvSpPr>
        <p:spPr>
          <a:xfrm>
            <a:off x="9072127" y="5388426"/>
            <a:ext cx="2339583"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181855" y="5388426"/>
            <a:ext cx="2156703" cy="600891"/>
          </a:xfrm>
          <a:prstGeom prst="rect">
            <a:avLst/>
          </a:prstGeom>
          <a:noFill/>
        </p:spPr>
        <p:txBody>
          <a:bodyPr wrap="square" anchor="ctr">
            <a:spAutoFit/>
          </a:bodyPr>
          <a:lstStyle/>
          <a:p>
            <a:pPr algn="l">
              <a:spcAft>
                <a:spcPts val="400"/>
              </a:spcAft>
            </a:pPr>
            <a:r>
              <a:rPr sz="950" b="0">
                <a:solidFill>
                  <a:srgbClr val="161B26"/>
                </a:solidFill>
                <a:latin typeface="Arial"/>
              </a:rPr>
              <a:t>Anything outside the window</a:t>
            </a:r>
          </a:p>
        </p:txBody>
      </p:sp>
      <p:sp>
        <p:nvSpPr>
          <p:cNvPr id="63" name="TextBox 62"/>
          <p:cNvSpPr txBox="1"/>
          <p:nvPr/>
        </p:nvSpPr>
        <p:spPr>
          <a:xfrm>
            <a:off x="777240" y="6053328"/>
            <a:ext cx="10698480" cy="457200"/>
          </a:xfrm>
          <a:prstGeom prst="rect">
            <a:avLst/>
          </a:prstGeom>
          <a:noFill/>
        </p:spPr>
        <p:txBody>
          <a:bodyPr wrap="square" anchor="t">
            <a:spAutoFit/>
          </a:bodyPr>
          <a:lstStyle/>
          <a:p>
            <a:pPr algn="ctr">
              <a:spcAft>
                <a:spcPts val="400"/>
              </a:spcAft>
            </a:pPr>
            <a:r>
              <a:rPr sz="1200" b="0">
                <a:solidFill>
                  <a:srgbClr val="5B6372"/>
                </a:solidFill>
                <a:latin typeface="Arial"/>
              </a:rPr>
              <a:t>No single feature sees everything. The check is a designed combination — that design is ability A4.</a:t>
            </a:r>
          </a:p>
        </p:txBody>
      </p:sp>
      <p:sp>
        <p:nvSpPr>
          <p:cNvPr id="64" name="TextBox 6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65" name="TextBox 6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6" name="TextBox 6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fast">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A4 · IMPLEMENT THE FEATURE EXTRACTION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Matching Keypoints to the Reference Sheet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400800" cy="41605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938528"/>
            <a:ext cx="6035040" cy="3849624"/>
          </a:xfrm>
          <a:prstGeom prst="rect">
            <a:avLst/>
          </a:prstGeom>
          <a:noFill/>
        </p:spPr>
        <p:txBody>
          <a:bodyPr wrap="none" lIns="0" rIns="0" tIns="0" bIns="0" anchor="t">
            <a:noAutofit/>
          </a:bodyPr>
          <a:lstStyle/>
          <a:p>
            <a:pPr>
              <a:spcAft>
                <a:spcPts val="100"/>
              </a:spcAft>
            </a:pPr>
            <a:r>
              <a:rPr sz="1220">
                <a:solidFill>
                  <a:srgbClr val="9CDCFE"/>
                </a:solidFill>
                <a:latin typeface="Consolas"/>
              </a:rPr>
              <a:t>orb = cv2.ORB_create(nfeatures=800)</a:t>
            </a:r>
          </a:p>
          <a:p>
            <a:pPr>
              <a:spcAft>
                <a:spcPts val="100"/>
              </a:spcAft>
            </a:pPr>
            <a:r>
              <a:rPr sz="1220">
                <a:solidFill>
                  <a:srgbClr val="9CDCFE"/>
                </a:solidFill>
                <a:latin typeface="Consolas"/>
              </a:rPr>
              <a:t>ka, da = orb.detectAndCompute(sheet_gray, None)</a:t>
            </a:r>
          </a:p>
          <a:p>
            <a:pPr>
              <a:spcAft>
                <a:spcPts val="100"/>
              </a:spcAft>
            </a:pPr>
            <a:r>
              <a:rPr sz="1220">
                <a:solidFill>
                  <a:srgbClr val="9CDCFE"/>
                </a:solidFill>
                <a:latin typeface="Consolas"/>
              </a:rPr>
              <a:t>kb, db = orb.detectAndCompute(shot_gray, None)</a:t>
            </a:r>
          </a:p>
          <a:p>
            <a:pPr>
              <a:spcAft>
                <a:spcPts val="100"/>
              </a:spcAft>
            </a:pPr>
            <a:r>
              <a:rPr sz="1220">
                <a:solidFill>
                  <a:srgbClr val="9CDCFE"/>
                </a:solidFill>
                <a:latin typeface="Consolas"/>
              </a:rPr>
              <a:t>pairs = cv2.BFMatcher(cv2.NORM_HAMMING).knnMatch(da, db, k=2)</a:t>
            </a:r>
          </a:p>
          <a:p>
            <a:pPr>
              <a:spcAft>
                <a:spcPts val="100"/>
              </a:spcAft>
            </a:pPr>
            <a:r>
              <a:rPr sz="1220">
                <a:solidFill>
                  <a:srgbClr val="9CDCFE"/>
                </a:solidFill>
                <a:latin typeface="Consolas"/>
              </a:rPr>
              <a:t>good = [m for m, n in pairs if m.distance &lt; 0.75 * n.distance]</a:t>
            </a:r>
          </a:p>
          <a:p>
            <a:pPr>
              <a:spcAft>
                <a:spcPts val="100"/>
              </a:spcAft>
            </a:pPr>
            <a:r>
              <a:rPr sz="1220">
                <a:solidFill>
                  <a:srgbClr val="9CDCFE"/>
                </a:solidFill>
                <a:latin typeface="Consolas"/>
              </a:rPr>
              <a:t> </a:t>
            </a:r>
          </a:p>
          <a:p>
            <a:pPr>
              <a:spcAft>
                <a:spcPts val="100"/>
              </a:spcAft>
            </a:pPr>
            <a:r>
              <a:rPr sz="1220">
                <a:solidFill>
                  <a:srgbClr val="9CDCFE"/>
                </a:solidFill>
                <a:latin typeface="Consolas"/>
              </a:rPr>
              <a:t>hsv  = cv2.cvtColor(crop, cv2.COLOR_BGR2HSV)</a:t>
            </a:r>
          </a:p>
          <a:p>
            <a:pPr>
              <a:spcAft>
                <a:spcPts val="100"/>
              </a:spcAft>
            </a:pPr>
            <a:r>
              <a:rPr sz="1220">
                <a:solidFill>
                  <a:srgbClr val="9CDCFE"/>
                </a:solidFill>
                <a:latin typeface="Consolas"/>
              </a:rPr>
              <a:t>coat = cv2.inRange(hsv, (5,150,170), (40,255,255)) &gt; 0</a:t>
            </a:r>
          </a:p>
          <a:p>
            <a:pPr>
              <a:spcAft>
                <a:spcPts val="100"/>
              </a:spcAft>
            </a:pPr>
            <a:r>
              <a:rPr sz="1220">
                <a:solidFill>
                  <a:srgbClr val="9CDCFE"/>
                </a:solidFill>
                <a:latin typeface="Consolas"/>
              </a:rPr>
              <a:t>hue  = np.median(hsv[..., 0][coat])        # sheet: 23</a:t>
            </a:r>
          </a:p>
        </p:txBody>
      </p:sp>
      <p:sp>
        <p:nvSpPr>
          <p:cNvPr id="9" name="Rectangle 8"/>
          <p:cNvSpPr/>
          <p:nvPr/>
        </p:nvSpPr>
        <p:spPr>
          <a:xfrm>
            <a:off x="7406640" y="1783080"/>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06640" y="1783080"/>
            <a:ext cx="82296" cy="91668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26096" y="1783080"/>
            <a:ext cx="3602736" cy="916686"/>
          </a:xfrm>
          <a:prstGeom prst="rect">
            <a:avLst/>
          </a:prstGeom>
          <a:noFill/>
        </p:spPr>
        <p:txBody>
          <a:bodyPr wrap="square" anchor="ctr">
            <a:spAutoFit/>
          </a:bodyPr>
          <a:lstStyle/>
          <a:p>
            <a:pPr algn="l">
              <a:spcAft>
                <a:spcPts val="200"/>
              </a:spcAft>
            </a:pPr>
            <a:r>
              <a:rPr sz="1300" b="1">
                <a:solidFill>
                  <a:srgbClr val="1F6FEB"/>
                </a:solidFill>
                <a:latin typeface="Arial"/>
              </a:rPr>
              <a:t>ORB descriptors are binary</a:t>
            </a:r>
          </a:p>
          <a:p>
            <a:pPr algn="l">
              <a:spcAft>
                <a:spcPts val="200"/>
              </a:spcAft>
            </a:pPr>
            <a:r>
              <a:rPr sz="1150" b="0">
                <a:solidFill>
                  <a:srgbClr val="161B26"/>
                </a:solidFill>
                <a:latin typeface="Arial"/>
              </a:rPr>
              <a:t>32 bytes per keypoint; compare with Hamming.</a:t>
            </a:r>
          </a:p>
        </p:txBody>
      </p:sp>
      <p:sp>
        <p:nvSpPr>
          <p:cNvPr id="12" name="Rectangle 11"/>
          <p:cNvSpPr/>
          <p:nvPr/>
        </p:nvSpPr>
        <p:spPr>
          <a:xfrm>
            <a:off x="7406640" y="2864358"/>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406640" y="2864358"/>
            <a:ext cx="82296" cy="91668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26096" y="2864358"/>
            <a:ext cx="3602736" cy="916686"/>
          </a:xfrm>
          <a:prstGeom prst="rect">
            <a:avLst/>
          </a:prstGeom>
          <a:noFill/>
        </p:spPr>
        <p:txBody>
          <a:bodyPr wrap="square" anchor="ctr">
            <a:spAutoFit/>
          </a:bodyPr>
          <a:lstStyle/>
          <a:p>
            <a:pPr algn="l">
              <a:spcAft>
                <a:spcPts val="200"/>
              </a:spcAft>
            </a:pPr>
            <a:r>
              <a:rPr sz="1300" b="1">
                <a:solidFill>
                  <a:srgbClr val="10B981"/>
                </a:solidFill>
                <a:latin typeface="Arial"/>
              </a:rPr>
              <a:t>Ratio test</a:t>
            </a:r>
          </a:p>
          <a:p>
            <a:pPr algn="l">
              <a:spcAft>
                <a:spcPts val="200"/>
              </a:spcAft>
            </a:pPr>
            <a:r>
              <a:rPr sz="1150" b="0">
                <a:solidFill>
                  <a:srgbClr val="161B26"/>
                </a:solidFill>
                <a:latin typeface="Arial"/>
              </a:rPr>
              <a:t>Keep a match only if clearly better than the runner-up.</a:t>
            </a:r>
          </a:p>
        </p:txBody>
      </p:sp>
      <p:sp>
        <p:nvSpPr>
          <p:cNvPr id="15" name="Rectangle 14"/>
          <p:cNvSpPr/>
          <p:nvPr/>
        </p:nvSpPr>
        <p:spPr>
          <a:xfrm>
            <a:off x="7406640" y="3945636"/>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06640" y="3945636"/>
            <a:ext cx="82296" cy="91668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26096" y="3945636"/>
            <a:ext cx="3602736" cy="916686"/>
          </a:xfrm>
          <a:prstGeom prst="rect">
            <a:avLst/>
          </a:prstGeom>
          <a:noFill/>
        </p:spPr>
        <p:txBody>
          <a:bodyPr wrap="square" anchor="ctr">
            <a:spAutoFit/>
          </a:bodyPr>
          <a:lstStyle/>
          <a:p>
            <a:pPr algn="l">
              <a:spcAft>
                <a:spcPts val="200"/>
              </a:spcAft>
            </a:pPr>
            <a:r>
              <a:rPr sz="1300" b="1">
                <a:solidFill>
                  <a:srgbClr val="7C3AED"/>
                </a:solidFill>
                <a:latin typeface="Arial"/>
              </a:rPr>
              <a:t>Resize crops first</a:t>
            </a:r>
          </a:p>
          <a:p>
            <a:pPr algn="l">
              <a:spcAft>
                <a:spcPts val="200"/>
              </a:spcAft>
            </a:pPr>
            <a:r>
              <a:rPr sz="1150" b="0">
                <a:solidFill>
                  <a:srgbClr val="161B26"/>
                </a:solidFill>
                <a:latin typeface="Arial"/>
              </a:rPr>
              <a:t>Bring both to the same height so scale is comparable.</a:t>
            </a:r>
          </a:p>
        </p:txBody>
      </p:sp>
      <p:sp>
        <p:nvSpPr>
          <p:cNvPr id="18" name="Rectangle 17"/>
          <p:cNvSpPr/>
          <p:nvPr/>
        </p:nvSpPr>
        <p:spPr>
          <a:xfrm>
            <a:off x="7406640" y="5026914"/>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406640" y="5026914"/>
            <a:ext cx="82296" cy="91668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26096" y="5026914"/>
            <a:ext cx="3602736" cy="916686"/>
          </a:xfrm>
          <a:prstGeom prst="rect">
            <a:avLst/>
          </a:prstGeom>
          <a:noFill/>
        </p:spPr>
        <p:txBody>
          <a:bodyPr wrap="square" anchor="ctr">
            <a:spAutoFit/>
          </a:bodyPr>
          <a:lstStyle/>
          <a:p>
            <a:pPr algn="l">
              <a:spcAft>
                <a:spcPts val="200"/>
              </a:spcAft>
            </a:pPr>
            <a:r>
              <a:rPr sz="1300" b="1">
                <a:solidFill>
                  <a:srgbClr val="F59E0B"/>
                </a:solidFill>
                <a:latin typeface="Arial"/>
              </a:rPr>
              <a:t>Hue in OpenCV</a:t>
            </a:r>
          </a:p>
          <a:p>
            <a:pPr algn="l">
              <a:spcAft>
                <a:spcPts val="200"/>
              </a:spcAft>
            </a:pPr>
            <a:r>
              <a:rPr sz="1150" b="0">
                <a:solidFill>
                  <a:srgbClr val="161B26"/>
                </a:solidFill>
                <a:latin typeface="Arial"/>
              </a:rPr>
              <a:t>0–179 in 8-bit: yellow sits near 22–23.</a:t>
            </a:r>
          </a:p>
        </p:txBody>
      </p:sp>
      <p:sp>
        <p:nvSpPr>
          <p:cNvPr id="21" name="Rectangle 20"/>
          <p:cNvSpPr/>
          <p:nvPr/>
        </p:nvSpPr>
        <p:spPr>
          <a:xfrm>
            <a:off x="777240" y="6053328"/>
            <a:ext cx="10634472" cy="40233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6053328"/>
            <a:ext cx="10241280" cy="402336"/>
          </a:xfrm>
          <a:prstGeom prst="rect">
            <a:avLst/>
          </a:prstGeom>
          <a:noFill/>
        </p:spPr>
        <p:txBody>
          <a:bodyPr wrap="square" anchor="ctr">
            <a:spAutoFit/>
          </a:bodyPr>
          <a:lstStyle/>
          <a:p>
            <a:pPr algn="l">
              <a:spcAft>
                <a:spcPts val="400"/>
              </a:spcAft>
            </a:pPr>
            <a:r>
              <a:rPr sz="1100" b="1">
                <a:solidFill>
                  <a:srgbClr val="127A3E"/>
                </a:solidFill>
                <a:latin typeface="Arial"/>
              </a:rPr>
              <a:t>VERIFY   </a:t>
            </a:r>
            <a:r>
              <a:rPr sz="1200" b="0">
                <a:solidFill>
                  <a:srgbClr val="161B26"/>
                </a:solidFill>
                <a:latin typeface="Arial"/>
              </a:rPr>
              <a:t>character_features.py in Lab 06 runs this on six shots.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fast">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A4 · LAB 06 RESULT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Six Shots of MEI Against Her Reference Sheet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6675120" cy="3977639"/>
        </p:xfrm>
        <a:graphic>
          <a:graphicData uri="http://schemas.openxmlformats.org/drawingml/2006/chart">
            <c:chart xmlns:c="http://schemas.openxmlformats.org/drawingml/2006/chart" r:id="rId2"/>
          </a:graphicData>
        </a:graphic>
      </p:graphicFrame>
      <p:sp>
        <p:nvSpPr>
          <p:cNvPr id="8" name="Rectangle 7"/>
          <p:cNvSpPr/>
          <p:nvPr/>
        </p:nvSpPr>
        <p:spPr>
          <a:xfrm>
            <a:off x="7680960" y="1783080"/>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80960" y="1783080"/>
            <a:ext cx="82296" cy="87096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82128" y="1783080"/>
            <a:ext cx="3346704" cy="870965"/>
          </a:xfrm>
          <a:prstGeom prst="rect">
            <a:avLst/>
          </a:prstGeom>
          <a:noFill/>
        </p:spPr>
        <p:txBody>
          <a:bodyPr wrap="square" anchor="ctr">
            <a:spAutoFit/>
          </a:bodyPr>
          <a:lstStyle/>
          <a:p>
            <a:pPr algn="l">
              <a:spcAft>
                <a:spcPts val="200"/>
              </a:spcAft>
            </a:pPr>
            <a:r>
              <a:rPr sz="1250" b="1">
                <a:solidFill>
                  <a:srgbClr val="1F6FEB"/>
                </a:solidFill>
                <a:latin typeface="Arial"/>
              </a:rPr>
              <a:t>shot 04: DRIFT</a:t>
            </a:r>
          </a:p>
          <a:p>
            <a:pPr algn="l">
              <a:spcAft>
                <a:spcPts val="200"/>
              </a:spcAft>
            </a:pPr>
            <a:r>
              <a:rPr sz="1100" b="0">
                <a:solidFill>
                  <a:srgbClr val="161B26"/>
                </a:solidFill>
                <a:latin typeface="Arial"/>
              </a:rPr>
              <a:t>Scarf red cover 0.00 — the scarf turned blue.</a:t>
            </a:r>
          </a:p>
        </p:txBody>
      </p:sp>
      <p:sp>
        <p:nvSpPr>
          <p:cNvPr id="11" name="Rectangle 10"/>
          <p:cNvSpPr/>
          <p:nvPr/>
        </p:nvSpPr>
        <p:spPr>
          <a:xfrm>
            <a:off x="7680960" y="2818637"/>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680960" y="2818637"/>
            <a:ext cx="82296" cy="87096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82128" y="2818637"/>
            <a:ext cx="3346704" cy="870965"/>
          </a:xfrm>
          <a:prstGeom prst="rect">
            <a:avLst/>
          </a:prstGeom>
          <a:noFill/>
        </p:spPr>
        <p:txBody>
          <a:bodyPr wrap="square" anchor="ctr">
            <a:spAutoFit/>
          </a:bodyPr>
          <a:lstStyle/>
          <a:p>
            <a:pPr algn="l">
              <a:spcAft>
                <a:spcPts val="200"/>
              </a:spcAft>
            </a:pPr>
            <a:r>
              <a:rPr sz="1250" b="1">
                <a:solidFill>
                  <a:srgbClr val="10B981"/>
                </a:solidFill>
                <a:latin typeface="Arial"/>
              </a:rPr>
              <a:t>shot 05: DRIFT</a:t>
            </a:r>
          </a:p>
          <a:p>
            <a:pPr algn="l">
              <a:spcAft>
                <a:spcPts val="200"/>
              </a:spcAft>
            </a:pPr>
            <a:r>
              <a:rPr sz="1100" b="0">
                <a:solidFill>
                  <a:srgbClr val="161B26"/>
                </a:solidFill>
                <a:latin typeface="Arial"/>
              </a:rPr>
              <a:t>Clasp brass 0.14 — the clasp is missing.</a:t>
            </a:r>
          </a:p>
        </p:txBody>
      </p:sp>
      <p:sp>
        <p:nvSpPr>
          <p:cNvPr id="14" name="Rectangle 13"/>
          <p:cNvSpPr/>
          <p:nvPr/>
        </p:nvSpPr>
        <p:spPr>
          <a:xfrm>
            <a:off x="7680960" y="3854194"/>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680960" y="3854194"/>
            <a:ext cx="82296" cy="870965"/>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82128" y="3854194"/>
            <a:ext cx="3346704" cy="870965"/>
          </a:xfrm>
          <a:prstGeom prst="rect">
            <a:avLst/>
          </a:prstGeom>
          <a:noFill/>
        </p:spPr>
        <p:txBody>
          <a:bodyPr wrap="square" anchor="ctr">
            <a:spAutoFit/>
          </a:bodyPr>
          <a:lstStyle/>
          <a:p>
            <a:pPr algn="l">
              <a:spcAft>
                <a:spcPts val="200"/>
              </a:spcAft>
            </a:pPr>
            <a:r>
              <a:rPr sz="1250" b="1">
                <a:solidFill>
                  <a:srgbClr val="7C3AED"/>
                </a:solidFill>
                <a:latin typeface="Arial"/>
              </a:rPr>
              <a:t>shot 06: DRIFT</a:t>
            </a:r>
          </a:p>
          <a:p>
            <a:pPr algn="l">
              <a:spcAft>
                <a:spcPts val="200"/>
              </a:spcAft>
            </a:pPr>
            <a:r>
              <a:rPr sz="1100" b="0">
                <a:solidFill>
                  <a:srgbClr val="161B26"/>
                </a:solidFill>
                <a:latin typeface="Arial"/>
              </a:rPr>
              <a:t>Coat hue 13, not 23 — the coat drifted to orange.</a:t>
            </a:r>
          </a:p>
        </p:txBody>
      </p:sp>
      <p:sp>
        <p:nvSpPr>
          <p:cNvPr id="17" name="Rectangle 16"/>
          <p:cNvSpPr/>
          <p:nvPr/>
        </p:nvSpPr>
        <p:spPr>
          <a:xfrm>
            <a:off x="7680960" y="4889751"/>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0" y="4889751"/>
            <a:ext cx="82296" cy="870965"/>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82128" y="4889751"/>
            <a:ext cx="3346704" cy="870965"/>
          </a:xfrm>
          <a:prstGeom prst="rect">
            <a:avLst/>
          </a:prstGeom>
          <a:noFill/>
        </p:spPr>
        <p:txBody>
          <a:bodyPr wrap="square" anchor="ctr">
            <a:spAutoFit/>
          </a:bodyPr>
          <a:lstStyle/>
          <a:p>
            <a:pPr algn="l">
              <a:spcAft>
                <a:spcPts val="200"/>
              </a:spcAft>
            </a:pPr>
            <a:r>
              <a:rPr sz="1250" b="1">
                <a:solidFill>
                  <a:srgbClr val="F59E0B"/>
                </a:solidFill>
                <a:latin typeface="Arial"/>
              </a:rPr>
              <a:t>Keypoints miss colour</a:t>
            </a:r>
          </a:p>
          <a:p>
            <a:pPr algn="l">
              <a:spcAft>
                <a:spcPts val="200"/>
              </a:spcAft>
            </a:pPr>
            <a:r>
              <a:rPr sz="1100" b="0">
                <a:solidFill>
                  <a:srgbClr val="161B26"/>
                </a:solidFill>
                <a:latin typeface="Arial"/>
              </a:rPr>
              <a:t>shot 06 still gets 12 ORB matches.</a:t>
            </a:r>
          </a:p>
        </p:txBody>
      </p:sp>
      <p:sp>
        <p:nvSpPr>
          <p:cNvPr id="20" name="Rectangle 19"/>
          <p:cNvSpPr/>
          <p:nvPr/>
        </p:nvSpPr>
        <p:spPr>
          <a:xfrm>
            <a:off x="777240" y="5925312"/>
            <a:ext cx="1417320"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925312"/>
            <a:ext cx="1417320" cy="310896"/>
          </a:xfrm>
          <a:prstGeom prst="rect">
            <a:avLst/>
          </a:prstGeom>
          <a:noFill/>
        </p:spPr>
        <p:txBody>
          <a:bodyPr wrap="square" anchor="ctr">
            <a:spAutoFit/>
          </a:bodyPr>
          <a:lstStyle/>
          <a:p>
            <a:pPr algn="ctr">
              <a:spcAft>
                <a:spcPts val="400"/>
              </a:spcAft>
            </a:pPr>
            <a:r>
              <a:rPr sz="1050" b="1">
                <a:solidFill>
                  <a:srgbClr val="FFFFFF"/>
                </a:solidFill>
                <a:latin typeface="Arial"/>
              </a:rPr>
              <a:t>MEASURED</a:t>
            </a:r>
          </a:p>
        </p:txBody>
      </p:sp>
      <p:sp>
        <p:nvSpPr>
          <p:cNvPr id="22" name="TextBox 21"/>
          <p:cNvSpPr txBox="1"/>
          <p:nvPr/>
        </p:nvSpPr>
        <p:spPr>
          <a:xfrm>
            <a:off x="2331720" y="5925312"/>
            <a:ext cx="9098280" cy="457200"/>
          </a:xfrm>
          <a:prstGeom prst="rect">
            <a:avLst/>
          </a:prstGeom>
          <a:noFill/>
        </p:spPr>
        <p:txBody>
          <a:bodyPr wrap="square" anchor="ctr">
            <a:spAutoFit/>
          </a:bodyPr>
          <a:lstStyle/>
          <a:p>
            <a:pPr algn="l">
              <a:spcAft>
                <a:spcPts val="400"/>
              </a:spcAft>
            </a:pPr>
            <a:r>
              <a:rPr sz="1150" b="0">
                <a:solidFill>
                  <a:srgbClr val="5B6372"/>
                </a:solidFill>
                <a:latin typeface="Arial"/>
              </a:rPr>
              <a:t>character_features.py on SIMULATED shots with injected drift.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fast">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A4 · VISUAL EVIDENCE BESIDE THE NUMBERS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The Identity Strip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949196" y="1755648"/>
            <a:ext cx="8290560" cy="358444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06-identity-strip.png"/>
          <p:cNvPicPr>
            <a:picLocks noChangeAspect="1"/>
          </p:cNvPicPr>
          <p:nvPr/>
        </p:nvPicPr>
        <p:blipFill>
          <a:blip r:embed="rId2"/>
          <a:stretch>
            <a:fillRect/>
          </a:stretch>
        </p:blipFill>
        <p:spPr>
          <a:xfrm>
            <a:off x="1976628" y="1783080"/>
            <a:ext cx="8235696" cy="3529584"/>
          </a:xfrm>
          <a:prstGeom prst="rect">
            <a:avLst/>
          </a:prstGeom>
        </p:spPr>
      </p:pic>
      <p:sp>
        <p:nvSpPr>
          <p:cNvPr id="9" name="TextBox 8"/>
          <p:cNvSpPr txBox="1"/>
          <p:nvPr/>
        </p:nvSpPr>
        <p:spPr>
          <a:xfrm>
            <a:off x="777240" y="5349240"/>
            <a:ext cx="10634472" cy="310896"/>
          </a:xfrm>
          <a:prstGeom prst="rect">
            <a:avLst/>
          </a:prstGeom>
          <a:noFill/>
        </p:spPr>
        <p:txBody>
          <a:bodyPr wrap="square" anchor="t">
            <a:spAutoFit/>
          </a:bodyPr>
          <a:lstStyle/>
          <a:p>
            <a:pPr algn="ctr">
              <a:spcAft>
                <a:spcPts val="400"/>
              </a:spcAft>
            </a:pPr>
            <a:r>
              <a:rPr sz="1050" b="0">
                <a:solidFill>
                  <a:srgbClr val="5B6372"/>
                </a:solidFill>
                <a:latin typeface="Arial"/>
              </a:rPr>
              <a:t>Sheet crop first, then shots 01–06 · green = consistent, red = drift</a:t>
            </a:r>
          </a:p>
        </p:txBody>
      </p:sp>
      <p:sp>
        <p:nvSpPr>
          <p:cNvPr id="10" name="TextBox 9"/>
          <p:cNvSpPr txBox="1"/>
          <p:nvPr/>
        </p:nvSpPr>
        <p:spPr>
          <a:xfrm>
            <a:off x="777240" y="5806440"/>
            <a:ext cx="10634472" cy="548640"/>
          </a:xfrm>
          <a:prstGeom prst="rect">
            <a:avLst/>
          </a:prstGeom>
          <a:noFill/>
        </p:spPr>
        <p:txBody>
          <a:bodyPr wrap="square" anchor="ctr">
            <a:spAutoFit/>
          </a:bodyPr>
          <a:lstStyle/>
          <a:p>
            <a:pPr algn="ctr">
              <a:spcAft>
                <a:spcPts val="400"/>
              </a:spcAft>
            </a:pPr>
            <a:r>
              <a:rPr sz="1250" b="0">
                <a:solidFill>
                  <a:srgbClr val="5B6372"/>
                </a:solidFill>
                <a:latin typeface="Arial"/>
              </a:rPr>
              <a:t>Regenerate shots 04, 05 and 06 with the sheet re-attached and the drifted feature named in the constraints.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fast">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K6 · K7 · SCOPE IS A DESIGN DECISION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Local versus Global Features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965960"/>
            <a:ext cx="4754880" cy="365760"/>
          </a:xfrm>
          <a:prstGeom prst="rect">
            <a:avLst/>
          </a:prstGeom>
          <a:noFill/>
        </p:spPr>
        <p:txBody>
          <a:bodyPr wrap="square" anchor="t">
            <a:spAutoFit/>
          </a:bodyPr>
          <a:lstStyle/>
          <a:p>
            <a:pPr algn="l">
              <a:spcAft>
                <a:spcPts val="400"/>
              </a:spcAft>
            </a:pPr>
            <a:r>
              <a:rPr sz="1500" b="1">
                <a:solidFill>
                  <a:srgbClr val="1F6FEB"/>
                </a:solidFill>
                <a:latin typeface="Arial"/>
              </a:rPr>
              <a:t>Lab 06</a:t>
            </a:r>
          </a:p>
        </p:txBody>
      </p:sp>
      <p:sp>
        <p:nvSpPr>
          <p:cNvPr id="12" name="TextBox 11"/>
          <p:cNvSpPr txBox="1"/>
          <p:nvPr/>
        </p:nvSpPr>
        <p:spPr>
          <a:xfrm>
            <a:off x="6583680" y="1965960"/>
            <a:ext cx="4572000" cy="365760"/>
          </a:xfrm>
          <a:prstGeom prst="rect">
            <a:avLst/>
          </a:prstGeom>
          <a:noFill/>
        </p:spPr>
        <p:txBody>
          <a:bodyPr wrap="square" anchor="t">
            <a:spAutoFit/>
          </a:bodyPr>
          <a:lstStyle/>
          <a:p>
            <a:pPr algn="l">
              <a:spcAft>
                <a:spcPts val="400"/>
              </a:spcAft>
            </a:pPr>
            <a:r>
              <a:rPr sz="1500" b="1">
                <a:solidFill>
                  <a:srgbClr val="10B981"/>
                </a:solidFill>
                <a:latin typeface="Arial"/>
              </a:rPr>
              <a:t>Lab 07</a:t>
            </a:r>
          </a:p>
        </p:txBody>
      </p:sp>
      <p:sp>
        <p:nvSpPr>
          <p:cNvPr id="13" name="TextBox 12"/>
          <p:cNvSpPr txBox="1"/>
          <p:nvPr/>
        </p:nvSpPr>
        <p:spPr>
          <a:xfrm>
            <a:off x="1005840" y="2423160"/>
            <a:ext cx="4754880" cy="3520440"/>
          </a:xfrm>
          <a:prstGeom prst="rect">
            <a:avLst/>
          </a:prstGeom>
          <a:noFill/>
        </p:spPr>
        <p:txBody>
          <a:bodyPr wrap="square">
            <a:spAutoFit/>
          </a:bodyPr>
          <a:lstStyle/>
          <a:p>
            <a:pPr>
              <a:spcAft>
                <a:spcPts val="800"/>
              </a:spcAft>
            </a:pPr>
            <a:r>
              <a:rPr sz="1300" b="1">
                <a:solidFill>
                  <a:srgbClr val="161B26"/>
                </a:solidFill>
                <a:latin typeface="Arial"/>
              </a:rPr>
              <a:t>•  Local: what is HERE?</a:t>
            </a:r>
          </a:p>
          <a:p>
            <a:pPr>
              <a:spcAft>
                <a:spcPts val="800"/>
              </a:spcAft>
            </a:pPr>
            <a:r>
              <a:rPr sz="1100" b="0">
                <a:solidFill>
                  <a:srgbClr val="5B6372"/>
                </a:solidFill>
                <a:latin typeface="Arial"/>
              </a:rPr>
              <a:t>–  Computed on a crop or a point.</a:t>
            </a:r>
          </a:p>
          <a:p>
            <a:pPr>
              <a:spcAft>
                <a:spcPts val="800"/>
              </a:spcAft>
            </a:pPr>
            <a:r>
              <a:rPr sz="1100" b="0">
                <a:solidFill>
                  <a:srgbClr val="5B6372"/>
                </a:solidFill>
                <a:latin typeface="Arial"/>
              </a:rPr>
              <a:t>–  Edges, corners, colour patches, ORB keypoints, optical flow.</a:t>
            </a:r>
          </a:p>
          <a:p>
            <a:pPr>
              <a:spcAft>
                <a:spcPts val="800"/>
              </a:spcAft>
            </a:pPr>
            <a:r>
              <a:rPr sz="1100" b="0">
                <a:solidFill>
                  <a:srgbClr val="5B6372"/>
                </a:solidFill>
                <a:latin typeface="Arial"/>
              </a:rPr>
              <a:t>–  Answers: is this still MEI? is the clasp there?</a:t>
            </a:r>
          </a:p>
          <a:p>
            <a:pPr>
              <a:spcAft>
                <a:spcPts val="800"/>
              </a:spcAft>
            </a:pPr>
            <a:r>
              <a:rPr sz="1100" b="0">
                <a:solidFill>
                  <a:srgbClr val="5B6372"/>
                </a:solidFill>
                <a:latin typeface="Arial"/>
              </a:rPr>
              <a:t>–  Used for character and prop consistency.</a:t>
            </a:r>
          </a:p>
        </p:txBody>
      </p:sp>
      <p:sp>
        <p:nvSpPr>
          <p:cNvPr id="14" name="TextBox 13"/>
          <p:cNvSpPr txBox="1"/>
          <p:nvPr/>
        </p:nvSpPr>
        <p:spPr>
          <a:xfrm>
            <a:off x="6583680" y="2423160"/>
            <a:ext cx="4617720" cy="3520440"/>
          </a:xfrm>
          <a:prstGeom prst="rect">
            <a:avLst/>
          </a:prstGeom>
          <a:noFill/>
        </p:spPr>
        <p:txBody>
          <a:bodyPr wrap="square">
            <a:spAutoFit/>
          </a:bodyPr>
          <a:lstStyle/>
          <a:p>
            <a:pPr>
              <a:spcAft>
                <a:spcPts val="800"/>
              </a:spcAft>
            </a:pPr>
            <a:r>
              <a:rPr sz="1300" b="1">
                <a:solidFill>
                  <a:srgbClr val="161B26"/>
                </a:solidFill>
                <a:latin typeface="Arial"/>
              </a:rPr>
              <a:t>•  Global: what is this WHOLE shot like?</a:t>
            </a:r>
          </a:p>
          <a:p>
            <a:pPr>
              <a:spcAft>
                <a:spcPts val="800"/>
              </a:spcAft>
            </a:pPr>
            <a:r>
              <a:rPr sz="1100" b="0">
                <a:solidFill>
                  <a:srgbClr val="5B6372"/>
                </a:solidFill>
                <a:latin typeface="Arial"/>
              </a:rPr>
              <a:t>–  Computed on the whole frame.</a:t>
            </a:r>
          </a:p>
          <a:p>
            <a:pPr>
              <a:spcAft>
                <a:spcPts val="800"/>
              </a:spcAft>
            </a:pPr>
            <a:r>
              <a:rPr sz="1100" b="0">
                <a:solidFill>
                  <a:srgbClr val="5B6372"/>
                </a:solidFill>
                <a:latin typeface="Arial"/>
              </a:rPr>
              <a:t>–  Histograms, mean brightness, contrast, warmth, tint, moments.</a:t>
            </a:r>
          </a:p>
          <a:p>
            <a:pPr>
              <a:spcAft>
                <a:spcPts val="800"/>
              </a:spcAft>
            </a:pPr>
            <a:r>
              <a:rPr sz="1100" b="0">
                <a:solidFill>
                  <a:srgbClr val="5B6372"/>
                </a:solidFill>
                <a:latin typeface="Arial"/>
              </a:rPr>
              <a:t>–  Answers: does this shot belong in this film?</a:t>
            </a:r>
          </a:p>
          <a:p>
            <a:pPr>
              <a:spcAft>
                <a:spcPts val="800"/>
              </a:spcAft>
            </a:pPr>
            <a:r>
              <a:rPr sz="1100" b="0">
                <a:solidFill>
                  <a:srgbClr val="5B6372"/>
                </a:solidFill>
                <a:latin typeface="Arial"/>
              </a:rPr>
              <a:t>–  Used for the look bible and scene continuity.</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fast">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K7 · GLOBAL FEATURE DESCRIPTIONS: STATISTICAL AND GEOMETRICAL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 Numeric Fingerprint for the Look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74519"/>
            <a:ext cx="336194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112263"/>
            <a:ext cx="2996184" cy="457200"/>
          </a:xfrm>
          <a:prstGeom prst="rect">
            <a:avLst/>
          </a:prstGeom>
          <a:noFill/>
        </p:spPr>
        <p:txBody>
          <a:bodyPr wrap="square" anchor="t">
            <a:spAutoFit/>
          </a:bodyPr>
          <a:lstStyle/>
          <a:p>
            <a:pPr algn="l">
              <a:spcAft>
                <a:spcPts val="400"/>
              </a:spcAft>
            </a:pPr>
            <a:r>
              <a:rPr sz="1500" b="1">
                <a:solidFill>
                  <a:srgbClr val="1F6FEB"/>
                </a:solidFill>
                <a:latin typeface="Arial"/>
              </a:rPr>
              <a:t>Histogram distance</a:t>
            </a:r>
          </a:p>
        </p:txBody>
      </p:sp>
      <p:sp>
        <p:nvSpPr>
          <p:cNvPr id="10" name="Rectangle 9"/>
          <p:cNvSpPr/>
          <p:nvPr/>
        </p:nvSpPr>
        <p:spPr>
          <a:xfrm>
            <a:off x="960120" y="2715767"/>
            <a:ext cx="2996184" cy="104241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2715767"/>
            <a:ext cx="2813304" cy="1042416"/>
          </a:xfrm>
          <a:prstGeom prst="rect">
            <a:avLst/>
          </a:prstGeom>
          <a:noFill/>
        </p:spPr>
        <p:txBody>
          <a:bodyPr wrap="none" lIns="0" rIns="0" tIns="0" bIns="0" anchor="ctr">
            <a:noAutofit/>
          </a:bodyPr>
          <a:lstStyle/>
          <a:p>
            <a:pPr>
              <a:spcAft>
                <a:spcPts val="100"/>
              </a:spcAft>
            </a:pPr>
            <a:r>
              <a:rPr sz="1350">
                <a:solidFill>
                  <a:srgbClr val="9CDCFE"/>
                </a:solidFill>
                <a:latin typeface="Consolas"/>
              </a:rPr>
              <a:t>d_B(H1, H2) =</a:t>
            </a:r>
          </a:p>
          <a:p>
            <a:pPr>
              <a:spcAft>
                <a:spcPts val="100"/>
              </a:spcAft>
            </a:pPr>
            <a:r>
              <a:rPr sz="1350">
                <a:solidFill>
                  <a:srgbClr val="9CDCFE"/>
                </a:solidFill>
                <a:latin typeface="Consolas"/>
              </a:rPr>
              <a:t> sqrt(1 - sum sqrt(H1*H2))</a:t>
            </a:r>
          </a:p>
        </p:txBody>
      </p:sp>
      <p:sp>
        <p:nvSpPr>
          <p:cNvPr id="12" name="TextBox 11"/>
          <p:cNvSpPr txBox="1"/>
          <p:nvPr/>
        </p:nvSpPr>
        <p:spPr>
          <a:xfrm>
            <a:off x="960120" y="3867911"/>
            <a:ext cx="2996184" cy="1490472"/>
          </a:xfrm>
          <a:prstGeom prst="rect">
            <a:avLst/>
          </a:prstGeom>
          <a:noFill/>
        </p:spPr>
        <p:txBody>
          <a:bodyPr wrap="square" anchor="t">
            <a:spAutoFit/>
          </a:bodyPr>
          <a:lstStyle/>
          <a:p>
            <a:pPr algn="l">
              <a:spcAft>
                <a:spcPts val="400"/>
              </a:spcAft>
            </a:pPr>
            <a:r>
              <a:rPr sz="1200" b="0">
                <a:solidFill>
                  <a:srgbClr val="5B6372"/>
                </a:solidFill>
                <a:latin typeface="Arial"/>
              </a:rPr>
              <a:t>Bhattacharyya distance of normalised hue/saturation histograms: 0 = same palette.</a:t>
            </a:r>
          </a:p>
        </p:txBody>
      </p:sp>
      <p:sp>
        <p:nvSpPr>
          <p:cNvPr id="13" name="Rectangle 12"/>
          <p:cNvSpPr/>
          <p:nvPr/>
        </p:nvSpPr>
        <p:spPr>
          <a:xfrm>
            <a:off x="4413504"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13504" y="1874519"/>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96384" y="2112263"/>
            <a:ext cx="2996184" cy="457200"/>
          </a:xfrm>
          <a:prstGeom prst="rect">
            <a:avLst/>
          </a:prstGeom>
          <a:noFill/>
        </p:spPr>
        <p:txBody>
          <a:bodyPr wrap="square" anchor="t">
            <a:spAutoFit/>
          </a:bodyPr>
          <a:lstStyle/>
          <a:p>
            <a:pPr algn="l">
              <a:spcAft>
                <a:spcPts val="400"/>
              </a:spcAft>
            </a:pPr>
            <a:r>
              <a:rPr sz="1500" b="1">
                <a:solidFill>
                  <a:srgbClr val="10B981"/>
                </a:solidFill>
                <a:latin typeface="Arial"/>
              </a:rPr>
              <a:t>Statistics</a:t>
            </a:r>
          </a:p>
        </p:txBody>
      </p:sp>
      <p:sp>
        <p:nvSpPr>
          <p:cNvPr id="16" name="Rectangle 15"/>
          <p:cNvSpPr/>
          <p:nvPr/>
        </p:nvSpPr>
        <p:spPr>
          <a:xfrm>
            <a:off x="4596384" y="2715767"/>
            <a:ext cx="2996184" cy="14081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87824" y="2715767"/>
            <a:ext cx="2813304" cy="1408176"/>
          </a:xfrm>
          <a:prstGeom prst="rect">
            <a:avLst/>
          </a:prstGeom>
          <a:noFill/>
        </p:spPr>
        <p:txBody>
          <a:bodyPr wrap="none" lIns="0" rIns="0" tIns="0" bIns="0" anchor="ctr">
            <a:noAutofit/>
          </a:bodyPr>
          <a:lstStyle/>
          <a:p>
            <a:pPr>
              <a:spcAft>
                <a:spcPts val="100"/>
              </a:spcAft>
            </a:pPr>
            <a:r>
              <a:rPr sz="1400">
                <a:solidFill>
                  <a:srgbClr val="9CDCFE"/>
                </a:solidFill>
                <a:latin typeface="Consolas"/>
              </a:rPr>
              <a:t>mean V, std V, mean S</a:t>
            </a:r>
          </a:p>
          <a:p>
            <a:pPr>
              <a:spcAft>
                <a:spcPts val="100"/>
              </a:spcAft>
            </a:pPr>
            <a:r>
              <a:rPr sz="1400">
                <a:solidFill>
                  <a:srgbClr val="9CDCFE"/>
                </a:solidFill>
                <a:latin typeface="Consolas"/>
              </a:rPr>
              <a:t>warmth = mean(R - B)</a:t>
            </a:r>
          </a:p>
          <a:p>
            <a:pPr>
              <a:spcAft>
                <a:spcPts val="100"/>
              </a:spcAft>
            </a:pPr>
            <a:r>
              <a:rPr sz="1400">
                <a:solidFill>
                  <a:srgbClr val="9CDCFE"/>
                </a:solidFill>
                <a:latin typeface="Consolas"/>
              </a:rPr>
              <a:t>tint = mean(G - (R+B)/2)</a:t>
            </a:r>
          </a:p>
        </p:txBody>
      </p:sp>
      <p:sp>
        <p:nvSpPr>
          <p:cNvPr id="18" name="TextBox 17"/>
          <p:cNvSpPr txBox="1"/>
          <p:nvPr/>
        </p:nvSpPr>
        <p:spPr>
          <a:xfrm>
            <a:off x="4596384" y="4233671"/>
            <a:ext cx="2996184" cy="1124712"/>
          </a:xfrm>
          <a:prstGeom prst="rect">
            <a:avLst/>
          </a:prstGeom>
          <a:noFill/>
        </p:spPr>
        <p:txBody>
          <a:bodyPr wrap="square" anchor="t">
            <a:spAutoFit/>
          </a:bodyPr>
          <a:lstStyle/>
          <a:p>
            <a:pPr algn="l">
              <a:spcAft>
                <a:spcPts val="400"/>
              </a:spcAft>
            </a:pPr>
            <a:r>
              <a:rPr sz="1200" b="0">
                <a:solidFill>
                  <a:srgbClr val="5B6372"/>
                </a:solidFill>
                <a:latin typeface="Arial"/>
              </a:rPr>
              <a:t>Exposure, contrast, saturation, white balance and green/magenta cast.</a:t>
            </a:r>
          </a:p>
        </p:txBody>
      </p:sp>
      <p:sp>
        <p:nvSpPr>
          <p:cNvPr id="19" name="Rectangle 18"/>
          <p:cNvSpPr/>
          <p:nvPr/>
        </p:nvSpPr>
        <p:spPr>
          <a:xfrm>
            <a:off x="8049768"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9768" y="1874519"/>
            <a:ext cx="336194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2648" y="2112263"/>
            <a:ext cx="2996184" cy="457200"/>
          </a:xfrm>
          <a:prstGeom prst="rect">
            <a:avLst/>
          </a:prstGeom>
          <a:noFill/>
        </p:spPr>
        <p:txBody>
          <a:bodyPr wrap="square" anchor="t">
            <a:spAutoFit/>
          </a:bodyPr>
          <a:lstStyle/>
          <a:p>
            <a:pPr algn="l">
              <a:spcAft>
                <a:spcPts val="400"/>
              </a:spcAft>
            </a:pPr>
            <a:r>
              <a:rPr sz="1500" b="1">
                <a:solidFill>
                  <a:srgbClr val="7C3AED"/>
                </a:solidFill>
                <a:latin typeface="Arial"/>
              </a:rPr>
              <a:t>Geometry</a:t>
            </a:r>
          </a:p>
        </p:txBody>
      </p:sp>
      <p:sp>
        <p:nvSpPr>
          <p:cNvPr id="22" name="Rectangle 21"/>
          <p:cNvSpPr/>
          <p:nvPr/>
        </p:nvSpPr>
        <p:spPr>
          <a:xfrm>
            <a:off x="8232648" y="2715767"/>
            <a:ext cx="2996184" cy="104241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24088" y="2715767"/>
            <a:ext cx="2813304" cy="1042416"/>
          </a:xfrm>
          <a:prstGeom prst="rect">
            <a:avLst/>
          </a:prstGeom>
          <a:noFill/>
        </p:spPr>
        <p:txBody>
          <a:bodyPr wrap="none" lIns="0" rIns="0" tIns="0" bIns="0" anchor="ctr">
            <a:noAutofit/>
          </a:bodyPr>
          <a:lstStyle/>
          <a:p>
            <a:pPr>
              <a:spcAft>
                <a:spcPts val="100"/>
              </a:spcAft>
            </a:pPr>
            <a:r>
              <a:rPr sz="1400">
                <a:solidFill>
                  <a:srgbClr val="9CDCFE"/>
                </a:solidFill>
                <a:latin typeface="Consolas"/>
              </a:rPr>
              <a:t>Hu moments of the</a:t>
            </a:r>
          </a:p>
          <a:p>
            <a:pPr>
              <a:spcAft>
                <a:spcPts val="100"/>
              </a:spcAft>
            </a:pPr>
            <a:r>
              <a:rPr sz="1400">
                <a:solidFill>
                  <a:srgbClr val="9CDCFE"/>
                </a:solidFill>
                <a:latin typeface="Consolas"/>
              </a:rPr>
              <a:t>bright-practicals mask</a:t>
            </a:r>
          </a:p>
        </p:txBody>
      </p:sp>
      <p:sp>
        <p:nvSpPr>
          <p:cNvPr id="24" name="TextBox 23"/>
          <p:cNvSpPr txBox="1"/>
          <p:nvPr/>
        </p:nvSpPr>
        <p:spPr>
          <a:xfrm>
            <a:off x="8232648" y="3867911"/>
            <a:ext cx="2996184" cy="1490472"/>
          </a:xfrm>
          <a:prstGeom prst="rect">
            <a:avLst/>
          </a:prstGeom>
          <a:noFill/>
        </p:spPr>
        <p:txBody>
          <a:bodyPr wrap="square" anchor="t">
            <a:spAutoFit/>
          </a:bodyPr>
          <a:lstStyle/>
          <a:p>
            <a:pPr algn="l">
              <a:spcAft>
                <a:spcPts val="400"/>
              </a:spcAft>
            </a:pPr>
            <a:r>
              <a:rPr sz="1200" b="0">
                <a:solidFill>
                  <a:srgbClr val="5B6372"/>
                </a:solidFill>
                <a:latin typeface="Arial"/>
              </a:rPr>
              <a:t>Where the light sits in the frame — invariant to position and scale.</a:t>
            </a:r>
          </a:p>
        </p:txBody>
      </p:sp>
      <p:sp>
        <p:nvSpPr>
          <p:cNvPr id="25" name="TextBox 24"/>
          <p:cNvSpPr txBox="1"/>
          <p:nvPr/>
        </p:nvSpPr>
        <p:spPr>
          <a:xfrm>
            <a:off x="777240" y="5715000"/>
            <a:ext cx="10698480" cy="548640"/>
          </a:xfrm>
          <a:prstGeom prst="rect">
            <a:avLst/>
          </a:prstGeom>
          <a:noFill/>
        </p:spPr>
        <p:txBody>
          <a:bodyPr wrap="square" anchor="ctr">
            <a:spAutoFit/>
          </a:bodyPr>
          <a:lstStyle/>
          <a:p>
            <a:pPr algn="ctr">
              <a:spcAft>
                <a:spcPts val="400"/>
              </a:spcAft>
            </a:pPr>
            <a:r>
              <a:rPr sz="1300" b="0">
                <a:solidFill>
                  <a:srgbClr val="5B6372"/>
                </a:solidFill>
                <a:latin typeface="Arial"/>
              </a:rPr>
              <a:t>Each shot is compared with the approved master of ITS OWN location.</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fast">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A3 · LAB 07 RESULT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Auditing Eight Shots Against the Look Bible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6675120" cy="3977639"/>
        </p:xfrm>
        <a:graphic>
          <a:graphicData uri="http://schemas.openxmlformats.org/drawingml/2006/chart">
            <c:chart xmlns:c="http://schemas.openxmlformats.org/drawingml/2006/chart" r:id="rId2"/>
          </a:graphicData>
        </a:graphic>
      </p:graphicFrame>
      <p:sp>
        <p:nvSpPr>
          <p:cNvPr id="8" name="Rectangle 7"/>
          <p:cNvSpPr/>
          <p:nvPr/>
        </p:nvSpPr>
        <p:spPr>
          <a:xfrm>
            <a:off x="7680960" y="1783080"/>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80960" y="1783080"/>
            <a:ext cx="82296" cy="87096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82128" y="1783080"/>
            <a:ext cx="3346704" cy="870965"/>
          </a:xfrm>
          <a:prstGeom prst="rect">
            <a:avLst/>
          </a:prstGeom>
          <a:noFill/>
        </p:spPr>
        <p:txBody>
          <a:bodyPr wrap="square" anchor="ctr">
            <a:spAutoFit/>
          </a:bodyPr>
          <a:lstStyle/>
          <a:p>
            <a:pPr algn="l">
              <a:spcAft>
                <a:spcPts val="200"/>
              </a:spcAft>
            </a:pPr>
            <a:r>
              <a:rPr sz="1250" b="1">
                <a:solidFill>
                  <a:srgbClr val="1F6FEB"/>
                </a:solidFill>
                <a:latin typeface="Arial"/>
              </a:rPr>
              <a:t>shot 05 OFF LOOK</a:t>
            </a:r>
          </a:p>
          <a:p>
            <a:pPr algn="l">
              <a:spcAft>
                <a:spcPts val="200"/>
              </a:spcAft>
            </a:pPr>
            <a:r>
              <a:rPr sz="1100" b="0">
                <a:solidFill>
                  <a:srgbClr val="161B26"/>
                </a:solidFill>
                <a:latin typeface="Arial"/>
              </a:rPr>
              <a:t>Exposure +45, warmth +38: a 'noon' generation.</a:t>
            </a:r>
          </a:p>
        </p:txBody>
      </p:sp>
      <p:sp>
        <p:nvSpPr>
          <p:cNvPr id="11" name="Rectangle 10"/>
          <p:cNvSpPr/>
          <p:nvPr/>
        </p:nvSpPr>
        <p:spPr>
          <a:xfrm>
            <a:off x="7680960" y="2818637"/>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680960" y="2818637"/>
            <a:ext cx="82296" cy="87096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82128" y="2818637"/>
            <a:ext cx="3346704" cy="870965"/>
          </a:xfrm>
          <a:prstGeom prst="rect">
            <a:avLst/>
          </a:prstGeom>
          <a:noFill/>
        </p:spPr>
        <p:txBody>
          <a:bodyPr wrap="square" anchor="ctr">
            <a:spAutoFit/>
          </a:bodyPr>
          <a:lstStyle/>
          <a:p>
            <a:pPr algn="l">
              <a:spcAft>
                <a:spcPts val="200"/>
              </a:spcAft>
            </a:pPr>
            <a:r>
              <a:rPr sz="1250" b="1">
                <a:solidFill>
                  <a:srgbClr val="10B981"/>
                </a:solidFill>
                <a:latin typeface="Arial"/>
              </a:rPr>
              <a:t>shot 07 OFF LOOK</a:t>
            </a:r>
          </a:p>
          <a:p>
            <a:pPr algn="l">
              <a:spcAft>
                <a:spcPts val="200"/>
              </a:spcAft>
            </a:pPr>
            <a:r>
              <a:rPr sz="1100" b="0">
                <a:solidFill>
                  <a:srgbClr val="161B26"/>
                </a:solidFill>
                <a:latin typeface="Arial"/>
              </a:rPr>
              <a:t>Tint −39, saturation +54: a magenta cast.</a:t>
            </a:r>
          </a:p>
        </p:txBody>
      </p:sp>
      <p:sp>
        <p:nvSpPr>
          <p:cNvPr id="14" name="Rectangle 13"/>
          <p:cNvSpPr/>
          <p:nvPr/>
        </p:nvSpPr>
        <p:spPr>
          <a:xfrm>
            <a:off x="7680960" y="3854194"/>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680960" y="3854194"/>
            <a:ext cx="82296" cy="870965"/>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82128" y="3854194"/>
            <a:ext cx="3346704" cy="870965"/>
          </a:xfrm>
          <a:prstGeom prst="rect">
            <a:avLst/>
          </a:prstGeom>
          <a:noFill/>
        </p:spPr>
        <p:txBody>
          <a:bodyPr wrap="square" anchor="ctr">
            <a:spAutoFit/>
          </a:bodyPr>
          <a:lstStyle/>
          <a:p>
            <a:pPr algn="l">
              <a:spcAft>
                <a:spcPts val="200"/>
              </a:spcAft>
            </a:pPr>
            <a:r>
              <a:rPr sz="1250" b="1">
                <a:solidFill>
                  <a:srgbClr val="7C3AED"/>
                </a:solidFill>
                <a:latin typeface="Arial"/>
              </a:rPr>
              <a:t>Six shots ON LOOK</a:t>
            </a:r>
          </a:p>
          <a:p>
            <a:pPr algn="l">
              <a:spcAft>
                <a:spcPts val="200"/>
              </a:spcAft>
            </a:pPr>
            <a:r>
              <a:rPr sz="1100" b="0">
                <a:solidFill>
                  <a:srgbClr val="161B26"/>
                </a:solidFill>
                <a:latin typeface="Arial"/>
              </a:rPr>
              <a:t>Every delta well inside the limits.</a:t>
            </a:r>
          </a:p>
        </p:txBody>
      </p:sp>
      <p:sp>
        <p:nvSpPr>
          <p:cNvPr id="17" name="Rectangle 16"/>
          <p:cNvSpPr/>
          <p:nvPr/>
        </p:nvSpPr>
        <p:spPr>
          <a:xfrm>
            <a:off x="7680960" y="4889751"/>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0" y="4889751"/>
            <a:ext cx="82296" cy="870965"/>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82128" y="4889751"/>
            <a:ext cx="3346704" cy="870965"/>
          </a:xfrm>
          <a:prstGeom prst="rect">
            <a:avLst/>
          </a:prstGeom>
          <a:noFill/>
        </p:spPr>
        <p:txBody>
          <a:bodyPr wrap="square" anchor="ctr">
            <a:spAutoFit/>
          </a:bodyPr>
          <a:lstStyle/>
          <a:p>
            <a:pPr algn="l">
              <a:spcAft>
                <a:spcPts val="200"/>
              </a:spcAft>
            </a:pPr>
            <a:r>
              <a:rPr sz="1250" b="1">
                <a:solidFill>
                  <a:srgbClr val="F59E0B"/>
                </a:solidFill>
                <a:latin typeface="Arial"/>
              </a:rPr>
              <a:t>Regrade or regenerate?</a:t>
            </a:r>
          </a:p>
          <a:p>
            <a:pPr algn="l">
              <a:spcAft>
                <a:spcPts val="200"/>
              </a:spcAft>
            </a:pPr>
            <a:r>
              <a:rPr sz="1100" b="0">
                <a:solidFill>
                  <a:srgbClr val="161B26"/>
                </a:solidFill>
                <a:latin typeface="Arial"/>
              </a:rPr>
              <a:t>A LUT can fix a cast; not daylight.</a:t>
            </a:r>
          </a:p>
        </p:txBody>
      </p:sp>
      <p:sp>
        <p:nvSpPr>
          <p:cNvPr id="20" name="Rectangle 19"/>
          <p:cNvSpPr/>
          <p:nvPr/>
        </p:nvSpPr>
        <p:spPr>
          <a:xfrm>
            <a:off x="777240" y="5925312"/>
            <a:ext cx="1417320"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925312"/>
            <a:ext cx="1417320" cy="310896"/>
          </a:xfrm>
          <a:prstGeom prst="rect">
            <a:avLst/>
          </a:prstGeom>
          <a:noFill/>
        </p:spPr>
        <p:txBody>
          <a:bodyPr wrap="square" anchor="ctr">
            <a:spAutoFit/>
          </a:bodyPr>
          <a:lstStyle/>
          <a:p>
            <a:pPr algn="ctr">
              <a:spcAft>
                <a:spcPts val="400"/>
              </a:spcAft>
            </a:pPr>
            <a:r>
              <a:rPr sz="1050" b="1">
                <a:solidFill>
                  <a:srgbClr val="FFFFFF"/>
                </a:solidFill>
                <a:latin typeface="Arial"/>
              </a:rPr>
              <a:t>MEASURED</a:t>
            </a:r>
          </a:p>
        </p:txBody>
      </p:sp>
      <p:sp>
        <p:nvSpPr>
          <p:cNvPr id="22" name="TextBox 21"/>
          <p:cNvSpPr txBox="1"/>
          <p:nvPr/>
        </p:nvSpPr>
        <p:spPr>
          <a:xfrm>
            <a:off x="2331720" y="5925312"/>
            <a:ext cx="9098280" cy="457200"/>
          </a:xfrm>
          <a:prstGeom prst="rect">
            <a:avLst/>
          </a:prstGeom>
          <a:noFill/>
        </p:spPr>
        <p:txBody>
          <a:bodyPr wrap="square" anchor="ctr">
            <a:spAutoFit/>
          </a:bodyPr>
          <a:lstStyle/>
          <a:p>
            <a:pPr algn="l">
              <a:spcAft>
                <a:spcPts val="400"/>
              </a:spcAft>
            </a:pPr>
            <a:r>
              <a:rPr sz="1150" b="0">
                <a:solidFill>
                  <a:srgbClr val="5B6372"/>
                </a:solidFill>
                <a:latin typeface="Arial"/>
              </a:rPr>
              <a:t>look_audit.py: each shot minus its location master. Limits: exposure 15, warmth 20, tint 12.</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fast">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A3 · LAB 07 VISUAL EVIDENCE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The Look Strip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755648"/>
            <a:ext cx="10689336" cy="3045809"/>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07-look-strip.png"/>
          <p:cNvPicPr>
            <a:picLocks noChangeAspect="1"/>
          </p:cNvPicPr>
          <p:nvPr/>
        </p:nvPicPr>
        <p:blipFill>
          <a:blip r:embed="rId2"/>
          <a:stretch>
            <a:fillRect/>
          </a:stretch>
        </p:blipFill>
        <p:spPr>
          <a:xfrm>
            <a:off x="777240" y="1783080"/>
            <a:ext cx="10634472" cy="2990945"/>
          </a:xfrm>
          <a:prstGeom prst="rect">
            <a:avLst/>
          </a:prstGeom>
        </p:spPr>
      </p:pic>
      <p:sp>
        <p:nvSpPr>
          <p:cNvPr id="9" name="TextBox 8"/>
          <p:cNvSpPr txBox="1"/>
          <p:nvPr/>
        </p:nvSpPr>
        <p:spPr>
          <a:xfrm>
            <a:off x="777240" y="4810601"/>
            <a:ext cx="10634472" cy="310896"/>
          </a:xfrm>
          <a:prstGeom prst="rect">
            <a:avLst/>
          </a:prstGeom>
          <a:noFill/>
        </p:spPr>
        <p:txBody>
          <a:bodyPr wrap="square" anchor="t">
            <a:spAutoFit/>
          </a:bodyPr>
          <a:lstStyle/>
          <a:p>
            <a:pPr algn="ctr">
              <a:spcAft>
                <a:spcPts val="400"/>
              </a:spcAft>
            </a:pPr>
            <a:r>
              <a:rPr sz="1050" b="0">
                <a:solidFill>
                  <a:srgbClr val="5B6372"/>
                </a:solidFill>
                <a:latin typeface="Arial"/>
              </a:rPr>
              <a:t>Shots 01–08 · green = on look, red = off look</a:t>
            </a:r>
          </a:p>
        </p:txBody>
      </p:sp>
      <p:sp>
        <p:nvSpPr>
          <p:cNvPr id="10" name="TextBox 9"/>
          <p:cNvSpPr txBox="1"/>
          <p:nvPr/>
        </p:nvSpPr>
        <p:spPr>
          <a:xfrm>
            <a:off x="777240" y="5806440"/>
            <a:ext cx="10634472" cy="548640"/>
          </a:xfrm>
          <a:prstGeom prst="rect">
            <a:avLst/>
          </a:prstGeom>
          <a:noFill/>
        </p:spPr>
        <p:txBody>
          <a:bodyPr wrap="square" anchor="ctr">
            <a:spAutoFit/>
          </a:bodyPr>
          <a:lstStyle/>
          <a:p>
            <a:pPr algn="ctr">
              <a:spcAft>
                <a:spcPts val="400"/>
              </a:spcAft>
            </a:pPr>
            <a:r>
              <a:rPr sz="1250" b="0">
                <a:solidFill>
                  <a:srgbClr val="5B6372"/>
                </a:solidFill>
                <a:latin typeface="Arial"/>
              </a:rPr>
              <a:t>Compare with one master for the whole film: every market shot would be flagged — a single master punishes legitimate differences between locations.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spd="fast">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SCENE DESIGN · WRITE IT INTO EVERY SHOT PROMPT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Shot Size and Camera Angle Vocabulary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6335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2582082" cy="633548"/>
          </a:xfrm>
          <a:prstGeom prst="rect">
            <a:avLst/>
          </a:prstGeom>
          <a:noFill/>
        </p:spPr>
        <p:txBody>
          <a:bodyPr wrap="square" anchor="ctr">
            <a:spAutoFit/>
          </a:bodyPr>
          <a:lstStyle/>
          <a:p>
            <a:pPr algn="l">
              <a:spcAft>
                <a:spcPts val="400"/>
              </a:spcAft>
            </a:pPr>
            <a:r>
              <a:rPr sz="1150" b="1">
                <a:solidFill>
                  <a:srgbClr val="FFFFFF"/>
                </a:solidFill>
                <a:latin typeface="Arial"/>
              </a:rPr>
              <a:t>Term</a:t>
            </a:r>
          </a:p>
        </p:txBody>
      </p:sp>
      <p:sp>
        <p:nvSpPr>
          <p:cNvPr id="9" name="Rectangle 8"/>
          <p:cNvSpPr/>
          <p:nvPr/>
        </p:nvSpPr>
        <p:spPr>
          <a:xfrm>
            <a:off x="3542202" y="1783080"/>
            <a:ext cx="4041099" cy="6335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1930" y="1783080"/>
            <a:ext cx="3858219" cy="633548"/>
          </a:xfrm>
          <a:prstGeom prst="rect">
            <a:avLst/>
          </a:prstGeom>
          <a:noFill/>
        </p:spPr>
        <p:txBody>
          <a:bodyPr wrap="square" anchor="ctr">
            <a:spAutoFit/>
          </a:bodyPr>
          <a:lstStyle/>
          <a:p>
            <a:pPr algn="l">
              <a:spcAft>
                <a:spcPts val="400"/>
              </a:spcAft>
            </a:pPr>
            <a:r>
              <a:rPr sz="1150" b="1">
                <a:solidFill>
                  <a:srgbClr val="FFFFFF"/>
                </a:solidFill>
                <a:latin typeface="Arial"/>
              </a:rPr>
              <a:t>Frames</a:t>
            </a:r>
          </a:p>
        </p:txBody>
      </p:sp>
      <p:sp>
        <p:nvSpPr>
          <p:cNvPr id="11" name="Rectangle 10"/>
          <p:cNvSpPr/>
          <p:nvPr/>
        </p:nvSpPr>
        <p:spPr>
          <a:xfrm>
            <a:off x="7583301" y="1783080"/>
            <a:ext cx="3828409" cy="6335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93029" y="1783080"/>
            <a:ext cx="3645529" cy="633548"/>
          </a:xfrm>
          <a:prstGeom prst="rect">
            <a:avLst/>
          </a:prstGeom>
          <a:noFill/>
        </p:spPr>
        <p:txBody>
          <a:bodyPr wrap="square" anchor="ctr">
            <a:spAutoFit/>
          </a:bodyPr>
          <a:lstStyle/>
          <a:p>
            <a:pPr algn="l">
              <a:spcAft>
                <a:spcPts val="400"/>
              </a:spcAft>
            </a:pPr>
            <a:r>
              <a:rPr sz="1150" b="1">
                <a:solidFill>
                  <a:srgbClr val="FFFFFF"/>
                </a:solidFill>
                <a:latin typeface="Arial"/>
              </a:rPr>
              <a:t>Use in The Last Ferry</a:t>
            </a:r>
          </a:p>
        </p:txBody>
      </p:sp>
      <p:sp>
        <p:nvSpPr>
          <p:cNvPr id="13" name="Rectangle 12"/>
          <p:cNvSpPr/>
          <p:nvPr/>
        </p:nvSpPr>
        <p:spPr>
          <a:xfrm>
            <a:off x="777240" y="2416628"/>
            <a:ext cx="2764962" cy="6335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 y="2416628"/>
            <a:ext cx="2582082" cy="633548"/>
          </a:xfrm>
          <a:prstGeom prst="rect">
            <a:avLst/>
          </a:prstGeom>
          <a:noFill/>
        </p:spPr>
        <p:txBody>
          <a:bodyPr wrap="square" anchor="ctr">
            <a:spAutoFit/>
          </a:bodyPr>
          <a:lstStyle/>
          <a:p>
            <a:pPr algn="l">
              <a:spcAft>
                <a:spcPts val="400"/>
              </a:spcAft>
            </a:pPr>
            <a:r>
              <a:rPr sz="1050" b="1">
                <a:solidFill>
                  <a:srgbClr val="161B26"/>
                </a:solidFill>
                <a:latin typeface="Arial"/>
              </a:rPr>
              <a:t>Wide / establishing</a:t>
            </a:r>
          </a:p>
        </p:txBody>
      </p:sp>
      <p:sp>
        <p:nvSpPr>
          <p:cNvPr id="15" name="Rectangle 14"/>
          <p:cNvSpPr/>
          <p:nvPr/>
        </p:nvSpPr>
        <p:spPr>
          <a:xfrm>
            <a:off x="3542202" y="2416628"/>
            <a:ext cx="4041099" cy="6335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1930" y="2416628"/>
            <a:ext cx="3858219" cy="633548"/>
          </a:xfrm>
          <a:prstGeom prst="rect">
            <a:avLst/>
          </a:prstGeom>
          <a:noFill/>
        </p:spPr>
        <p:txBody>
          <a:bodyPr wrap="square" anchor="ctr">
            <a:spAutoFit/>
          </a:bodyPr>
          <a:lstStyle/>
          <a:p>
            <a:pPr algn="l">
              <a:spcAft>
                <a:spcPts val="400"/>
              </a:spcAft>
            </a:pPr>
            <a:r>
              <a:rPr sz="1050" b="0">
                <a:solidFill>
                  <a:srgbClr val="161B26"/>
                </a:solidFill>
                <a:latin typeface="Arial"/>
              </a:rPr>
              <a:t>Whole location, figures small</a:t>
            </a:r>
          </a:p>
        </p:txBody>
      </p:sp>
      <p:sp>
        <p:nvSpPr>
          <p:cNvPr id="17" name="Rectangle 16"/>
          <p:cNvSpPr/>
          <p:nvPr/>
        </p:nvSpPr>
        <p:spPr>
          <a:xfrm>
            <a:off x="7583301" y="2416628"/>
            <a:ext cx="3828409" cy="6335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3029" y="2416628"/>
            <a:ext cx="3645529" cy="633548"/>
          </a:xfrm>
          <a:prstGeom prst="rect">
            <a:avLst/>
          </a:prstGeom>
          <a:noFill/>
        </p:spPr>
        <p:txBody>
          <a:bodyPr wrap="square" anchor="ctr">
            <a:spAutoFit/>
          </a:bodyPr>
          <a:lstStyle/>
          <a:p>
            <a:pPr algn="l">
              <a:spcAft>
                <a:spcPts val="400"/>
              </a:spcAft>
            </a:pPr>
            <a:r>
              <a:rPr sz="1050" b="0">
                <a:solidFill>
                  <a:srgbClr val="161B26"/>
                </a:solidFill>
                <a:latin typeface="Arial"/>
              </a:rPr>
              <a:t>S1 market, S4 pier</a:t>
            </a:r>
          </a:p>
        </p:txBody>
      </p:sp>
      <p:sp>
        <p:nvSpPr>
          <p:cNvPr id="19" name="Rectangle 18"/>
          <p:cNvSpPr/>
          <p:nvPr/>
        </p:nvSpPr>
        <p:spPr>
          <a:xfrm>
            <a:off x="777240" y="3050176"/>
            <a:ext cx="2764962" cy="6335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3050176"/>
            <a:ext cx="2582082" cy="633548"/>
          </a:xfrm>
          <a:prstGeom prst="rect">
            <a:avLst/>
          </a:prstGeom>
          <a:noFill/>
        </p:spPr>
        <p:txBody>
          <a:bodyPr wrap="square" anchor="ctr">
            <a:spAutoFit/>
          </a:bodyPr>
          <a:lstStyle/>
          <a:p>
            <a:pPr algn="l">
              <a:spcAft>
                <a:spcPts val="400"/>
              </a:spcAft>
            </a:pPr>
            <a:r>
              <a:rPr sz="1050" b="1">
                <a:solidFill>
                  <a:srgbClr val="161B26"/>
                </a:solidFill>
                <a:latin typeface="Arial"/>
              </a:rPr>
              <a:t>Medium</a:t>
            </a:r>
          </a:p>
        </p:txBody>
      </p:sp>
      <p:sp>
        <p:nvSpPr>
          <p:cNvPr id="21" name="Rectangle 20"/>
          <p:cNvSpPr/>
          <p:nvPr/>
        </p:nvSpPr>
        <p:spPr>
          <a:xfrm>
            <a:off x="3542202" y="3050176"/>
            <a:ext cx="4041099" cy="6335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1930" y="3050176"/>
            <a:ext cx="3858219" cy="633548"/>
          </a:xfrm>
          <a:prstGeom prst="rect">
            <a:avLst/>
          </a:prstGeom>
          <a:noFill/>
        </p:spPr>
        <p:txBody>
          <a:bodyPr wrap="square" anchor="ctr">
            <a:spAutoFit/>
          </a:bodyPr>
          <a:lstStyle/>
          <a:p>
            <a:pPr algn="l">
              <a:spcAft>
                <a:spcPts val="400"/>
              </a:spcAft>
            </a:pPr>
            <a:r>
              <a:rPr sz="1050" b="0">
                <a:solidFill>
                  <a:srgbClr val="161B26"/>
                </a:solidFill>
                <a:latin typeface="Arial"/>
              </a:rPr>
              <a:t>Waist up</a:t>
            </a:r>
          </a:p>
        </p:txBody>
      </p:sp>
      <p:sp>
        <p:nvSpPr>
          <p:cNvPr id="23" name="Rectangle 22"/>
          <p:cNvSpPr/>
          <p:nvPr/>
        </p:nvSpPr>
        <p:spPr>
          <a:xfrm>
            <a:off x="7583301" y="3050176"/>
            <a:ext cx="3828409" cy="6335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93029" y="3050176"/>
            <a:ext cx="3645529" cy="633548"/>
          </a:xfrm>
          <a:prstGeom prst="rect">
            <a:avLst/>
          </a:prstGeom>
          <a:noFill/>
        </p:spPr>
        <p:txBody>
          <a:bodyPr wrap="square" anchor="ctr">
            <a:spAutoFit/>
          </a:bodyPr>
          <a:lstStyle/>
          <a:p>
            <a:pPr algn="l">
              <a:spcAft>
                <a:spcPts val="400"/>
              </a:spcAft>
            </a:pPr>
            <a:r>
              <a:rPr sz="1050" b="0">
                <a:solidFill>
                  <a:srgbClr val="161B26"/>
                </a:solidFill>
                <a:latin typeface="Arial"/>
              </a:rPr>
              <a:t>S2 Mei running</a:t>
            </a:r>
          </a:p>
        </p:txBody>
      </p:sp>
      <p:sp>
        <p:nvSpPr>
          <p:cNvPr id="25" name="Rectangle 24"/>
          <p:cNvSpPr/>
          <p:nvPr/>
        </p:nvSpPr>
        <p:spPr>
          <a:xfrm>
            <a:off x="777240" y="3683724"/>
            <a:ext cx="2764962" cy="6335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6968" y="3683724"/>
            <a:ext cx="2582082" cy="633548"/>
          </a:xfrm>
          <a:prstGeom prst="rect">
            <a:avLst/>
          </a:prstGeom>
          <a:noFill/>
        </p:spPr>
        <p:txBody>
          <a:bodyPr wrap="square" anchor="ctr">
            <a:spAutoFit/>
          </a:bodyPr>
          <a:lstStyle/>
          <a:p>
            <a:pPr algn="l">
              <a:spcAft>
                <a:spcPts val="400"/>
              </a:spcAft>
            </a:pPr>
            <a:r>
              <a:rPr sz="1050" b="1">
                <a:solidFill>
                  <a:srgbClr val="161B26"/>
                </a:solidFill>
                <a:latin typeface="Arial"/>
              </a:rPr>
              <a:t>Close-up</a:t>
            </a:r>
          </a:p>
        </p:txBody>
      </p:sp>
      <p:sp>
        <p:nvSpPr>
          <p:cNvPr id="27" name="Rectangle 26"/>
          <p:cNvSpPr/>
          <p:nvPr/>
        </p:nvSpPr>
        <p:spPr>
          <a:xfrm>
            <a:off x="3542202" y="3683724"/>
            <a:ext cx="4041099" cy="6335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1930" y="3683724"/>
            <a:ext cx="3858219" cy="633548"/>
          </a:xfrm>
          <a:prstGeom prst="rect">
            <a:avLst/>
          </a:prstGeom>
          <a:noFill/>
        </p:spPr>
        <p:txBody>
          <a:bodyPr wrap="square" anchor="ctr">
            <a:spAutoFit/>
          </a:bodyPr>
          <a:lstStyle/>
          <a:p>
            <a:pPr algn="l">
              <a:spcAft>
                <a:spcPts val="400"/>
              </a:spcAft>
            </a:pPr>
            <a:r>
              <a:rPr sz="1050" b="0">
                <a:solidFill>
                  <a:srgbClr val="161B26"/>
                </a:solidFill>
                <a:latin typeface="Arial"/>
              </a:rPr>
              <a:t>Face or object fills the frame</a:t>
            </a:r>
          </a:p>
        </p:txBody>
      </p:sp>
      <p:sp>
        <p:nvSpPr>
          <p:cNvPr id="29" name="Rectangle 28"/>
          <p:cNvSpPr/>
          <p:nvPr/>
        </p:nvSpPr>
        <p:spPr>
          <a:xfrm>
            <a:off x="7583301" y="3683724"/>
            <a:ext cx="3828409" cy="6335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93029" y="3683724"/>
            <a:ext cx="3645529" cy="633548"/>
          </a:xfrm>
          <a:prstGeom prst="rect">
            <a:avLst/>
          </a:prstGeom>
          <a:noFill/>
        </p:spPr>
        <p:txBody>
          <a:bodyPr wrap="square" anchor="ctr">
            <a:spAutoFit/>
          </a:bodyPr>
          <a:lstStyle/>
          <a:p>
            <a:pPr algn="l">
              <a:spcAft>
                <a:spcPts val="400"/>
              </a:spcAft>
            </a:pPr>
            <a:r>
              <a:rPr sz="1050" b="0">
                <a:solidFill>
                  <a:srgbClr val="161B26"/>
                </a:solidFill>
                <a:latin typeface="Arial"/>
              </a:rPr>
              <a:t>S3 the red box</a:t>
            </a:r>
          </a:p>
        </p:txBody>
      </p:sp>
      <p:sp>
        <p:nvSpPr>
          <p:cNvPr id="31" name="Rectangle 30"/>
          <p:cNvSpPr/>
          <p:nvPr/>
        </p:nvSpPr>
        <p:spPr>
          <a:xfrm>
            <a:off x="777240" y="4317272"/>
            <a:ext cx="2764962" cy="6335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4317272"/>
            <a:ext cx="2582082" cy="633548"/>
          </a:xfrm>
          <a:prstGeom prst="rect">
            <a:avLst/>
          </a:prstGeom>
          <a:noFill/>
        </p:spPr>
        <p:txBody>
          <a:bodyPr wrap="square" anchor="ctr">
            <a:spAutoFit/>
          </a:bodyPr>
          <a:lstStyle/>
          <a:p>
            <a:pPr algn="l">
              <a:spcAft>
                <a:spcPts val="400"/>
              </a:spcAft>
            </a:pPr>
            <a:r>
              <a:rPr sz="1050" b="1">
                <a:solidFill>
                  <a:srgbClr val="161B26"/>
                </a:solidFill>
                <a:latin typeface="Arial"/>
              </a:rPr>
              <a:t>Two-shot / over-the-shoulder</a:t>
            </a:r>
          </a:p>
        </p:txBody>
      </p:sp>
      <p:sp>
        <p:nvSpPr>
          <p:cNvPr id="33" name="Rectangle 32"/>
          <p:cNvSpPr/>
          <p:nvPr/>
        </p:nvSpPr>
        <p:spPr>
          <a:xfrm>
            <a:off x="3542202" y="4317272"/>
            <a:ext cx="4041099" cy="6335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51930" y="4317272"/>
            <a:ext cx="3858219" cy="633548"/>
          </a:xfrm>
          <a:prstGeom prst="rect">
            <a:avLst/>
          </a:prstGeom>
          <a:noFill/>
        </p:spPr>
        <p:txBody>
          <a:bodyPr wrap="square" anchor="ctr">
            <a:spAutoFit/>
          </a:bodyPr>
          <a:lstStyle/>
          <a:p>
            <a:pPr algn="l">
              <a:spcAft>
                <a:spcPts val="400"/>
              </a:spcAft>
            </a:pPr>
            <a:r>
              <a:rPr sz="1050" b="0">
                <a:solidFill>
                  <a:srgbClr val="161B26"/>
                </a:solidFill>
                <a:latin typeface="Arial"/>
              </a:rPr>
              <a:t>Two characters, one favoured</a:t>
            </a:r>
          </a:p>
        </p:txBody>
      </p:sp>
      <p:sp>
        <p:nvSpPr>
          <p:cNvPr id="35" name="Rectangle 34"/>
          <p:cNvSpPr/>
          <p:nvPr/>
        </p:nvSpPr>
        <p:spPr>
          <a:xfrm>
            <a:off x="7583301" y="4317272"/>
            <a:ext cx="3828409" cy="6335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93029" y="4317272"/>
            <a:ext cx="3645529" cy="633548"/>
          </a:xfrm>
          <a:prstGeom prst="rect">
            <a:avLst/>
          </a:prstGeom>
          <a:noFill/>
        </p:spPr>
        <p:txBody>
          <a:bodyPr wrap="square" anchor="ctr">
            <a:spAutoFit/>
          </a:bodyPr>
          <a:lstStyle/>
          <a:p>
            <a:pPr algn="l">
              <a:spcAft>
                <a:spcPts val="400"/>
              </a:spcAft>
            </a:pPr>
            <a:r>
              <a:rPr sz="1050" b="0">
                <a:solidFill>
                  <a:srgbClr val="161B26"/>
                </a:solidFill>
                <a:latin typeface="Arial"/>
              </a:rPr>
              <a:t>S5 the hand-over</a:t>
            </a:r>
          </a:p>
        </p:txBody>
      </p:sp>
      <p:sp>
        <p:nvSpPr>
          <p:cNvPr id="37" name="Rectangle 36"/>
          <p:cNvSpPr/>
          <p:nvPr/>
        </p:nvSpPr>
        <p:spPr>
          <a:xfrm>
            <a:off x="777240" y="4950820"/>
            <a:ext cx="2764962" cy="6335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86968" y="4950820"/>
            <a:ext cx="2582082" cy="633548"/>
          </a:xfrm>
          <a:prstGeom prst="rect">
            <a:avLst/>
          </a:prstGeom>
          <a:noFill/>
        </p:spPr>
        <p:txBody>
          <a:bodyPr wrap="square" anchor="ctr">
            <a:spAutoFit/>
          </a:bodyPr>
          <a:lstStyle/>
          <a:p>
            <a:pPr algn="l">
              <a:spcAft>
                <a:spcPts val="400"/>
              </a:spcAft>
            </a:pPr>
            <a:r>
              <a:rPr sz="1050" b="1">
                <a:solidFill>
                  <a:srgbClr val="161B26"/>
                </a:solidFill>
                <a:latin typeface="Arial"/>
              </a:rPr>
              <a:t>Low angle</a:t>
            </a:r>
          </a:p>
        </p:txBody>
      </p:sp>
      <p:sp>
        <p:nvSpPr>
          <p:cNvPr id="39" name="Rectangle 38"/>
          <p:cNvSpPr/>
          <p:nvPr/>
        </p:nvSpPr>
        <p:spPr>
          <a:xfrm>
            <a:off x="3542202" y="4950820"/>
            <a:ext cx="4041099" cy="6335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1930" y="4950820"/>
            <a:ext cx="3858219" cy="633548"/>
          </a:xfrm>
          <a:prstGeom prst="rect">
            <a:avLst/>
          </a:prstGeom>
          <a:noFill/>
        </p:spPr>
        <p:txBody>
          <a:bodyPr wrap="square" anchor="ctr">
            <a:spAutoFit/>
          </a:bodyPr>
          <a:lstStyle/>
          <a:p>
            <a:pPr algn="l">
              <a:spcAft>
                <a:spcPts val="400"/>
              </a:spcAft>
            </a:pPr>
            <a:r>
              <a:rPr sz="1050" b="0">
                <a:solidFill>
                  <a:srgbClr val="161B26"/>
                </a:solidFill>
                <a:latin typeface="Arial"/>
              </a:rPr>
              <a:t>Camera below eye line: stature, emotion</a:t>
            </a:r>
          </a:p>
        </p:txBody>
      </p:sp>
      <p:sp>
        <p:nvSpPr>
          <p:cNvPr id="41" name="Rectangle 40"/>
          <p:cNvSpPr/>
          <p:nvPr/>
        </p:nvSpPr>
        <p:spPr>
          <a:xfrm>
            <a:off x="7583301" y="4950820"/>
            <a:ext cx="3828409" cy="6335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93029" y="4950820"/>
            <a:ext cx="3645529" cy="633548"/>
          </a:xfrm>
          <a:prstGeom prst="rect">
            <a:avLst/>
          </a:prstGeom>
          <a:noFill/>
        </p:spPr>
        <p:txBody>
          <a:bodyPr wrap="square" anchor="ctr">
            <a:spAutoFit/>
          </a:bodyPr>
          <a:lstStyle/>
          <a:p>
            <a:pPr algn="l">
              <a:spcAft>
                <a:spcPts val="400"/>
              </a:spcAft>
            </a:pPr>
            <a:r>
              <a:rPr sz="1050" b="0">
                <a:solidFill>
                  <a:srgbClr val="161B26"/>
                </a:solidFill>
                <a:latin typeface="Arial"/>
              </a:rPr>
              <a:t>S6 Mei reads the tag</a:t>
            </a:r>
          </a:p>
        </p:txBody>
      </p:sp>
      <p:sp>
        <p:nvSpPr>
          <p:cNvPr id="43" name="Rectangle 42"/>
          <p:cNvSpPr/>
          <p:nvPr/>
        </p:nvSpPr>
        <p:spPr>
          <a:xfrm>
            <a:off x="777240" y="5584368"/>
            <a:ext cx="2764962" cy="6335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86968" y="5584368"/>
            <a:ext cx="2582082" cy="633548"/>
          </a:xfrm>
          <a:prstGeom prst="rect">
            <a:avLst/>
          </a:prstGeom>
          <a:noFill/>
        </p:spPr>
        <p:txBody>
          <a:bodyPr wrap="square" anchor="ctr">
            <a:spAutoFit/>
          </a:bodyPr>
          <a:lstStyle/>
          <a:p>
            <a:pPr algn="l">
              <a:spcAft>
                <a:spcPts val="400"/>
              </a:spcAft>
            </a:pPr>
            <a:r>
              <a:rPr sz="1050" b="1">
                <a:solidFill>
                  <a:srgbClr val="161B26"/>
                </a:solidFill>
                <a:latin typeface="Arial"/>
              </a:rPr>
              <a:t>High angle</a:t>
            </a:r>
          </a:p>
        </p:txBody>
      </p:sp>
      <p:sp>
        <p:nvSpPr>
          <p:cNvPr id="45" name="Rectangle 44"/>
          <p:cNvSpPr/>
          <p:nvPr/>
        </p:nvSpPr>
        <p:spPr>
          <a:xfrm>
            <a:off x="3542202" y="5584368"/>
            <a:ext cx="4041099" cy="6335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51930" y="5584368"/>
            <a:ext cx="3858219" cy="633548"/>
          </a:xfrm>
          <a:prstGeom prst="rect">
            <a:avLst/>
          </a:prstGeom>
          <a:noFill/>
        </p:spPr>
        <p:txBody>
          <a:bodyPr wrap="square" anchor="ctr">
            <a:spAutoFit/>
          </a:bodyPr>
          <a:lstStyle/>
          <a:p>
            <a:pPr algn="l">
              <a:spcAft>
                <a:spcPts val="400"/>
              </a:spcAft>
            </a:pPr>
            <a:r>
              <a:rPr sz="1050" b="0">
                <a:solidFill>
                  <a:srgbClr val="161B26"/>
                </a:solidFill>
                <a:latin typeface="Arial"/>
              </a:rPr>
              <a:t>Camera above: vulnerability, detail</a:t>
            </a:r>
          </a:p>
        </p:txBody>
      </p:sp>
      <p:sp>
        <p:nvSpPr>
          <p:cNvPr id="47" name="Rectangle 46"/>
          <p:cNvSpPr/>
          <p:nvPr/>
        </p:nvSpPr>
        <p:spPr>
          <a:xfrm>
            <a:off x="7583301" y="5584368"/>
            <a:ext cx="3828409" cy="6335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93029" y="5584368"/>
            <a:ext cx="3645529" cy="633548"/>
          </a:xfrm>
          <a:prstGeom prst="rect">
            <a:avLst/>
          </a:prstGeom>
          <a:noFill/>
        </p:spPr>
        <p:txBody>
          <a:bodyPr wrap="square" anchor="ctr">
            <a:spAutoFit/>
          </a:bodyPr>
          <a:lstStyle/>
          <a:p>
            <a:pPr algn="l">
              <a:spcAft>
                <a:spcPts val="400"/>
              </a:spcAft>
            </a:pPr>
            <a:r>
              <a:rPr sz="1050" b="0">
                <a:solidFill>
                  <a:srgbClr val="161B26"/>
                </a:solidFill>
                <a:latin typeface="Arial"/>
              </a:rPr>
              <a:t>S3 box in her hands</a:t>
            </a:r>
          </a:p>
        </p:txBody>
      </p:sp>
      <p:sp>
        <p:nvSpPr>
          <p:cNvPr id="49" name="TextBox 4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50" name="TextBox 4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1" name="TextBox 5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fast">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0B981"/>
                </a:solidFill>
                <a:latin typeface="Arial"/>
              </a:rPr>
              <a:t>SCENE DESIGN · CINEMATIC LANGUAGE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Movement, Light and Composition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823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CAMERA MOVEMENT</a:t>
            </a:r>
          </a:p>
          <a:p>
            <a:pPr algn="l">
              <a:spcAft>
                <a:spcPts val="200"/>
              </a:spcAft>
            </a:pPr>
            <a:r>
              <a:rPr sz="1000" b="0">
                <a:solidFill>
                  <a:srgbClr val="5B6372"/>
                </a:solidFill>
                <a:latin typeface="Arial"/>
              </a:rPr>
              <a:t>Locked-off, pan, tilt, push-in, tracking, crane, handheld — one move per shot.</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8236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SPEED</a:t>
            </a:r>
          </a:p>
          <a:p>
            <a:pPr algn="l">
              <a:spcAft>
                <a:spcPts val="200"/>
              </a:spcAft>
            </a:pPr>
            <a:r>
              <a:rPr sz="1000" b="0">
                <a:solidFill>
                  <a:srgbClr val="5B6372"/>
                </a:solidFill>
                <a:latin typeface="Arial"/>
              </a:rPr>
              <a:t>Real-time or slow motion (speed ramp) for a single beat.</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04616"/>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KEY, FILL, RIM</a:t>
            </a:r>
          </a:p>
          <a:p>
            <a:pPr algn="l">
              <a:spcAft>
                <a:spcPts val="200"/>
              </a:spcAft>
            </a:pPr>
            <a:r>
              <a:rPr sz="1000" b="0">
                <a:solidFill>
                  <a:srgbClr val="5B6372"/>
                </a:solidFill>
                <a:latin typeface="Arial"/>
              </a:rPr>
              <a:t>Key sets the mood, fill controls contrast, rim separates the subject.</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04616"/>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PRACTICALS</a:t>
            </a:r>
          </a:p>
          <a:p>
            <a:pPr algn="l">
              <a:spcAft>
                <a:spcPts val="200"/>
              </a:spcAft>
            </a:pPr>
            <a:r>
              <a:rPr sz="1000" b="0">
                <a:solidFill>
                  <a:srgbClr val="5B6372"/>
                </a:solidFill>
                <a:latin typeface="Arial"/>
              </a:rPr>
              <a:t>Visible light sources — lanterns, the sodium lamp — motivate the grade.</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256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34712"/>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RULE OF THIRDS</a:t>
            </a:r>
          </a:p>
          <a:p>
            <a:pPr algn="l">
              <a:spcAft>
                <a:spcPts val="200"/>
              </a:spcAft>
            </a:pPr>
            <a:r>
              <a:rPr sz="1000" b="0">
                <a:solidFill>
                  <a:srgbClr val="5B6372"/>
                </a:solidFill>
                <a:latin typeface="Arial"/>
              </a:rPr>
              <a:t>Eyes and the prop on third lines; keep the centre third for 9:16.</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256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34712"/>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180-DEGREE RULE</a:t>
            </a:r>
          </a:p>
          <a:p>
            <a:pPr algn="l">
              <a:spcAft>
                <a:spcPts val="200"/>
              </a:spcAft>
            </a:pPr>
            <a:r>
              <a:rPr sz="1000" b="0">
                <a:solidFill>
                  <a:srgbClr val="5B6372"/>
                </a:solidFill>
                <a:latin typeface="Arial"/>
              </a:rPr>
              <a:t>Keep the camera on one side of the action so directions read.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fast">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K5 · LOCATION AND PROP REFERENCES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Locations Need Angles and Story States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755648"/>
            <a:ext cx="3465576" cy="1973389"/>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market-wide.png"/>
          <p:cNvPicPr>
            <a:picLocks noChangeAspect="1"/>
          </p:cNvPicPr>
          <p:nvPr/>
        </p:nvPicPr>
        <p:blipFill>
          <a:blip r:embed="rId2"/>
          <a:stretch>
            <a:fillRect/>
          </a:stretch>
        </p:blipFill>
        <p:spPr>
          <a:xfrm>
            <a:off x="777240" y="1783080"/>
            <a:ext cx="3410712" cy="1918525"/>
          </a:xfrm>
          <a:prstGeom prst="rect">
            <a:avLst/>
          </a:prstGeom>
        </p:spPr>
      </p:pic>
      <p:sp>
        <p:nvSpPr>
          <p:cNvPr id="9" name="TextBox 8"/>
          <p:cNvSpPr txBox="1"/>
          <p:nvPr/>
        </p:nvSpPr>
        <p:spPr>
          <a:xfrm>
            <a:off x="777240" y="3738181"/>
            <a:ext cx="3410712" cy="310896"/>
          </a:xfrm>
          <a:prstGeom prst="rect">
            <a:avLst/>
          </a:prstGeom>
          <a:noFill/>
        </p:spPr>
        <p:txBody>
          <a:bodyPr wrap="square" anchor="t">
            <a:spAutoFit/>
          </a:bodyPr>
          <a:lstStyle/>
          <a:p>
            <a:pPr algn="ctr">
              <a:spcAft>
                <a:spcPts val="400"/>
              </a:spcAft>
            </a:pPr>
            <a:r>
              <a:rPr sz="1050" b="0">
                <a:solidFill>
                  <a:srgbClr val="5B6372"/>
                </a:solidFill>
                <a:latin typeface="Arial"/>
              </a:rPr>
              <a:t>NIGHT MARKET plate</a:t>
            </a:r>
          </a:p>
        </p:txBody>
      </p:sp>
      <p:sp>
        <p:nvSpPr>
          <p:cNvPr id="10" name="Rectangle 9"/>
          <p:cNvSpPr/>
          <p:nvPr/>
        </p:nvSpPr>
        <p:spPr>
          <a:xfrm>
            <a:off x="4361688" y="1755648"/>
            <a:ext cx="3465576" cy="1973389"/>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pier-docked.png"/>
          <p:cNvPicPr>
            <a:picLocks noChangeAspect="1"/>
          </p:cNvPicPr>
          <p:nvPr/>
        </p:nvPicPr>
        <p:blipFill>
          <a:blip r:embed="rId3"/>
          <a:stretch>
            <a:fillRect/>
          </a:stretch>
        </p:blipFill>
        <p:spPr>
          <a:xfrm>
            <a:off x="4389120" y="1783080"/>
            <a:ext cx="3410712" cy="1918525"/>
          </a:xfrm>
          <a:prstGeom prst="rect">
            <a:avLst/>
          </a:prstGeom>
        </p:spPr>
      </p:pic>
      <p:sp>
        <p:nvSpPr>
          <p:cNvPr id="12" name="TextBox 11"/>
          <p:cNvSpPr txBox="1"/>
          <p:nvPr/>
        </p:nvSpPr>
        <p:spPr>
          <a:xfrm>
            <a:off x="4389120" y="3738181"/>
            <a:ext cx="3410712" cy="310896"/>
          </a:xfrm>
          <a:prstGeom prst="rect">
            <a:avLst/>
          </a:prstGeom>
          <a:noFill/>
        </p:spPr>
        <p:txBody>
          <a:bodyPr wrap="square" anchor="t">
            <a:spAutoFit/>
          </a:bodyPr>
          <a:lstStyle/>
          <a:p>
            <a:pPr algn="ctr">
              <a:spcAft>
                <a:spcPts val="400"/>
              </a:spcAft>
            </a:pPr>
            <a:r>
              <a:rPr sz="1050" b="0">
                <a:solidFill>
                  <a:srgbClr val="5B6372"/>
                </a:solidFill>
                <a:latin typeface="Arial"/>
              </a:rPr>
              <a:t>HARBOUR PIER — state A: ferry docked</a:t>
            </a:r>
          </a:p>
        </p:txBody>
      </p:sp>
      <p:sp>
        <p:nvSpPr>
          <p:cNvPr id="13" name="Rectangle 12"/>
          <p:cNvSpPr/>
          <p:nvPr/>
        </p:nvSpPr>
        <p:spPr>
          <a:xfrm>
            <a:off x="7973568" y="1755648"/>
            <a:ext cx="3465576" cy="1973389"/>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pier-leaving.png"/>
          <p:cNvPicPr>
            <a:picLocks noChangeAspect="1"/>
          </p:cNvPicPr>
          <p:nvPr/>
        </p:nvPicPr>
        <p:blipFill>
          <a:blip r:embed="rId4"/>
          <a:stretch>
            <a:fillRect/>
          </a:stretch>
        </p:blipFill>
        <p:spPr>
          <a:xfrm>
            <a:off x="8001000" y="1783080"/>
            <a:ext cx="3410712" cy="1918525"/>
          </a:xfrm>
          <a:prstGeom prst="rect">
            <a:avLst/>
          </a:prstGeom>
        </p:spPr>
      </p:pic>
      <p:sp>
        <p:nvSpPr>
          <p:cNvPr id="15" name="TextBox 14"/>
          <p:cNvSpPr txBox="1"/>
          <p:nvPr/>
        </p:nvSpPr>
        <p:spPr>
          <a:xfrm>
            <a:off x="8001000" y="3738181"/>
            <a:ext cx="3410712" cy="310896"/>
          </a:xfrm>
          <a:prstGeom prst="rect">
            <a:avLst/>
          </a:prstGeom>
          <a:noFill/>
        </p:spPr>
        <p:txBody>
          <a:bodyPr wrap="square" anchor="t">
            <a:spAutoFit/>
          </a:bodyPr>
          <a:lstStyle/>
          <a:p>
            <a:pPr algn="ctr">
              <a:spcAft>
                <a:spcPts val="400"/>
              </a:spcAft>
            </a:pPr>
            <a:r>
              <a:rPr sz="1050" b="0">
                <a:solidFill>
                  <a:srgbClr val="5B6372"/>
                </a:solidFill>
                <a:latin typeface="Arial"/>
              </a:rPr>
              <a:t>HARBOUR PIER — state B: ferry leaving</a:t>
            </a:r>
          </a:p>
        </p:txBody>
      </p:sp>
      <p:sp>
        <p:nvSpPr>
          <p:cNvPr id="16" name="TextBox 15"/>
          <p:cNvSpPr txBox="1"/>
          <p:nvPr/>
        </p:nvSpPr>
        <p:spPr>
          <a:xfrm>
            <a:off x="777240" y="5806440"/>
            <a:ext cx="10634472" cy="548640"/>
          </a:xfrm>
          <a:prstGeom prst="rect">
            <a:avLst/>
          </a:prstGeom>
          <a:noFill/>
        </p:spPr>
        <p:txBody>
          <a:bodyPr wrap="square" anchor="ctr">
            <a:spAutoFit/>
          </a:bodyPr>
          <a:lstStyle/>
          <a:p>
            <a:pPr algn="ctr">
              <a:spcAft>
                <a:spcPts val="400"/>
              </a:spcAft>
            </a:pPr>
            <a:r>
              <a:rPr sz="1250" b="0">
                <a:solidFill>
                  <a:srgbClr val="5B6372"/>
                </a:solidFill>
                <a:latin typeface="Arial"/>
              </a:rPr>
              <a:t>Generate state B by EDITING state A ('change nothing else') and verify it (Lab 04) — otherwise the model invents a different pier.</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fast">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0B981"/>
                </a:solidFill>
                <a:latin typeface="Arial"/>
              </a:rPr>
              <a:t>TOPIC 03 · ELO3 · A4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Lab 06 — Character Reference Sheets and Consistency Features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56231"/>
            <a:ext cx="3401568" cy="361188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56231"/>
            <a:ext cx="3401568"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130552"/>
            <a:ext cx="2999232" cy="457200"/>
          </a:xfrm>
          <a:prstGeom prst="rect">
            <a:avLst/>
          </a:prstGeom>
          <a:noFill/>
        </p:spPr>
        <p:txBody>
          <a:bodyPr wrap="square" anchor="t">
            <a:spAutoFit/>
          </a:bodyPr>
          <a:lstStyle/>
          <a:p>
            <a:pPr algn="l">
              <a:spcAft>
                <a:spcPts val="400"/>
              </a:spcAft>
            </a:pPr>
            <a:r>
              <a:rPr sz="1500" b="1">
                <a:solidFill>
                  <a:srgbClr val="10B981"/>
                </a:solidFill>
                <a:latin typeface="Arial"/>
              </a:rPr>
              <a:t>INPUTS</a:t>
            </a:r>
          </a:p>
        </p:txBody>
      </p:sp>
      <p:sp>
        <p:nvSpPr>
          <p:cNvPr id="10" name="TextBox 9"/>
          <p:cNvSpPr txBox="1"/>
          <p:nvPr/>
        </p:nvSpPr>
        <p:spPr>
          <a:xfrm>
            <a:off x="978408" y="2743200"/>
            <a:ext cx="2999232" cy="2468880"/>
          </a:xfrm>
          <a:prstGeom prst="rect">
            <a:avLst/>
          </a:prstGeom>
          <a:noFill/>
        </p:spPr>
        <p:txBody>
          <a:bodyPr wrap="square" anchor="t">
            <a:spAutoFit/>
          </a:bodyPr>
          <a:lstStyle/>
          <a:p>
            <a:pPr algn="l">
              <a:spcAft>
                <a:spcPts val="400"/>
              </a:spcAft>
            </a:pPr>
            <a:r>
              <a:rPr sz="1400" b="0">
                <a:solidFill>
                  <a:srgbClr val="161B26"/>
                </a:solidFill>
                <a:latin typeface="Arial"/>
              </a:rPr>
              <a:t>MEI reference sheet: front, side, back, close-up and the RED BOX (SIMULATED)</a:t>
            </a:r>
          </a:p>
        </p:txBody>
      </p:sp>
      <p:sp>
        <p:nvSpPr>
          <p:cNvPr id="11" name="Rounded Rectangle 10"/>
          <p:cNvSpPr/>
          <p:nvPr/>
        </p:nvSpPr>
        <p:spPr>
          <a:xfrm>
            <a:off x="4379976" y="1856231"/>
            <a:ext cx="3401568" cy="361188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9976" y="1856231"/>
            <a:ext cx="3401568"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81144" y="2130552"/>
            <a:ext cx="2999232" cy="457200"/>
          </a:xfrm>
          <a:prstGeom prst="rect">
            <a:avLst/>
          </a:prstGeom>
          <a:noFill/>
        </p:spPr>
        <p:txBody>
          <a:bodyPr wrap="square" anchor="t">
            <a:spAutoFit/>
          </a:bodyPr>
          <a:lstStyle/>
          <a:p>
            <a:pPr algn="l">
              <a:spcAft>
                <a:spcPts val="400"/>
              </a:spcAft>
            </a:pPr>
            <a:r>
              <a:rPr sz="1500" b="1">
                <a:solidFill>
                  <a:srgbClr val="10B981"/>
                </a:solidFill>
                <a:latin typeface="Arial"/>
              </a:rPr>
              <a:t>TECHNICAL QUESTION</a:t>
            </a:r>
          </a:p>
        </p:txBody>
      </p:sp>
      <p:sp>
        <p:nvSpPr>
          <p:cNvPr id="14" name="TextBox 13"/>
          <p:cNvSpPr txBox="1"/>
          <p:nvPr/>
        </p:nvSpPr>
        <p:spPr>
          <a:xfrm>
            <a:off x="4581144" y="2743200"/>
            <a:ext cx="2999232" cy="2468880"/>
          </a:xfrm>
          <a:prstGeom prst="rect">
            <a:avLst/>
          </a:prstGeom>
          <a:noFill/>
        </p:spPr>
        <p:txBody>
          <a:bodyPr wrap="square" anchor="t">
            <a:spAutoFit/>
          </a:bodyPr>
          <a:lstStyle/>
          <a:p>
            <a:pPr algn="l">
              <a:spcAft>
                <a:spcPts val="400"/>
              </a:spcAft>
            </a:pPr>
            <a:r>
              <a:rPr sz="1400" b="0">
                <a:solidFill>
                  <a:srgbClr val="161B26"/>
                </a:solidFill>
                <a:latin typeface="Arial"/>
              </a:rPr>
              <a:t>Which local features catch a changed scarf, a drifted coat and a missing clasp — and which miss them?</a:t>
            </a:r>
          </a:p>
        </p:txBody>
      </p:sp>
      <p:sp>
        <p:nvSpPr>
          <p:cNvPr id="15" name="Rounded Rectangle 14"/>
          <p:cNvSpPr/>
          <p:nvPr/>
        </p:nvSpPr>
        <p:spPr>
          <a:xfrm>
            <a:off x="7982712" y="1856231"/>
            <a:ext cx="3401568" cy="361188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82712" y="1856231"/>
            <a:ext cx="3401568"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83880" y="2130552"/>
            <a:ext cx="2999232" cy="457200"/>
          </a:xfrm>
          <a:prstGeom prst="rect">
            <a:avLst/>
          </a:prstGeom>
          <a:noFill/>
        </p:spPr>
        <p:txBody>
          <a:bodyPr wrap="square" anchor="t">
            <a:spAutoFit/>
          </a:bodyPr>
          <a:lstStyle/>
          <a:p>
            <a:pPr algn="l">
              <a:spcAft>
                <a:spcPts val="400"/>
              </a:spcAft>
            </a:pPr>
            <a:r>
              <a:rPr sz="1500" b="1">
                <a:solidFill>
                  <a:srgbClr val="10B981"/>
                </a:solidFill>
                <a:latin typeface="Arial"/>
              </a:rPr>
              <a:t>EVIDENCE TO PRODUCE</a:t>
            </a:r>
          </a:p>
        </p:txBody>
      </p:sp>
      <p:sp>
        <p:nvSpPr>
          <p:cNvPr id="18" name="TextBox 17"/>
          <p:cNvSpPr txBox="1"/>
          <p:nvPr/>
        </p:nvSpPr>
        <p:spPr>
          <a:xfrm>
            <a:off x="8183880" y="2743200"/>
            <a:ext cx="2999232" cy="2468880"/>
          </a:xfrm>
          <a:prstGeom prst="rect">
            <a:avLst/>
          </a:prstGeom>
          <a:noFill/>
        </p:spPr>
        <p:txBody>
          <a:bodyPr wrap="square" anchor="t">
            <a:spAutoFit/>
          </a:bodyPr>
          <a:lstStyle/>
          <a:p>
            <a:pPr algn="l">
              <a:spcAft>
                <a:spcPts val="400"/>
              </a:spcAft>
            </a:pPr>
            <a:r>
              <a:rPr sz="1400" b="0">
                <a:solidFill>
                  <a:srgbClr val="161B26"/>
                </a:solidFill>
                <a:latin typeface="Arial"/>
              </a:rPr>
              <a:t>A feature-extraction design (which feature detects which failure), an identity report for six shots with pass/drift verdicts and reasons, and an identity strip comparing each shot crop with the reference sheet.</a:t>
            </a:r>
          </a:p>
        </p:txBody>
      </p:sp>
      <p:sp>
        <p:nvSpPr>
          <p:cNvPr id="19" name="TextBox 18"/>
          <p:cNvSpPr txBox="1"/>
          <p:nvPr/>
        </p:nvSpPr>
        <p:spPr>
          <a:xfrm>
            <a:off x="777240" y="5623560"/>
            <a:ext cx="10607040" cy="685800"/>
          </a:xfrm>
          <a:prstGeom prst="rect">
            <a:avLst/>
          </a:prstGeom>
          <a:noFill/>
        </p:spPr>
        <p:txBody>
          <a:bodyPr wrap="square" anchor="t">
            <a:spAutoFit/>
          </a:bodyPr>
          <a:lstStyle/>
          <a:p>
            <a:pPr algn="l">
              <a:spcAft>
                <a:spcPts val="400"/>
              </a:spcAft>
            </a:pPr>
            <a:r>
              <a:rPr sz="1150" b="0">
                <a:solidFill>
                  <a:srgbClr val="5B6372"/>
                </a:solidFill>
                <a:latin typeface="Arial"/>
              </a:rPr>
              <a:t>LAB 06  ·  30 MIN · Python 3 · opencv-python · NumPy · optional: an image model with character references</a:t>
            </a:r>
          </a:p>
          <a:p>
            <a:pPr algn="l">
              <a:spcAft>
                <a:spcPts val="400"/>
              </a:spcAft>
            </a:pPr>
            <a:r>
              <a:rPr sz="1150" b="0">
                <a:solidFill>
                  <a:srgbClr val="5B6372"/>
                </a:solidFill>
                <a:latin typeface="Arial"/>
              </a:rPr>
              <a:t>Detailed procedures and prompts: Learner Guide / labs/lab-06-character-consistency-features/README.md</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ransition spd="fast">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0B981"/>
                </a:solidFill>
                <a:latin typeface="Arial"/>
              </a:rPr>
              <a:t>TOPIC 03 · ELO3 · A3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Lab 07 — Look Bible and Scene Continuity with Global Descriptors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56231"/>
            <a:ext cx="3401568" cy="361188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56231"/>
            <a:ext cx="3401568"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130552"/>
            <a:ext cx="2999232" cy="457200"/>
          </a:xfrm>
          <a:prstGeom prst="rect">
            <a:avLst/>
          </a:prstGeom>
          <a:noFill/>
        </p:spPr>
        <p:txBody>
          <a:bodyPr wrap="square" anchor="t">
            <a:spAutoFit/>
          </a:bodyPr>
          <a:lstStyle/>
          <a:p>
            <a:pPr algn="l">
              <a:spcAft>
                <a:spcPts val="400"/>
              </a:spcAft>
            </a:pPr>
            <a:r>
              <a:rPr sz="1500" b="1">
                <a:solidFill>
                  <a:srgbClr val="10B981"/>
                </a:solidFill>
                <a:latin typeface="Arial"/>
              </a:rPr>
              <a:t>INPUTS</a:t>
            </a:r>
          </a:p>
        </p:txBody>
      </p:sp>
      <p:sp>
        <p:nvSpPr>
          <p:cNvPr id="10" name="TextBox 9"/>
          <p:cNvSpPr txBox="1"/>
          <p:nvPr/>
        </p:nvSpPr>
        <p:spPr>
          <a:xfrm>
            <a:off x="978408" y="2743200"/>
            <a:ext cx="2999232" cy="2468880"/>
          </a:xfrm>
          <a:prstGeom prst="rect">
            <a:avLst/>
          </a:prstGeom>
          <a:noFill/>
        </p:spPr>
        <p:txBody>
          <a:bodyPr wrap="square" anchor="t">
            <a:spAutoFit/>
          </a:bodyPr>
          <a:lstStyle/>
          <a:p>
            <a:pPr algn="l">
              <a:spcAft>
                <a:spcPts val="400"/>
              </a:spcAft>
            </a:pPr>
            <a:r>
              <a:rPr sz="1400" b="0">
                <a:solidFill>
                  <a:srgbClr val="161B26"/>
                </a:solidFill>
                <a:latin typeface="Arial"/>
              </a:rPr>
              <a:t>Approved look master, NIGHT MARKET (SIMULATED)</a:t>
            </a:r>
          </a:p>
        </p:txBody>
      </p:sp>
      <p:sp>
        <p:nvSpPr>
          <p:cNvPr id="11" name="Rounded Rectangle 10"/>
          <p:cNvSpPr/>
          <p:nvPr/>
        </p:nvSpPr>
        <p:spPr>
          <a:xfrm>
            <a:off x="4379976" y="1856231"/>
            <a:ext cx="3401568" cy="361188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9976" y="1856231"/>
            <a:ext cx="3401568"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81144" y="2130552"/>
            <a:ext cx="2999232" cy="457200"/>
          </a:xfrm>
          <a:prstGeom prst="rect">
            <a:avLst/>
          </a:prstGeom>
          <a:noFill/>
        </p:spPr>
        <p:txBody>
          <a:bodyPr wrap="square" anchor="t">
            <a:spAutoFit/>
          </a:bodyPr>
          <a:lstStyle/>
          <a:p>
            <a:pPr algn="l">
              <a:spcAft>
                <a:spcPts val="400"/>
              </a:spcAft>
            </a:pPr>
            <a:r>
              <a:rPr sz="1500" b="1">
                <a:solidFill>
                  <a:srgbClr val="10B981"/>
                </a:solidFill>
                <a:latin typeface="Arial"/>
              </a:rPr>
              <a:t>TECHNICAL QUESTION</a:t>
            </a:r>
          </a:p>
        </p:txBody>
      </p:sp>
      <p:sp>
        <p:nvSpPr>
          <p:cNvPr id="14" name="TextBox 13"/>
          <p:cNvSpPr txBox="1"/>
          <p:nvPr/>
        </p:nvSpPr>
        <p:spPr>
          <a:xfrm>
            <a:off x="4581144" y="2743200"/>
            <a:ext cx="2999232" cy="2468880"/>
          </a:xfrm>
          <a:prstGeom prst="rect">
            <a:avLst/>
          </a:prstGeom>
          <a:noFill/>
        </p:spPr>
        <p:txBody>
          <a:bodyPr wrap="square" anchor="t">
            <a:spAutoFit/>
          </a:bodyPr>
          <a:lstStyle/>
          <a:p>
            <a:pPr algn="l">
              <a:spcAft>
                <a:spcPts val="400"/>
              </a:spcAft>
            </a:pPr>
            <a:r>
              <a:rPr sz="1400" b="0">
                <a:solidFill>
                  <a:srgbClr val="161B26"/>
                </a:solidFill>
                <a:latin typeface="Arial"/>
              </a:rPr>
              <a:t>Which global descriptor identifies each off-look shot, and why must shots be compared with their own location?</a:t>
            </a:r>
          </a:p>
        </p:txBody>
      </p:sp>
      <p:sp>
        <p:nvSpPr>
          <p:cNvPr id="15" name="Rounded Rectangle 14"/>
          <p:cNvSpPr/>
          <p:nvPr/>
        </p:nvSpPr>
        <p:spPr>
          <a:xfrm>
            <a:off x="7982712" y="1856231"/>
            <a:ext cx="3401568" cy="361188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82712" y="1856231"/>
            <a:ext cx="3401568"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83880" y="2130552"/>
            <a:ext cx="2999232" cy="457200"/>
          </a:xfrm>
          <a:prstGeom prst="rect">
            <a:avLst/>
          </a:prstGeom>
          <a:noFill/>
        </p:spPr>
        <p:txBody>
          <a:bodyPr wrap="square" anchor="t">
            <a:spAutoFit/>
          </a:bodyPr>
          <a:lstStyle/>
          <a:p>
            <a:pPr algn="l">
              <a:spcAft>
                <a:spcPts val="400"/>
              </a:spcAft>
            </a:pPr>
            <a:r>
              <a:rPr sz="1500" b="1">
                <a:solidFill>
                  <a:srgbClr val="10B981"/>
                </a:solidFill>
                <a:latin typeface="Arial"/>
              </a:rPr>
              <a:t>EVIDENCE TO PRODUCE</a:t>
            </a:r>
          </a:p>
        </p:txBody>
      </p:sp>
      <p:sp>
        <p:nvSpPr>
          <p:cNvPr id="18" name="TextBox 17"/>
          <p:cNvSpPr txBox="1"/>
          <p:nvPr/>
        </p:nvSpPr>
        <p:spPr>
          <a:xfrm>
            <a:off x="8183880" y="2743200"/>
            <a:ext cx="2999232" cy="2468880"/>
          </a:xfrm>
          <a:prstGeom prst="rect">
            <a:avLst/>
          </a:prstGeom>
          <a:noFill/>
        </p:spPr>
        <p:txBody>
          <a:bodyPr wrap="square" anchor="t">
            <a:spAutoFit/>
          </a:bodyPr>
          <a:lstStyle/>
          <a:p>
            <a:pPr algn="l">
              <a:spcAft>
                <a:spcPts val="400"/>
              </a:spcAft>
            </a:pPr>
            <a:r>
              <a:rPr sz="1400" b="0">
                <a:solidFill>
                  <a:srgbClr val="161B26"/>
                </a:solidFill>
                <a:latin typeface="Arial"/>
              </a:rPr>
              <a:t>A look report for eight shots with the descriptor that moved for every off-look shot, a colour-coded look strip, and a look bible with the limits you would ship.</a:t>
            </a:r>
          </a:p>
        </p:txBody>
      </p:sp>
      <p:sp>
        <p:nvSpPr>
          <p:cNvPr id="19" name="TextBox 18"/>
          <p:cNvSpPr txBox="1"/>
          <p:nvPr/>
        </p:nvSpPr>
        <p:spPr>
          <a:xfrm>
            <a:off x="777240" y="5623560"/>
            <a:ext cx="10607040" cy="685800"/>
          </a:xfrm>
          <a:prstGeom prst="rect">
            <a:avLst/>
          </a:prstGeom>
          <a:noFill/>
        </p:spPr>
        <p:txBody>
          <a:bodyPr wrap="square" anchor="t">
            <a:spAutoFit/>
          </a:bodyPr>
          <a:lstStyle/>
          <a:p>
            <a:pPr algn="l">
              <a:spcAft>
                <a:spcPts val="400"/>
              </a:spcAft>
            </a:pPr>
            <a:r>
              <a:rPr sz="1150" b="0">
                <a:solidFill>
                  <a:srgbClr val="5B6372"/>
                </a:solidFill>
                <a:latin typeface="Arial"/>
              </a:rPr>
              <a:t>LAB 07  ·  30 MIN · Python 3 · opencv-python · NumPy · no network</a:t>
            </a:r>
          </a:p>
          <a:p>
            <a:pPr algn="l">
              <a:spcAft>
                <a:spcPts val="400"/>
              </a:spcAft>
            </a:pPr>
            <a:r>
              <a:rPr sz="1150" b="0">
                <a:solidFill>
                  <a:srgbClr val="5B6372"/>
                </a:solidFill>
                <a:latin typeface="Arial"/>
              </a:rPr>
              <a:t>Detailed procedures and prompts: Learner Guide / labs/lab-07-look-bible-scene-continuity/README.md</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spd="fast">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700" b="1">
                <a:solidFill>
                  <a:srgbClr val="1F6FEB"/>
                </a:solidFill>
                <a:latin typeface="Arial"/>
              </a:rPr>
              <a:t>TOPIC 04</a:t>
            </a:r>
          </a:p>
        </p:txBody>
      </p:sp>
      <p:sp>
        <p:nvSpPr>
          <p:cNvPr id="6" name="TextBox 5"/>
          <p:cNvSpPr txBox="1"/>
          <p:nvPr/>
        </p:nvSpPr>
        <p:spPr>
          <a:xfrm>
            <a:off x="1143000" y="2743200"/>
            <a:ext cx="9144000" cy="1463040"/>
          </a:xfrm>
          <a:prstGeom prst="rect">
            <a:avLst/>
          </a:prstGeom>
          <a:noFill/>
        </p:spPr>
        <p:txBody>
          <a:bodyPr wrap="square" anchor="t">
            <a:spAutoFit/>
          </a:bodyPr>
          <a:lstStyle/>
          <a:p>
            <a:pPr algn="l">
              <a:spcAft>
                <a:spcPts val="400"/>
              </a:spcAft>
            </a:pPr>
            <a:r>
              <a:rPr sz="3000" b="1">
                <a:solidFill>
                  <a:srgbClr val="161B26"/>
                </a:solidFill>
                <a:latin typeface="Arial"/>
              </a:rPr>
              <a:t>AI Video Generation, Animation and Video Analytics</a:t>
            </a:r>
          </a:p>
        </p:txBody>
      </p:sp>
      <p:sp>
        <p:nvSpPr>
          <p:cNvPr id="7" name="TextBox 6"/>
          <p:cNvSpPr txBox="1"/>
          <p:nvPr/>
        </p:nvSpPr>
        <p:spPr>
          <a:xfrm>
            <a:off x="1161288" y="4297680"/>
            <a:ext cx="9692640" cy="1280160"/>
          </a:xfrm>
          <a:prstGeom prst="rect">
            <a:avLst/>
          </a:prstGeom>
          <a:noFill/>
        </p:spPr>
        <p:txBody>
          <a:bodyPr wrap="square" anchor="t">
            <a:spAutoFit/>
          </a:bodyPr>
          <a:lstStyle/>
          <a:p>
            <a:pPr algn="l">
              <a:spcAft>
                <a:spcPts val="400"/>
              </a:spcAft>
            </a:pPr>
            <a:r>
              <a:rPr sz="1400" b="0">
                <a:solidFill>
                  <a:srgbClr val="5B6372"/>
                </a:solidFill>
                <a:latin typeface="Arial"/>
              </a:rPr>
              <a:t>Deep learning for video — temporal coherence, start/end frames and video references · multi-shot and timeline prompting with dialogue and emotion · detecting and verifying the cast · voiceover-first sound design, captions and export · shot, motion, tracking and drift analytics</a:t>
            </a:r>
          </a:p>
        </p:txBody>
      </p:sp>
      <p:sp>
        <p:nvSpPr>
          <p:cNvPr id="8" name="TextBox 7"/>
          <p:cNvSpPr txBox="1"/>
          <p:nvPr/>
        </p:nvSpPr>
        <p:spPr>
          <a:xfrm>
            <a:off x="9326880" y="640080"/>
            <a:ext cx="2377440" cy="1463040"/>
          </a:xfrm>
          <a:prstGeom prst="rect">
            <a:avLst/>
          </a:prstGeom>
          <a:noFill/>
        </p:spPr>
        <p:txBody>
          <a:bodyPr wrap="square" anchor="t">
            <a:spAutoFit/>
          </a:bodyPr>
          <a:lstStyle/>
          <a:p>
            <a:pPr algn="r">
              <a:spcAft>
                <a:spcPts val="400"/>
              </a:spcAft>
            </a:pPr>
            <a:r>
              <a:rPr sz="6800" b="1">
                <a:solidFill>
                  <a:srgbClr val="E2E8F0"/>
                </a:solidFill>
                <a:latin typeface="Arial"/>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ransition spd="fast">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LU4 + LU5 · ELO4 + ELO5 · K8, K9, K10, A5, A6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Key Concepts — Topic 04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823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64336"/>
          </a:xfrm>
          <a:prstGeom prst="rect">
            <a:avLst/>
          </a:prstGeom>
          <a:noFill/>
        </p:spPr>
        <p:txBody>
          <a:bodyPr wrap="square" anchor="ctr">
            <a:spAutoFit/>
          </a:bodyPr>
          <a:lstStyle/>
          <a:p>
            <a:pPr algn="l">
              <a:spcAft>
                <a:spcPts val="200"/>
              </a:spcAft>
            </a:pPr>
            <a:r>
              <a:rPr sz="1350" b="1">
                <a:solidFill>
                  <a:srgbClr val="161B26"/>
                </a:solidFill>
                <a:latin typeface="Arial"/>
              </a:rPr>
              <a:t>Deep video models learn motion from data</a:t>
            </a:r>
          </a:p>
          <a:p>
            <a:pPr algn="l">
              <a:spcAft>
                <a:spcPts val="200"/>
              </a:spcAft>
            </a:pPr>
            <a:r>
              <a:rPr sz="1050" b="0">
                <a:solidFill>
                  <a:srgbClr val="5B6372"/>
                </a:solidFill>
                <a:latin typeface="Arial"/>
              </a:rPr>
              <a:t>Convolution and attention layers learn spatial structure; temporal attention links frames. Each frame must look right (spatial coherence) AND agree with its neighbours (temporal coherence): flicker, morphing and identity drift are temporal failures.</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8236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64336"/>
          </a:xfrm>
          <a:prstGeom prst="rect">
            <a:avLst/>
          </a:prstGeom>
          <a:noFill/>
        </p:spPr>
        <p:txBody>
          <a:bodyPr wrap="square" anchor="ctr">
            <a:spAutoFit/>
          </a:bodyPr>
          <a:lstStyle/>
          <a:p>
            <a:pPr algn="l">
              <a:spcAft>
                <a:spcPts val="200"/>
              </a:spcAft>
            </a:pPr>
            <a:r>
              <a:rPr sz="1350" b="1">
                <a:solidFill>
                  <a:srgbClr val="161B26"/>
                </a:solidFill>
                <a:latin typeface="Arial"/>
              </a:rPr>
              <a:t>Continuity is conditioned, shot to shot</a:t>
            </a:r>
          </a:p>
          <a:p>
            <a:pPr algn="l">
              <a:spcAft>
                <a:spcPts val="200"/>
              </a:spcAft>
            </a:pPr>
            <a:r>
              <a:rPr sz="1050" b="0">
                <a:solidFill>
                  <a:srgbClr val="5B6372"/>
                </a:solidFill>
                <a:latin typeface="Arial"/>
              </a:rPr>
              <a:t>A start frame fixes where a shot begins; an end frame fixes where it lands. A video reference or extension passes the whole previous clip, so lighting, mood and motion carry across the cut. Clips are typically capped at 5-15 s.</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04616"/>
            <a:ext cx="4027932" cy="1164336"/>
          </a:xfrm>
          <a:prstGeom prst="rect">
            <a:avLst/>
          </a:prstGeom>
          <a:noFill/>
        </p:spPr>
        <p:txBody>
          <a:bodyPr wrap="square" anchor="ctr">
            <a:spAutoFit/>
          </a:bodyPr>
          <a:lstStyle/>
          <a:p>
            <a:pPr algn="l">
              <a:spcAft>
                <a:spcPts val="200"/>
              </a:spcAft>
            </a:pPr>
            <a:r>
              <a:rPr sz="1350" b="1">
                <a:solidFill>
                  <a:srgbClr val="161B26"/>
                </a:solidFill>
                <a:latin typeface="Arial"/>
              </a:rPr>
              <a:t>Write shots, not paragraphs</a:t>
            </a:r>
          </a:p>
          <a:p>
            <a:pPr algn="l">
              <a:spcAft>
                <a:spcPts val="200"/>
              </a:spcAft>
            </a:pPr>
            <a:r>
              <a:rPr sz="1050" b="0">
                <a:solidFill>
                  <a:srgbClr val="5B6372"/>
                </a:solidFill>
                <a:latin typeface="Arial"/>
              </a:rPr>
              <a:t>Multi-shot prompts list Shot 1, Shot 2, Shot 3 in order; timeline prompts give second-by-second beats. Dialogue goes in quotation marks, and each character gets an emotion and an intensity. Dense action: generate three takes and pick.</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04616"/>
            <a:ext cx="4027932" cy="1164336"/>
          </a:xfrm>
          <a:prstGeom prst="rect">
            <a:avLst/>
          </a:prstGeom>
          <a:noFill/>
        </p:spPr>
        <p:txBody>
          <a:bodyPr wrap="square" anchor="ctr">
            <a:spAutoFit/>
          </a:bodyPr>
          <a:lstStyle/>
          <a:p>
            <a:pPr algn="l">
              <a:spcAft>
                <a:spcPts val="200"/>
              </a:spcAft>
            </a:pPr>
            <a:r>
              <a:rPr sz="1350" b="1">
                <a:solidFill>
                  <a:srgbClr val="161B26"/>
                </a:solidFill>
                <a:latin typeface="Arial"/>
              </a:rPr>
              <a:t>Detection and segmentation turn frames into evidence</a:t>
            </a:r>
          </a:p>
          <a:p>
            <a:pPr algn="l">
              <a:spcAft>
                <a:spcPts val="200"/>
              </a:spcAft>
            </a:pPr>
            <a:r>
              <a:rPr sz="1050" b="0">
                <a:solidFill>
                  <a:srgbClr val="5B6372"/>
                </a:solidFill>
                <a:latin typeface="Arial"/>
              </a:rPr>
              <a:t>A face or person detector counts the cast in every shot; a segmentation mask isolates the subject for grading. Evaluate detectors with IoU, precision and recall before you trust them to approve a shot.</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256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34712"/>
            <a:ext cx="4027932" cy="1164336"/>
          </a:xfrm>
          <a:prstGeom prst="rect">
            <a:avLst/>
          </a:prstGeom>
          <a:noFill/>
        </p:spPr>
        <p:txBody>
          <a:bodyPr wrap="square" anchor="ctr">
            <a:spAutoFit/>
          </a:bodyPr>
          <a:lstStyle/>
          <a:p>
            <a:pPr algn="l">
              <a:spcAft>
                <a:spcPts val="200"/>
              </a:spcAft>
            </a:pPr>
            <a:r>
              <a:rPr sz="1350" b="1">
                <a:solidFill>
                  <a:srgbClr val="161B26"/>
                </a:solidFill>
                <a:latin typeface="Arial"/>
              </a:rPr>
              <a:t>Video analytics finds cuts, motion, drift and events</a:t>
            </a:r>
          </a:p>
          <a:p>
            <a:pPr algn="l">
              <a:spcAft>
                <a:spcPts val="200"/>
              </a:spcAft>
            </a:pPr>
            <a:r>
              <a:rPr sz="1050" b="0">
                <a:solidFill>
                  <a:srgbClr val="5B6372"/>
                </a:solidFill>
                <a:latin typeface="Arial"/>
              </a:rPr>
              <a:t>Histogram differences find shot boundaries; optical flow classifies camera movement; CAMShift tracks the courier's raincoat; hue drift and luminance flicker become numbers; the first frame the subject appears is an event.</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256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34712"/>
            <a:ext cx="4027932" cy="1164336"/>
          </a:xfrm>
          <a:prstGeom prst="rect">
            <a:avLst/>
          </a:prstGeom>
          <a:noFill/>
        </p:spPr>
        <p:txBody>
          <a:bodyPr wrap="square" anchor="ctr">
            <a:spAutoFit/>
          </a:bodyPr>
          <a:lstStyle/>
          <a:p>
            <a:pPr algn="l">
              <a:spcAft>
                <a:spcPts val="200"/>
              </a:spcAft>
            </a:pPr>
            <a:r>
              <a:rPr sz="1350" b="1">
                <a:solidFill>
                  <a:srgbClr val="161B26"/>
                </a:solidFill>
                <a:latin typeface="Arial"/>
              </a:rPr>
              <a:t>Sound drives picture</a:t>
            </a:r>
          </a:p>
          <a:p>
            <a:pPr algn="l">
              <a:spcAft>
                <a:spcPts val="200"/>
              </a:spcAft>
            </a:pPr>
            <a:r>
              <a:rPr sz="1050" b="0">
                <a:solidFill>
                  <a:srgbClr val="5B6372"/>
                </a:solidFill>
                <a:latin typeface="Arial"/>
              </a:rPr>
              <a:t>Generate the voiceover first and cut the storyboard to its timing. Direct delivery with audio tags, score music by mood and tempo, add sound effects, then caption inside the safe area and export one master per platform.</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transition spd="fast">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K8 · DEEP LEARNING CONCEPTS FOR VIDEO</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Spatial Coherence versus Temporal Coherence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965960"/>
            <a:ext cx="4754880" cy="365760"/>
          </a:xfrm>
          <a:prstGeom prst="rect">
            <a:avLst/>
          </a:prstGeom>
          <a:noFill/>
        </p:spPr>
        <p:txBody>
          <a:bodyPr wrap="square" anchor="t">
            <a:spAutoFit/>
          </a:bodyPr>
          <a:lstStyle/>
          <a:p>
            <a:pPr algn="l">
              <a:spcAft>
                <a:spcPts val="400"/>
              </a:spcAft>
            </a:pPr>
            <a:r>
              <a:rPr sz="1500" b="1">
                <a:solidFill>
                  <a:srgbClr val="1F6FEB"/>
                </a:solidFill>
                <a:latin typeface="Arial"/>
              </a:rPr>
              <a:t>Within a frame</a:t>
            </a:r>
          </a:p>
        </p:txBody>
      </p:sp>
      <p:sp>
        <p:nvSpPr>
          <p:cNvPr id="12" name="TextBox 11"/>
          <p:cNvSpPr txBox="1"/>
          <p:nvPr/>
        </p:nvSpPr>
        <p:spPr>
          <a:xfrm>
            <a:off x="6583680" y="1965960"/>
            <a:ext cx="4572000" cy="365760"/>
          </a:xfrm>
          <a:prstGeom prst="rect">
            <a:avLst/>
          </a:prstGeom>
          <a:noFill/>
        </p:spPr>
        <p:txBody>
          <a:bodyPr wrap="square" anchor="t">
            <a:spAutoFit/>
          </a:bodyPr>
          <a:lstStyle/>
          <a:p>
            <a:pPr algn="l">
              <a:spcAft>
                <a:spcPts val="400"/>
              </a:spcAft>
            </a:pPr>
            <a:r>
              <a:rPr sz="1500" b="1">
                <a:solidFill>
                  <a:srgbClr val="10B981"/>
                </a:solidFill>
                <a:latin typeface="Arial"/>
              </a:rPr>
              <a:t>Across frames</a:t>
            </a:r>
          </a:p>
        </p:txBody>
      </p:sp>
      <p:sp>
        <p:nvSpPr>
          <p:cNvPr id="13" name="TextBox 12"/>
          <p:cNvSpPr txBox="1"/>
          <p:nvPr/>
        </p:nvSpPr>
        <p:spPr>
          <a:xfrm>
            <a:off x="1005840" y="2423160"/>
            <a:ext cx="4754880" cy="3017520"/>
          </a:xfrm>
          <a:prstGeom prst="rect">
            <a:avLst/>
          </a:prstGeom>
          <a:noFill/>
        </p:spPr>
        <p:txBody>
          <a:bodyPr wrap="square">
            <a:spAutoFit/>
          </a:bodyPr>
          <a:lstStyle/>
          <a:p>
            <a:pPr>
              <a:spcAft>
                <a:spcPts val="800"/>
              </a:spcAft>
            </a:pPr>
            <a:r>
              <a:rPr sz="1300" b="1">
                <a:solidFill>
                  <a:srgbClr val="161B26"/>
                </a:solidFill>
                <a:latin typeface="Arial"/>
              </a:rPr>
              <a:t>•  Spatial: is each frame right?</a:t>
            </a:r>
          </a:p>
          <a:p>
            <a:pPr>
              <a:spcAft>
                <a:spcPts val="800"/>
              </a:spcAft>
            </a:pPr>
            <a:r>
              <a:rPr sz="1100" b="0">
                <a:solidFill>
                  <a:srgbClr val="5B6372"/>
                </a:solidFill>
                <a:latin typeface="Arial"/>
              </a:rPr>
              <a:t>–  Anatomy, perspective, text, lighting in one frame.</a:t>
            </a:r>
          </a:p>
          <a:p>
            <a:pPr>
              <a:spcAft>
                <a:spcPts val="800"/>
              </a:spcAft>
            </a:pPr>
            <a:r>
              <a:rPr sz="1100" b="0">
                <a:solidFill>
                  <a:srgbClr val="5B6372"/>
                </a:solidFill>
                <a:latin typeface="Arial"/>
              </a:rPr>
              <a:t>–  Checked frame by frame.</a:t>
            </a:r>
          </a:p>
          <a:p>
            <a:pPr>
              <a:spcAft>
                <a:spcPts val="800"/>
              </a:spcAft>
            </a:pPr>
            <a:r>
              <a:rPr sz="1100" b="0">
                <a:solidFill>
                  <a:srgbClr val="5B6372"/>
                </a:solidFill>
                <a:latin typeface="Arial"/>
              </a:rPr>
              <a:t>–  Image models have mostly solved this.</a:t>
            </a:r>
          </a:p>
        </p:txBody>
      </p:sp>
      <p:sp>
        <p:nvSpPr>
          <p:cNvPr id="14" name="TextBox 13"/>
          <p:cNvSpPr txBox="1"/>
          <p:nvPr/>
        </p:nvSpPr>
        <p:spPr>
          <a:xfrm>
            <a:off x="6583680" y="2423160"/>
            <a:ext cx="4617720" cy="3017520"/>
          </a:xfrm>
          <a:prstGeom prst="rect">
            <a:avLst/>
          </a:prstGeom>
          <a:noFill/>
        </p:spPr>
        <p:txBody>
          <a:bodyPr wrap="square">
            <a:spAutoFit/>
          </a:bodyPr>
          <a:lstStyle/>
          <a:p>
            <a:pPr>
              <a:spcAft>
                <a:spcPts val="800"/>
              </a:spcAft>
            </a:pPr>
            <a:r>
              <a:rPr sz="1300" b="1">
                <a:solidFill>
                  <a:srgbClr val="161B26"/>
                </a:solidFill>
                <a:latin typeface="Arial"/>
              </a:rPr>
              <a:t>•  Temporal: do the frames agree?</a:t>
            </a:r>
          </a:p>
          <a:p>
            <a:pPr>
              <a:spcAft>
                <a:spcPts val="800"/>
              </a:spcAft>
            </a:pPr>
            <a:r>
              <a:rPr sz="1100" b="0">
                <a:solidFill>
                  <a:srgbClr val="5B6372"/>
                </a:solidFill>
                <a:latin typeface="Arial"/>
              </a:rPr>
              <a:t>–  Identity, wardrobe and background stay put.</a:t>
            </a:r>
          </a:p>
          <a:p>
            <a:pPr>
              <a:spcAft>
                <a:spcPts val="800"/>
              </a:spcAft>
            </a:pPr>
            <a:r>
              <a:rPr sz="1100" b="0">
                <a:solidFill>
                  <a:srgbClr val="5B6372"/>
                </a:solidFill>
                <a:latin typeface="Arial"/>
              </a:rPr>
              <a:t>–  Motion obeys physics; no flicker, no morphing.</a:t>
            </a:r>
          </a:p>
          <a:p>
            <a:pPr>
              <a:spcAft>
                <a:spcPts val="800"/>
              </a:spcAft>
            </a:pPr>
            <a:r>
              <a:rPr sz="1100" b="0">
                <a:solidFill>
                  <a:srgbClr val="5B6372"/>
                </a:solidFill>
                <a:latin typeface="Arial"/>
              </a:rPr>
              <a:t>–  A per-frame score cannot see it.</a:t>
            </a:r>
          </a:p>
          <a:p>
            <a:pPr>
              <a:spcAft>
                <a:spcPts val="800"/>
              </a:spcAft>
            </a:pPr>
            <a:r>
              <a:rPr sz="1100" b="0">
                <a:solidFill>
                  <a:srgbClr val="5B6372"/>
                </a:solidFill>
                <a:latin typeface="Arial"/>
              </a:rPr>
              <a:t>–  The defining problem of AI video.</a:t>
            </a:r>
          </a:p>
        </p:txBody>
      </p:sp>
      <p:sp>
        <p:nvSpPr>
          <p:cNvPr id="15" name="TextBox 14"/>
          <p:cNvSpPr txBox="1"/>
          <p:nvPr/>
        </p:nvSpPr>
        <p:spPr>
          <a:xfrm>
            <a:off x="777240" y="5669280"/>
            <a:ext cx="10698480" cy="640080"/>
          </a:xfrm>
          <a:prstGeom prst="rect">
            <a:avLst/>
          </a:prstGeom>
          <a:noFill/>
        </p:spPr>
        <p:txBody>
          <a:bodyPr wrap="square" anchor="ctr">
            <a:spAutoFit/>
          </a:bodyPr>
          <a:lstStyle/>
          <a:p>
            <a:pPr algn="ctr">
              <a:spcAft>
                <a:spcPts val="400"/>
              </a:spcAft>
            </a:pPr>
            <a:r>
              <a:rPr sz="1250" b="0">
                <a:solidFill>
                  <a:srgbClr val="5B6372"/>
                </a:solidFill>
                <a:latin typeface="Arial"/>
              </a:rPr>
              <a:t>Lab 10 measures the temporal failures — flicker and identity drift — that a frame-by-frame review misses.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transition spd="fast">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7C3AED"/>
                </a:solidFill>
                <a:latin typeface="Arial"/>
              </a:rPr>
              <a:t>K8 · ARCHITECTURE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Inside a Video Diffusion Transformer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10512"/>
            <a:ext cx="7315200" cy="726033"/>
          </a:xfrm>
          <a:prstGeom prst="roundRect">
            <a:avLst/>
          </a:prstGeom>
          <a:solidFill>
            <a:srgbClr val="F5F8FC"/>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10512"/>
            <a:ext cx="2331720" cy="72603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23544" y="1810512"/>
            <a:ext cx="2103120" cy="726033"/>
          </a:xfrm>
          <a:prstGeom prst="rect">
            <a:avLst/>
          </a:prstGeom>
          <a:noFill/>
        </p:spPr>
        <p:txBody>
          <a:bodyPr wrap="square" anchor="ctr">
            <a:spAutoFit/>
          </a:bodyPr>
          <a:lstStyle/>
          <a:p>
            <a:pPr algn="l">
              <a:spcAft>
                <a:spcPts val="400"/>
              </a:spcAft>
            </a:pPr>
            <a:r>
              <a:rPr sz="1250" b="1">
                <a:solidFill>
                  <a:srgbClr val="FFFFFF"/>
                </a:solidFill>
                <a:latin typeface="Arial"/>
              </a:rPr>
              <a:t>CONDITIONS</a:t>
            </a:r>
          </a:p>
        </p:txBody>
      </p:sp>
      <p:sp>
        <p:nvSpPr>
          <p:cNvPr id="10" name="TextBox 9"/>
          <p:cNvSpPr txBox="1"/>
          <p:nvPr/>
        </p:nvSpPr>
        <p:spPr>
          <a:xfrm>
            <a:off x="3291840" y="1810512"/>
            <a:ext cx="4617720" cy="726033"/>
          </a:xfrm>
          <a:prstGeom prst="rect">
            <a:avLst/>
          </a:prstGeom>
          <a:noFill/>
        </p:spPr>
        <p:txBody>
          <a:bodyPr wrap="square" anchor="ctr">
            <a:spAutoFit/>
          </a:bodyPr>
          <a:lstStyle/>
          <a:p>
            <a:pPr algn="l">
              <a:spcAft>
                <a:spcPts val="400"/>
              </a:spcAft>
            </a:pPr>
            <a:r>
              <a:rPr sz="1200" b="0">
                <a:solidFill>
                  <a:srgbClr val="161B26"/>
                </a:solidFill>
                <a:latin typeface="Arial"/>
              </a:rPr>
              <a:t>Text prompt · element reference images · start / end frame · previous clip</a:t>
            </a:r>
          </a:p>
        </p:txBody>
      </p:sp>
      <p:cxnSp>
        <p:nvCxnSpPr>
          <p:cNvPr id="11" name="Connector 10"/>
          <p:cNvCxnSpPr/>
          <p:nvPr/>
        </p:nvCxnSpPr>
        <p:spPr>
          <a:xfrm>
            <a:off x="4434840" y="2536545"/>
            <a:ext cx="0" cy="201168"/>
          </a:xfrm>
          <a:prstGeom prst="line">
            <a:avLst/>
          </a:prstGeom>
          <a:ln w="1905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77240" y="2737713"/>
            <a:ext cx="7315200" cy="726033"/>
          </a:xfrm>
          <a:prstGeom prst="roundRect">
            <a:avLst/>
          </a:prstGeom>
          <a:solidFill>
            <a:srgbClr val="F5F8FC"/>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37713"/>
            <a:ext cx="2331720" cy="72603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3544" y="2737713"/>
            <a:ext cx="2103120" cy="726033"/>
          </a:xfrm>
          <a:prstGeom prst="rect">
            <a:avLst/>
          </a:prstGeom>
          <a:noFill/>
        </p:spPr>
        <p:txBody>
          <a:bodyPr wrap="square" anchor="ctr">
            <a:spAutoFit/>
          </a:bodyPr>
          <a:lstStyle/>
          <a:p>
            <a:pPr algn="l">
              <a:spcAft>
                <a:spcPts val="400"/>
              </a:spcAft>
            </a:pPr>
            <a:r>
              <a:rPr sz="1250" b="1">
                <a:solidFill>
                  <a:srgbClr val="FFFFFF"/>
                </a:solidFill>
                <a:latin typeface="Arial"/>
              </a:rPr>
              <a:t>VAE ENCODER</a:t>
            </a:r>
          </a:p>
        </p:txBody>
      </p:sp>
      <p:sp>
        <p:nvSpPr>
          <p:cNvPr id="15" name="TextBox 14"/>
          <p:cNvSpPr txBox="1"/>
          <p:nvPr/>
        </p:nvSpPr>
        <p:spPr>
          <a:xfrm>
            <a:off x="3291840" y="2737713"/>
            <a:ext cx="4617720" cy="726033"/>
          </a:xfrm>
          <a:prstGeom prst="rect">
            <a:avLst/>
          </a:prstGeom>
          <a:noFill/>
        </p:spPr>
        <p:txBody>
          <a:bodyPr wrap="square" anchor="ctr">
            <a:spAutoFit/>
          </a:bodyPr>
          <a:lstStyle/>
          <a:p>
            <a:pPr algn="l">
              <a:spcAft>
                <a:spcPts val="400"/>
              </a:spcAft>
            </a:pPr>
            <a:r>
              <a:rPr sz="1200" b="0">
                <a:solidFill>
                  <a:srgbClr val="161B26"/>
                </a:solidFill>
                <a:latin typeface="Arial"/>
              </a:rPr>
              <a:t>Compresses frames into a small latent: 8x smaller per side, and in time</a:t>
            </a:r>
          </a:p>
        </p:txBody>
      </p:sp>
      <p:cxnSp>
        <p:nvCxnSpPr>
          <p:cNvPr id="16" name="Connector 15"/>
          <p:cNvCxnSpPr/>
          <p:nvPr/>
        </p:nvCxnSpPr>
        <p:spPr>
          <a:xfrm>
            <a:off x="4434840" y="3463746"/>
            <a:ext cx="0" cy="201168"/>
          </a:xfrm>
          <a:prstGeom prst="line">
            <a:avLst/>
          </a:prstGeom>
          <a:ln w="1905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77240" y="3664914"/>
            <a:ext cx="7315200" cy="726033"/>
          </a:xfrm>
          <a:prstGeom prst="roundRect">
            <a:avLst/>
          </a:prstGeom>
          <a:solidFill>
            <a:srgbClr val="F5F8FC"/>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64914"/>
            <a:ext cx="2331720" cy="726033"/>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3544" y="3664914"/>
            <a:ext cx="2103120" cy="726033"/>
          </a:xfrm>
          <a:prstGeom prst="rect">
            <a:avLst/>
          </a:prstGeom>
          <a:noFill/>
        </p:spPr>
        <p:txBody>
          <a:bodyPr wrap="square" anchor="ctr">
            <a:spAutoFit/>
          </a:bodyPr>
          <a:lstStyle/>
          <a:p>
            <a:pPr algn="l">
              <a:spcAft>
                <a:spcPts val="400"/>
              </a:spcAft>
            </a:pPr>
            <a:r>
              <a:rPr sz="1250" b="1">
                <a:solidFill>
                  <a:srgbClr val="FFFFFF"/>
                </a:solidFill>
                <a:latin typeface="Arial"/>
              </a:rPr>
              <a:t>PATCHIFY</a:t>
            </a:r>
          </a:p>
        </p:txBody>
      </p:sp>
      <p:sp>
        <p:nvSpPr>
          <p:cNvPr id="20" name="TextBox 19"/>
          <p:cNvSpPr txBox="1"/>
          <p:nvPr/>
        </p:nvSpPr>
        <p:spPr>
          <a:xfrm>
            <a:off x="3291840" y="3664914"/>
            <a:ext cx="4617720" cy="726033"/>
          </a:xfrm>
          <a:prstGeom prst="rect">
            <a:avLst/>
          </a:prstGeom>
          <a:noFill/>
        </p:spPr>
        <p:txBody>
          <a:bodyPr wrap="square" anchor="ctr">
            <a:spAutoFit/>
          </a:bodyPr>
          <a:lstStyle/>
          <a:p>
            <a:pPr algn="l">
              <a:spcAft>
                <a:spcPts val="400"/>
              </a:spcAft>
            </a:pPr>
            <a:r>
              <a:rPr sz="1200" b="0">
                <a:solidFill>
                  <a:srgbClr val="161B26"/>
                </a:solidFill>
                <a:latin typeface="Arial"/>
              </a:rPr>
              <a:t>Cuts the latent video into spatiotemporal patches — the tokens</a:t>
            </a:r>
          </a:p>
        </p:txBody>
      </p:sp>
      <p:cxnSp>
        <p:nvCxnSpPr>
          <p:cNvPr id="21" name="Connector 20"/>
          <p:cNvCxnSpPr/>
          <p:nvPr/>
        </p:nvCxnSpPr>
        <p:spPr>
          <a:xfrm>
            <a:off x="4434840" y="4390947"/>
            <a:ext cx="0" cy="201168"/>
          </a:xfrm>
          <a:prstGeom prst="line">
            <a:avLst/>
          </a:prstGeom>
          <a:ln w="1905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 y="4592115"/>
            <a:ext cx="7315200" cy="726033"/>
          </a:xfrm>
          <a:prstGeom prst="roundRect">
            <a:avLst/>
          </a:prstGeom>
          <a:solidFill>
            <a:srgbClr val="F5F8FC"/>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92115"/>
            <a:ext cx="2331720" cy="726033"/>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3544" y="4592115"/>
            <a:ext cx="2103120" cy="726033"/>
          </a:xfrm>
          <a:prstGeom prst="rect">
            <a:avLst/>
          </a:prstGeom>
          <a:noFill/>
        </p:spPr>
        <p:txBody>
          <a:bodyPr wrap="square" anchor="ctr">
            <a:spAutoFit/>
          </a:bodyPr>
          <a:lstStyle/>
          <a:p>
            <a:pPr algn="l">
              <a:spcAft>
                <a:spcPts val="400"/>
              </a:spcAft>
            </a:pPr>
            <a:r>
              <a:rPr sz="1250" b="1">
                <a:solidFill>
                  <a:srgbClr val="FFFFFF"/>
                </a:solidFill>
                <a:latin typeface="Arial"/>
              </a:rPr>
              <a:t>TRANSFORMER</a:t>
            </a:r>
          </a:p>
        </p:txBody>
      </p:sp>
      <p:sp>
        <p:nvSpPr>
          <p:cNvPr id="25" name="TextBox 24"/>
          <p:cNvSpPr txBox="1"/>
          <p:nvPr/>
        </p:nvSpPr>
        <p:spPr>
          <a:xfrm>
            <a:off x="3291840" y="4592115"/>
            <a:ext cx="4617720" cy="726033"/>
          </a:xfrm>
          <a:prstGeom prst="rect">
            <a:avLst/>
          </a:prstGeom>
          <a:noFill/>
        </p:spPr>
        <p:txBody>
          <a:bodyPr wrap="square" anchor="ctr">
            <a:spAutoFit/>
          </a:bodyPr>
          <a:lstStyle/>
          <a:p>
            <a:pPr algn="l">
              <a:spcAft>
                <a:spcPts val="400"/>
              </a:spcAft>
            </a:pPr>
            <a:r>
              <a:rPr sz="1200" b="0">
                <a:solidFill>
                  <a:srgbClr val="161B26"/>
                </a:solidFill>
                <a:latin typeface="Arial"/>
              </a:rPr>
              <a:t>Spatial + temporal attention denoises all tokens together over S steps</a:t>
            </a:r>
          </a:p>
        </p:txBody>
      </p:sp>
      <p:cxnSp>
        <p:nvCxnSpPr>
          <p:cNvPr id="26" name="Connector 25"/>
          <p:cNvCxnSpPr/>
          <p:nvPr/>
        </p:nvCxnSpPr>
        <p:spPr>
          <a:xfrm>
            <a:off x="4434840" y="5318148"/>
            <a:ext cx="0" cy="201168"/>
          </a:xfrm>
          <a:prstGeom prst="line">
            <a:avLst/>
          </a:prstGeom>
          <a:ln w="1905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777240" y="5519316"/>
            <a:ext cx="7315200" cy="726033"/>
          </a:xfrm>
          <a:prstGeom prst="roundRect">
            <a:avLst/>
          </a:prstGeom>
          <a:solidFill>
            <a:srgbClr val="F5F8FC"/>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519316"/>
            <a:ext cx="2331720" cy="72603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3544" y="5519316"/>
            <a:ext cx="2103120" cy="726033"/>
          </a:xfrm>
          <a:prstGeom prst="rect">
            <a:avLst/>
          </a:prstGeom>
          <a:noFill/>
        </p:spPr>
        <p:txBody>
          <a:bodyPr wrap="square" anchor="ctr">
            <a:spAutoFit/>
          </a:bodyPr>
          <a:lstStyle/>
          <a:p>
            <a:pPr algn="l">
              <a:spcAft>
                <a:spcPts val="400"/>
              </a:spcAft>
            </a:pPr>
            <a:r>
              <a:rPr sz="1250" b="1">
                <a:solidFill>
                  <a:srgbClr val="FFFFFF"/>
                </a:solidFill>
                <a:latin typeface="Arial"/>
              </a:rPr>
              <a:t>VAE DECODER</a:t>
            </a:r>
          </a:p>
        </p:txBody>
      </p:sp>
      <p:sp>
        <p:nvSpPr>
          <p:cNvPr id="30" name="TextBox 29"/>
          <p:cNvSpPr txBox="1"/>
          <p:nvPr/>
        </p:nvSpPr>
        <p:spPr>
          <a:xfrm>
            <a:off x="3291840" y="5519316"/>
            <a:ext cx="4617720" cy="726033"/>
          </a:xfrm>
          <a:prstGeom prst="rect">
            <a:avLst/>
          </a:prstGeom>
          <a:noFill/>
        </p:spPr>
        <p:txBody>
          <a:bodyPr wrap="square" anchor="ctr">
            <a:spAutoFit/>
          </a:bodyPr>
          <a:lstStyle/>
          <a:p>
            <a:pPr algn="l">
              <a:spcAft>
                <a:spcPts val="400"/>
              </a:spcAft>
            </a:pPr>
            <a:r>
              <a:rPr sz="1200" b="0">
                <a:solidFill>
                  <a:srgbClr val="161B26"/>
                </a:solidFill>
                <a:latin typeface="Arial"/>
              </a:rPr>
              <a:t>Turns the clean latent back into frames (some models also emit audio)</a:t>
            </a:r>
          </a:p>
        </p:txBody>
      </p:sp>
      <p:sp>
        <p:nvSpPr>
          <p:cNvPr id="31" name="Rectangle 30"/>
          <p:cNvSpPr/>
          <p:nvPr/>
        </p:nvSpPr>
        <p:spPr>
          <a:xfrm>
            <a:off x="8366760" y="1810512"/>
            <a:ext cx="3044952" cy="1368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366760" y="1810512"/>
            <a:ext cx="82296" cy="13685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567928" y="1810512"/>
            <a:ext cx="2679192" cy="1368552"/>
          </a:xfrm>
          <a:prstGeom prst="rect">
            <a:avLst/>
          </a:prstGeom>
          <a:noFill/>
        </p:spPr>
        <p:txBody>
          <a:bodyPr wrap="square" anchor="ctr">
            <a:spAutoFit/>
          </a:bodyPr>
          <a:lstStyle/>
          <a:p>
            <a:pPr algn="l">
              <a:spcAft>
                <a:spcPts val="200"/>
              </a:spcAft>
            </a:pPr>
            <a:r>
              <a:rPr sz="1200" b="1">
                <a:solidFill>
                  <a:srgbClr val="1F6FEB"/>
                </a:solidFill>
                <a:latin typeface="Arial"/>
              </a:rPr>
              <a:t>Why clips are short</a:t>
            </a:r>
          </a:p>
          <a:p>
            <a:pPr algn="l">
              <a:spcAft>
                <a:spcPts val="200"/>
              </a:spcAft>
            </a:pPr>
            <a:r>
              <a:rPr sz="1100" b="0">
                <a:solidFill>
                  <a:srgbClr val="161B26"/>
                </a:solidFill>
                <a:latin typeface="Arial"/>
              </a:rPr>
              <a:t>Attention cost grows with the square of the token count.</a:t>
            </a:r>
          </a:p>
        </p:txBody>
      </p:sp>
      <p:sp>
        <p:nvSpPr>
          <p:cNvPr id="34" name="Rectangle 33"/>
          <p:cNvSpPr/>
          <p:nvPr/>
        </p:nvSpPr>
        <p:spPr>
          <a:xfrm>
            <a:off x="8366760" y="3343656"/>
            <a:ext cx="3044952" cy="1368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366760" y="3343656"/>
            <a:ext cx="82296" cy="13685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567928" y="3343656"/>
            <a:ext cx="2679192" cy="1368552"/>
          </a:xfrm>
          <a:prstGeom prst="rect">
            <a:avLst/>
          </a:prstGeom>
          <a:noFill/>
        </p:spPr>
        <p:txBody>
          <a:bodyPr wrap="square" anchor="ctr">
            <a:spAutoFit/>
          </a:bodyPr>
          <a:lstStyle/>
          <a:p>
            <a:pPr algn="l">
              <a:spcAft>
                <a:spcPts val="200"/>
              </a:spcAft>
            </a:pPr>
            <a:r>
              <a:rPr sz="1200" b="1">
                <a:solidFill>
                  <a:srgbClr val="10B981"/>
                </a:solidFill>
                <a:latin typeface="Arial"/>
              </a:rPr>
              <a:t>Why references help</a:t>
            </a:r>
          </a:p>
          <a:p>
            <a:pPr algn="l">
              <a:spcAft>
                <a:spcPts val="200"/>
              </a:spcAft>
            </a:pPr>
            <a:r>
              <a:rPr sz="1100" b="0">
                <a:solidFill>
                  <a:srgbClr val="161B26"/>
                </a:solidFill>
                <a:latin typeface="Arial"/>
              </a:rPr>
              <a:t>They are extra tokens the model attends to.</a:t>
            </a:r>
          </a:p>
        </p:txBody>
      </p:sp>
      <p:sp>
        <p:nvSpPr>
          <p:cNvPr id="37" name="Rectangle 36"/>
          <p:cNvSpPr/>
          <p:nvPr/>
        </p:nvSpPr>
        <p:spPr>
          <a:xfrm>
            <a:off x="8366760" y="4876800"/>
            <a:ext cx="3044952" cy="1368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366760" y="4876800"/>
            <a:ext cx="82296" cy="13685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567928" y="4876800"/>
            <a:ext cx="2679192" cy="1368552"/>
          </a:xfrm>
          <a:prstGeom prst="rect">
            <a:avLst/>
          </a:prstGeom>
          <a:noFill/>
        </p:spPr>
        <p:txBody>
          <a:bodyPr wrap="square" anchor="ctr">
            <a:spAutoFit/>
          </a:bodyPr>
          <a:lstStyle/>
          <a:p>
            <a:pPr algn="l">
              <a:spcAft>
                <a:spcPts val="200"/>
              </a:spcAft>
            </a:pPr>
            <a:r>
              <a:rPr sz="1200" b="1">
                <a:solidFill>
                  <a:srgbClr val="7C3AED"/>
                </a:solidFill>
                <a:latin typeface="Arial"/>
              </a:rPr>
              <a:t>Why takes differ</a:t>
            </a:r>
          </a:p>
          <a:p>
            <a:pPr algn="l">
              <a:spcAft>
                <a:spcPts val="200"/>
              </a:spcAft>
            </a:pPr>
            <a:r>
              <a:rPr sz="1100" b="0">
                <a:solidFill>
                  <a:srgbClr val="161B26"/>
                </a:solidFill>
                <a:latin typeface="Arial"/>
              </a:rPr>
              <a:t>Each take starts from different noise.</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ransition spd="fast">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K8 · COMPUTE AND CLIP LENGTH</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Why Clips Are Capped at a Few Seconds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74519"/>
            <a:ext cx="336194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112263"/>
            <a:ext cx="2996184" cy="457200"/>
          </a:xfrm>
          <a:prstGeom prst="rect">
            <a:avLst/>
          </a:prstGeom>
          <a:noFill/>
        </p:spPr>
        <p:txBody>
          <a:bodyPr wrap="square" anchor="t">
            <a:spAutoFit/>
          </a:bodyPr>
          <a:lstStyle/>
          <a:p>
            <a:pPr algn="l">
              <a:spcAft>
                <a:spcPts val="400"/>
              </a:spcAft>
            </a:pPr>
            <a:r>
              <a:rPr sz="1500" b="1">
                <a:solidFill>
                  <a:srgbClr val="1F6FEB"/>
                </a:solidFill>
                <a:latin typeface="Arial"/>
              </a:rPr>
              <a:t>Tokens</a:t>
            </a:r>
          </a:p>
        </p:txBody>
      </p:sp>
      <p:sp>
        <p:nvSpPr>
          <p:cNvPr id="10" name="Rectangle 9"/>
          <p:cNvSpPr/>
          <p:nvPr/>
        </p:nvSpPr>
        <p:spPr>
          <a:xfrm>
            <a:off x="960120" y="2715767"/>
            <a:ext cx="2996184" cy="67665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2715767"/>
            <a:ext cx="2813304" cy="676656"/>
          </a:xfrm>
          <a:prstGeom prst="rect">
            <a:avLst/>
          </a:prstGeom>
          <a:noFill/>
        </p:spPr>
        <p:txBody>
          <a:bodyPr wrap="none" lIns="0" rIns="0" tIns="0" bIns="0" anchor="ctr">
            <a:noAutofit/>
          </a:bodyPr>
          <a:lstStyle/>
          <a:p>
            <a:pPr>
              <a:spcAft>
                <a:spcPts val="100"/>
              </a:spcAft>
            </a:pPr>
            <a:r>
              <a:rPr sz="1400">
                <a:solidFill>
                  <a:srgbClr val="9CDCFE"/>
                </a:solidFill>
                <a:latin typeface="Consolas"/>
              </a:rPr>
              <a:t>N = (F/f) x (H/p) x (W/p)</a:t>
            </a:r>
          </a:p>
        </p:txBody>
      </p:sp>
      <p:sp>
        <p:nvSpPr>
          <p:cNvPr id="12" name="TextBox 11"/>
          <p:cNvSpPr txBox="1"/>
          <p:nvPr/>
        </p:nvSpPr>
        <p:spPr>
          <a:xfrm>
            <a:off x="960120" y="3502151"/>
            <a:ext cx="2996184" cy="1856232"/>
          </a:xfrm>
          <a:prstGeom prst="rect">
            <a:avLst/>
          </a:prstGeom>
          <a:noFill/>
        </p:spPr>
        <p:txBody>
          <a:bodyPr wrap="square" anchor="t">
            <a:spAutoFit/>
          </a:bodyPr>
          <a:lstStyle/>
          <a:p>
            <a:pPr algn="l">
              <a:spcAft>
                <a:spcPts val="400"/>
              </a:spcAft>
            </a:pPr>
            <a:r>
              <a:rPr sz="1200" b="0">
                <a:solidFill>
                  <a:srgbClr val="5B6372"/>
                </a:solidFill>
                <a:latin typeface="Arial"/>
              </a:rPr>
              <a:t>F frames, H x W latent, compressed by f in time and p in space.</a:t>
            </a:r>
          </a:p>
        </p:txBody>
      </p:sp>
      <p:sp>
        <p:nvSpPr>
          <p:cNvPr id="13" name="Rectangle 12"/>
          <p:cNvSpPr/>
          <p:nvPr/>
        </p:nvSpPr>
        <p:spPr>
          <a:xfrm>
            <a:off x="4413504"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13504" y="1874519"/>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96384" y="2112263"/>
            <a:ext cx="2996184" cy="457200"/>
          </a:xfrm>
          <a:prstGeom prst="rect">
            <a:avLst/>
          </a:prstGeom>
          <a:noFill/>
        </p:spPr>
        <p:txBody>
          <a:bodyPr wrap="square" anchor="t">
            <a:spAutoFit/>
          </a:bodyPr>
          <a:lstStyle/>
          <a:p>
            <a:pPr algn="l">
              <a:spcAft>
                <a:spcPts val="400"/>
              </a:spcAft>
            </a:pPr>
            <a:r>
              <a:rPr sz="1500" b="1">
                <a:solidFill>
                  <a:srgbClr val="10B981"/>
                </a:solidFill>
                <a:latin typeface="Arial"/>
              </a:rPr>
              <a:t>Attention</a:t>
            </a:r>
          </a:p>
        </p:txBody>
      </p:sp>
      <p:sp>
        <p:nvSpPr>
          <p:cNvPr id="16" name="Rectangle 15"/>
          <p:cNvSpPr/>
          <p:nvPr/>
        </p:nvSpPr>
        <p:spPr>
          <a:xfrm>
            <a:off x="4596384" y="2715767"/>
            <a:ext cx="2996184" cy="67665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87824" y="2715767"/>
            <a:ext cx="2813304" cy="676656"/>
          </a:xfrm>
          <a:prstGeom prst="rect">
            <a:avLst/>
          </a:prstGeom>
          <a:noFill/>
        </p:spPr>
        <p:txBody>
          <a:bodyPr wrap="none" lIns="0" rIns="0" tIns="0" bIns="0" anchor="ctr">
            <a:noAutofit/>
          </a:bodyPr>
          <a:lstStyle/>
          <a:p>
            <a:pPr>
              <a:spcAft>
                <a:spcPts val="100"/>
              </a:spcAft>
            </a:pPr>
            <a:r>
              <a:rPr sz="1400">
                <a:solidFill>
                  <a:srgbClr val="9CDCFE"/>
                </a:solidFill>
                <a:latin typeface="Consolas"/>
              </a:rPr>
              <a:t>cost ~ N^2</a:t>
            </a:r>
          </a:p>
        </p:txBody>
      </p:sp>
      <p:sp>
        <p:nvSpPr>
          <p:cNvPr id="18" name="TextBox 17"/>
          <p:cNvSpPr txBox="1"/>
          <p:nvPr/>
        </p:nvSpPr>
        <p:spPr>
          <a:xfrm>
            <a:off x="4596384" y="3502151"/>
            <a:ext cx="2996184" cy="1856232"/>
          </a:xfrm>
          <a:prstGeom prst="rect">
            <a:avLst/>
          </a:prstGeom>
          <a:noFill/>
        </p:spPr>
        <p:txBody>
          <a:bodyPr wrap="square" anchor="t">
            <a:spAutoFit/>
          </a:bodyPr>
          <a:lstStyle/>
          <a:p>
            <a:pPr algn="l">
              <a:spcAft>
                <a:spcPts val="400"/>
              </a:spcAft>
            </a:pPr>
            <a:r>
              <a:rPr sz="1200" b="0">
                <a:solidFill>
                  <a:srgbClr val="5B6372"/>
                </a:solidFill>
                <a:latin typeface="Arial"/>
              </a:rPr>
              <a:t>Doubling the duration roughly quadruples full attention cost.</a:t>
            </a:r>
          </a:p>
        </p:txBody>
      </p:sp>
      <p:sp>
        <p:nvSpPr>
          <p:cNvPr id="19" name="Rectangle 18"/>
          <p:cNvSpPr/>
          <p:nvPr/>
        </p:nvSpPr>
        <p:spPr>
          <a:xfrm>
            <a:off x="8049768"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9768" y="1874519"/>
            <a:ext cx="336194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2648" y="2112263"/>
            <a:ext cx="2996184" cy="457200"/>
          </a:xfrm>
          <a:prstGeom prst="rect">
            <a:avLst/>
          </a:prstGeom>
          <a:noFill/>
        </p:spPr>
        <p:txBody>
          <a:bodyPr wrap="square" anchor="t">
            <a:spAutoFit/>
          </a:bodyPr>
          <a:lstStyle/>
          <a:p>
            <a:pPr algn="l">
              <a:spcAft>
                <a:spcPts val="400"/>
              </a:spcAft>
            </a:pPr>
            <a:r>
              <a:rPr sz="1500" b="1">
                <a:solidFill>
                  <a:srgbClr val="7C3AED"/>
                </a:solidFill>
                <a:latin typeface="Arial"/>
              </a:rPr>
              <a:t>Credits</a:t>
            </a:r>
          </a:p>
        </p:txBody>
      </p:sp>
      <p:sp>
        <p:nvSpPr>
          <p:cNvPr id="22" name="Rectangle 21"/>
          <p:cNvSpPr/>
          <p:nvPr/>
        </p:nvSpPr>
        <p:spPr>
          <a:xfrm>
            <a:off x="8232648" y="2715767"/>
            <a:ext cx="2996184" cy="67665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24088" y="2715767"/>
            <a:ext cx="2813304" cy="676656"/>
          </a:xfrm>
          <a:prstGeom prst="rect">
            <a:avLst/>
          </a:prstGeom>
          <a:noFill/>
        </p:spPr>
        <p:txBody>
          <a:bodyPr wrap="none" lIns="0" rIns="0" tIns="0" bIns="0" anchor="ctr">
            <a:noAutofit/>
          </a:bodyPr>
          <a:lstStyle/>
          <a:p>
            <a:pPr>
              <a:spcAft>
                <a:spcPts val="100"/>
              </a:spcAft>
            </a:pPr>
            <a:r>
              <a:rPr sz="1030">
                <a:solidFill>
                  <a:srgbClr val="9CDCFE"/>
                </a:solidFill>
                <a:latin typeface="Consolas"/>
              </a:rPr>
              <a:t>generated s = sum(seconds x takes)</a:t>
            </a:r>
          </a:p>
        </p:txBody>
      </p:sp>
      <p:sp>
        <p:nvSpPr>
          <p:cNvPr id="24" name="TextBox 23"/>
          <p:cNvSpPr txBox="1"/>
          <p:nvPr/>
        </p:nvSpPr>
        <p:spPr>
          <a:xfrm>
            <a:off x="8232648" y="3502151"/>
            <a:ext cx="2996184" cy="1856232"/>
          </a:xfrm>
          <a:prstGeom prst="rect">
            <a:avLst/>
          </a:prstGeom>
          <a:noFill/>
        </p:spPr>
        <p:txBody>
          <a:bodyPr wrap="square" anchor="t">
            <a:spAutoFit/>
          </a:bodyPr>
          <a:lstStyle/>
          <a:p>
            <a:pPr algn="l">
              <a:spcAft>
                <a:spcPts val="400"/>
              </a:spcAft>
            </a:pPr>
            <a:r>
              <a:rPr sz="1200" b="0">
                <a:solidFill>
                  <a:srgbClr val="5B6372"/>
                </a:solidFill>
                <a:latin typeface="Arial"/>
              </a:rPr>
              <a:t>The Last Ferry: 48 s finished, about 98 s generated with extra takes.</a:t>
            </a:r>
          </a:p>
        </p:txBody>
      </p:sp>
      <p:sp>
        <p:nvSpPr>
          <p:cNvPr id="25" name="TextBox 24"/>
          <p:cNvSpPr txBox="1"/>
          <p:nvPr/>
        </p:nvSpPr>
        <p:spPr>
          <a:xfrm>
            <a:off x="777240" y="5715000"/>
            <a:ext cx="10698480" cy="548640"/>
          </a:xfrm>
          <a:prstGeom prst="rect">
            <a:avLst/>
          </a:prstGeom>
          <a:noFill/>
        </p:spPr>
        <p:txBody>
          <a:bodyPr wrap="square" anchor="ctr">
            <a:spAutoFit/>
          </a:bodyPr>
          <a:lstStyle/>
          <a:p>
            <a:pPr algn="ctr">
              <a:spcAft>
                <a:spcPts val="400"/>
              </a:spcAft>
            </a:pPr>
            <a:r>
              <a:rPr sz="1300" b="0">
                <a:solidFill>
                  <a:srgbClr val="5B6372"/>
                </a:solidFill>
                <a:latin typeface="Arial"/>
              </a:rPr>
              <a:t>Typical caps today are 4–15 seconds per clip. Longer scenes are built from shots joined by start/end frames or video extension.</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ransition spd="fast">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A5 · APPLYING THE MODEL WITH CONTROL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Continuity Controls — What Each One Fixes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339583" cy="7391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2156703" cy="739140"/>
          </a:xfrm>
          <a:prstGeom prst="rect">
            <a:avLst/>
          </a:prstGeom>
          <a:noFill/>
        </p:spPr>
        <p:txBody>
          <a:bodyPr wrap="square" anchor="ctr">
            <a:spAutoFit/>
          </a:bodyPr>
          <a:lstStyle/>
          <a:p>
            <a:pPr algn="l">
              <a:spcAft>
                <a:spcPts val="400"/>
              </a:spcAft>
            </a:pPr>
            <a:r>
              <a:rPr sz="1100" b="1">
                <a:solidFill>
                  <a:srgbClr val="FFFFFF"/>
                </a:solidFill>
                <a:latin typeface="Arial"/>
              </a:rPr>
              <a:t>Control</a:t>
            </a:r>
          </a:p>
        </p:txBody>
      </p:sp>
      <p:sp>
        <p:nvSpPr>
          <p:cNvPr id="9" name="Rectangle 8"/>
          <p:cNvSpPr/>
          <p:nvPr/>
        </p:nvSpPr>
        <p:spPr>
          <a:xfrm>
            <a:off x="3116823" y="1783080"/>
            <a:ext cx="2977652" cy="7391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26551" y="1783080"/>
            <a:ext cx="2794772" cy="739140"/>
          </a:xfrm>
          <a:prstGeom prst="rect">
            <a:avLst/>
          </a:prstGeom>
          <a:noFill/>
        </p:spPr>
        <p:txBody>
          <a:bodyPr wrap="square" anchor="ctr">
            <a:spAutoFit/>
          </a:bodyPr>
          <a:lstStyle/>
          <a:p>
            <a:pPr algn="l">
              <a:spcAft>
                <a:spcPts val="400"/>
              </a:spcAft>
            </a:pPr>
            <a:r>
              <a:rPr sz="1100" b="1">
                <a:solidFill>
                  <a:srgbClr val="FFFFFF"/>
                </a:solidFill>
                <a:latin typeface="Arial"/>
              </a:rPr>
              <a:t>You give the model</a:t>
            </a:r>
          </a:p>
        </p:txBody>
      </p:sp>
      <p:sp>
        <p:nvSpPr>
          <p:cNvPr id="11" name="Rectangle 10"/>
          <p:cNvSpPr/>
          <p:nvPr/>
        </p:nvSpPr>
        <p:spPr>
          <a:xfrm>
            <a:off x="6094475" y="1783080"/>
            <a:ext cx="2977652" cy="7391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04203" y="1783080"/>
            <a:ext cx="2794772" cy="739140"/>
          </a:xfrm>
          <a:prstGeom prst="rect">
            <a:avLst/>
          </a:prstGeom>
          <a:noFill/>
        </p:spPr>
        <p:txBody>
          <a:bodyPr wrap="square" anchor="ctr">
            <a:spAutoFit/>
          </a:bodyPr>
          <a:lstStyle/>
          <a:p>
            <a:pPr algn="l">
              <a:spcAft>
                <a:spcPts val="400"/>
              </a:spcAft>
            </a:pPr>
            <a:r>
              <a:rPr sz="1100" b="1">
                <a:solidFill>
                  <a:srgbClr val="FFFFFF"/>
                </a:solidFill>
                <a:latin typeface="Arial"/>
              </a:rPr>
              <a:t>It fixes</a:t>
            </a:r>
          </a:p>
        </p:txBody>
      </p:sp>
      <p:sp>
        <p:nvSpPr>
          <p:cNvPr id="13" name="Rectangle 12"/>
          <p:cNvSpPr/>
          <p:nvPr/>
        </p:nvSpPr>
        <p:spPr>
          <a:xfrm>
            <a:off x="9072127" y="1783080"/>
            <a:ext cx="2339583" cy="7391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81855" y="1783080"/>
            <a:ext cx="2156703" cy="739140"/>
          </a:xfrm>
          <a:prstGeom prst="rect">
            <a:avLst/>
          </a:prstGeom>
          <a:noFill/>
        </p:spPr>
        <p:txBody>
          <a:bodyPr wrap="square" anchor="ctr">
            <a:spAutoFit/>
          </a:bodyPr>
          <a:lstStyle/>
          <a:p>
            <a:pPr algn="l">
              <a:spcAft>
                <a:spcPts val="400"/>
              </a:spcAft>
            </a:pPr>
            <a:r>
              <a:rPr sz="1100" b="1">
                <a:solidFill>
                  <a:srgbClr val="FFFFFF"/>
                </a:solidFill>
                <a:latin typeface="Arial"/>
              </a:rPr>
              <a:t>Limitation</a:t>
            </a:r>
          </a:p>
        </p:txBody>
      </p:sp>
      <p:sp>
        <p:nvSpPr>
          <p:cNvPr id="15" name="Rectangle 14"/>
          <p:cNvSpPr/>
          <p:nvPr/>
        </p:nvSpPr>
        <p:spPr>
          <a:xfrm>
            <a:off x="777240" y="2522220"/>
            <a:ext cx="2339583" cy="7391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6968" y="2522220"/>
            <a:ext cx="2156703" cy="739140"/>
          </a:xfrm>
          <a:prstGeom prst="rect">
            <a:avLst/>
          </a:prstGeom>
          <a:noFill/>
        </p:spPr>
        <p:txBody>
          <a:bodyPr wrap="square" anchor="ctr">
            <a:spAutoFit/>
          </a:bodyPr>
          <a:lstStyle/>
          <a:p>
            <a:pPr algn="l">
              <a:spcAft>
                <a:spcPts val="400"/>
              </a:spcAft>
            </a:pPr>
            <a:r>
              <a:rPr sz="1000" b="1">
                <a:solidFill>
                  <a:srgbClr val="161B26"/>
                </a:solidFill>
                <a:latin typeface="Arial"/>
              </a:rPr>
              <a:t>Element references</a:t>
            </a:r>
          </a:p>
        </p:txBody>
      </p:sp>
      <p:sp>
        <p:nvSpPr>
          <p:cNvPr id="17" name="Rectangle 16"/>
          <p:cNvSpPr/>
          <p:nvPr/>
        </p:nvSpPr>
        <p:spPr>
          <a:xfrm>
            <a:off x="3116823" y="2522220"/>
            <a:ext cx="2977652" cy="7391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26551" y="2522220"/>
            <a:ext cx="2794772" cy="739140"/>
          </a:xfrm>
          <a:prstGeom prst="rect">
            <a:avLst/>
          </a:prstGeom>
          <a:noFill/>
        </p:spPr>
        <p:txBody>
          <a:bodyPr wrap="square" anchor="ctr">
            <a:spAutoFit/>
          </a:bodyPr>
          <a:lstStyle/>
          <a:p>
            <a:pPr algn="l">
              <a:spcAft>
                <a:spcPts val="400"/>
              </a:spcAft>
            </a:pPr>
            <a:r>
              <a:rPr sz="1000" b="0">
                <a:solidFill>
                  <a:srgbClr val="161B26"/>
                </a:solidFill>
                <a:latin typeface="Arial"/>
              </a:rPr>
              <a:t>Saved character, location, prop images</a:t>
            </a:r>
          </a:p>
        </p:txBody>
      </p:sp>
      <p:sp>
        <p:nvSpPr>
          <p:cNvPr id="19" name="Rectangle 18"/>
          <p:cNvSpPr/>
          <p:nvPr/>
        </p:nvSpPr>
        <p:spPr>
          <a:xfrm>
            <a:off x="6094475" y="2522220"/>
            <a:ext cx="2977652" cy="7391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04203" y="2522220"/>
            <a:ext cx="2794772" cy="739140"/>
          </a:xfrm>
          <a:prstGeom prst="rect">
            <a:avLst/>
          </a:prstGeom>
          <a:noFill/>
        </p:spPr>
        <p:txBody>
          <a:bodyPr wrap="square" anchor="ctr">
            <a:spAutoFit/>
          </a:bodyPr>
          <a:lstStyle/>
          <a:p>
            <a:pPr algn="l">
              <a:spcAft>
                <a:spcPts val="400"/>
              </a:spcAft>
            </a:pPr>
            <a:r>
              <a:rPr sz="1000" b="0">
                <a:solidFill>
                  <a:srgbClr val="161B26"/>
                </a:solidFill>
                <a:latin typeface="Arial"/>
              </a:rPr>
              <a:t>Who and where</a:t>
            </a:r>
          </a:p>
        </p:txBody>
      </p:sp>
      <p:sp>
        <p:nvSpPr>
          <p:cNvPr id="21" name="Rectangle 20"/>
          <p:cNvSpPr/>
          <p:nvPr/>
        </p:nvSpPr>
        <p:spPr>
          <a:xfrm>
            <a:off x="9072127" y="2522220"/>
            <a:ext cx="2339583" cy="7391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81855" y="2522220"/>
            <a:ext cx="2156703" cy="739140"/>
          </a:xfrm>
          <a:prstGeom prst="rect">
            <a:avLst/>
          </a:prstGeom>
          <a:noFill/>
        </p:spPr>
        <p:txBody>
          <a:bodyPr wrap="square" anchor="ctr">
            <a:spAutoFit/>
          </a:bodyPr>
          <a:lstStyle/>
          <a:p>
            <a:pPr algn="l">
              <a:spcAft>
                <a:spcPts val="400"/>
              </a:spcAft>
            </a:pPr>
            <a:r>
              <a:rPr sz="1000" b="0">
                <a:solidFill>
                  <a:srgbClr val="161B26"/>
                </a:solidFill>
                <a:latin typeface="Arial"/>
              </a:rPr>
              <a:t>Not the motion</a:t>
            </a:r>
          </a:p>
        </p:txBody>
      </p:sp>
      <p:sp>
        <p:nvSpPr>
          <p:cNvPr id="23" name="Rectangle 22"/>
          <p:cNvSpPr/>
          <p:nvPr/>
        </p:nvSpPr>
        <p:spPr>
          <a:xfrm>
            <a:off x="777240" y="3261360"/>
            <a:ext cx="2339583" cy="7391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6968" y="3261360"/>
            <a:ext cx="2156703" cy="739140"/>
          </a:xfrm>
          <a:prstGeom prst="rect">
            <a:avLst/>
          </a:prstGeom>
          <a:noFill/>
        </p:spPr>
        <p:txBody>
          <a:bodyPr wrap="square" anchor="ctr">
            <a:spAutoFit/>
          </a:bodyPr>
          <a:lstStyle/>
          <a:p>
            <a:pPr algn="l">
              <a:spcAft>
                <a:spcPts val="400"/>
              </a:spcAft>
            </a:pPr>
            <a:r>
              <a:rPr sz="1000" b="1">
                <a:solidFill>
                  <a:srgbClr val="161B26"/>
                </a:solidFill>
                <a:latin typeface="Arial"/>
              </a:rPr>
              <a:t>Start frame</a:t>
            </a:r>
          </a:p>
        </p:txBody>
      </p:sp>
      <p:sp>
        <p:nvSpPr>
          <p:cNvPr id="25" name="Rectangle 24"/>
          <p:cNvSpPr/>
          <p:nvPr/>
        </p:nvSpPr>
        <p:spPr>
          <a:xfrm>
            <a:off x="3116823" y="3261360"/>
            <a:ext cx="2977652" cy="7391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26551" y="3261360"/>
            <a:ext cx="2794772" cy="739140"/>
          </a:xfrm>
          <a:prstGeom prst="rect">
            <a:avLst/>
          </a:prstGeom>
          <a:noFill/>
        </p:spPr>
        <p:txBody>
          <a:bodyPr wrap="square" anchor="ctr">
            <a:spAutoFit/>
          </a:bodyPr>
          <a:lstStyle/>
          <a:p>
            <a:pPr algn="l">
              <a:spcAft>
                <a:spcPts val="400"/>
              </a:spcAft>
            </a:pPr>
            <a:r>
              <a:rPr sz="1000" b="0">
                <a:solidFill>
                  <a:srgbClr val="161B26"/>
                </a:solidFill>
                <a:latin typeface="Arial"/>
              </a:rPr>
              <a:t>The graded still the shot begins on</a:t>
            </a:r>
          </a:p>
        </p:txBody>
      </p:sp>
      <p:sp>
        <p:nvSpPr>
          <p:cNvPr id="27" name="Rectangle 26"/>
          <p:cNvSpPr/>
          <p:nvPr/>
        </p:nvSpPr>
        <p:spPr>
          <a:xfrm>
            <a:off x="6094475" y="3261360"/>
            <a:ext cx="2977652" cy="7391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04203" y="3261360"/>
            <a:ext cx="2794772" cy="739140"/>
          </a:xfrm>
          <a:prstGeom prst="rect">
            <a:avLst/>
          </a:prstGeom>
          <a:noFill/>
        </p:spPr>
        <p:txBody>
          <a:bodyPr wrap="square" anchor="ctr">
            <a:spAutoFit/>
          </a:bodyPr>
          <a:lstStyle/>
          <a:p>
            <a:pPr algn="l">
              <a:spcAft>
                <a:spcPts val="400"/>
              </a:spcAft>
            </a:pPr>
            <a:r>
              <a:rPr sz="1000" b="0">
                <a:solidFill>
                  <a:srgbClr val="161B26"/>
                </a:solidFill>
                <a:latin typeface="Arial"/>
              </a:rPr>
              <a:t>Composition, look, placement</a:t>
            </a:r>
          </a:p>
        </p:txBody>
      </p:sp>
      <p:sp>
        <p:nvSpPr>
          <p:cNvPr id="29" name="Rectangle 28"/>
          <p:cNvSpPr/>
          <p:nvPr/>
        </p:nvSpPr>
        <p:spPr>
          <a:xfrm>
            <a:off x="9072127" y="3261360"/>
            <a:ext cx="2339583" cy="7391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81855" y="3261360"/>
            <a:ext cx="2156703" cy="739140"/>
          </a:xfrm>
          <a:prstGeom prst="rect">
            <a:avLst/>
          </a:prstGeom>
          <a:noFill/>
        </p:spPr>
        <p:txBody>
          <a:bodyPr wrap="square" anchor="ctr">
            <a:spAutoFit/>
          </a:bodyPr>
          <a:lstStyle/>
          <a:p>
            <a:pPr algn="l">
              <a:spcAft>
                <a:spcPts val="400"/>
              </a:spcAft>
            </a:pPr>
            <a:r>
              <a:rPr sz="1000" b="0">
                <a:solidFill>
                  <a:srgbClr val="161B26"/>
                </a:solidFill>
                <a:latin typeface="Arial"/>
              </a:rPr>
              <a:t>The end can wander</a:t>
            </a:r>
          </a:p>
        </p:txBody>
      </p:sp>
      <p:sp>
        <p:nvSpPr>
          <p:cNvPr id="31" name="Rectangle 30"/>
          <p:cNvSpPr/>
          <p:nvPr/>
        </p:nvSpPr>
        <p:spPr>
          <a:xfrm>
            <a:off x="777240" y="4000500"/>
            <a:ext cx="2339583" cy="7391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4000500"/>
            <a:ext cx="2156703" cy="739140"/>
          </a:xfrm>
          <a:prstGeom prst="rect">
            <a:avLst/>
          </a:prstGeom>
          <a:noFill/>
        </p:spPr>
        <p:txBody>
          <a:bodyPr wrap="square" anchor="ctr">
            <a:spAutoFit/>
          </a:bodyPr>
          <a:lstStyle/>
          <a:p>
            <a:pPr algn="l">
              <a:spcAft>
                <a:spcPts val="400"/>
              </a:spcAft>
            </a:pPr>
            <a:r>
              <a:rPr sz="1000" b="1">
                <a:solidFill>
                  <a:srgbClr val="161B26"/>
                </a:solidFill>
                <a:latin typeface="Arial"/>
              </a:rPr>
              <a:t>Start + end frame</a:t>
            </a:r>
          </a:p>
        </p:txBody>
      </p:sp>
      <p:sp>
        <p:nvSpPr>
          <p:cNvPr id="33" name="Rectangle 32"/>
          <p:cNvSpPr/>
          <p:nvPr/>
        </p:nvSpPr>
        <p:spPr>
          <a:xfrm>
            <a:off x="3116823" y="4000500"/>
            <a:ext cx="2977652" cy="7391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226551" y="4000500"/>
            <a:ext cx="2794772" cy="739140"/>
          </a:xfrm>
          <a:prstGeom prst="rect">
            <a:avLst/>
          </a:prstGeom>
          <a:noFill/>
        </p:spPr>
        <p:txBody>
          <a:bodyPr wrap="square" anchor="ctr">
            <a:spAutoFit/>
          </a:bodyPr>
          <a:lstStyle/>
          <a:p>
            <a:pPr algn="l">
              <a:spcAft>
                <a:spcPts val="400"/>
              </a:spcAft>
            </a:pPr>
            <a:r>
              <a:rPr sz="1000" b="0">
                <a:solidFill>
                  <a:srgbClr val="161B26"/>
                </a:solidFill>
                <a:latin typeface="Arial"/>
              </a:rPr>
              <a:t>Where the shot begins and lands</a:t>
            </a:r>
          </a:p>
        </p:txBody>
      </p:sp>
      <p:sp>
        <p:nvSpPr>
          <p:cNvPr id="35" name="Rectangle 34"/>
          <p:cNvSpPr/>
          <p:nvPr/>
        </p:nvSpPr>
        <p:spPr>
          <a:xfrm>
            <a:off x="6094475" y="4000500"/>
            <a:ext cx="2977652" cy="7391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04203" y="4000500"/>
            <a:ext cx="2794772" cy="739140"/>
          </a:xfrm>
          <a:prstGeom prst="rect">
            <a:avLst/>
          </a:prstGeom>
          <a:noFill/>
        </p:spPr>
        <p:txBody>
          <a:bodyPr wrap="square" anchor="ctr">
            <a:spAutoFit/>
          </a:bodyPr>
          <a:lstStyle/>
          <a:p>
            <a:pPr algn="l">
              <a:spcAft>
                <a:spcPts val="400"/>
              </a:spcAft>
            </a:pPr>
            <a:r>
              <a:rPr sz="1000" b="0">
                <a:solidFill>
                  <a:srgbClr val="161B26"/>
                </a:solidFill>
                <a:latin typeface="Arial"/>
              </a:rPr>
              <a:t>The whole path of the shot</a:t>
            </a:r>
          </a:p>
        </p:txBody>
      </p:sp>
      <p:sp>
        <p:nvSpPr>
          <p:cNvPr id="37" name="Rectangle 36"/>
          <p:cNvSpPr/>
          <p:nvPr/>
        </p:nvSpPr>
        <p:spPr>
          <a:xfrm>
            <a:off x="9072127" y="4000500"/>
            <a:ext cx="2339583" cy="7391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81855" y="4000500"/>
            <a:ext cx="2156703" cy="739140"/>
          </a:xfrm>
          <a:prstGeom prst="rect">
            <a:avLst/>
          </a:prstGeom>
          <a:noFill/>
        </p:spPr>
        <p:txBody>
          <a:bodyPr wrap="square" anchor="ctr">
            <a:spAutoFit/>
          </a:bodyPr>
          <a:lstStyle/>
          <a:p>
            <a:pPr algn="l">
              <a:spcAft>
                <a:spcPts val="400"/>
              </a:spcAft>
            </a:pPr>
            <a:r>
              <a:rPr sz="1000" b="0">
                <a:solidFill>
                  <a:srgbClr val="161B26"/>
                </a:solidFill>
                <a:latin typeface="Arial"/>
              </a:rPr>
              <a:t>Mood can reset at the cut</a:t>
            </a:r>
          </a:p>
        </p:txBody>
      </p:sp>
      <p:sp>
        <p:nvSpPr>
          <p:cNvPr id="39" name="Rectangle 38"/>
          <p:cNvSpPr/>
          <p:nvPr/>
        </p:nvSpPr>
        <p:spPr>
          <a:xfrm>
            <a:off x="777240" y="4739640"/>
            <a:ext cx="2339583" cy="7391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86968" y="4739640"/>
            <a:ext cx="2156703" cy="739140"/>
          </a:xfrm>
          <a:prstGeom prst="rect">
            <a:avLst/>
          </a:prstGeom>
          <a:noFill/>
        </p:spPr>
        <p:txBody>
          <a:bodyPr wrap="square" anchor="ctr">
            <a:spAutoFit/>
          </a:bodyPr>
          <a:lstStyle/>
          <a:p>
            <a:pPr algn="l">
              <a:spcAft>
                <a:spcPts val="400"/>
              </a:spcAft>
            </a:pPr>
            <a:r>
              <a:rPr sz="1000" b="1">
                <a:solidFill>
                  <a:srgbClr val="161B26"/>
                </a:solidFill>
                <a:latin typeface="Arial"/>
              </a:rPr>
              <a:t>Video reference / extension</a:t>
            </a:r>
          </a:p>
        </p:txBody>
      </p:sp>
      <p:sp>
        <p:nvSpPr>
          <p:cNvPr id="41" name="Rectangle 40"/>
          <p:cNvSpPr/>
          <p:nvPr/>
        </p:nvSpPr>
        <p:spPr>
          <a:xfrm>
            <a:off x="3116823" y="4739640"/>
            <a:ext cx="2977652" cy="7391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226551" y="4739640"/>
            <a:ext cx="2794772" cy="739140"/>
          </a:xfrm>
          <a:prstGeom prst="rect">
            <a:avLst/>
          </a:prstGeom>
          <a:noFill/>
        </p:spPr>
        <p:txBody>
          <a:bodyPr wrap="square" anchor="ctr">
            <a:spAutoFit/>
          </a:bodyPr>
          <a:lstStyle/>
          <a:p>
            <a:pPr algn="l">
              <a:spcAft>
                <a:spcPts val="400"/>
              </a:spcAft>
            </a:pPr>
            <a:r>
              <a:rPr sz="1000" b="0">
                <a:solidFill>
                  <a:srgbClr val="161B26"/>
                </a:solidFill>
                <a:latin typeface="Arial"/>
              </a:rPr>
              <a:t>The entire previous clip</a:t>
            </a:r>
          </a:p>
        </p:txBody>
      </p:sp>
      <p:sp>
        <p:nvSpPr>
          <p:cNvPr id="43" name="Rectangle 42"/>
          <p:cNvSpPr/>
          <p:nvPr/>
        </p:nvSpPr>
        <p:spPr>
          <a:xfrm>
            <a:off x="6094475" y="4739640"/>
            <a:ext cx="2977652" cy="7391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04203" y="4739640"/>
            <a:ext cx="2794772" cy="739140"/>
          </a:xfrm>
          <a:prstGeom prst="rect">
            <a:avLst/>
          </a:prstGeom>
          <a:noFill/>
        </p:spPr>
        <p:txBody>
          <a:bodyPr wrap="square" anchor="ctr">
            <a:spAutoFit/>
          </a:bodyPr>
          <a:lstStyle/>
          <a:p>
            <a:pPr algn="l">
              <a:spcAft>
                <a:spcPts val="400"/>
              </a:spcAft>
            </a:pPr>
            <a:r>
              <a:rPr sz="1000" b="0">
                <a:solidFill>
                  <a:srgbClr val="161B26"/>
                </a:solidFill>
                <a:latin typeface="Arial"/>
              </a:rPr>
              <a:t>Light, mood, motion across the cut</a:t>
            </a:r>
          </a:p>
        </p:txBody>
      </p:sp>
      <p:sp>
        <p:nvSpPr>
          <p:cNvPr id="45" name="Rectangle 44"/>
          <p:cNvSpPr/>
          <p:nvPr/>
        </p:nvSpPr>
        <p:spPr>
          <a:xfrm>
            <a:off x="9072127" y="4739640"/>
            <a:ext cx="2339583" cy="7391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181855" y="4739640"/>
            <a:ext cx="2156703" cy="739140"/>
          </a:xfrm>
          <a:prstGeom prst="rect">
            <a:avLst/>
          </a:prstGeom>
          <a:noFill/>
        </p:spPr>
        <p:txBody>
          <a:bodyPr wrap="square" anchor="ctr">
            <a:spAutoFit/>
          </a:bodyPr>
          <a:lstStyle/>
          <a:p>
            <a:pPr algn="l">
              <a:spcAft>
                <a:spcPts val="400"/>
              </a:spcAft>
            </a:pPr>
            <a:r>
              <a:rPr sz="1000" b="0">
                <a:solidFill>
                  <a:srgbClr val="161B26"/>
                </a:solidFill>
                <a:latin typeface="Arial"/>
              </a:rPr>
              <a:t>Errors carry over too</a:t>
            </a:r>
          </a:p>
        </p:txBody>
      </p:sp>
      <p:sp>
        <p:nvSpPr>
          <p:cNvPr id="47" name="Rectangle 46"/>
          <p:cNvSpPr/>
          <p:nvPr/>
        </p:nvSpPr>
        <p:spPr>
          <a:xfrm>
            <a:off x="777240" y="5478780"/>
            <a:ext cx="2339583" cy="7391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86968" y="5478780"/>
            <a:ext cx="2156703" cy="739140"/>
          </a:xfrm>
          <a:prstGeom prst="rect">
            <a:avLst/>
          </a:prstGeom>
          <a:noFill/>
        </p:spPr>
        <p:txBody>
          <a:bodyPr wrap="square" anchor="ctr">
            <a:spAutoFit/>
          </a:bodyPr>
          <a:lstStyle/>
          <a:p>
            <a:pPr algn="l">
              <a:spcAft>
                <a:spcPts val="400"/>
              </a:spcAft>
            </a:pPr>
            <a:r>
              <a:rPr sz="1000" b="1">
                <a:solidFill>
                  <a:srgbClr val="161B26"/>
                </a:solidFill>
                <a:latin typeface="Arial"/>
              </a:rPr>
              <a:t>Takes</a:t>
            </a:r>
          </a:p>
        </p:txBody>
      </p:sp>
      <p:sp>
        <p:nvSpPr>
          <p:cNvPr id="49" name="Rectangle 48"/>
          <p:cNvSpPr/>
          <p:nvPr/>
        </p:nvSpPr>
        <p:spPr>
          <a:xfrm>
            <a:off x="3116823" y="5478780"/>
            <a:ext cx="2977652" cy="7391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226551" y="5478780"/>
            <a:ext cx="2794772" cy="739140"/>
          </a:xfrm>
          <a:prstGeom prst="rect">
            <a:avLst/>
          </a:prstGeom>
          <a:noFill/>
        </p:spPr>
        <p:txBody>
          <a:bodyPr wrap="square" anchor="ctr">
            <a:spAutoFit/>
          </a:bodyPr>
          <a:lstStyle/>
          <a:p>
            <a:pPr algn="l">
              <a:spcAft>
                <a:spcPts val="400"/>
              </a:spcAft>
            </a:pPr>
            <a:r>
              <a:rPr sz="1000" b="0">
                <a:solidFill>
                  <a:srgbClr val="161B26"/>
                </a:solidFill>
                <a:latin typeface="Arial"/>
              </a:rPr>
              <a:t>Several generations of one shot</a:t>
            </a:r>
          </a:p>
        </p:txBody>
      </p:sp>
      <p:sp>
        <p:nvSpPr>
          <p:cNvPr id="51" name="Rectangle 50"/>
          <p:cNvSpPr/>
          <p:nvPr/>
        </p:nvSpPr>
        <p:spPr>
          <a:xfrm>
            <a:off x="6094475" y="5478780"/>
            <a:ext cx="2977652" cy="7391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04203" y="5478780"/>
            <a:ext cx="2794772" cy="739140"/>
          </a:xfrm>
          <a:prstGeom prst="rect">
            <a:avLst/>
          </a:prstGeom>
          <a:noFill/>
        </p:spPr>
        <p:txBody>
          <a:bodyPr wrap="square" anchor="ctr">
            <a:spAutoFit/>
          </a:bodyPr>
          <a:lstStyle/>
          <a:p>
            <a:pPr algn="l">
              <a:spcAft>
                <a:spcPts val="400"/>
              </a:spcAft>
            </a:pPr>
            <a:r>
              <a:rPr sz="1000" b="0">
                <a:solidFill>
                  <a:srgbClr val="161B26"/>
                </a:solidFill>
                <a:latin typeface="Arial"/>
              </a:rPr>
              <a:t>Luck: pick the best performance</a:t>
            </a:r>
          </a:p>
        </p:txBody>
      </p:sp>
      <p:sp>
        <p:nvSpPr>
          <p:cNvPr id="53" name="Rectangle 52"/>
          <p:cNvSpPr/>
          <p:nvPr/>
        </p:nvSpPr>
        <p:spPr>
          <a:xfrm>
            <a:off x="9072127" y="5478780"/>
            <a:ext cx="2339583" cy="7391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181855" y="5478780"/>
            <a:ext cx="2156703" cy="739140"/>
          </a:xfrm>
          <a:prstGeom prst="rect">
            <a:avLst/>
          </a:prstGeom>
          <a:noFill/>
        </p:spPr>
        <p:txBody>
          <a:bodyPr wrap="square" anchor="ctr">
            <a:spAutoFit/>
          </a:bodyPr>
          <a:lstStyle/>
          <a:p>
            <a:pPr algn="l">
              <a:spcAft>
                <a:spcPts val="400"/>
              </a:spcAft>
            </a:pPr>
            <a:r>
              <a:rPr sz="1000" b="0">
                <a:solidFill>
                  <a:srgbClr val="161B26"/>
                </a:solidFill>
                <a:latin typeface="Arial"/>
              </a:rPr>
              <a:t>Multiplies credits</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ransition spd="fast">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A5 · SEEN IN CURRENT CINEMATIC VIDEO TOOLS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Director Controls in a Video Generator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823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GENRE AND STYLE</a:t>
            </a:r>
          </a:p>
          <a:p>
            <a:pPr algn="l">
              <a:spcAft>
                <a:spcPts val="200"/>
              </a:spcAft>
            </a:pPr>
            <a:r>
              <a:rPr sz="1000" b="0">
                <a:solidFill>
                  <a:srgbClr val="5B6372"/>
                </a:solidFill>
                <a:latin typeface="Arial"/>
              </a:rPr>
              <a:t>Action, drama, horror — sets pacing and visual register.</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8236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CAMERA MOVEMENT</a:t>
            </a:r>
          </a:p>
          <a:p>
            <a:pPr algn="l">
              <a:spcAft>
                <a:spcPts val="200"/>
              </a:spcAft>
            </a:pPr>
            <a:r>
              <a:rPr sz="1000" b="0">
                <a:solidFill>
                  <a:srgbClr val="5B6372"/>
                </a:solidFill>
                <a:latin typeface="Arial"/>
              </a:rPr>
              <a:t>Choose one move, or let the model pick for a single beat.</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04616"/>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SPEED RAMP</a:t>
            </a:r>
          </a:p>
          <a:p>
            <a:pPr algn="l">
              <a:spcAft>
                <a:spcPts val="200"/>
              </a:spcAft>
            </a:pPr>
            <a:r>
              <a:rPr sz="1000" b="0">
                <a:solidFill>
                  <a:srgbClr val="5B6372"/>
                </a:solidFill>
                <a:latin typeface="Arial"/>
              </a:rPr>
              <a:t>Slow motion on one moment, real time elsewhere.</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04616"/>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DURATION, RESOLUTION, ASPECT</a:t>
            </a:r>
          </a:p>
          <a:p>
            <a:pPr algn="l">
              <a:spcAft>
                <a:spcPts val="200"/>
              </a:spcAft>
            </a:pPr>
            <a:r>
              <a:rPr sz="1000" b="0">
                <a:solidFill>
                  <a:srgbClr val="5B6372"/>
                </a:solidFill>
                <a:latin typeface="Arial"/>
              </a:rPr>
              <a:t>Draft short and small; match the delivery ratio.</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256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34712"/>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EMOTION AND INTENSITY</a:t>
            </a:r>
          </a:p>
          <a:p>
            <a:pPr algn="l">
              <a:spcAft>
                <a:spcPts val="200"/>
              </a:spcAft>
            </a:pPr>
            <a:r>
              <a:rPr sz="1000" b="0">
                <a:solidFill>
                  <a:srgbClr val="5B6372"/>
                </a:solidFill>
                <a:latin typeface="Arial"/>
              </a:rPr>
              <a:t>Per character: vigilance, rage, trust — low to high.</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256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34712"/>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AUDIO ON / OFF</a:t>
            </a:r>
          </a:p>
          <a:p>
            <a:pPr algn="l">
              <a:spcAft>
                <a:spcPts val="200"/>
              </a:spcAft>
            </a:pPr>
            <a:r>
              <a:rPr sz="1000" b="0">
                <a:solidFill>
                  <a:srgbClr val="5B6372"/>
                </a:solidFill>
                <a:latin typeface="Arial"/>
              </a:rPr>
              <a:t>Native dialogue and ambience, or silent for your own mix.</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transition spd="fast">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A5 · LAB 09 SHOT S5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 Multi-Shot Prompt with Dialogue and Emotion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400800" cy="44348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938528"/>
            <a:ext cx="6035040" cy="4123944"/>
          </a:xfrm>
          <a:prstGeom prst="rect">
            <a:avLst/>
          </a:prstGeom>
          <a:noFill/>
        </p:spPr>
        <p:txBody>
          <a:bodyPr wrap="none" lIns="0" rIns="0" tIns="0" bIns="0" anchor="t">
            <a:noAutofit/>
          </a:bodyPr>
          <a:lstStyle/>
          <a:p>
            <a:pPr>
              <a:spcAft>
                <a:spcPts val="100"/>
              </a:spcAft>
            </a:pPr>
            <a:r>
              <a:rPr sz="1200">
                <a:solidFill>
                  <a:srgbClr val="9CDCFE"/>
                </a:solidFill>
                <a:latin typeface="Consolas"/>
              </a:rPr>
              <a:t>@mei @captain_tan @harbour_pier_docked @red_box</a:t>
            </a:r>
          </a:p>
          <a:p>
            <a:pPr>
              <a:spcAft>
                <a:spcPts val="100"/>
              </a:spcAft>
            </a:pPr>
            <a:r>
              <a:rPr sz="1200">
                <a:solidFill>
                  <a:srgbClr val="9CDCFE"/>
                </a:solidFill>
                <a:latin typeface="Consolas"/>
              </a:rPr>
              <a:t>Duration 6 s, 16:9, medium two-shot, over-the-shoulder, static.</a:t>
            </a:r>
          </a:p>
          <a:p>
            <a:pPr>
              <a:spcAft>
                <a:spcPts val="100"/>
              </a:spcAft>
            </a:pPr>
            <a:r>
              <a:rPr sz="1200">
                <a:solidFill>
                  <a:srgbClr val="9CDCFE"/>
                </a:solidFill>
                <a:latin typeface="Consolas"/>
              </a:rPr>
              <a:t> </a:t>
            </a:r>
          </a:p>
          <a:p>
            <a:pPr>
              <a:spcAft>
                <a:spcPts val="100"/>
              </a:spcAft>
            </a:pPr>
            <a:r>
              <a:rPr sz="1200">
                <a:solidFill>
                  <a:srgbClr val="9CDCFE"/>
                </a:solidFill>
                <a:latin typeface="Consolas"/>
              </a:rPr>
              <a:t>Shot 1: MEI, out of breath, holds out the red box.</a:t>
            </a:r>
          </a:p>
          <a:p>
            <a:pPr>
              <a:spcAft>
                <a:spcPts val="100"/>
              </a:spcAft>
            </a:pPr>
            <a:r>
              <a:rPr sz="1200">
                <a:solidFill>
                  <a:srgbClr val="9CDCFE"/>
                </a:solidFill>
                <a:latin typeface="Consolas"/>
              </a:rPr>
              <a:t>Shot 2: CAPTAIN TAN (warm, intensity medium) does not take it;</a:t>
            </a:r>
          </a:p>
          <a:p>
            <a:pPr>
              <a:spcAft>
                <a:spcPts val="100"/>
              </a:spcAft>
            </a:pPr>
            <a:r>
              <a:rPr sz="1200">
                <a:solidFill>
                  <a:srgbClr val="9CDCFE"/>
                </a:solidFill>
                <a:latin typeface="Consolas"/>
              </a:rPr>
              <a:t>        he nods at the folded tag.</a:t>
            </a:r>
          </a:p>
          <a:p>
            <a:pPr>
              <a:spcAft>
                <a:spcPts val="100"/>
              </a:spcAft>
            </a:pPr>
            <a:r>
              <a:rPr sz="1200">
                <a:solidFill>
                  <a:srgbClr val="9CDCFE"/>
                </a:solidFill>
                <a:latin typeface="Consolas"/>
              </a:rPr>
              <a:t>        CAPTAIN TAN: "It's not for me. Read the tag."</a:t>
            </a:r>
          </a:p>
          <a:p>
            <a:pPr>
              <a:spcAft>
                <a:spcPts val="100"/>
              </a:spcAft>
            </a:pPr>
            <a:r>
              <a:rPr sz="1200">
                <a:solidFill>
                  <a:srgbClr val="9CDCFE"/>
                </a:solidFill>
                <a:latin typeface="Consolas"/>
              </a:rPr>
              <a:t>Shot 3: close on MEI's face (curious, intensity low).</a:t>
            </a:r>
          </a:p>
          <a:p>
            <a:pPr>
              <a:spcAft>
                <a:spcPts val="100"/>
              </a:spcAft>
            </a:pPr>
            <a:r>
              <a:rPr sz="1200">
                <a:solidFill>
                  <a:srgbClr val="9CDCFE"/>
                </a:solidFill>
                <a:latin typeface="Consolas"/>
              </a:rPr>
              <a:t> </a:t>
            </a:r>
          </a:p>
          <a:p>
            <a:pPr>
              <a:spcAft>
                <a:spcPts val="100"/>
              </a:spcAft>
            </a:pPr>
            <a:r>
              <a:rPr sz="1200">
                <a:solidFill>
                  <a:srgbClr val="9CDCFE"/>
                </a:solidFill>
                <a:latin typeface="Consolas"/>
              </a:rPr>
              <a:t>Look: blue hour, teal shadows, warm sodium lamp, light rain.</a:t>
            </a:r>
          </a:p>
          <a:p>
            <a:pPr>
              <a:spcAft>
                <a:spcPts val="100"/>
              </a:spcAft>
            </a:pPr>
            <a:r>
              <a:rPr sz="1200">
                <a:solidFill>
                  <a:srgbClr val="9CDCFE"/>
                </a:solidFill>
                <a:latin typeface="Consolas"/>
              </a:rPr>
              <a:t>Constraints: coat and scarf exactly as @mei; no extra people.</a:t>
            </a:r>
          </a:p>
        </p:txBody>
      </p:sp>
      <p:sp>
        <p:nvSpPr>
          <p:cNvPr id="9" name="Rectangle 8"/>
          <p:cNvSpPr/>
          <p:nvPr/>
        </p:nvSpPr>
        <p:spPr>
          <a:xfrm>
            <a:off x="7406640" y="1783080"/>
            <a:ext cx="4005072" cy="98526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06640" y="1783080"/>
            <a:ext cx="82296" cy="98526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26096" y="1783080"/>
            <a:ext cx="3602736" cy="985266"/>
          </a:xfrm>
          <a:prstGeom prst="rect">
            <a:avLst/>
          </a:prstGeom>
          <a:noFill/>
        </p:spPr>
        <p:txBody>
          <a:bodyPr wrap="square" anchor="ctr">
            <a:spAutoFit/>
          </a:bodyPr>
          <a:lstStyle/>
          <a:p>
            <a:pPr algn="l">
              <a:spcAft>
                <a:spcPts val="200"/>
              </a:spcAft>
            </a:pPr>
            <a:r>
              <a:rPr sz="1300" b="1">
                <a:solidFill>
                  <a:srgbClr val="1F6FEB"/>
                </a:solidFill>
                <a:latin typeface="Arial"/>
              </a:rPr>
              <a:t>Shots in order</a:t>
            </a:r>
          </a:p>
          <a:p>
            <a:pPr algn="l">
              <a:spcAft>
                <a:spcPts val="200"/>
              </a:spcAft>
            </a:pPr>
            <a:r>
              <a:rPr sz="1150" b="0">
                <a:solidFill>
                  <a:srgbClr val="161B26"/>
                </a:solidFill>
                <a:latin typeface="Arial"/>
              </a:rPr>
              <a:t>One line per shot so the model need not guess timing.</a:t>
            </a:r>
          </a:p>
        </p:txBody>
      </p:sp>
      <p:sp>
        <p:nvSpPr>
          <p:cNvPr id="12" name="Rectangle 11"/>
          <p:cNvSpPr/>
          <p:nvPr/>
        </p:nvSpPr>
        <p:spPr>
          <a:xfrm>
            <a:off x="7406640" y="2932938"/>
            <a:ext cx="4005072" cy="98526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406640" y="2932938"/>
            <a:ext cx="82296" cy="98526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26096" y="2932938"/>
            <a:ext cx="3602736" cy="985266"/>
          </a:xfrm>
          <a:prstGeom prst="rect">
            <a:avLst/>
          </a:prstGeom>
          <a:noFill/>
        </p:spPr>
        <p:txBody>
          <a:bodyPr wrap="square" anchor="ctr">
            <a:spAutoFit/>
          </a:bodyPr>
          <a:lstStyle/>
          <a:p>
            <a:pPr algn="l">
              <a:spcAft>
                <a:spcPts val="200"/>
              </a:spcAft>
            </a:pPr>
            <a:r>
              <a:rPr sz="1300" b="1">
                <a:solidFill>
                  <a:srgbClr val="10B981"/>
                </a:solidFill>
                <a:latin typeface="Arial"/>
              </a:rPr>
              <a:t>Dialogue in quotes</a:t>
            </a:r>
          </a:p>
          <a:p>
            <a:pPr algn="l">
              <a:spcAft>
                <a:spcPts val="200"/>
              </a:spcAft>
            </a:pPr>
            <a:r>
              <a:rPr sz="1150" b="0">
                <a:solidFill>
                  <a:srgbClr val="161B26"/>
                </a:solidFill>
                <a:latin typeface="Arial"/>
              </a:rPr>
              <a:t>Read as a voice line for that character.</a:t>
            </a:r>
          </a:p>
        </p:txBody>
      </p:sp>
      <p:sp>
        <p:nvSpPr>
          <p:cNvPr id="15" name="Rectangle 14"/>
          <p:cNvSpPr/>
          <p:nvPr/>
        </p:nvSpPr>
        <p:spPr>
          <a:xfrm>
            <a:off x="7406640" y="4082796"/>
            <a:ext cx="4005072" cy="98526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06640" y="4082796"/>
            <a:ext cx="82296" cy="9852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26096" y="4082796"/>
            <a:ext cx="3602736" cy="985266"/>
          </a:xfrm>
          <a:prstGeom prst="rect">
            <a:avLst/>
          </a:prstGeom>
          <a:noFill/>
        </p:spPr>
        <p:txBody>
          <a:bodyPr wrap="square" anchor="ctr">
            <a:spAutoFit/>
          </a:bodyPr>
          <a:lstStyle/>
          <a:p>
            <a:pPr algn="l">
              <a:spcAft>
                <a:spcPts val="200"/>
              </a:spcAft>
            </a:pPr>
            <a:r>
              <a:rPr sz="1300" b="1">
                <a:solidFill>
                  <a:srgbClr val="7C3AED"/>
                </a:solidFill>
                <a:latin typeface="Arial"/>
              </a:rPr>
              <a:t>Emotion per character</a:t>
            </a:r>
          </a:p>
          <a:p>
            <a:pPr algn="l">
              <a:spcAft>
                <a:spcPts val="200"/>
              </a:spcAft>
            </a:pPr>
            <a:r>
              <a:rPr sz="1150" b="0">
                <a:solidFill>
                  <a:srgbClr val="161B26"/>
                </a:solidFill>
                <a:latin typeface="Arial"/>
              </a:rPr>
              <a:t>With an intensity, like directing a cast.</a:t>
            </a:r>
          </a:p>
        </p:txBody>
      </p:sp>
      <p:sp>
        <p:nvSpPr>
          <p:cNvPr id="18" name="Rectangle 17"/>
          <p:cNvSpPr/>
          <p:nvPr/>
        </p:nvSpPr>
        <p:spPr>
          <a:xfrm>
            <a:off x="7406640" y="5232654"/>
            <a:ext cx="4005072" cy="98526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406640" y="5232654"/>
            <a:ext cx="82296" cy="98526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26096" y="5232654"/>
            <a:ext cx="3602736" cy="985266"/>
          </a:xfrm>
          <a:prstGeom prst="rect">
            <a:avLst/>
          </a:prstGeom>
          <a:noFill/>
        </p:spPr>
        <p:txBody>
          <a:bodyPr wrap="square" anchor="ctr">
            <a:spAutoFit/>
          </a:bodyPr>
          <a:lstStyle/>
          <a:p>
            <a:pPr algn="l">
              <a:spcAft>
                <a:spcPts val="200"/>
              </a:spcAft>
            </a:pPr>
            <a:r>
              <a:rPr sz="1300" b="1">
                <a:solidFill>
                  <a:srgbClr val="F59E0B"/>
                </a:solidFill>
                <a:latin typeface="Arial"/>
              </a:rPr>
              <a:t>Constraints last</a:t>
            </a:r>
          </a:p>
          <a:p>
            <a:pPr algn="l">
              <a:spcAft>
                <a:spcPts val="200"/>
              </a:spcAft>
            </a:pPr>
            <a:r>
              <a:rPr sz="1150" b="0">
                <a:solidFill>
                  <a:srgbClr val="161B26"/>
                </a:solidFill>
                <a:latin typeface="Arial"/>
              </a:rPr>
              <a:t>What must not change, stated plainly.</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ransition spd="fast">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A5 · GENERATED BY storyboard.py prompts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 Timeline Prompt, Second by Second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400800" cy="44348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938528"/>
            <a:ext cx="6035040" cy="4123944"/>
          </a:xfrm>
          <a:prstGeom prst="rect">
            <a:avLst/>
          </a:prstGeom>
          <a:noFill/>
        </p:spPr>
        <p:txBody>
          <a:bodyPr wrap="none" lIns="0" rIns="0" tIns="0" bIns="0" anchor="t">
            <a:noAutofit/>
          </a:bodyPr>
          <a:lstStyle/>
          <a:p>
            <a:pPr>
              <a:spcAft>
                <a:spcPts val="100"/>
              </a:spcAft>
            </a:pPr>
            <a:r>
              <a:rPr sz="1250">
                <a:solidFill>
                  <a:srgbClr val="9CDCFE"/>
                </a:solidFill>
                <a:latin typeface="Consolas"/>
              </a:rPr>
              <a:t>SHOT S1 (8 s, 16:9) — wide, eye level, slow pan right, 24mm</a:t>
            </a:r>
          </a:p>
          <a:p>
            <a:pPr>
              <a:spcAft>
                <a:spcPts val="100"/>
              </a:spcAft>
            </a:pPr>
            <a:r>
              <a:rPr sz="1250">
                <a:solidFill>
                  <a:srgbClr val="9CDCFE"/>
                </a:solidFill>
                <a:latin typeface="Consolas"/>
              </a:rPr>
              <a:t>[0.0s] Lanterns sway; the camera finds MEI in the crowd.</a:t>
            </a:r>
          </a:p>
          <a:p>
            <a:pPr>
              <a:spcAft>
                <a:spcPts val="100"/>
              </a:spcAft>
            </a:pPr>
            <a:r>
              <a:rPr sz="1250">
                <a:solidFill>
                  <a:srgbClr val="9CDCFE"/>
                </a:solidFill>
                <a:latin typeface="Consolas"/>
              </a:rPr>
              <a:t>[1.0s] MEI (V.O.) (breathless, medium):</a:t>
            </a:r>
          </a:p>
          <a:p>
            <a:pPr>
              <a:spcAft>
                <a:spcPts val="100"/>
              </a:spcAft>
            </a:pPr>
            <a:r>
              <a:rPr sz="1250">
                <a:solidFill>
                  <a:srgbClr val="9CDCFE"/>
                </a:solidFill>
                <a:latin typeface="Consolas"/>
              </a:rPr>
              <a:t>       "Last ferry leaves at midnight. Four minutes."</a:t>
            </a:r>
          </a:p>
          <a:p>
            <a:pPr>
              <a:spcAft>
                <a:spcPts val="100"/>
              </a:spcAft>
            </a:pPr>
            <a:r>
              <a:rPr sz="1250">
                <a:solidFill>
                  <a:srgbClr val="9CDCFE"/>
                </a:solidFill>
                <a:latin typeface="Consolas"/>
              </a:rPr>
              <a:t>[5.0s] She checks her watch without slowing.</a:t>
            </a:r>
          </a:p>
          <a:p>
            <a:pPr>
              <a:spcAft>
                <a:spcPts val="100"/>
              </a:spcAft>
            </a:pPr>
            <a:r>
              <a:rPr sz="1250">
                <a:solidFill>
                  <a:srgbClr val="9CDCFE"/>
                </a:solidFill>
                <a:latin typeface="Consolas"/>
              </a:rPr>
              <a:t> </a:t>
            </a:r>
          </a:p>
          <a:p>
            <a:pPr>
              <a:spcAft>
                <a:spcPts val="100"/>
              </a:spcAft>
            </a:pPr>
            <a:r>
              <a:rPr sz="1250">
                <a:solidFill>
                  <a:srgbClr val="9CDCFE"/>
                </a:solidFill>
                <a:latin typeface="Consolas"/>
              </a:rPr>
              <a:t>Start frame: reference/board/shot1_start.png</a:t>
            </a:r>
          </a:p>
          <a:p>
            <a:pPr>
              <a:spcAft>
                <a:spcPts val="100"/>
              </a:spcAft>
            </a:pPr>
            <a:r>
              <a:rPr sz="1250">
                <a:solidFill>
                  <a:srgbClr val="9CDCFE"/>
                </a:solidFill>
                <a:latin typeface="Consolas"/>
              </a:rPr>
              <a:t>End frame:   reference/board/shot1_end.png</a:t>
            </a:r>
          </a:p>
          <a:p>
            <a:pPr>
              <a:spcAft>
                <a:spcPts val="100"/>
              </a:spcAft>
            </a:pPr>
            <a:r>
              <a:rPr sz="1250">
                <a:solidFill>
                  <a:srgbClr val="9CDCFE"/>
                </a:solidFill>
                <a:latin typeface="Consolas"/>
              </a:rPr>
              <a:t>Takes: 1    Negative: extras in foreground, text, daylight</a:t>
            </a:r>
          </a:p>
        </p:txBody>
      </p:sp>
      <p:sp>
        <p:nvSpPr>
          <p:cNvPr id="9" name="Rectangle 8"/>
          <p:cNvSpPr/>
          <p:nvPr/>
        </p:nvSpPr>
        <p:spPr>
          <a:xfrm>
            <a:off x="7406640" y="1783080"/>
            <a:ext cx="4005072" cy="98526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06640" y="1783080"/>
            <a:ext cx="82296" cy="98526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26096" y="1783080"/>
            <a:ext cx="3602736" cy="985266"/>
          </a:xfrm>
          <a:prstGeom prst="rect">
            <a:avLst/>
          </a:prstGeom>
          <a:noFill/>
        </p:spPr>
        <p:txBody>
          <a:bodyPr wrap="square" anchor="ctr">
            <a:spAutoFit/>
          </a:bodyPr>
          <a:lstStyle/>
          <a:p>
            <a:pPr algn="l">
              <a:spcAft>
                <a:spcPts val="200"/>
              </a:spcAft>
            </a:pPr>
            <a:r>
              <a:rPr sz="1300" b="1">
                <a:solidFill>
                  <a:srgbClr val="1F6FEB"/>
                </a:solidFill>
                <a:latin typeface="Arial"/>
              </a:rPr>
              <a:t>Beats have times</a:t>
            </a:r>
          </a:p>
          <a:p>
            <a:pPr algn="l">
              <a:spcAft>
                <a:spcPts val="200"/>
              </a:spcAft>
            </a:pPr>
            <a:r>
              <a:rPr sz="1150" b="0">
                <a:solidFill>
                  <a:srgbClr val="161B26"/>
                </a:solidFill>
                <a:latin typeface="Arial"/>
              </a:rPr>
              <a:t>The voice line lands where the VO was recorded.</a:t>
            </a:r>
          </a:p>
        </p:txBody>
      </p:sp>
      <p:sp>
        <p:nvSpPr>
          <p:cNvPr id="12" name="Rectangle 11"/>
          <p:cNvSpPr/>
          <p:nvPr/>
        </p:nvSpPr>
        <p:spPr>
          <a:xfrm>
            <a:off x="7406640" y="2932938"/>
            <a:ext cx="4005072" cy="98526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406640" y="2932938"/>
            <a:ext cx="82296" cy="98526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26096" y="2932938"/>
            <a:ext cx="3602736" cy="985266"/>
          </a:xfrm>
          <a:prstGeom prst="rect">
            <a:avLst/>
          </a:prstGeom>
          <a:noFill/>
        </p:spPr>
        <p:txBody>
          <a:bodyPr wrap="square" anchor="ctr">
            <a:spAutoFit/>
          </a:bodyPr>
          <a:lstStyle/>
          <a:p>
            <a:pPr algn="l">
              <a:spcAft>
                <a:spcPts val="200"/>
              </a:spcAft>
            </a:pPr>
            <a:r>
              <a:rPr sz="1300" b="1">
                <a:solidFill>
                  <a:srgbClr val="10B981"/>
                </a:solidFill>
                <a:latin typeface="Arial"/>
              </a:rPr>
              <a:t>Start and end frames</a:t>
            </a:r>
          </a:p>
          <a:p>
            <a:pPr algn="l">
              <a:spcAft>
                <a:spcPts val="200"/>
              </a:spcAft>
            </a:pPr>
            <a:r>
              <a:rPr sz="1150" b="0">
                <a:solidFill>
                  <a:srgbClr val="161B26"/>
                </a:solidFill>
                <a:latin typeface="Arial"/>
              </a:rPr>
              <a:t>Fix where the shot begins and lands.</a:t>
            </a:r>
          </a:p>
        </p:txBody>
      </p:sp>
      <p:sp>
        <p:nvSpPr>
          <p:cNvPr id="15" name="Rectangle 14"/>
          <p:cNvSpPr/>
          <p:nvPr/>
        </p:nvSpPr>
        <p:spPr>
          <a:xfrm>
            <a:off x="7406640" y="4082796"/>
            <a:ext cx="4005072" cy="98526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06640" y="4082796"/>
            <a:ext cx="82296" cy="9852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26096" y="4082796"/>
            <a:ext cx="3602736" cy="985266"/>
          </a:xfrm>
          <a:prstGeom prst="rect">
            <a:avLst/>
          </a:prstGeom>
          <a:noFill/>
        </p:spPr>
        <p:txBody>
          <a:bodyPr wrap="square" anchor="ctr">
            <a:spAutoFit/>
          </a:bodyPr>
          <a:lstStyle/>
          <a:p>
            <a:pPr algn="l">
              <a:spcAft>
                <a:spcPts val="200"/>
              </a:spcAft>
            </a:pPr>
            <a:r>
              <a:rPr sz="1300" b="1">
                <a:solidFill>
                  <a:srgbClr val="7C3AED"/>
                </a:solidFill>
                <a:latin typeface="Arial"/>
              </a:rPr>
              <a:t>Takes by density</a:t>
            </a:r>
          </a:p>
          <a:p>
            <a:pPr algn="l">
              <a:spcAft>
                <a:spcPts val="200"/>
              </a:spcAft>
            </a:pPr>
            <a:r>
              <a:rPr sz="1150" b="0">
                <a:solidFill>
                  <a:srgbClr val="161B26"/>
                </a:solidFill>
                <a:latin typeface="Arial"/>
              </a:rPr>
              <a:t>S2 is dense action: three takes.</a:t>
            </a:r>
          </a:p>
        </p:txBody>
      </p:sp>
      <p:sp>
        <p:nvSpPr>
          <p:cNvPr id="18" name="Rectangle 17"/>
          <p:cNvSpPr/>
          <p:nvPr/>
        </p:nvSpPr>
        <p:spPr>
          <a:xfrm>
            <a:off x="7406640" y="5232654"/>
            <a:ext cx="4005072" cy="98526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406640" y="5232654"/>
            <a:ext cx="82296" cy="98526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26096" y="5232654"/>
            <a:ext cx="3602736" cy="985266"/>
          </a:xfrm>
          <a:prstGeom prst="rect">
            <a:avLst/>
          </a:prstGeom>
          <a:noFill/>
        </p:spPr>
        <p:txBody>
          <a:bodyPr wrap="square" anchor="ctr">
            <a:spAutoFit/>
          </a:bodyPr>
          <a:lstStyle/>
          <a:p>
            <a:pPr algn="l">
              <a:spcAft>
                <a:spcPts val="200"/>
              </a:spcAft>
            </a:pPr>
            <a:r>
              <a:rPr sz="1300" b="1">
                <a:solidFill>
                  <a:srgbClr val="F59E0B"/>
                </a:solidFill>
                <a:latin typeface="Arial"/>
              </a:rPr>
              <a:t>Three formats</a:t>
            </a:r>
          </a:p>
          <a:p>
            <a:pPr algn="l">
              <a:spcAft>
                <a:spcPts val="200"/>
              </a:spcAft>
            </a:pPr>
            <a:r>
              <a:rPr sz="1150" b="0">
                <a:solidFill>
                  <a:srgbClr val="161B26"/>
                </a:solidFill>
                <a:latin typeface="Arial"/>
              </a:rPr>
              <a:t>Prose, timeline and JSON for every shot.</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transition spd="fast">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A5 · LAB 09 · LOCK TIMING BEFORE SPENDING CREDITS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The Storyboard: Start Frames of Six Shots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73404" y="1755648"/>
            <a:ext cx="2818384" cy="160934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board-s1.png"/>
          <p:cNvPicPr>
            <a:picLocks noChangeAspect="1"/>
          </p:cNvPicPr>
          <p:nvPr/>
        </p:nvPicPr>
        <p:blipFill>
          <a:blip r:embed="rId2"/>
          <a:stretch>
            <a:fillRect/>
          </a:stretch>
        </p:blipFill>
        <p:spPr>
          <a:xfrm>
            <a:off x="1100836" y="1783080"/>
            <a:ext cx="2763520" cy="1554480"/>
          </a:xfrm>
          <a:prstGeom prst="rect">
            <a:avLst/>
          </a:prstGeom>
        </p:spPr>
      </p:pic>
      <p:sp>
        <p:nvSpPr>
          <p:cNvPr id="9" name="TextBox 8"/>
          <p:cNvSpPr txBox="1"/>
          <p:nvPr/>
        </p:nvSpPr>
        <p:spPr>
          <a:xfrm>
            <a:off x="777240" y="3374136"/>
            <a:ext cx="3410712" cy="310896"/>
          </a:xfrm>
          <a:prstGeom prst="rect">
            <a:avLst/>
          </a:prstGeom>
          <a:noFill/>
        </p:spPr>
        <p:txBody>
          <a:bodyPr wrap="square" anchor="t">
            <a:spAutoFit/>
          </a:bodyPr>
          <a:lstStyle/>
          <a:p>
            <a:pPr algn="ctr">
              <a:spcAft>
                <a:spcPts val="400"/>
              </a:spcAft>
            </a:pPr>
            <a:r>
              <a:rPr sz="1050" b="0">
                <a:solidFill>
                  <a:srgbClr val="5B6372"/>
                </a:solidFill>
                <a:latin typeface="Arial"/>
              </a:rPr>
              <a:t>S1 wide · 8 s</a:t>
            </a:r>
          </a:p>
        </p:txBody>
      </p:sp>
      <p:sp>
        <p:nvSpPr>
          <p:cNvPr id="10" name="Rectangle 9"/>
          <p:cNvSpPr/>
          <p:nvPr/>
        </p:nvSpPr>
        <p:spPr>
          <a:xfrm>
            <a:off x="4685284" y="1755648"/>
            <a:ext cx="2818384" cy="160934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board-s2.png"/>
          <p:cNvPicPr>
            <a:picLocks noChangeAspect="1"/>
          </p:cNvPicPr>
          <p:nvPr/>
        </p:nvPicPr>
        <p:blipFill>
          <a:blip r:embed="rId3"/>
          <a:stretch>
            <a:fillRect/>
          </a:stretch>
        </p:blipFill>
        <p:spPr>
          <a:xfrm>
            <a:off x="4712716" y="1783080"/>
            <a:ext cx="2763520" cy="1554480"/>
          </a:xfrm>
          <a:prstGeom prst="rect">
            <a:avLst/>
          </a:prstGeom>
        </p:spPr>
      </p:pic>
      <p:sp>
        <p:nvSpPr>
          <p:cNvPr id="12" name="TextBox 11"/>
          <p:cNvSpPr txBox="1"/>
          <p:nvPr/>
        </p:nvSpPr>
        <p:spPr>
          <a:xfrm>
            <a:off x="4389120" y="3374136"/>
            <a:ext cx="3410712" cy="310896"/>
          </a:xfrm>
          <a:prstGeom prst="rect">
            <a:avLst/>
          </a:prstGeom>
          <a:noFill/>
        </p:spPr>
        <p:txBody>
          <a:bodyPr wrap="square" anchor="t">
            <a:spAutoFit/>
          </a:bodyPr>
          <a:lstStyle/>
          <a:p>
            <a:pPr algn="ctr">
              <a:spcAft>
                <a:spcPts val="400"/>
              </a:spcAft>
            </a:pPr>
            <a:r>
              <a:rPr sz="1050" b="0">
                <a:solidFill>
                  <a:srgbClr val="5B6372"/>
                </a:solidFill>
                <a:latin typeface="Arial"/>
              </a:rPr>
              <a:t>S2 medium · 8 s</a:t>
            </a:r>
          </a:p>
        </p:txBody>
      </p:sp>
      <p:sp>
        <p:nvSpPr>
          <p:cNvPr id="13" name="Rectangle 12"/>
          <p:cNvSpPr/>
          <p:nvPr/>
        </p:nvSpPr>
        <p:spPr>
          <a:xfrm>
            <a:off x="8297164" y="1755648"/>
            <a:ext cx="2818384" cy="160934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board-s3.png"/>
          <p:cNvPicPr>
            <a:picLocks noChangeAspect="1"/>
          </p:cNvPicPr>
          <p:nvPr/>
        </p:nvPicPr>
        <p:blipFill>
          <a:blip r:embed="rId4"/>
          <a:stretch>
            <a:fillRect/>
          </a:stretch>
        </p:blipFill>
        <p:spPr>
          <a:xfrm>
            <a:off x="8324596" y="1783080"/>
            <a:ext cx="2763520" cy="1554480"/>
          </a:xfrm>
          <a:prstGeom prst="rect">
            <a:avLst/>
          </a:prstGeom>
        </p:spPr>
      </p:pic>
      <p:sp>
        <p:nvSpPr>
          <p:cNvPr id="15" name="TextBox 14"/>
          <p:cNvSpPr txBox="1"/>
          <p:nvPr/>
        </p:nvSpPr>
        <p:spPr>
          <a:xfrm>
            <a:off x="8001000" y="3374136"/>
            <a:ext cx="3410712" cy="310896"/>
          </a:xfrm>
          <a:prstGeom prst="rect">
            <a:avLst/>
          </a:prstGeom>
          <a:noFill/>
        </p:spPr>
        <p:txBody>
          <a:bodyPr wrap="square" anchor="t">
            <a:spAutoFit/>
          </a:bodyPr>
          <a:lstStyle/>
          <a:p>
            <a:pPr algn="ctr">
              <a:spcAft>
                <a:spcPts val="400"/>
              </a:spcAft>
            </a:pPr>
            <a:r>
              <a:rPr sz="1050" b="0">
                <a:solidFill>
                  <a:srgbClr val="5B6372"/>
                </a:solidFill>
                <a:latin typeface="Arial"/>
              </a:rPr>
              <a:t>S3 close-up · 6 s</a:t>
            </a:r>
          </a:p>
        </p:txBody>
      </p:sp>
      <p:sp>
        <p:nvSpPr>
          <p:cNvPr id="16" name="Rectangle 15"/>
          <p:cNvSpPr/>
          <p:nvPr/>
        </p:nvSpPr>
        <p:spPr>
          <a:xfrm>
            <a:off x="1073404" y="3730752"/>
            <a:ext cx="2818384" cy="160934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board-s4.png"/>
          <p:cNvPicPr>
            <a:picLocks noChangeAspect="1"/>
          </p:cNvPicPr>
          <p:nvPr/>
        </p:nvPicPr>
        <p:blipFill>
          <a:blip r:embed="rId5"/>
          <a:stretch>
            <a:fillRect/>
          </a:stretch>
        </p:blipFill>
        <p:spPr>
          <a:xfrm>
            <a:off x="1100836" y="3758184"/>
            <a:ext cx="2763520" cy="1554480"/>
          </a:xfrm>
          <a:prstGeom prst="rect">
            <a:avLst/>
          </a:prstGeom>
        </p:spPr>
      </p:pic>
      <p:sp>
        <p:nvSpPr>
          <p:cNvPr id="18" name="TextBox 17"/>
          <p:cNvSpPr txBox="1"/>
          <p:nvPr/>
        </p:nvSpPr>
        <p:spPr>
          <a:xfrm>
            <a:off x="777240" y="5349240"/>
            <a:ext cx="3410712" cy="310896"/>
          </a:xfrm>
          <a:prstGeom prst="rect">
            <a:avLst/>
          </a:prstGeom>
          <a:noFill/>
        </p:spPr>
        <p:txBody>
          <a:bodyPr wrap="square" anchor="t">
            <a:spAutoFit/>
          </a:bodyPr>
          <a:lstStyle/>
          <a:p>
            <a:pPr algn="ctr">
              <a:spcAft>
                <a:spcPts val="400"/>
              </a:spcAft>
            </a:pPr>
            <a:r>
              <a:rPr sz="1050" b="0">
                <a:solidFill>
                  <a:srgbClr val="5B6372"/>
                </a:solidFill>
                <a:latin typeface="Arial"/>
              </a:rPr>
              <a:t>S4 wide · 8 s</a:t>
            </a:r>
          </a:p>
        </p:txBody>
      </p:sp>
      <p:sp>
        <p:nvSpPr>
          <p:cNvPr id="19" name="Rectangle 18"/>
          <p:cNvSpPr/>
          <p:nvPr/>
        </p:nvSpPr>
        <p:spPr>
          <a:xfrm>
            <a:off x="4685284" y="3730752"/>
            <a:ext cx="2818384" cy="160934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board-s5.png"/>
          <p:cNvPicPr>
            <a:picLocks noChangeAspect="1"/>
          </p:cNvPicPr>
          <p:nvPr/>
        </p:nvPicPr>
        <p:blipFill>
          <a:blip r:embed="rId6"/>
          <a:stretch>
            <a:fillRect/>
          </a:stretch>
        </p:blipFill>
        <p:spPr>
          <a:xfrm>
            <a:off x="4712716" y="3758184"/>
            <a:ext cx="2763520" cy="1554480"/>
          </a:xfrm>
          <a:prstGeom prst="rect">
            <a:avLst/>
          </a:prstGeom>
        </p:spPr>
      </p:pic>
      <p:sp>
        <p:nvSpPr>
          <p:cNvPr id="21" name="TextBox 20"/>
          <p:cNvSpPr txBox="1"/>
          <p:nvPr/>
        </p:nvSpPr>
        <p:spPr>
          <a:xfrm>
            <a:off x="4389120" y="5349240"/>
            <a:ext cx="3410712" cy="310896"/>
          </a:xfrm>
          <a:prstGeom prst="rect">
            <a:avLst/>
          </a:prstGeom>
          <a:noFill/>
        </p:spPr>
        <p:txBody>
          <a:bodyPr wrap="square" anchor="t">
            <a:spAutoFit/>
          </a:bodyPr>
          <a:lstStyle/>
          <a:p>
            <a:pPr algn="ctr">
              <a:spcAft>
                <a:spcPts val="400"/>
              </a:spcAft>
            </a:pPr>
            <a:r>
              <a:rPr sz="1050" b="0">
                <a:solidFill>
                  <a:srgbClr val="5B6372"/>
                </a:solidFill>
                <a:latin typeface="Arial"/>
              </a:rPr>
              <a:t>S5 two-shot · 6 s</a:t>
            </a:r>
          </a:p>
        </p:txBody>
      </p:sp>
      <p:sp>
        <p:nvSpPr>
          <p:cNvPr id="22" name="Rectangle 21"/>
          <p:cNvSpPr/>
          <p:nvPr/>
        </p:nvSpPr>
        <p:spPr>
          <a:xfrm>
            <a:off x="8297164" y="3730752"/>
            <a:ext cx="2818384" cy="160934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board-s6.png"/>
          <p:cNvPicPr>
            <a:picLocks noChangeAspect="1"/>
          </p:cNvPicPr>
          <p:nvPr/>
        </p:nvPicPr>
        <p:blipFill>
          <a:blip r:embed="rId7"/>
          <a:stretch>
            <a:fillRect/>
          </a:stretch>
        </p:blipFill>
        <p:spPr>
          <a:xfrm>
            <a:off x="8324596" y="3758184"/>
            <a:ext cx="2763520" cy="1554480"/>
          </a:xfrm>
          <a:prstGeom prst="rect">
            <a:avLst/>
          </a:prstGeom>
        </p:spPr>
      </p:pic>
      <p:sp>
        <p:nvSpPr>
          <p:cNvPr id="24" name="TextBox 23"/>
          <p:cNvSpPr txBox="1"/>
          <p:nvPr/>
        </p:nvSpPr>
        <p:spPr>
          <a:xfrm>
            <a:off x="8001000" y="5349240"/>
            <a:ext cx="3410712" cy="310896"/>
          </a:xfrm>
          <a:prstGeom prst="rect">
            <a:avLst/>
          </a:prstGeom>
          <a:noFill/>
        </p:spPr>
        <p:txBody>
          <a:bodyPr wrap="square" anchor="t">
            <a:spAutoFit/>
          </a:bodyPr>
          <a:lstStyle/>
          <a:p>
            <a:pPr algn="ctr">
              <a:spcAft>
                <a:spcPts val="400"/>
              </a:spcAft>
            </a:pPr>
            <a:r>
              <a:rPr sz="1050" b="0">
                <a:solidFill>
                  <a:srgbClr val="5B6372"/>
                </a:solidFill>
                <a:latin typeface="Arial"/>
              </a:rPr>
              <a:t>S6 low angle · 12 s</a:t>
            </a:r>
          </a:p>
        </p:txBody>
      </p:sp>
      <p:sp>
        <p:nvSpPr>
          <p:cNvPr id="25" name="TextBox 24"/>
          <p:cNvSpPr txBox="1"/>
          <p:nvPr/>
        </p:nvSpPr>
        <p:spPr>
          <a:xfrm>
            <a:off x="777240" y="5806440"/>
            <a:ext cx="10634472" cy="548640"/>
          </a:xfrm>
          <a:prstGeom prst="rect">
            <a:avLst/>
          </a:prstGeom>
          <a:noFill/>
        </p:spPr>
        <p:txBody>
          <a:bodyPr wrap="square" anchor="ctr">
            <a:spAutoFit/>
          </a:bodyPr>
          <a:lstStyle/>
          <a:p>
            <a:pPr algn="ctr">
              <a:spcAft>
                <a:spcPts val="400"/>
              </a:spcAft>
            </a:pPr>
            <a:r>
              <a:rPr sz="1250" b="0">
                <a:solidFill>
                  <a:srgbClr val="5B6372"/>
                </a:solidFill>
                <a:latin typeface="Arial"/>
              </a:rPr>
              <a:t>The check finds two problems: S6 exceeds the 10-second clip cap (split it into S6 + an extension S7) and one voice line crosses a cut.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transition spd="fast">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K8 · THE CREDIT BUDGET OF A 48-SECOND FILM</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Seconds Generated per Shot, Including Takes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6675120" cy="3977639"/>
        </p:xfrm>
        <a:graphic>
          <a:graphicData uri="http://schemas.openxmlformats.org/drawingml/2006/chart">
            <c:chart xmlns:c="http://schemas.openxmlformats.org/drawingml/2006/chart" r:id="rId2"/>
          </a:graphicData>
        </a:graphic>
      </p:graphicFrame>
      <p:sp>
        <p:nvSpPr>
          <p:cNvPr id="8" name="Rectangle 7"/>
          <p:cNvSpPr/>
          <p:nvPr/>
        </p:nvSpPr>
        <p:spPr>
          <a:xfrm>
            <a:off x="7680960" y="1783080"/>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80960" y="1783080"/>
            <a:ext cx="82296" cy="87096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82128" y="1783080"/>
            <a:ext cx="3346704" cy="870965"/>
          </a:xfrm>
          <a:prstGeom prst="rect">
            <a:avLst/>
          </a:prstGeom>
          <a:noFill/>
        </p:spPr>
        <p:txBody>
          <a:bodyPr wrap="square" anchor="ctr">
            <a:spAutoFit/>
          </a:bodyPr>
          <a:lstStyle/>
          <a:p>
            <a:pPr algn="l">
              <a:spcAft>
                <a:spcPts val="200"/>
              </a:spcAft>
            </a:pPr>
            <a:r>
              <a:rPr sz="1250" b="1">
                <a:solidFill>
                  <a:srgbClr val="1F6FEB"/>
                </a:solidFill>
                <a:latin typeface="Arial"/>
              </a:rPr>
              <a:t>2x overhead</a:t>
            </a:r>
          </a:p>
          <a:p>
            <a:pPr algn="l">
              <a:spcAft>
                <a:spcPts val="200"/>
              </a:spcAft>
            </a:pPr>
            <a:r>
              <a:rPr sz="1100" b="0">
                <a:solidFill>
                  <a:srgbClr val="161B26"/>
                </a:solidFill>
                <a:latin typeface="Arial"/>
              </a:rPr>
              <a:t>Extra takes double the generated seconds.</a:t>
            </a:r>
          </a:p>
        </p:txBody>
      </p:sp>
      <p:sp>
        <p:nvSpPr>
          <p:cNvPr id="11" name="Rectangle 10"/>
          <p:cNvSpPr/>
          <p:nvPr/>
        </p:nvSpPr>
        <p:spPr>
          <a:xfrm>
            <a:off x="7680960" y="2818637"/>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680960" y="2818637"/>
            <a:ext cx="82296" cy="87096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82128" y="2818637"/>
            <a:ext cx="3346704" cy="870965"/>
          </a:xfrm>
          <a:prstGeom prst="rect">
            <a:avLst/>
          </a:prstGeom>
          <a:noFill/>
        </p:spPr>
        <p:txBody>
          <a:bodyPr wrap="square" anchor="ctr">
            <a:spAutoFit/>
          </a:bodyPr>
          <a:lstStyle/>
          <a:p>
            <a:pPr algn="l">
              <a:spcAft>
                <a:spcPts val="200"/>
              </a:spcAft>
            </a:pPr>
            <a:r>
              <a:rPr sz="1250" b="1">
                <a:solidFill>
                  <a:srgbClr val="10B981"/>
                </a:solidFill>
                <a:latin typeface="Arial"/>
              </a:rPr>
              <a:t>Dense action</a:t>
            </a:r>
          </a:p>
          <a:p>
            <a:pPr algn="l">
              <a:spcAft>
                <a:spcPts val="200"/>
              </a:spcAft>
            </a:pPr>
            <a:r>
              <a:rPr sz="1100" b="0">
                <a:solidFill>
                  <a:srgbClr val="161B26"/>
                </a:solidFill>
                <a:latin typeface="Arial"/>
              </a:rPr>
              <a:t>S2 gets three takes; S7 extends S6 with one.</a:t>
            </a:r>
          </a:p>
        </p:txBody>
      </p:sp>
      <p:sp>
        <p:nvSpPr>
          <p:cNvPr id="14" name="Rectangle 13"/>
          <p:cNvSpPr/>
          <p:nvPr/>
        </p:nvSpPr>
        <p:spPr>
          <a:xfrm>
            <a:off x="7680960" y="3854194"/>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680960" y="3854194"/>
            <a:ext cx="82296" cy="870965"/>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82128" y="3854194"/>
            <a:ext cx="3346704" cy="870965"/>
          </a:xfrm>
          <a:prstGeom prst="rect">
            <a:avLst/>
          </a:prstGeom>
          <a:noFill/>
        </p:spPr>
        <p:txBody>
          <a:bodyPr wrap="square" anchor="ctr">
            <a:spAutoFit/>
          </a:bodyPr>
          <a:lstStyle/>
          <a:p>
            <a:pPr algn="l">
              <a:spcAft>
                <a:spcPts val="200"/>
              </a:spcAft>
            </a:pPr>
            <a:r>
              <a:rPr sz="1250" b="1">
                <a:solidFill>
                  <a:srgbClr val="7C3AED"/>
                </a:solidFill>
                <a:latin typeface="Arial"/>
              </a:rPr>
              <a:t>Draft first</a:t>
            </a:r>
          </a:p>
          <a:p>
            <a:pPr algn="l">
              <a:spcAft>
                <a:spcPts val="200"/>
              </a:spcAft>
            </a:pPr>
            <a:r>
              <a:rPr sz="1100" b="0">
                <a:solidFill>
                  <a:srgbClr val="161B26"/>
                </a:solidFill>
                <a:latin typeface="Arial"/>
              </a:rPr>
              <a:t>Generate low-resolution drafts, upscale keepers.</a:t>
            </a:r>
          </a:p>
        </p:txBody>
      </p:sp>
      <p:sp>
        <p:nvSpPr>
          <p:cNvPr id="17" name="Rectangle 16"/>
          <p:cNvSpPr/>
          <p:nvPr/>
        </p:nvSpPr>
        <p:spPr>
          <a:xfrm>
            <a:off x="7680960" y="4889751"/>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0" y="4889751"/>
            <a:ext cx="82296" cy="870965"/>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82128" y="4889751"/>
            <a:ext cx="3346704" cy="870965"/>
          </a:xfrm>
          <a:prstGeom prst="rect">
            <a:avLst/>
          </a:prstGeom>
          <a:noFill/>
        </p:spPr>
        <p:txBody>
          <a:bodyPr wrap="square" anchor="ctr">
            <a:spAutoFit/>
          </a:bodyPr>
          <a:lstStyle/>
          <a:p>
            <a:pPr algn="l">
              <a:spcAft>
                <a:spcPts val="200"/>
              </a:spcAft>
            </a:pPr>
            <a:r>
              <a:rPr sz="1250" b="1">
                <a:solidFill>
                  <a:srgbClr val="F59E0B"/>
                </a:solidFill>
                <a:latin typeface="Arial"/>
              </a:rPr>
              <a:t>Plan the takes</a:t>
            </a:r>
          </a:p>
          <a:p>
            <a:pPr algn="l">
              <a:spcAft>
                <a:spcPts val="200"/>
              </a:spcAft>
            </a:pPr>
            <a:r>
              <a:rPr sz="1100" b="0">
                <a:solidFill>
                  <a:srgbClr val="161B26"/>
                </a:solidFill>
                <a:latin typeface="Arial"/>
              </a:rPr>
              <a:t>Takes are a budget line, not an accident.</a:t>
            </a:r>
          </a:p>
        </p:txBody>
      </p:sp>
      <p:sp>
        <p:nvSpPr>
          <p:cNvPr id="20" name="Rectangle 19"/>
          <p:cNvSpPr/>
          <p:nvPr/>
        </p:nvSpPr>
        <p:spPr>
          <a:xfrm>
            <a:off x="777240" y="5925312"/>
            <a:ext cx="1417320"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925312"/>
            <a:ext cx="1417320" cy="310896"/>
          </a:xfrm>
          <a:prstGeom prst="rect">
            <a:avLst/>
          </a:prstGeom>
          <a:noFill/>
        </p:spPr>
        <p:txBody>
          <a:bodyPr wrap="square" anchor="ctr">
            <a:spAutoFit/>
          </a:bodyPr>
          <a:lstStyle/>
          <a:p>
            <a:pPr algn="ctr">
              <a:spcAft>
                <a:spcPts val="400"/>
              </a:spcAft>
            </a:pPr>
            <a:r>
              <a:rPr sz="1050" b="1">
                <a:solidFill>
                  <a:srgbClr val="FFFFFF"/>
                </a:solidFill>
                <a:latin typeface="Arial"/>
              </a:rPr>
              <a:t>MODELLED</a:t>
            </a:r>
          </a:p>
        </p:txBody>
      </p:sp>
      <p:sp>
        <p:nvSpPr>
          <p:cNvPr id="22" name="TextBox 21"/>
          <p:cNvSpPr txBox="1"/>
          <p:nvPr/>
        </p:nvSpPr>
        <p:spPr>
          <a:xfrm>
            <a:off x="2331720" y="5925312"/>
            <a:ext cx="9098280" cy="457200"/>
          </a:xfrm>
          <a:prstGeom prst="rect">
            <a:avLst/>
          </a:prstGeom>
          <a:noFill/>
        </p:spPr>
        <p:txBody>
          <a:bodyPr wrap="square" anchor="ctr">
            <a:spAutoFit/>
          </a:bodyPr>
          <a:lstStyle/>
          <a:p>
            <a:pPr algn="l">
              <a:spcAft>
                <a:spcPts val="400"/>
              </a:spcAft>
            </a:pPr>
            <a:r>
              <a:rPr sz="1150" b="0">
                <a:solidFill>
                  <a:srgbClr val="5B6372"/>
                </a:solidFill>
                <a:latin typeface="Arial"/>
              </a:rPr>
              <a:t>From the Lab 12 production plan: seconds x takes per shot. 48 finished seconds cost 98 generated seconds.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transition spd="fast">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K9 · OBJECT SEGMENTATION, DETECTION AND RECOGNITION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Classification, Detection, Segmentation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93392"/>
            <a:ext cx="2926080" cy="548640"/>
          </a:xfrm>
          <a:prstGeom prst="rect">
            <a:avLst/>
          </a:prstGeom>
          <a:noFill/>
        </p:spPr>
        <p:txBody>
          <a:bodyPr wrap="square" anchor="t">
            <a:spAutoFit/>
          </a:bodyPr>
          <a:lstStyle/>
          <a:p>
            <a:pPr algn="l">
              <a:spcAft>
                <a:spcPts val="400"/>
              </a:spcAft>
            </a:pPr>
            <a:r>
              <a:rPr sz="1700" b="1">
                <a:solidFill>
                  <a:srgbClr val="1F6FEB"/>
                </a:solidFill>
                <a:latin typeface="Arial"/>
              </a:rPr>
              <a:t>Classification</a:t>
            </a:r>
          </a:p>
        </p:txBody>
      </p:sp>
      <p:sp>
        <p:nvSpPr>
          <p:cNvPr id="10" name="TextBox 9"/>
          <p:cNvSpPr txBox="1"/>
          <p:nvPr/>
        </p:nvSpPr>
        <p:spPr>
          <a:xfrm>
            <a:off x="1005840" y="2651760"/>
            <a:ext cx="2926080" cy="3200400"/>
          </a:xfrm>
          <a:prstGeom prst="rect">
            <a:avLst/>
          </a:prstGeom>
          <a:noFill/>
        </p:spPr>
        <p:txBody>
          <a:bodyPr wrap="square">
            <a:spAutoFit/>
          </a:bodyPr>
          <a:lstStyle/>
          <a:p>
            <a:pPr>
              <a:spcAft>
                <a:spcPts val="800"/>
              </a:spcAft>
            </a:pPr>
            <a:r>
              <a:rPr sz="1300" b="0">
                <a:solidFill>
                  <a:srgbClr val="161B26"/>
                </a:solidFill>
                <a:latin typeface="Arial"/>
              </a:rPr>
              <a:t>•  One label per image.</a:t>
            </a:r>
          </a:p>
          <a:p>
            <a:pPr>
              <a:spcAft>
                <a:spcPts val="800"/>
              </a:spcAft>
            </a:pPr>
            <a:r>
              <a:rPr sz="1300" b="0">
                <a:solidFill>
                  <a:srgbClr val="161B26"/>
                </a:solidFill>
                <a:latin typeface="Arial"/>
              </a:rPr>
              <a:t>•  'Is this shot at night?'</a:t>
            </a:r>
          </a:p>
          <a:p>
            <a:pPr>
              <a:spcAft>
                <a:spcPts val="800"/>
              </a:spcAft>
            </a:pPr>
            <a:r>
              <a:rPr sz="1300" b="0">
                <a:solidFill>
                  <a:srgbClr val="161B26"/>
                </a:solidFill>
                <a:latin typeface="Arial"/>
              </a:rPr>
              <a:t>•  Metric: accuracy, F1.</a:t>
            </a:r>
          </a:p>
          <a:p>
            <a:pPr>
              <a:spcAft>
                <a:spcPts val="800"/>
              </a:spcAft>
            </a:pPr>
            <a:r>
              <a:rPr sz="1300" b="0">
                <a:solidFill>
                  <a:srgbClr val="161B26"/>
                </a:solidFill>
                <a:latin typeface="Arial"/>
              </a:rPr>
              <a:t>•  Cheapest; least detail.</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1993392"/>
            <a:ext cx="2926080" cy="548640"/>
          </a:xfrm>
          <a:prstGeom prst="rect">
            <a:avLst/>
          </a:prstGeom>
          <a:noFill/>
        </p:spPr>
        <p:txBody>
          <a:bodyPr wrap="square" anchor="t">
            <a:spAutoFit/>
          </a:bodyPr>
          <a:lstStyle/>
          <a:p>
            <a:pPr algn="l">
              <a:spcAft>
                <a:spcPts val="400"/>
              </a:spcAft>
            </a:pPr>
            <a:r>
              <a:rPr sz="1700" b="1">
                <a:solidFill>
                  <a:srgbClr val="10B981"/>
                </a:solidFill>
                <a:latin typeface="Arial"/>
              </a:rPr>
              <a:t>Detection</a:t>
            </a:r>
          </a:p>
        </p:txBody>
      </p:sp>
      <p:sp>
        <p:nvSpPr>
          <p:cNvPr id="14" name="TextBox 13"/>
          <p:cNvSpPr txBox="1"/>
          <p:nvPr/>
        </p:nvSpPr>
        <p:spPr>
          <a:xfrm>
            <a:off x="4800600" y="2651760"/>
            <a:ext cx="2926080" cy="3200400"/>
          </a:xfrm>
          <a:prstGeom prst="rect">
            <a:avLst/>
          </a:prstGeom>
          <a:noFill/>
        </p:spPr>
        <p:txBody>
          <a:bodyPr wrap="square">
            <a:spAutoFit/>
          </a:bodyPr>
          <a:lstStyle/>
          <a:p>
            <a:pPr>
              <a:spcAft>
                <a:spcPts val="800"/>
              </a:spcAft>
            </a:pPr>
            <a:r>
              <a:rPr sz="1300" b="0">
                <a:solidFill>
                  <a:srgbClr val="161B26"/>
                </a:solidFill>
                <a:latin typeface="Arial"/>
              </a:rPr>
              <a:t>•  A box + label + score per object.</a:t>
            </a:r>
          </a:p>
          <a:p>
            <a:pPr>
              <a:spcAft>
                <a:spcPts val="800"/>
              </a:spcAft>
            </a:pPr>
            <a:r>
              <a:rPr sz="1300" b="0">
                <a:solidFill>
                  <a:srgbClr val="161B26"/>
                </a:solidFill>
                <a:latin typeface="Arial"/>
              </a:rPr>
              <a:t>•  'How many faces are on screen?'</a:t>
            </a:r>
          </a:p>
          <a:p>
            <a:pPr>
              <a:spcAft>
                <a:spcPts val="800"/>
              </a:spcAft>
            </a:pPr>
            <a:r>
              <a:rPr sz="1300" b="0">
                <a:solidFill>
                  <a:srgbClr val="161B26"/>
                </a:solidFill>
                <a:latin typeface="Arial"/>
              </a:rPr>
              <a:t>•  Metric: IoU, precision, recall.</a:t>
            </a:r>
          </a:p>
          <a:p>
            <a:pPr>
              <a:spcAft>
                <a:spcPts val="800"/>
              </a:spcAft>
            </a:pPr>
            <a:r>
              <a:rPr sz="1300" b="0">
                <a:solidFill>
                  <a:srgbClr val="161B26"/>
                </a:solidFill>
                <a:latin typeface="Arial"/>
              </a:rPr>
              <a:t>•  Lab 08: cast presence.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1993392"/>
            <a:ext cx="2926080" cy="548640"/>
          </a:xfrm>
          <a:prstGeom prst="rect">
            <a:avLst/>
          </a:prstGeom>
          <a:noFill/>
        </p:spPr>
        <p:txBody>
          <a:bodyPr wrap="square" anchor="t">
            <a:spAutoFit/>
          </a:bodyPr>
          <a:lstStyle/>
          <a:p>
            <a:pPr algn="l">
              <a:spcAft>
                <a:spcPts val="400"/>
              </a:spcAft>
            </a:pPr>
            <a:r>
              <a:rPr sz="1700" b="1">
                <a:solidFill>
                  <a:srgbClr val="7C3AED"/>
                </a:solidFill>
                <a:latin typeface="Arial"/>
              </a:rPr>
              <a:t>Segmentation</a:t>
            </a:r>
          </a:p>
        </p:txBody>
      </p:sp>
      <p:sp>
        <p:nvSpPr>
          <p:cNvPr id="18" name="TextBox 17"/>
          <p:cNvSpPr txBox="1"/>
          <p:nvPr/>
        </p:nvSpPr>
        <p:spPr>
          <a:xfrm>
            <a:off x="8595360" y="2651760"/>
            <a:ext cx="2926080" cy="3200400"/>
          </a:xfrm>
          <a:prstGeom prst="rect">
            <a:avLst/>
          </a:prstGeom>
          <a:noFill/>
        </p:spPr>
        <p:txBody>
          <a:bodyPr wrap="square">
            <a:spAutoFit/>
          </a:bodyPr>
          <a:lstStyle/>
          <a:p>
            <a:pPr>
              <a:spcAft>
                <a:spcPts val="800"/>
              </a:spcAft>
            </a:pPr>
            <a:r>
              <a:rPr sz="1300" b="0">
                <a:solidFill>
                  <a:srgbClr val="161B26"/>
                </a:solidFill>
                <a:latin typeface="Arial"/>
              </a:rPr>
              <a:t>•  A label per pixel.</a:t>
            </a:r>
          </a:p>
          <a:p>
            <a:pPr>
              <a:spcAft>
                <a:spcPts val="800"/>
              </a:spcAft>
            </a:pPr>
            <a:r>
              <a:rPr sz="1300" b="0">
                <a:solidFill>
                  <a:srgbClr val="161B26"/>
                </a:solidFill>
                <a:latin typeface="Arial"/>
              </a:rPr>
              <a:t>•  'Which pixels are Mei's raincoat?'</a:t>
            </a:r>
          </a:p>
          <a:p>
            <a:pPr>
              <a:spcAft>
                <a:spcPts val="800"/>
              </a:spcAft>
            </a:pPr>
            <a:r>
              <a:rPr sz="1300" b="0">
                <a:solidFill>
                  <a:srgbClr val="161B26"/>
                </a:solidFill>
                <a:latin typeface="Arial"/>
              </a:rPr>
              <a:t>•  Metric: mask IoU.</a:t>
            </a:r>
          </a:p>
          <a:p>
            <a:pPr>
              <a:spcAft>
                <a:spcPts val="800"/>
              </a:spcAft>
            </a:pPr>
            <a:r>
              <a:rPr sz="1300" b="0">
                <a:solidFill>
                  <a:srgbClr val="161B26"/>
                </a:solidFill>
                <a:latin typeface="Arial"/>
              </a:rPr>
              <a:t>•  Labs 10–11: tracking, reframing.</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transition spd="fast">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A5 · K9 · EVALUATION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Evaluating a Detector Before You Trust 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74519"/>
            <a:ext cx="336194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112263"/>
            <a:ext cx="2996184" cy="457200"/>
          </a:xfrm>
          <a:prstGeom prst="rect">
            <a:avLst/>
          </a:prstGeom>
          <a:noFill/>
        </p:spPr>
        <p:txBody>
          <a:bodyPr wrap="square" anchor="t">
            <a:spAutoFit/>
          </a:bodyPr>
          <a:lstStyle/>
          <a:p>
            <a:pPr algn="l">
              <a:spcAft>
                <a:spcPts val="400"/>
              </a:spcAft>
            </a:pPr>
            <a:r>
              <a:rPr sz="1500" b="1">
                <a:solidFill>
                  <a:srgbClr val="1F6FEB"/>
                </a:solidFill>
                <a:latin typeface="Arial"/>
              </a:rPr>
              <a:t>IoU</a:t>
            </a:r>
          </a:p>
        </p:txBody>
      </p:sp>
      <p:sp>
        <p:nvSpPr>
          <p:cNvPr id="10" name="Rectangle 9"/>
          <p:cNvSpPr/>
          <p:nvPr/>
        </p:nvSpPr>
        <p:spPr>
          <a:xfrm>
            <a:off x="960120" y="2715767"/>
            <a:ext cx="2996184" cy="67665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2715767"/>
            <a:ext cx="2813304" cy="676656"/>
          </a:xfrm>
          <a:prstGeom prst="rect">
            <a:avLst/>
          </a:prstGeom>
          <a:noFill/>
        </p:spPr>
        <p:txBody>
          <a:bodyPr wrap="none" lIns="0" rIns="0" tIns="0" bIns="0" anchor="ctr">
            <a:noAutofit/>
          </a:bodyPr>
          <a:lstStyle/>
          <a:p>
            <a:pPr>
              <a:spcAft>
                <a:spcPts val="100"/>
              </a:spcAft>
            </a:pPr>
            <a:r>
              <a:rPr sz="1400">
                <a:solidFill>
                  <a:srgbClr val="9CDCFE"/>
                </a:solidFill>
                <a:latin typeface="Consolas"/>
              </a:rPr>
              <a:t>|A ∩ B| / |A ∪ B|</a:t>
            </a:r>
          </a:p>
        </p:txBody>
      </p:sp>
      <p:sp>
        <p:nvSpPr>
          <p:cNvPr id="12" name="TextBox 11"/>
          <p:cNvSpPr txBox="1"/>
          <p:nvPr/>
        </p:nvSpPr>
        <p:spPr>
          <a:xfrm>
            <a:off x="960120" y="3502151"/>
            <a:ext cx="2996184" cy="1856232"/>
          </a:xfrm>
          <a:prstGeom prst="rect">
            <a:avLst/>
          </a:prstGeom>
          <a:noFill/>
        </p:spPr>
        <p:txBody>
          <a:bodyPr wrap="square" anchor="t">
            <a:spAutoFit/>
          </a:bodyPr>
          <a:lstStyle/>
          <a:p>
            <a:pPr algn="l">
              <a:spcAft>
                <a:spcPts val="400"/>
              </a:spcAft>
            </a:pPr>
            <a:r>
              <a:rPr sz="1200" b="0">
                <a:solidFill>
                  <a:srgbClr val="5B6372"/>
                </a:solidFill>
                <a:latin typeface="Arial"/>
              </a:rPr>
              <a:t>[0,0,100,100] vs [50,0,100,100] = 5000 / 15000 = 0.333.</a:t>
            </a:r>
          </a:p>
        </p:txBody>
      </p:sp>
      <p:sp>
        <p:nvSpPr>
          <p:cNvPr id="13" name="Rectangle 12"/>
          <p:cNvSpPr/>
          <p:nvPr/>
        </p:nvSpPr>
        <p:spPr>
          <a:xfrm>
            <a:off x="4413504"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13504" y="1874519"/>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96384" y="2112263"/>
            <a:ext cx="2996184" cy="457200"/>
          </a:xfrm>
          <a:prstGeom prst="rect">
            <a:avLst/>
          </a:prstGeom>
          <a:noFill/>
        </p:spPr>
        <p:txBody>
          <a:bodyPr wrap="square" anchor="t">
            <a:spAutoFit/>
          </a:bodyPr>
          <a:lstStyle/>
          <a:p>
            <a:pPr algn="l">
              <a:spcAft>
                <a:spcPts val="400"/>
              </a:spcAft>
            </a:pPr>
            <a:r>
              <a:rPr sz="1500" b="1">
                <a:solidFill>
                  <a:srgbClr val="10B981"/>
                </a:solidFill>
                <a:latin typeface="Arial"/>
              </a:rPr>
              <a:t>Match</a:t>
            </a:r>
          </a:p>
        </p:txBody>
      </p:sp>
      <p:sp>
        <p:nvSpPr>
          <p:cNvPr id="16" name="Rectangle 15"/>
          <p:cNvSpPr/>
          <p:nvPr/>
        </p:nvSpPr>
        <p:spPr>
          <a:xfrm>
            <a:off x="4596384" y="2715767"/>
            <a:ext cx="2996184" cy="104241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87824" y="2715767"/>
            <a:ext cx="2813304" cy="1042416"/>
          </a:xfrm>
          <a:prstGeom prst="rect">
            <a:avLst/>
          </a:prstGeom>
          <a:noFill/>
        </p:spPr>
        <p:txBody>
          <a:bodyPr wrap="none" lIns="0" rIns="0" tIns="0" bIns="0" anchor="ctr">
            <a:noAutofit/>
          </a:bodyPr>
          <a:lstStyle/>
          <a:p>
            <a:pPr>
              <a:spcAft>
                <a:spcPts val="100"/>
              </a:spcAft>
            </a:pPr>
            <a:r>
              <a:rPr sz="1260">
                <a:solidFill>
                  <a:srgbClr val="9CDCFE"/>
                </a:solidFill>
                <a:latin typeface="Consolas"/>
              </a:rPr>
              <a:t>same class, IoU &gt;= t,</a:t>
            </a:r>
          </a:p>
          <a:p>
            <a:pPr>
              <a:spcAft>
                <a:spcPts val="100"/>
              </a:spcAft>
            </a:pPr>
            <a:r>
              <a:rPr sz="1260">
                <a:solidFill>
                  <a:srgbClr val="9CDCFE"/>
                </a:solidFill>
                <a:latin typeface="Consolas"/>
              </a:rPr>
              <a:t>one-to-one, best score first</a:t>
            </a:r>
          </a:p>
        </p:txBody>
      </p:sp>
      <p:sp>
        <p:nvSpPr>
          <p:cNvPr id="18" name="TextBox 17"/>
          <p:cNvSpPr txBox="1"/>
          <p:nvPr/>
        </p:nvSpPr>
        <p:spPr>
          <a:xfrm>
            <a:off x="4596384" y="3867911"/>
            <a:ext cx="2996184" cy="1490472"/>
          </a:xfrm>
          <a:prstGeom prst="rect">
            <a:avLst/>
          </a:prstGeom>
          <a:noFill/>
        </p:spPr>
        <p:txBody>
          <a:bodyPr wrap="square" anchor="t">
            <a:spAutoFit/>
          </a:bodyPr>
          <a:lstStyle/>
          <a:p>
            <a:pPr algn="l">
              <a:spcAft>
                <a:spcPts val="400"/>
              </a:spcAft>
            </a:pPr>
            <a:r>
              <a:rPr sz="1200" b="0">
                <a:solidFill>
                  <a:srgbClr val="5B6372"/>
                </a:solidFill>
                <a:latin typeface="Arial"/>
              </a:rPr>
              <a:t>Unmatched predictions are FP; unmatched truths are FN.</a:t>
            </a:r>
          </a:p>
        </p:txBody>
      </p:sp>
      <p:sp>
        <p:nvSpPr>
          <p:cNvPr id="19" name="Rectangle 18"/>
          <p:cNvSpPr/>
          <p:nvPr/>
        </p:nvSpPr>
        <p:spPr>
          <a:xfrm>
            <a:off x="8049768"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9768" y="1874519"/>
            <a:ext cx="336194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2648" y="2112263"/>
            <a:ext cx="2996184" cy="457200"/>
          </a:xfrm>
          <a:prstGeom prst="rect">
            <a:avLst/>
          </a:prstGeom>
          <a:noFill/>
        </p:spPr>
        <p:txBody>
          <a:bodyPr wrap="square" anchor="t">
            <a:spAutoFit/>
          </a:bodyPr>
          <a:lstStyle/>
          <a:p>
            <a:pPr algn="l">
              <a:spcAft>
                <a:spcPts val="400"/>
              </a:spcAft>
            </a:pPr>
            <a:r>
              <a:rPr sz="1500" b="1">
                <a:solidFill>
                  <a:srgbClr val="7C3AED"/>
                </a:solidFill>
                <a:latin typeface="Arial"/>
              </a:rPr>
              <a:t>Precision / recall</a:t>
            </a:r>
          </a:p>
        </p:txBody>
      </p:sp>
      <p:sp>
        <p:nvSpPr>
          <p:cNvPr id="22" name="Rectangle 21"/>
          <p:cNvSpPr/>
          <p:nvPr/>
        </p:nvSpPr>
        <p:spPr>
          <a:xfrm>
            <a:off x="8232648" y="2715767"/>
            <a:ext cx="2996184" cy="14081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24088" y="2715767"/>
            <a:ext cx="2813304" cy="1408176"/>
          </a:xfrm>
          <a:prstGeom prst="rect">
            <a:avLst/>
          </a:prstGeom>
          <a:noFill/>
        </p:spPr>
        <p:txBody>
          <a:bodyPr wrap="none" lIns="0" rIns="0" tIns="0" bIns="0" anchor="ctr">
            <a:noAutofit/>
          </a:bodyPr>
          <a:lstStyle/>
          <a:p>
            <a:pPr>
              <a:spcAft>
                <a:spcPts val="100"/>
              </a:spcAft>
            </a:pPr>
            <a:r>
              <a:rPr sz="1400">
                <a:solidFill>
                  <a:srgbClr val="9CDCFE"/>
                </a:solidFill>
                <a:latin typeface="Consolas"/>
              </a:rPr>
              <a:t>P = TP/(TP+FP)</a:t>
            </a:r>
          </a:p>
          <a:p>
            <a:pPr>
              <a:spcAft>
                <a:spcPts val="100"/>
              </a:spcAft>
            </a:pPr>
            <a:r>
              <a:rPr sz="1400">
                <a:solidFill>
                  <a:srgbClr val="9CDCFE"/>
                </a:solidFill>
                <a:latin typeface="Consolas"/>
              </a:rPr>
              <a:t>R = TP/(TP+FN)</a:t>
            </a:r>
          </a:p>
          <a:p>
            <a:pPr>
              <a:spcAft>
                <a:spcPts val="100"/>
              </a:spcAft>
            </a:pPr>
            <a:r>
              <a:rPr sz="1400">
                <a:solidFill>
                  <a:srgbClr val="9CDCFE"/>
                </a:solidFill>
                <a:latin typeface="Consolas"/>
              </a:rPr>
              <a:t>F1 = 2PR/(P+R)</a:t>
            </a:r>
          </a:p>
        </p:txBody>
      </p:sp>
      <p:sp>
        <p:nvSpPr>
          <p:cNvPr id="24" name="TextBox 23"/>
          <p:cNvSpPr txBox="1"/>
          <p:nvPr/>
        </p:nvSpPr>
        <p:spPr>
          <a:xfrm>
            <a:off x="8232648" y="4233671"/>
            <a:ext cx="2996184" cy="1124712"/>
          </a:xfrm>
          <a:prstGeom prst="rect">
            <a:avLst/>
          </a:prstGeom>
          <a:noFill/>
        </p:spPr>
        <p:txBody>
          <a:bodyPr wrap="square" anchor="t">
            <a:spAutoFit/>
          </a:bodyPr>
          <a:lstStyle/>
          <a:p>
            <a:pPr algn="l">
              <a:spcAft>
                <a:spcPts val="400"/>
              </a:spcAft>
            </a:pPr>
            <a:r>
              <a:rPr sz="1200" b="0">
                <a:solidFill>
                  <a:srgbClr val="5B6372"/>
                </a:solidFill>
                <a:latin typeface="Arial"/>
              </a:rPr>
              <a:t>State the IoU threshold with every number.</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transition spd="fast">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A5 · LAB 08 RESULT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Two Built-In Detectors at Three IoU Thresholds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6675120" cy="3977639"/>
        </p:xfrm>
        <a:graphic>
          <a:graphicData uri="http://schemas.openxmlformats.org/drawingml/2006/chart">
            <c:chart xmlns:c="http://schemas.openxmlformats.org/drawingml/2006/chart" r:id="rId2"/>
          </a:graphicData>
        </a:graphic>
      </p:graphicFrame>
      <p:sp>
        <p:nvSpPr>
          <p:cNvPr id="8" name="Rectangle 7"/>
          <p:cNvSpPr/>
          <p:nvPr/>
        </p:nvSpPr>
        <p:spPr>
          <a:xfrm>
            <a:off x="7680960" y="1783080"/>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80960" y="1783080"/>
            <a:ext cx="82296" cy="87096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82128" y="1783080"/>
            <a:ext cx="3346704" cy="870965"/>
          </a:xfrm>
          <a:prstGeom prst="rect">
            <a:avLst/>
          </a:prstGeom>
          <a:noFill/>
        </p:spPr>
        <p:txBody>
          <a:bodyPr wrap="square" anchor="ctr">
            <a:spAutoFit/>
          </a:bodyPr>
          <a:lstStyle/>
          <a:p>
            <a:pPr algn="l">
              <a:spcAft>
                <a:spcPts val="200"/>
              </a:spcAft>
            </a:pPr>
            <a:r>
              <a:rPr sz="1250" b="1">
                <a:solidFill>
                  <a:srgbClr val="1F6FEB"/>
                </a:solidFill>
                <a:latin typeface="Arial"/>
              </a:rPr>
              <a:t>Face cascade</a:t>
            </a:r>
          </a:p>
          <a:p>
            <a:pPr algn="l">
              <a:spcAft>
                <a:spcPts val="200"/>
              </a:spcAft>
            </a:pPr>
            <a:r>
              <a:rPr sz="1100" b="0">
                <a:solidFill>
                  <a:srgbClr val="161B26"/>
                </a:solidFill>
                <a:latin typeface="Arial"/>
              </a:rPr>
              <a:t>One false positive; tight boxes at every IoU.</a:t>
            </a:r>
          </a:p>
        </p:txBody>
      </p:sp>
      <p:sp>
        <p:nvSpPr>
          <p:cNvPr id="11" name="Rectangle 10"/>
          <p:cNvSpPr/>
          <p:nvPr/>
        </p:nvSpPr>
        <p:spPr>
          <a:xfrm>
            <a:off x="7680960" y="2818637"/>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680960" y="2818637"/>
            <a:ext cx="82296" cy="87096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82128" y="2818637"/>
            <a:ext cx="3346704" cy="870965"/>
          </a:xfrm>
          <a:prstGeom prst="rect">
            <a:avLst/>
          </a:prstGeom>
          <a:noFill/>
        </p:spPr>
        <p:txBody>
          <a:bodyPr wrap="square" anchor="ctr">
            <a:spAutoFit/>
          </a:bodyPr>
          <a:lstStyle/>
          <a:p>
            <a:pPr algn="l">
              <a:spcAft>
                <a:spcPts val="200"/>
              </a:spcAft>
            </a:pPr>
            <a:r>
              <a:rPr sz="1250" b="1">
                <a:solidFill>
                  <a:srgbClr val="10B981"/>
                </a:solidFill>
                <a:latin typeface="Arial"/>
              </a:rPr>
              <a:t>HOG people</a:t>
            </a:r>
          </a:p>
          <a:p>
            <a:pPr algn="l">
              <a:spcAft>
                <a:spcPts val="200"/>
              </a:spcAft>
            </a:pPr>
            <a:r>
              <a:rPr sz="1100" b="0">
                <a:solidFill>
                  <a:srgbClr val="161B26"/>
                </a:solidFill>
                <a:latin typeface="Arial"/>
              </a:rPr>
              <a:t>Right objects, loose box edges: collapses at 0.7.</a:t>
            </a:r>
          </a:p>
        </p:txBody>
      </p:sp>
      <p:sp>
        <p:nvSpPr>
          <p:cNvPr id="14" name="Rectangle 13"/>
          <p:cNvSpPr/>
          <p:nvPr/>
        </p:nvSpPr>
        <p:spPr>
          <a:xfrm>
            <a:off x="7680960" y="3854194"/>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680960" y="3854194"/>
            <a:ext cx="82296" cy="870965"/>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82128" y="3854194"/>
            <a:ext cx="3346704" cy="870965"/>
          </a:xfrm>
          <a:prstGeom prst="rect">
            <a:avLst/>
          </a:prstGeom>
          <a:noFill/>
        </p:spPr>
        <p:txBody>
          <a:bodyPr wrap="square" anchor="ctr">
            <a:spAutoFit/>
          </a:bodyPr>
          <a:lstStyle/>
          <a:p>
            <a:pPr algn="l">
              <a:spcAft>
                <a:spcPts val="200"/>
              </a:spcAft>
            </a:pPr>
            <a:r>
              <a:rPr sz="1250" b="1">
                <a:solidFill>
                  <a:srgbClr val="7C3AED"/>
                </a:solidFill>
                <a:latin typeface="Arial"/>
              </a:rPr>
              <a:t>Positive control</a:t>
            </a:r>
          </a:p>
          <a:p>
            <a:pPr algn="l">
              <a:spcAft>
                <a:spcPts val="200"/>
              </a:spcAft>
            </a:pPr>
            <a:r>
              <a:rPr sz="1100" b="0">
                <a:solidFill>
                  <a:srgbClr val="161B26"/>
                </a:solidFill>
                <a:latin typeface="Arial"/>
              </a:rPr>
              <a:t>On an AI-generated photo-real still, many false positives.</a:t>
            </a:r>
          </a:p>
        </p:txBody>
      </p:sp>
      <p:sp>
        <p:nvSpPr>
          <p:cNvPr id="17" name="Rectangle 16"/>
          <p:cNvSpPr/>
          <p:nvPr/>
        </p:nvSpPr>
        <p:spPr>
          <a:xfrm>
            <a:off x="7680960" y="4889751"/>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0" y="4889751"/>
            <a:ext cx="82296" cy="870965"/>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82128" y="4889751"/>
            <a:ext cx="3346704" cy="870965"/>
          </a:xfrm>
          <a:prstGeom prst="rect">
            <a:avLst/>
          </a:prstGeom>
          <a:noFill/>
        </p:spPr>
        <p:txBody>
          <a:bodyPr wrap="square" anchor="ctr">
            <a:spAutoFit/>
          </a:bodyPr>
          <a:lstStyle/>
          <a:p>
            <a:pPr algn="l">
              <a:spcAft>
                <a:spcPts val="200"/>
              </a:spcAft>
            </a:pPr>
            <a:r>
              <a:rPr sz="1250" b="1">
                <a:solidFill>
                  <a:srgbClr val="F59E0B"/>
                </a:solidFill>
                <a:latin typeface="Arial"/>
              </a:rPr>
              <a:t>Domain shift</a:t>
            </a:r>
          </a:p>
          <a:p>
            <a:pPr algn="l">
              <a:spcAft>
                <a:spcPts val="200"/>
              </a:spcAft>
            </a:pPr>
            <a:r>
              <a:rPr sz="1100" b="0">
                <a:solidFill>
                  <a:srgbClr val="161B26"/>
                </a:solidFill>
                <a:latin typeface="Arial"/>
              </a:rPr>
              <a:t>Evaluate on your own footage before automating.</a:t>
            </a:r>
          </a:p>
        </p:txBody>
      </p:sp>
      <p:sp>
        <p:nvSpPr>
          <p:cNvPr id="20" name="Rectangle 19"/>
          <p:cNvSpPr/>
          <p:nvPr/>
        </p:nvSpPr>
        <p:spPr>
          <a:xfrm>
            <a:off x="777240" y="5925312"/>
            <a:ext cx="1417320"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925312"/>
            <a:ext cx="1417320" cy="310896"/>
          </a:xfrm>
          <a:prstGeom prst="rect">
            <a:avLst/>
          </a:prstGeom>
          <a:noFill/>
        </p:spPr>
        <p:txBody>
          <a:bodyPr wrap="square" anchor="ctr">
            <a:spAutoFit/>
          </a:bodyPr>
          <a:lstStyle/>
          <a:p>
            <a:pPr algn="ctr">
              <a:spcAft>
                <a:spcPts val="400"/>
              </a:spcAft>
            </a:pPr>
            <a:r>
              <a:rPr sz="1050" b="1">
                <a:solidFill>
                  <a:srgbClr val="FFFFFF"/>
                </a:solidFill>
                <a:latin typeface="Arial"/>
              </a:rPr>
              <a:t>MEASURED</a:t>
            </a:r>
          </a:p>
        </p:txBody>
      </p:sp>
      <p:sp>
        <p:nvSpPr>
          <p:cNvPr id="22" name="TextBox 21"/>
          <p:cNvSpPr txBox="1"/>
          <p:nvPr/>
        </p:nvSpPr>
        <p:spPr>
          <a:xfrm>
            <a:off x="2331720" y="5925312"/>
            <a:ext cx="9098280" cy="457200"/>
          </a:xfrm>
          <a:prstGeom prst="rect">
            <a:avLst/>
          </a:prstGeom>
          <a:noFill/>
        </p:spPr>
        <p:txBody>
          <a:bodyPr wrap="square" anchor="ctr">
            <a:spAutoFit/>
          </a:bodyPr>
          <a:lstStyle/>
          <a:p>
            <a:pPr algn="l">
              <a:spcAft>
                <a:spcPts val="400"/>
              </a:spcAft>
            </a:pPr>
            <a:r>
              <a:rPr sz="1150" b="0">
                <a:solidFill>
                  <a:srgbClr val="5B6372"/>
                </a:solidFill>
                <a:latin typeface="Arial"/>
              </a:rPr>
              <a:t>detect_eval.py on 12 SIMULATED schematic storyboard frames with exact truth. Does not transfer to photographic footage.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transition spd="fast">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A5 · LAB 08 CAST PRESENCE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Cast Check: Is the Frame Wrong, or the Detector?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382481"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1199601" cy="841248"/>
          </a:xfrm>
          <a:prstGeom prst="rect">
            <a:avLst/>
          </a:prstGeom>
          <a:noFill/>
        </p:spPr>
        <p:txBody>
          <a:bodyPr wrap="square" anchor="ctr">
            <a:spAutoFit/>
          </a:bodyPr>
          <a:lstStyle/>
          <a:p>
            <a:pPr algn="l">
              <a:spcAft>
                <a:spcPts val="400"/>
              </a:spcAft>
            </a:pPr>
            <a:r>
              <a:rPr sz="1150" b="1">
                <a:solidFill>
                  <a:srgbClr val="FFFFFF"/>
                </a:solidFill>
                <a:latin typeface="Arial"/>
              </a:rPr>
              <a:t>Frame</a:t>
            </a:r>
          </a:p>
        </p:txBody>
      </p:sp>
      <p:sp>
        <p:nvSpPr>
          <p:cNvPr id="9" name="Rectangle 8"/>
          <p:cNvSpPr/>
          <p:nvPr/>
        </p:nvSpPr>
        <p:spPr>
          <a:xfrm>
            <a:off x="2159721" y="1783080"/>
            <a:ext cx="1807860"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69449" y="1783080"/>
            <a:ext cx="1624980" cy="841248"/>
          </a:xfrm>
          <a:prstGeom prst="rect">
            <a:avLst/>
          </a:prstGeom>
          <a:noFill/>
        </p:spPr>
        <p:txBody>
          <a:bodyPr wrap="square" anchor="ctr">
            <a:spAutoFit/>
          </a:bodyPr>
          <a:lstStyle/>
          <a:p>
            <a:pPr algn="l">
              <a:spcAft>
                <a:spcPts val="400"/>
              </a:spcAft>
            </a:pPr>
            <a:r>
              <a:rPr sz="1150" b="1">
                <a:solidFill>
                  <a:srgbClr val="FFFFFF"/>
                </a:solidFill>
                <a:latin typeface="Arial"/>
              </a:rPr>
              <a:t>Shot list expects</a:t>
            </a:r>
          </a:p>
        </p:txBody>
      </p:sp>
      <p:sp>
        <p:nvSpPr>
          <p:cNvPr id="11" name="Rectangle 10"/>
          <p:cNvSpPr/>
          <p:nvPr/>
        </p:nvSpPr>
        <p:spPr>
          <a:xfrm>
            <a:off x="3967581" y="1783080"/>
            <a:ext cx="1595170"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77309" y="1783080"/>
            <a:ext cx="1412290" cy="841248"/>
          </a:xfrm>
          <a:prstGeom prst="rect">
            <a:avLst/>
          </a:prstGeom>
          <a:noFill/>
        </p:spPr>
        <p:txBody>
          <a:bodyPr wrap="square" anchor="ctr">
            <a:spAutoFit/>
          </a:bodyPr>
          <a:lstStyle/>
          <a:p>
            <a:pPr algn="l">
              <a:spcAft>
                <a:spcPts val="400"/>
              </a:spcAft>
            </a:pPr>
            <a:r>
              <a:rPr sz="1150" b="1">
                <a:solidFill>
                  <a:srgbClr val="FFFFFF"/>
                </a:solidFill>
                <a:latin typeface="Arial"/>
              </a:rPr>
              <a:t>Detector sees</a:t>
            </a:r>
          </a:p>
        </p:txBody>
      </p:sp>
      <p:sp>
        <p:nvSpPr>
          <p:cNvPr id="13" name="Rectangle 12"/>
          <p:cNvSpPr/>
          <p:nvPr/>
        </p:nvSpPr>
        <p:spPr>
          <a:xfrm>
            <a:off x="5562751" y="1783080"/>
            <a:ext cx="1063447"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72479" y="1783080"/>
            <a:ext cx="880567" cy="841248"/>
          </a:xfrm>
          <a:prstGeom prst="rect">
            <a:avLst/>
          </a:prstGeom>
          <a:noFill/>
        </p:spPr>
        <p:txBody>
          <a:bodyPr wrap="square" anchor="ctr">
            <a:spAutoFit/>
          </a:bodyPr>
          <a:lstStyle/>
          <a:p>
            <a:pPr algn="l">
              <a:spcAft>
                <a:spcPts val="400"/>
              </a:spcAft>
            </a:pPr>
            <a:r>
              <a:rPr sz="1150" b="1">
                <a:solidFill>
                  <a:srgbClr val="FFFFFF"/>
                </a:solidFill>
                <a:latin typeface="Arial"/>
              </a:rPr>
              <a:t>Truth</a:t>
            </a:r>
          </a:p>
        </p:txBody>
      </p:sp>
      <p:sp>
        <p:nvSpPr>
          <p:cNvPr id="15" name="Rectangle 14"/>
          <p:cNvSpPr/>
          <p:nvPr/>
        </p:nvSpPr>
        <p:spPr>
          <a:xfrm>
            <a:off x="6626198" y="1783080"/>
            <a:ext cx="4785512"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35926" y="1783080"/>
            <a:ext cx="4602632" cy="841248"/>
          </a:xfrm>
          <a:prstGeom prst="rect">
            <a:avLst/>
          </a:prstGeom>
          <a:noFill/>
        </p:spPr>
        <p:txBody>
          <a:bodyPr wrap="square" anchor="ctr">
            <a:spAutoFit/>
          </a:bodyPr>
          <a:lstStyle/>
          <a:p>
            <a:pPr algn="l">
              <a:spcAft>
                <a:spcPts val="400"/>
              </a:spcAft>
            </a:pPr>
            <a:r>
              <a:rPr sz="1150" b="1">
                <a:solidFill>
                  <a:srgbClr val="FFFFFF"/>
                </a:solidFill>
                <a:latin typeface="Arial"/>
              </a:rPr>
              <a:t>Verdict</a:t>
            </a:r>
          </a:p>
        </p:txBody>
      </p:sp>
      <p:sp>
        <p:nvSpPr>
          <p:cNvPr id="17" name="Rectangle 16"/>
          <p:cNvSpPr/>
          <p:nvPr/>
        </p:nvSpPr>
        <p:spPr>
          <a:xfrm>
            <a:off x="777240" y="2624328"/>
            <a:ext cx="1382481" cy="8412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86968" y="2624328"/>
            <a:ext cx="1199601" cy="841248"/>
          </a:xfrm>
          <a:prstGeom prst="rect">
            <a:avLst/>
          </a:prstGeom>
          <a:noFill/>
        </p:spPr>
        <p:txBody>
          <a:bodyPr wrap="square" anchor="ctr">
            <a:spAutoFit/>
          </a:bodyPr>
          <a:lstStyle/>
          <a:p>
            <a:pPr algn="l">
              <a:spcAft>
                <a:spcPts val="400"/>
              </a:spcAft>
            </a:pPr>
            <a:r>
              <a:rPr sz="1050" b="1">
                <a:solidFill>
                  <a:srgbClr val="161B26"/>
                </a:solidFill>
                <a:latin typeface="Arial"/>
              </a:rPr>
              <a:t>frame_04</a:t>
            </a:r>
          </a:p>
        </p:txBody>
      </p:sp>
      <p:sp>
        <p:nvSpPr>
          <p:cNvPr id="19" name="Rectangle 18"/>
          <p:cNvSpPr/>
          <p:nvPr/>
        </p:nvSpPr>
        <p:spPr>
          <a:xfrm>
            <a:off x="2159721" y="2624328"/>
            <a:ext cx="1807860" cy="8412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269449" y="2624328"/>
            <a:ext cx="1624980" cy="841248"/>
          </a:xfrm>
          <a:prstGeom prst="rect">
            <a:avLst/>
          </a:prstGeom>
          <a:noFill/>
        </p:spPr>
        <p:txBody>
          <a:bodyPr wrap="square" anchor="ctr">
            <a:spAutoFit/>
          </a:bodyPr>
          <a:lstStyle/>
          <a:p>
            <a:pPr algn="l">
              <a:spcAft>
                <a:spcPts val="400"/>
              </a:spcAft>
            </a:pPr>
            <a:r>
              <a:rPr sz="1050" b="0">
                <a:solidFill>
                  <a:srgbClr val="161B26"/>
                </a:solidFill>
                <a:latin typeface="Arial"/>
              </a:rPr>
              <a:t>2 faces</a:t>
            </a:r>
          </a:p>
        </p:txBody>
      </p:sp>
      <p:sp>
        <p:nvSpPr>
          <p:cNvPr id="21" name="Rectangle 20"/>
          <p:cNvSpPr/>
          <p:nvPr/>
        </p:nvSpPr>
        <p:spPr>
          <a:xfrm>
            <a:off x="3967581" y="2624328"/>
            <a:ext cx="1595170" cy="8412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077309" y="2624328"/>
            <a:ext cx="1412290" cy="841248"/>
          </a:xfrm>
          <a:prstGeom prst="rect">
            <a:avLst/>
          </a:prstGeom>
          <a:noFill/>
        </p:spPr>
        <p:txBody>
          <a:bodyPr wrap="square" anchor="ctr">
            <a:spAutoFit/>
          </a:bodyPr>
          <a:lstStyle/>
          <a:p>
            <a:pPr algn="l">
              <a:spcAft>
                <a:spcPts val="400"/>
              </a:spcAft>
            </a:pPr>
            <a:r>
              <a:rPr sz="1050" b="0">
                <a:solidFill>
                  <a:srgbClr val="161B26"/>
                </a:solidFill>
                <a:latin typeface="Arial"/>
              </a:rPr>
              <a:t>1</a:t>
            </a:r>
          </a:p>
        </p:txBody>
      </p:sp>
      <p:sp>
        <p:nvSpPr>
          <p:cNvPr id="23" name="Rectangle 22"/>
          <p:cNvSpPr/>
          <p:nvPr/>
        </p:nvSpPr>
        <p:spPr>
          <a:xfrm>
            <a:off x="5562751" y="2624328"/>
            <a:ext cx="1063447" cy="8412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672479" y="2624328"/>
            <a:ext cx="880567" cy="841248"/>
          </a:xfrm>
          <a:prstGeom prst="rect">
            <a:avLst/>
          </a:prstGeom>
          <a:noFill/>
        </p:spPr>
        <p:txBody>
          <a:bodyPr wrap="square" anchor="ctr">
            <a:spAutoFit/>
          </a:bodyPr>
          <a:lstStyle/>
          <a:p>
            <a:pPr algn="l">
              <a:spcAft>
                <a:spcPts val="400"/>
              </a:spcAft>
            </a:pPr>
            <a:r>
              <a:rPr sz="1050" b="0">
                <a:solidFill>
                  <a:srgbClr val="161B26"/>
                </a:solidFill>
                <a:latin typeface="Arial"/>
              </a:rPr>
              <a:t>1</a:t>
            </a:r>
          </a:p>
        </p:txBody>
      </p:sp>
      <p:sp>
        <p:nvSpPr>
          <p:cNvPr id="25" name="Rectangle 24"/>
          <p:cNvSpPr/>
          <p:nvPr/>
        </p:nvSpPr>
        <p:spPr>
          <a:xfrm>
            <a:off x="6626198" y="2624328"/>
            <a:ext cx="4785512" cy="8412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35926" y="2624328"/>
            <a:ext cx="4602632" cy="841248"/>
          </a:xfrm>
          <a:prstGeom prst="rect">
            <a:avLst/>
          </a:prstGeom>
          <a:noFill/>
        </p:spPr>
        <p:txBody>
          <a:bodyPr wrap="square" anchor="ctr">
            <a:spAutoFit/>
          </a:bodyPr>
          <a:lstStyle/>
          <a:p>
            <a:pPr algn="l">
              <a:spcAft>
                <a:spcPts val="400"/>
              </a:spcAft>
            </a:pPr>
            <a:r>
              <a:rPr sz="1050" b="0">
                <a:solidFill>
                  <a:srgbClr val="161B26"/>
                </a:solidFill>
                <a:latin typeface="Arial"/>
              </a:rPr>
              <a:t>CAST DRIFT — a character is missing</a:t>
            </a:r>
          </a:p>
        </p:txBody>
      </p:sp>
      <p:sp>
        <p:nvSpPr>
          <p:cNvPr id="27" name="Rectangle 26"/>
          <p:cNvSpPr/>
          <p:nvPr/>
        </p:nvSpPr>
        <p:spPr>
          <a:xfrm>
            <a:off x="777240" y="3465576"/>
            <a:ext cx="1382481" cy="8412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86968" y="3465576"/>
            <a:ext cx="1199601" cy="841248"/>
          </a:xfrm>
          <a:prstGeom prst="rect">
            <a:avLst/>
          </a:prstGeom>
          <a:noFill/>
        </p:spPr>
        <p:txBody>
          <a:bodyPr wrap="square" anchor="ctr">
            <a:spAutoFit/>
          </a:bodyPr>
          <a:lstStyle/>
          <a:p>
            <a:pPr algn="l">
              <a:spcAft>
                <a:spcPts val="400"/>
              </a:spcAft>
            </a:pPr>
            <a:r>
              <a:rPr sz="1050" b="1">
                <a:solidFill>
                  <a:srgbClr val="161B26"/>
                </a:solidFill>
                <a:latin typeface="Arial"/>
              </a:rPr>
              <a:t>frame_06</a:t>
            </a:r>
          </a:p>
        </p:txBody>
      </p:sp>
      <p:sp>
        <p:nvSpPr>
          <p:cNvPr id="29" name="Rectangle 28"/>
          <p:cNvSpPr/>
          <p:nvPr/>
        </p:nvSpPr>
        <p:spPr>
          <a:xfrm>
            <a:off x="2159721" y="3465576"/>
            <a:ext cx="1807860" cy="8412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269449" y="3465576"/>
            <a:ext cx="1624980" cy="841248"/>
          </a:xfrm>
          <a:prstGeom prst="rect">
            <a:avLst/>
          </a:prstGeom>
          <a:noFill/>
        </p:spPr>
        <p:txBody>
          <a:bodyPr wrap="square" anchor="ctr">
            <a:spAutoFit/>
          </a:bodyPr>
          <a:lstStyle/>
          <a:p>
            <a:pPr algn="l">
              <a:spcAft>
                <a:spcPts val="400"/>
              </a:spcAft>
            </a:pPr>
            <a:r>
              <a:rPr sz="1050" b="0">
                <a:solidFill>
                  <a:srgbClr val="161B26"/>
                </a:solidFill>
                <a:latin typeface="Arial"/>
              </a:rPr>
              <a:t>1 face</a:t>
            </a:r>
          </a:p>
        </p:txBody>
      </p:sp>
      <p:sp>
        <p:nvSpPr>
          <p:cNvPr id="31" name="Rectangle 30"/>
          <p:cNvSpPr/>
          <p:nvPr/>
        </p:nvSpPr>
        <p:spPr>
          <a:xfrm>
            <a:off x="3967581" y="3465576"/>
            <a:ext cx="1595170" cy="8412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077309" y="3465576"/>
            <a:ext cx="1412290" cy="841248"/>
          </a:xfrm>
          <a:prstGeom prst="rect">
            <a:avLst/>
          </a:prstGeom>
          <a:noFill/>
        </p:spPr>
        <p:txBody>
          <a:bodyPr wrap="square" anchor="ctr">
            <a:spAutoFit/>
          </a:bodyPr>
          <a:lstStyle/>
          <a:p>
            <a:pPr algn="l">
              <a:spcAft>
                <a:spcPts val="400"/>
              </a:spcAft>
            </a:pPr>
            <a:r>
              <a:rPr sz="1050" b="0">
                <a:solidFill>
                  <a:srgbClr val="161B26"/>
                </a:solidFill>
                <a:latin typeface="Arial"/>
              </a:rPr>
              <a:t>2</a:t>
            </a:r>
          </a:p>
        </p:txBody>
      </p:sp>
      <p:sp>
        <p:nvSpPr>
          <p:cNvPr id="33" name="Rectangle 32"/>
          <p:cNvSpPr/>
          <p:nvPr/>
        </p:nvSpPr>
        <p:spPr>
          <a:xfrm>
            <a:off x="5562751" y="3465576"/>
            <a:ext cx="1063447" cy="8412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672479" y="3465576"/>
            <a:ext cx="880567" cy="841248"/>
          </a:xfrm>
          <a:prstGeom prst="rect">
            <a:avLst/>
          </a:prstGeom>
          <a:noFill/>
        </p:spPr>
        <p:txBody>
          <a:bodyPr wrap="square" anchor="ctr">
            <a:spAutoFit/>
          </a:bodyPr>
          <a:lstStyle/>
          <a:p>
            <a:pPr algn="l">
              <a:spcAft>
                <a:spcPts val="400"/>
              </a:spcAft>
            </a:pPr>
            <a:r>
              <a:rPr sz="1050" b="0">
                <a:solidFill>
                  <a:srgbClr val="161B26"/>
                </a:solidFill>
                <a:latin typeface="Arial"/>
              </a:rPr>
              <a:t>1</a:t>
            </a:r>
          </a:p>
        </p:txBody>
      </p:sp>
      <p:sp>
        <p:nvSpPr>
          <p:cNvPr id="35" name="Rectangle 34"/>
          <p:cNvSpPr/>
          <p:nvPr/>
        </p:nvSpPr>
        <p:spPr>
          <a:xfrm>
            <a:off x="6626198" y="3465576"/>
            <a:ext cx="4785512" cy="8412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35926" y="3465576"/>
            <a:ext cx="4602632" cy="841248"/>
          </a:xfrm>
          <a:prstGeom prst="rect">
            <a:avLst/>
          </a:prstGeom>
          <a:noFill/>
        </p:spPr>
        <p:txBody>
          <a:bodyPr wrap="square" anchor="ctr">
            <a:spAutoFit/>
          </a:bodyPr>
          <a:lstStyle/>
          <a:p>
            <a:pPr algn="l">
              <a:spcAft>
                <a:spcPts val="400"/>
              </a:spcAft>
            </a:pPr>
            <a:r>
              <a:rPr sz="1050" b="0">
                <a:solidFill>
                  <a:srgbClr val="161B26"/>
                </a:solidFill>
                <a:latin typeface="Arial"/>
              </a:rPr>
              <a:t>DETECTOR ERROR — false positive</a:t>
            </a:r>
          </a:p>
        </p:txBody>
      </p:sp>
      <p:sp>
        <p:nvSpPr>
          <p:cNvPr id="37" name="Rectangle 36"/>
          <p:cNvSpPr/>
          <p:nvPr/>
        </p:nvSpPr>
        <p:spPr>
          <a:xfrm>
            <a:off x="777240" y="4306824"/>
            <a:ext cx="1382481" cy="8412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86968" y="4306824"/>
            <a:ext cx="1199601" cy="841248"/>
          </a:xfrm>
          <a:prstGeom prst="rect">
            <a:avLst/>
          </a:prstGeom>
          <a:noFill/>
        </p:spPr>
        <p:txBody>
          <a:bodyPr wrap="square" anchor="ctr">
            <a:spAutoFit/>
          </a:bodyPr>
          <a:lstStyle/>
          <a:p>
            <a:pPr algn="l">
              <a:spcAft>
                <a:spcPts val="400"/>
              </a:spcAft>
            </a:pPr>
            <a:r>
              <a:rPr sz="1050" b="1">
                <a:solidFill>
                  <a:srgbClr val="161B26"/>
                </a:solidFill>
                <a:latin typeface="Arial"/>
              </a:rPr>
              <a:t>frame_09</a:t>
            </a:r>
          </a:p>
        </p:txBody>
      </p:sp>
      <p:sp>
        <p:nvSpPr>
          <p:cNvPr id="39" name="Rectangle 38"/>
          <p:cNvSpPr/>
          <p:nvPr/>
        </p:nvSpPr>
        <p:spPr>
          <a:xfrm>
            <a:off x="2159721" y="4306824"/>
            <a:ext cx="1807860" cy="8412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269449" y="4306824"/>
            <a:ext cx="1624980" cy="841248"/>
          </a:xfrm>
          <a:prstGeom prst="rect">
            <a:avLst/>
          </a:prstGeom>
          <a:noFill/>
        </p:spPr>
        <p:txBody>
          <a:bodyPr wrap="square" anchor="ctr">
            <a:spAutoFit/>
          </a:bodyPr>
          <a:lstStyle/>
          <a:p>
            <a:pPr algn="l">
              <a:spcAft>
                <a:spcPts val="400"/>
              </a:spcAft>
            </a:pPr>
            <a:r>
              <a:rPr sz="1050" b="0">
                <a:solidFill>
                  <a:srgbClr val="161B26"/>
                </a:solidFill>
                <a:latin typeface="Arial"/>
              </a:rPr>
              <a:t>1 face</a:t>
            </a:r>
          </a:p>
        </p:txBody>
      </p:sp>
      <p:sp>
        <p:nvSpPr>
          <p:cNvPr id="41" name="Rectangle 40"/>
          <p:cNvSpPr/>
          <p:nvPr/>
        </p:nvSpPr>
        <p:spPr>
          <a:xfrm>
            <a:off x="3967581" y="4306824"/>
            <a:ext cx="1595170" cy="8412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077309" y="4306824"/>
            <a:ext cx="1412290" cy="841248"/>
          </a:xfrm>
          <a:prstGeom prst="rect">
            <a:avLst/>
          </a:prstGeom>
          <a:noFill/>
        </p:spPr>
        <p:txBody>
          <a:bodyPr wrap="square" anchor="ctr">
            <a:spAutoFit/>
          </a:bodyPr>
          <a:lstStyle/>
          <a:p>
            <a:pPr algn="l">
              <a:spcAft>
                <a:spcPts val="400"/>
              </a:spcAft>
            </a:pPr>
            <a:r>
              <a:rPr sz="1050" b="0">
                <a:solidFill>
                  <a:srgbClr val="161B26"/>
                </a:solidFill>
                <a:latin typeface="Arial"/>
              </a:rPr>
              <a:t>2</a:t>
            </a:r>
          </a:p>
        </p:txBody>
      </p:sp>
      <p:sp>
        <p:nvSpPr>
          <p:cNvPr id="43" name="Rectangle 42"/>
          <p:cNvSpPr/>
          <p:nvPr/>
        </p:nvSpPr>
        <p:spPr>
          <a:xfrm>
            <a:off x="5562751" y="4306824"/>
            <a:ext cx="1063447" cy="8412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672479" y="4306824"/>
            <a:ext cx="880567" cy="841248"/>
          </a:xfrm>
          <a:prstGeom prst="rect">
            <a:avLst/>
          </a:prstGeom>
          <a:noFill/>
        </p:spPr>
        <p:txBody>
          <a:bodyPr wrap="square" anchor="ctr">
            <a:spAutoFit/>
          </a:bodyPr>
          <a:lstStyle/>
          <a:p>
            <a:pPr algn="l">
              <a:spcAft>
                <a:spcPts val="400"/>
              </a:spcAft>
            </a:pPr>
            <a:r>
              <a:rPr sz="1050" b="0">
                <a:solidFill>
                  <a:srgbClr val="161B26"/>
                </a:solidFill>
                <a:latin typeface="Arial"/>
              </a:rPr>
              <a:t>2</a:t>
            </a:r>
          </a:p>
        </p:txBody>
      </p:sp>
      <p:sp>
        <p:nvSpPr>
          <p:cNvPr id="45" name="Rectangle 44"/>
          <p:cNvSpPr/>
          <p:nvPr/>
        </p:nvSpPr>
        <p:spPr>
          <a:xfrm>
            <a:off x="6626198" y="4306824"/>
            <a:ext cx="4785512" cy="8412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735926" y="4306824"/>
            <a:ext cx="4602632" cy="841248"/>
          </a:xfrm>
          <a:prstGeom prst="rect">
            <a:avLst/>
          </a:prstGeom>
          <a:noFill/>
        </p:spPr>
        <p:txBody>
          <a:bodyPr wrap="square" anchor="ctr">
            <a:spAutoFit/>
          </a:bodyPr>
          <a:lstStyle/>
          <a:p>
            <a:pPr algn="l">
              <a:spcAft>
                <a:spcPts val="400"/>
              </a:spcAft>
            </a:pPr>
            <a:r>
              <a:rPr sz="1050" b="0">
                <a:solidFill>
                  <a:srgbClr val="161B26"/>
                </a:solidFill>
                <a:latin typeface="Arial"/>
              </a:rPr>
              <a:t>CAST DRIFT — an extra appeared</a:t>
            </a:r>
          </a:p>
        </p:txBody>
      </p:sp>
      <p:sp>
        <p:nvSpPr>
          <p:cNvPr id="47" name="Rectangle 46"/>
          <p:cNvSpPr/>
          <p:nvPr/>
        </p:nvSpPr>
        <p:spPr>
          <a:xfrm>
            <a:off x="777240" y="5148072"/>
            <a:ext cx="1382481" cy="8412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86968" y="5148072"/>
            <a:ext cx="1199601" cy="841248"/>
          </a:xfrm>
          <a:prstGeom prst="rect">
            <a:avLst/>
          </a:prstGeom>
          <a:noFill/>
        </p:spPr>
        <p:txBody>
          <a:bodyPr wrap="square" anchor="ctr">
            <a:spAutoFit/>
          </a:bodyPr>
          <a:lstStyle/>
          <a:p>
            <a:pPr algn="l">
              <a:spcAft>
                <a:spcPts val="400"/>
              </a:spcAft>
            </a:pPr>
            <a:r>
              <a:rPr sz="1050" b="1">
                <a:solidFill>
                  <a:srgbClr val="161B26"/>
                </a:solidFill>
                <a:latin typeface="Arial"/>
              </a:rPr>
              <a:t>9 others</a:t>
            </a:r>
          </a:p>
        </p:txBody>
      </p:sp>
      <p:sp>
        <p:nvSpPr>
          <p:cNvPr id="49" name="Rectangle 48"/>
          <p:cNvSpPr/>
          <p:nvPr/>
        </p:nvSpPr>
        <p:spPr>
          <a:xfrm>
            <a:off x="2159721" y="5148072"/>
            <a:ext cx="1807860" cy="8412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269449" y="5148072"/>
            <a:ext cx="1624980" cy="841248"/>
          </a:xfrm>
          <a:prstGeom prst="rect">
            <a:avLst/>
          </a:prstGeom>
          <a:noFill/>
        </p:spPr>
        <p:txBody>
          <a:bodyPr wrap="square" anchor="ctr">
            <a:spAutoFit/>
          </a:bodyPr>
          <a:lstStyle/>
          <a:p>
            <a:pPr algn="l">
              <a:spcAft>
                <a:spcPts val="400"/>
              </a:spcAft>
            </a:pPr>
            <a:r>
              <a:rPr sz="1050" b="0">
                <a:solidFill>
                  <a:srgbClr val="161B26"/>
                </a:solidFill>
                <a:latin typeface="Arial"/>
              </a:rPr>
              <a:t>as listed</a:t>
            </a:r>
          </a:p>
        </p:txBody>
      </p:sp>
      <p:sp>
        <p:nvSpPr>
          <p:cNvPr id="51" name="Rectangle 50"/>
          <p:cNvSpPr/>
          <p:nvPr/>
        </p:nvSpPr>
        <p:spPr>
          <a:xfrm>
            <a:off x="3967581" y="5148072"/>
            <a:ext cx="1595170" cy="8412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077309" y="5148072"/>
            <a:ext cx="1412290" cy="841248"/>
          </a:xfrm>
          <a:prstGeom prst="rect">
            <a:avLst/>
          </a:prstGeom>
          <a:noFill/>
        </p:spPr>
        <p:txBody>
          <a:bodyPr wrap="square" anchor="ctr">
            <a:spAutoFit/>
          </a:bodyPr>
          <a:lstStyle/>
          <a:p>
            <a:pPr algn="l">
              <a:spcAft>
                <a:spcPts val="400"/>
              </a:spcAft>
            </a:pPr>
            <a:r>
              <a:rPr sz="1050" b="0">
                <a:solidFill>
                  <a:srgbClr val="161B26"/>
                </a:solidFill>
                <a:latin typeface="Arial"/>
              </a:rPr>
              <a:t>as listed</a:t>
            </a:r>
          </a:p>
        </p:txBody>
      </p:sp>
      <p:sp>
        <p:nvSpPr>
          <p:cNvPr id="53" name="Rectangle 52"/>
          <p:cNvSpPr/>
          <p:nvPr/>
        </p:nvSpPr>
        <p:spPr>
          <a:xfrm>
            <a:off x="5562751" y="5148072"/>
            <a:ext cx="1063447" cy="8412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672479" y="5148072"/>
            <a:ext cx="880567" cy="841248"/>
          </a:xfrm>
          <a:prstGeom prst="rect">
            <a:avLst/>
          </a:prstGeom>
          <a:noFill/>
        </p:spPr>
        <p:txBody>
          <a:bodyPr wrap="square" anchor="ctr">
            <a:spAutoFit/>
          </a:bodyPr>
          <a:lstStyle/>
          <a:p>
            <a:pPr algn="l">
              <a:spcAft>
                <a:spcPts val="400"/>
              </a:spcAft>
            </a:pPr>
            <a:r>
              <a:rPr sz="1050" b="0">
                <a:solidFill>
                  <a:srgbClr val="161B26"/>
                </a:solidFill>
                <a:latin typeface="Arial"/>
              </a:rPr>
              <a:t>as listed</a:t>
            </a:r>
          </a:p>
        </p:txBody>
      </p:sp>
      <p:sp>
        <p:nvSpPr>
          <p:cNvPr id="55" name="Rectangle 54"/>
          <p:cNvSpPr/>
          <p:nvPr/>
        </p:nvSpPr>
        <p:spPr>
          <a:xfrm>
            <a:off x="6626198" y="5148072"/>
            <a:ext cx="4785512" cy="8412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735926" y="5148072"/>
            <a:ext cx="4602632" cy="841248"/>
          </a:xfrm>
          <a:prstGeom prst="rect">
            <a:avLst/>
          </a:prstGeom>
          <a:noFill/>
        </p:spPr>
        <p:txBody>
          <a:bodyPr wrap="square" anchor="ctr">
            <a:spAutoFit/>
          </a:bodyPr>
          <a:lstStyle/>
          <a:p>
            <a:pPr algn="l">
              <a:spcAft>
                <a:spcPts val="400"/>
              </a:spcAft>
            </a:pPr>
            <a:r>
              <a:rPr sz="1050" b="0">
                <a:solidFill>
                  <a:srgbClr val="161B26"/>
                </a:solidFill>
                <a:latin typeface="Arial"/>
              </a:rPr>
              <a:t>OK</a:t>
            </a:r>
          </a:p>
        </p:txBody>
      </p:sp>
      <p:sp>
        <p:nvSpPr>
          <p:cNvPr id="57" name="TextBox 56"/>
          <p:cNvSpPr txBox="1"/>
          <p:nvPr/>
        </p:nvSpPr>
        <p:spPr>
          <a:xfrm>
            <a:off x="777240" y="6053328"/>
            <a:ext cx="10698480" cy="457200"/>
          </a:xfrm>
          <a:prstGeom prst="rect">
            <a:avLst/>
          </a:prstGeom>
          <a:noFill/>
        </p:spPr>
        <p:txBody>
          <a:bodyPr wrap="square" anchor="t">
            <a:spAutoFit/>
          </a:bodyPr>
          <a:lstStyle/>
          <a:p>
            <a:pPr algn="ctr">
              <a:spcAft>
                <a:spcPts val="400"/>
              </a:spcAft>
            </a:pPr>
            <a:r>
              <a:rPr sz="1200" b="0">
                <a:solidFill>
                  <a:srgbClr val="5B6372"/>
                </a:solidFill>
                <a:latin typeface="Arial"/>
              </a:rPr>
              <a:t>Only a disagreement between the shot list and the detector is routed to a reviewer; the truth column is what the reviewer decides.</a:t>
            </a:r>
          </a:p>
        </p:txBody>
      </p:sp>
      <p:sp>
        <p:nvSpPr>
          <p:cNvPr id="58" name="TextBox 5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59" name="TextBox 5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0" name="TextBox 5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ransition spd="fast">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0B981"/>
                </a:solidFill>
                <a:latin typeface="Arial"/>
              </a:rPr>
              <a:t>TOPIC 04 · ELO4 · A5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Lab 08 — Cast-Presence Detection and Detector Evaluation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56231"/>
            <a:ext cx="3401568" cy="361188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56231"/>
            <a:ext cx="3401568"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130552"/>
            <a:ext cx="2999232" cy="457200"/>
          </a:xfrm>
          <a:prstGeom prst="rect">
            <a:avLst/>
          </a:prstGeom>
          <a:noFill/>
        </p:spPr>
        <p:txBody>
          <a:bodyPr wrap="square" anchor="t">
            <a:spAutoFit/>
          </a:bodyPr>
          <a:lstStyle/>
          <a:p>
            <a:pPr algn="l">
              <a:spcAft>
                <a:spcPts val="400"/>
              </a:spcAft>
            </a:pPr>
            <a:r>
              <a:rPr sz="1500" b="1">
                <a:solidFill>
                  <a:srgbClr val="10B981"/>
                </a:solidFill>
                <a:latin typeface="Arial"/>
              </a:rPr>
              <a:t>INPUTS</a:t>
            </a:r>
          </a:p>
        </p:txBody>
      </p:sp>
      <p:sp>
        <p:nvSpPr>
          <p:cNvPr id="10" name="TextBox 9"/>
          <p:cNvSpPr txBox="1"/>
          <p:nvPr/>
        </p:nvSpPr>
        <p:spPr>
          <a:xfrm>
            <a:off x="978408" y="2743200"/>
            <a:ext cx="2999232" cy="2468880"/>
          </a:xfrm>
          <a:prstGeom prst="rect">
            <a:avLst/>
          </a:prstGeom>
          <a:noFill/>
        </p:spPr>
        <p:txBody>
          <a:bodyPr wrap="square" anchor="t">
            <a:spAutoFit/>
          </a:bodyPr>
          <a:lstStyle/>
          <a:p>
            <a:pPr algn="l">
              <a:spcAft>
                <a:spcPts val="400"/>
              </a:spcAft>
            </a:pPr>
            <a:r>
              <a:rPr sz="1400" b="0">
                <a:solidFill>
                  <a:srgbClr val="161B26"/>
                </a:solidFill>
                <a:latin typeface="Arial"/>
              </a:rPr>
              <a:t>Twelve schematic storyboard frames with exact truth (SIMULATED)</a:t>
            </a:r>
          </a:p>
        </p:txBody>
      </p:sp>
      <p:sp>
        <p:nvSpPr>
          <p:cNvPr id="11" name="Rounded Rectangle 10"/>
          <p:cNvSpPr/>
          <p:nvPr/>
        </p:nvSpPr>
        <p:spPr>
          <a:xfrm>
            <a:off x="4379976" y="1856231"/>
            <a:ext cx="3401568" cy="361188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9976" y="1856231"/>
            <a:ext cx="3401568"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81144" y="2130552"/>
            <a:ext cx="2999232" cy="457200"/>
          </a:xfrm>
          <a:prstGeom prst="rect">
            <a:avLst/>
          </a:prstGeom>
          <a:noFill/>
        </p:spPr>
        <p:txBody>
          <a:bodyPr wrap="square" anchor="t">
            <a:spAutoFit/>
          </a:bodyPr>
          <a:lstStyle/>
          <a:p>
            <a:pPr algn="l">
              <a:spcAft>
                <a:spcPts val="400"/>
              </a:spcAft>
            </a:pPr>
            <a:r>
              <a:rPr sz="1500" b="1">
                <a:solidFill>
                  <a:srgbClr val="10B981"/>
                </a:solidFill>
                <a:latin typeface="Arial"/>
              </a:rPr>
              <a:t>TECHNICAL QUESTION</a:t>
            </a:r>
          </a:p>
        </p:txBody>
      </p:sp>
      <p:sp>
        <p:nvSpPr>
          <p:cNvPr id="14" name="TextBox 13"/>
          <p:cNvSpPr txBox="1"/>
          <p:nvPr/>
        </p:nvSpPr>
        <p:spPr>
          <a:xfrm>
            <a:off x="4581144" y="2743200"/>
            <a:ext cx="2999232" cy="2468880"/>
          </a:xfrm>
          <a:prstGeom prst="rect">
            <a:avLst/>
          </a:prstGeom>
          <a:noFill/>
        </p:spPr>
        <p:txBody>
          <a:bodyPr wrap="square" anchor="t">
            <a:spAutoFit/>
          </a:bodyPr>
          <a:lstStyle/>
          <a:p>
            <a:pPr algn="l">
              <a:spcAft>
                <a:spcPts val="400"/>
              </a:spcAft>
            </a:pPr>
            <a:r>
              <a:rPr sz="1400" b="0">
                <a:solidFill>
                  <a:srgbClr val="161B26"/>
                </a:solidFill>
                <a:latin typeface="Arial"/>
              </a:rPr>
              <a:t>How do confidence and IoU thresholds change false positives and misses — and is a flagged frame wrong, or is the detector?</a:t>
            </a:r>
          </a:p>
        </p:txBody>
      </p:sp>
      <p:sp>
        <p:nvSpPr>
          <p:cNvPr id="15" name="Rounded Rectangle 14"/>
          <p:cNvSpPr/>
          <p:nvPr/>
        </p:nvSpPr>
        <p:spPr>
          <a:xfrm>
            <a:off x="7982712" y="1856231"/>
            <a:ext cx="3401568" cy="361188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82712" y="1856231"/>
            <a:ext cx="3401568"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83880" y="2130552"/>
            <a:ext cx="2999232" cy="457200"/>
          </a:xfrm>
          <a:prstGeom prst="rect">
            <a:avLst/>
          </a:prstGeom>
          <a:noFill/>
        </p:spPr>
        <p:txBody>
          <a:bodyPr wrap="square" anchor="t">
            <a:spAutoFit/>
          </a:bodyPr>
          <a:lstStyle/>
          <a:p>
            <a:pPr algn="l">
              <a:spcAft>
                <a:spcPts val="400"/>
              </a:spcAft>
            </a:pPr>
            <a:r>
              <a:rPr sz="1500" b="1">
                <a:solidFill>
                  <a:srgbClr val="10B981"/>
                </a:solidFill>
                <a:latin typeface="Arial"/>
              </a:rPr>
              <a:t>EVIDENCE TO PRODUCE</a:t>
            </a:r>
          </a:p>
        </p:txBody>
      </p:sp>
      <p:sp>
        <p:nvSpPr>
          <p:cNvPr id="18" name="TextBox 17"/>
          <p:cNvSpPr txBox="1"/>
          <p:nvPr/>
        </p:nvSpPr>
        <p:spPr>
          <a:xfrm>
            <a:off x="8183880" y="2743200"/>
            <a:ext cx="2999232" cy="2468880"/>
          </a:xfrm>
          <a:prstGeom prst="rect">
            <a:avLst/>
          </a:prstGeom>
          <a:noFill/>
        </p:spPr>
        <p:txBody>
          <a:bodyPr wrap="square" anchor="t">
            <a:spAutoFit/>
          </a:bodyPr>
          <a:lstStyle/>
          <a:p>
            <a:pPr algn="l">
              <a:spcAft>
                <a:spcPts val="400"/>
              </a:spcAft>
            </a:pPr>
            <a:r>
              <a:rPr sz="1400" b="0">
                <a:solidFill>
                  <a:srgbClr val="161B26"/>
                </a:solidFill>
                <a:latin typeface="Arial"/>
              </a:rPr>
              <a:t>An evaluation table (TP, FP, FN, precision, recall, F1 at three IoU thresholds), a parameter sweep with a chosen operating point, a cast-check table separating CAST DRIFT from DETECTOR ERROR, and a positive-control run on an AI-generated still.</a:t>
            </a:r>
          </a:p>
        </p:txBody>
      </p:sp>
      <p:sp>
        <p:nvSpPr>
          <p:cNvPr id="19" name="TextBox 18"/>
          <p:cNvSpPr txBox="1"/>
          <p:nvPr/>
        </p:nvSpPr>
        <p:spPr>
          <a:xfrm>
            <a:off x="777240" y="5623560"/>
            <a:ext cx="10607040" cy="685800"/>
          </a:xfrm>
          <a:prstGeom prst="rect">
            <a:avLst/>
          </a:prstGeom>
          <a:noFill/>
        </p:spPr>
        <p:txBody>
          <a:bodyPr wrap="square" anchor="t">
            <a:spAutoFit/>
          </a:bodyPr>
          <a:lstStyle/>
          <a:p>
            <a:pPr algn="l">
              <a:spcAft>
                <a:spcPts val="400"/>
              </a:spcAft>
            </a:pPr>
            <a:r>
              <a:rPr sz="1150" b="0">
                <a:solidFill>
                  <a:srgbClr val="5B6372"/>
                </a:solidFill>
                <a:latin typeface="Arial"/>
              </a:rPr>
              <a:t>LAB 08  ·  60 MIN · Python 3 · opencv-python · NumPy · no weights download, no network</a:t>
            </a:r>
          </a:p>
          <a:p>
            <a:pPr algn="l">
              <a:spcAft>
                <a:spcPts val="400"/>
              </a:spcAft>
            </a:pPr>
            <a:r>
              <a:rPr sz="1150" b="0">
                <a:solidFill>
                  <a:srgbClr val="5B6372"/>
                </a:solidFill>
                <a:latin typeface="Arial"/>
              </a:rPr>
              <a:t>Detailed procedures and prompts: Learner Guide / labs/lab-08-cast-detection-evaluation/README.md</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transition spd="fast">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0B981"/>
                </a:solidFill>
                <a:latin typeface="Arial"/>
              </a:rPr>
              <a:t>TOPIC 04 · ELO4 · A5, A6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1900" b="1">
                <a:solidFill>
                  <a:srgbClr val="161B26"/>
                </a:solidFill>
                <a:latin typeface="Arial"/>
              </a:rPr>
              <a:t>Lab 09 — Storyboard to Shot Prompts, Start and End Frames, and the Animatic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56231"/>
            <a:ext cx="3401568" cy="361188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56231"/>
            <a:ext cx="3401568"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130552"/>
            <a:ext cx="2999232" cy="457200"/>
          </a:xfrm>
          <a:prstGeom prst="rect">
            <a:avLst/>
          </a:prstGeom>
          <a:noFill/>
        </p:spPr>
        <p:txBody>
          <a:bodyPr wrap="square" anchor="t">
            <a:spAutoFit/>
          </a:bodyPr>
          <a:lstStyle/>
          <a:p>
            <a:pPr algn="l">
              <a:spcAft>
                <a:spcPts val="400"/>
              </a:spcAft>
            </a:pPr>
            <a:r>
              <a:rPr sz="1500" b="1">
                <a:solidFill>
                  <a:srgbClr val="10B981"/>
                </a:solidFill>
                <a:latin typeface="Arial"/>
              </a:rPr>
              <a:t>INPUTS</a:t>
            </a:r>
          </a:p>
        </p:txBody>
      </p:sp>
      <p:sp>
        <p:nvSpPr>
          <p:cNvPr id="10" name="TextBox 9"/>
          <p:cNvSpPr txBox="1"/>
          <p:nvPr/>
        </p:nvSpPr>
        <p:spPr>
          <a:xfrm>
            <a:off x="978408" y="2743200"/>
            <a:ext cx="2999232" cy="2468880"/>
          </a:xfrm>
          <a:prstGeom prst="rect">
            <a:avLst/>
          </a:prstGeom>
          <a:noFill/>
        </p:spPr>
        <p:txBody>
          <a:bodyPr wrap="square" anchor="t">
            <a:spAutoFit/>
          </a:bodyPr>
          <a:lstStyle/>
          <a:p>
            <a:pPr algn="l">
              <a:spcAft>
                <a:spcPts val="400"/>
              </a:spcAft>
            </a:pPr>
            <a:r>
              <a:rPr sz="1400" b="0">
                <a:solidFill>
                  <a:srgbClr val="161B26"/>
                </a:solidFill>
                <a:latin typeface="Arial"/>
              </a:rPr>
              <a:t>Storyboard start and end keyframes for six shots (SIMULATED)</a:t>
            </a:r>
          </a:p>
        </p:txBody>
      </p:sp>
      <p:sp>
        <p:nvSpPr>
          <p:cNvPr id="11" name="Rounded Rectangle 10"/>
          <p:cNvSpPr/>
          <p:nvPr/>
        </p:nvSpPr>
        <p:spPr>
          <a:xfrm>
            <a:off x="4379976" y="1856231"/>
            <a:ext cx="3401568" cy="361188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9976" y="1856231"/>
            <a:ext cx="3401568"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81144" y="2130552"/>
            <a:ext cx="2999232" cy="457200"/>
          </a:xfrm>
          <a:prstGeom prst="rect">
            <a:avLst/>
          </a:prstGeom>
          <a:noFill/>
        </p:spPr>
        <p:txBody>
          <a:bodyPr wrap="square" anchor="t">
            <a:spAutoFit/>
          </a:bodyPr>
          <a:lstStyle/>
          <a:p>
            <a:pPr algn="l">
              <a:spcAft>
                <a:spcPts val="400"/>
              </a:spcAft>
            </a:pPr>
            <a:r>
              <a:rPr sz="1500" b="1">
                <a:solidFill>
                  <a:srgbClr val="10B981"/>
                </a:solidFill>
                <a:latin typeface="Arial"/>
              </a:rPr>
              <a:t>TECHNICAL QUESTION</a:t>
            </a:r>
          </a:p>
        </p:txBody>
      </p:sp>
      <p:sp>
        <p:nvSpPr>
          <p:cNvPr id="14" name="TextBox 13"/>
          <p:cNvSpPr txBox="1"/>
          <p:nvPr/>
        </p:nvSpPr>
        <p:spPr>
          <a:xfrm>
            <a:off x="4581144" y="2743200"/>
            <a:ext cx="2999232" cy="2468880"/>
          </a:xfrm>
          <a:prstGeom prst="rect">
            <a:avLst/>
          </a:prstGeom>
          <a:noFill/>
        </p:spPr>
        <p:txBody>
          <a:bodyPr wrap="square" anchor="t">
            <a:spAutoFit/>
          </a:bodyPr>
          <a:lstStyle/>
          <a:p>
            <a:pPr algn="l">
              <a:spcAft>
                <a:spcPts val="400"/>
              </a:spcAft>
            </a:pPr>
            <a:r>
              <a:rPr sz="1400" b="0">
                <a:solidFill>
                  <a:srgbClr val="161B26"/>
                </a:solidFill>
                <a:latin typeface="Arial"/>
              </a:rPr>
              <a:t>Do the shot durations, clip-length cap and voiceover timing agree — before any credit is spent?</a:t>
            </a:r>
          </a:p>
        </p:txBody>
      </p:sp>
      <p:sp>
        <p:nvSpPr>
          <p:cNvPr id="15" name="Rounded Rectangle 14"/>
          <p:cNvSpPr/>
          <p:nvPr/>
        </p:nvSpPr>
        <p:spPr>
          <a:xfrm>
            <a:off x="7982712" y="1856231"/>
            <a:ext cx="3401568" cy="361188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82712" y="1856231"/>
            <a:ext cx="3401568"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83880" y="2130552"/>
            <a:ext cx="2999232" cy="457200"/>
          </a:xfrm>
          <a:prstGeom prst="rect">
            <a:avLst/>
          </a:prstGeom>
          <a:noFill/>
        </p:spPr>
        <p:txBody>
          <a:bodyPr wrap="square" anchor="t">
            <a:spAutoFit/>
          </a:bodyPr>
          <a:lstStyle/>
          <a:p>
            <a:pPr algn="l">
              <a:spcAft>
                <a:spcPts val="400"/>
              </a:spcAft>
            </a:pPr>
            <a:r>
              <a:rPr sz="1500" b="1">
                <a:solidFill>
                  <a:srgbClr val="10B981"/>
                </a:solidFill>
                <a:latin typeface="Arial"/>
              </a:rPr>
              <a:t>EVIDENCE TO PRODUCE</a:t>
            </a:r>
          </a:p>
        </p:txBody>
      </p:sp>
      <p:sp>
        <p:nvSpPr>
          <p:cNvPr id="18" name="TextBox 17"/>
          <p:cNvSpPr txBox="1"/>
          <p:nvPr/>
        </p:nvSpPr>
        <p:spPr>
          <a:xfrm>
            <a:off x="8183880" y="2743200"/>
            <a:ext cx="2999232" cy="2468880"/>
          </a:xfrm>
          <a:prstGeom prst="rect">
            <a:avLst/>
          </a:prstGeom>
          <a:noFill/>
        </p:spPr>
        <p:txBody>
          <a:bodyPr wrap="square" anchor="t">
            <a:spAutoFit/>
          </a:bodyPr>
          <a:lstStyle/>
          <a:p>
            <a:pPr algn="l">
              <a:spcAft>
                <a:spcPts val="400"/>
              </a:spcAft>
            </a:pPr>
            <a:r>
              <a:rPr sz="1400" b="0">
                <a:solidFill>
                  <a:srgbClr val="161B26"/>
                </a:solidFill>
                <a:latin typeface="Arial"/>
              </a:rPr>
              <a:t>A corrected shot list that passes every check, a shot-prompt pack (prose, timeline and JSON per shot, with start/end frames and takes), and a 48-second animatic with the voiceover lines burned in.</a:t>
            </a:r>
          </a:p>
        </p:txBody>
      </p:sp>
      <p:sp>
        <p:nvSpPr>
          <p:cNvPr id="19" name="TextBox 18"/>
          <p:cNvSpPr txBox="1"/>
          <p:nvPr/>
        </p:nvSpPr>
        <p:spPr>
          <a:xfrm>
            <a:off x="777240" y="5623560"/>
            <a:ext cx="10607040" cy="685800"/>
          </a:xfrm>
          <a:prstGeom prst="rect">
            <a:avLst/>
          </a:prstGeom>
          <a:noFill/>
        </p:spPr>
        <p:txBody>
          <a:bodyPr wrap="square" anchor="t">
            <a:spAutoFit/>
          </a:bodyPr>
          <a:lstStyle/>
          <a:p>
            <a:pPr algn="l">
              <a:spcAft>
                <a:spcPts val="400"/>
              </a:spcAft>
            </a:pPr>
            <a:r>
              <a:rPr sz="1150" b="0">
                <a:solidFill>
                  <a:srgbClr val="5B6372"/>
                </a:solidFill>
                <a:latin typeface="Arial"/>
              </a:rPr>
              <a:t>LAB 09  ·  30 MIN · Python 3 · opencv-python · NumPy · optional: any image-to-video model with start/end frames</a:t>
            </a:r>
          </a:p>
          <a:p>
            <a:pPr algn="l">
              <a:spcAft>
                <a:spcPts val="400"/>
              </a:spcAft>
            </a:pPr>
            <a:r>
              <a:rPr sz="1150" b="0">
                <a:solidFill>
                  <a:srgbClr val="5B6372"/>
                </a:solidFill>
                <a:latin typeface="Arial"/>
              </a:rPr>
              <a:t>Detailed procedures and prompts: Learner Guide / labs/lab-09-storyboard-shot-prompts/README.md</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transition spd="fast">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0B981"/>
                </a:solidFill>
                <a:latin typeface="Arial"/>
              </a:rPr>
              <a:t>K10 · ACTIVITY TRACKING, SCENE UNDERSTANDING, EVENT DISCOVERY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Video Analytics on the Assembled Sequence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907438" cy="2606040"/>
          </a:xfrm>
          <a:prstGeom prst="roundRect">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907438" cy="3840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148840"/>
            <a:ext cx="1907438" cy="384048"/>
          </a:xfrm>
          <a:prstGeom prst="rect">
            <a:avLst/>
          </a:prstGeom>
          <a:noFill/>
        </p:spPr>
        <p:txBody>
          <a:bodyPr wrap="square" anchor="ctr">
            <a:spAutoFit/>
          </a:bodyPr>
          <a:lstStyle/>
          <a:p>
            <a:pPr algn="ctr">
              <a:spcAft>
                <a:spcPts val="400"/>
              </a:spcAft>
            </a:pPr>
            <a:r>
              <a:rPr sz="1250" b="1">
                <a:solidFill>
                  <a:srgbClr val="FFFFFF"/>
                </a:solidFill>
                <a:latin typeface="Arial"/>
              </a:rPr>
              <a:t>1 CUTS</a:t>
            </a:r>
          </a:p>
        </p:txBody>
      </p:sp>
      <p:sp>
        <p:nvSpPr>
          <p:cNvPr id="10" name="TextBox 9"/>
          <p:cNvSpPr txBox="1"/>
          <p:nvPr/>
        </p:nvSpPr>
        <p:spPr>
          <a:xfrm>
            <a:off x="923544" y="2651760"/>
            <a:ext cx="1614830" cy="1965960"/>
          </a:xfrm>
          <a:prstGeom prst="rect">
            <a:avLst/>
          </a:prstGeom>
          <a:noFill/>
        </p:spPr>
        <p:txBody>
          <a:bodyPr wrap="square" anchor="t">
            <a:spAutoFit/>
          </a:bodyPr>
          <a:lstStyle/>
          <a:p>
            <a:pPr algn="l">
              <a:spcAft>
                <a:spcPts val="400"/>
              </a:spcAft>
            </a:pPr>
            <a:r>
              <a:rPr sz="1150" b="0">
                <a:solidFill>
                  <a:srgbClr val="161B26"/>
                </a:solidFill>
                <a:latin typeface="Arial"/>
              </a:rPr>
              <a:t>Pixel-difference jump AND histogram change mark a shot boundary.</a:t>
            </a:r>
          </a:p>
        </p:txBody>
      </p:sp>
      <p:cxnSp>
        <p:nvCxnSpPr>
          <p:cNvPr id="11" name="Connector 10"/>
          <p:cNvCxnSpPr/>
          <p:nvPr/>
        </p:nvCxnSpPr>
        <p:spPr>
          <a:xfrm>
            <a:off x="2684678" y="3451860"/>
            <a:ext cx="274320" cy="0"/>
          </a:xfrm>
          <a:prstGeom prst="line">
            <a:avLst/>
          </a:prstGeom>
          <a:ln w="22225">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958998" y="2148840"/>
            <a:ext cx="1907438" cy="2606040"/>
          </a:xfrm>
          <a:prstGeom prst="roundRect">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58998" y="2148840"/>
            <a:ext cx="1907438" cy="3840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58998" y="2148840"/>
            <a:ext cx="1907438" cy="384048"/>
          </a:xfrm>
          <a:prstGeom prst="rect">
            <a:avLst/>
          </a:prstGeom>
          <a:noFill/>
        </p:spPr>
        <p:txBody>
          <a:bodyPr wrap="square" anchor="ctr">
            <a:spAutoFit/>
          </a:bodyPr>
          <a:lstStyle/>
          <a:p>
            <a:pPr algn="ctr">
              <a:spcAft>
                <a:spcPts val="400"/>
              </a:spcAft>
            </a:pPr>
            <a:r>
              <a:rPr sz="1250" b="1">
                <a:solidFill>
                  <a:srgbClr val="FFFFFF"/>
                </a:solidFill>
                <a:latin typeface="Arial"/>
              </a:rPr>
              <a:t>2 MOTION</a:t>
            </a:r>
          </a:p>
        </p:txBody>
      </p:sp>
      <p:sp>
        <p:nvSpPr>
          <p:cNvPr id="15" name="TextBox 14"/>
          <p:cNvSpPr txBox="1"/>
          <p:nvPr/>
        </p:nvSpPr>
        <p:spPr>
          <a:xfrm>
            <a:off x="3105302" y="2651760"/>
            <a:ext cx="1614830" cy="1965960"/>
          </a:xfrm>
          <a:prstGeom prst="rect">
            <a:avLst/>
          </a:prstGeom>
          <a:noFill/>
        </p:spPr>
        <p:txBody>
          <a:bodyPr wrap="square" anchor="t">
            <a:spAutoFit/>
          </a:bodyPr>
          <a:lstStyle/>
          <a:p>
            <a:pPr algn="l">
              <a:spcAft>
                <a:spcPts val="400"/>
              </a:spcAft>
            </a:pPr>
            <a:r>
              <a:rPr sz="1150" b="0">
                <a:solidFill>
                  <a:srgbClr val="161B26"/>
                </a:solidFill>
                <a:latin typeface="Arial"/>
              </a:rPr>
              <a:t>Background feature flow + RANSAC: pan or static?</a:t>
            </a:r>
          </a:p>
        </p:txBody>
      </p:sp>
      <p:cxnSp>
        <p:nvCxnSpPr>
          <p:cNvPr id="16" name="Connector 15"/>
          <p:cNvCxnSpPr/>
          <p:nvPr/>
        </p:nvCxnSpPr>
        <p:spPr>
          <a:xfrm>
            <a:off x="4866436" y="3451860"/>
            <a:ext cx="274320" cy="0"/>
          </a:xfrm>
          <a:prstGeom prst="line">
            <a:avLst/>
          </a:prstGeom>
          <a:ln w="22225">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140756" y="2148840"/>
            <a:ext cx="1907438" cy="2606040"/>
          </a:xfrm>
          <a:prstGeom prst="roundRect">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40756" y="2148840"/>
            <a:ext cx="1907438" cy="3840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40756" y="2148840"/>
            <a:ext cx="1907438" cy="384048"/>
          </a:xfrm>
          <a:prstGeom prst="rect">
            <a:avLst/>
          </a:prstGeom>
          <a:noFill/>
        </p:spPr>
        <p:txBody>
          <a:bodyPr wrap="square" anchor="ctr">
            <a:spAutoFit/>
          </a:bodyPr>
          <a:lstStyle/>
          <a:p>
            <a:pPr algn="ctr">
              <a:spcAft>
                <a:spcPts val="400"/>
              </a:spcAft>
            </a:pPr>
            <a:r>
              <a:rPr sz="1250" b="1">
                <a:solidFill>
                  <a:srgbClr val="FFFFFF"/>
                </a:solidFill>
                <a:latin typeface="Arial"/>
              </a:rPr>
              <a:t>3 FLICKER</a:t>
            </a:r>
          </a:p>
        </p:txBody>
      </p:sp>
      <p:sp>
        <p:nvSpPr>
          <p:cNvPr id="20" name="TextBox 19"/>
          <p:cNvSpPr txBox="1"/>
          <p:nvPr/>
        </p:nvSpPr>
        <p:spPr>
          <a:xfrm>
            <a:off x="5287060" y="2651760"/>
            <a:ext cx="1614830" cy="1965960"/>
          </a:xfrm>
          <a:prstGeom prst="rect">
            <a:avLst/>
          </a:prstGeom>
          <a:noFill/>
        </p:spPr>
        <p:txBody>
          <a:bodyPr wrap="square" anchor="t">
            <a:spAutoFit/>
          </a:bodyPr>
          <a:lstStyle/>
          <a:p>
            <a:pPr algn="l">
              <a:spcAft>
                <a:spcPts val="400"/>
              </a:spcAft>
            </a:pPr>
            <a:r>
              <a:rPr sz="1150" b="0">
                <a:solidFill>
                  <a:srgbClr val="161B26"/>
                </a:solidFill>
                <a:latin typeface="Arial"/>
              </a:rPr>
              <a:t>Frame-to-frame brightness jumps inside a shot.</a:t>
            </a:r>
          </a:p>
        </p:txBody>
      </p:sp>
      <p:cxnSp>
        <p:nvCxnSpPr>
          <p:cNvPr id="21" name="Connector 20"/>
          <p:cNvCxnSpPr/>
          <p:nvPr/>
        </p:nvCxnSpPr>
        <p:spPr>
          <a:xfrm>
            <a:off x="7048194" y="3451860"/>
            <a:ext cx="274320" cy="0"/>
          </a:xfrm>
          <a:prstGeom prst="line">
            <a:avLst/>
          </a:prstGeom>
          <a:ln w="22225">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322514" y="2148840"/>
            <a:ext cx="1907438" cy="2606040"/>
          </a:xfrm>
          <a:prstGeom prst="roundRect">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22514" y="2148840"/>
            <a:ext cx="1907438" cy="3840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22514" y="2148840"/>
            <a:ext cx="1907438" cy="384048"/>
          </a:xfrm>
          <a:prstGeom prst="rect">
            <a:avLst/>
          </a:prstGeom>
          <a:noFill/>
        </p:spPr>
        <p:txBody>
          <a:bodyPr wrap="square" anchor="ctr">
            <a:spAutoFit/>
          </a:bodyPr>
          <a:lstStyle/>
          <a:p>
            <a:pPr algn="ctr">
              <a:spcAft>
                <a:spcPts val="400"/>
              </a:spcAft>
            </a:pPr>
            <a:r>
              <a:rPr sz="1250" b="1">
                <a:solidFill>
                  <a:srgbClr val="FFFFFF"/>
                </a:solidFill>
                <a:latin typeface="Arial"/>
              </a:rPr>
              <a:t>4 TRACK</a:t>
            </a:r>
          </a:p>
        </p:txBody>
      </p:sp>
      <p:sp>
        <p:nvSpPr>
          <p:cNvPr id="25" name="TextBox 24"/>
          <p:cNvSpPr txBox="1"/>
          <p:nvPr/>
        </p:nvSpPr>
        <p:spPr>
          <a:xfrm>
            <a:off x="7468818" y="2651760"/>
            <a:ext cx="1614830" cy="1965960"/>
          </a:xfrm>
          <a:prstGeom prst="rect">
            <a:avLst/>
          </a:prstGeom>
          <a:noFill/>
        </p:spPr>
        <p:txBody>
          <a:bodyPr wrap="square" anchor="t">
            <a:spAutoFit/>
          </a:bodyPr>
          <a:lstStyle/>
          <a:p>
            <a:pPr algn="l">
              <a:spcAft>
                <a:spcPts val="400"/>
              </a:spcAft>
            </a:pPr>
            <a:r>
              <a:rPr sz="1150" b="0">
                <a:solidFill>
                  <a:srgbClr val="161B26"/>
                </a:solidFill>
                <a:latin typeface="Arial"/>
              </a:rPr>
              <a:t>CAMShift on the raincoat's hue back-projection.</a:t>
            </a:r>
          </a:p>
        </p:txBody>
      </p:sp>
      <p:cxnSp>
        <p:nvCxnSpPr>
          <p:cNvPr id="26" name="Connector 25"/>
          <p:cNvCxnSpPr/>
          <p:nvPr/>
        </p:nvCxnSpPr>
        <p:spPr>
          <a:xfrm>
            <a:off x="9229952" y="3451860"/>
            <a:ext cx="274320" cy="0"/>
          </a:xfrm>
          <a:prstGeom prst="line">
            <a:avLst/>
          </a:prstGeom>
          <a:ln w="22225">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9504272" y="2148840"/>
            <a:ext cx="1907438" cy="2606040"/>
          </a:xfrm>
          <a:prstGeom prst="roundRect">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504272" y="2148840"/>
            <a:ext cx="1907438" cy="3840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4272" y="2148840"/>
            <a:ext cx="1907438" cy="384048"/>
          </a:xfrm>
          <a:prstGeom prst="rect">
            <a:avLst/>
          </a:prstGeom>
          <a:noFill/>
        </p:spPr>
        <p:txBody>
          <a:bodyPr wrap="square" anchor="ctr">
            <a:spAutoFit/>
          </a:bodyPr>
          <a:lstStyle/>
          <a:p>
            <a:pPr algn="ctr">
              <a:spcAft>
                <a:spcPts val="400"/>
              </a:spcAft>
            </a:pPr>
            <a:r>
              <a:rPr sz="1250" b="1">
                <a:solidFill>
                  <a:srgbClr val="FFFFFF"/>
                </a:solidFill>
                <a:latin typeface="Arial"/>
              </a:rPr>
              <a:t>5 DRIFT + EVENTS</a:t>
            </a:r>
          </a:p>
        </p:txBody>
      </p:sp>
      <p:sp>
        <p:nvSpPr>
          <p:cNvPr id="30" name="TextBox 29"/>
          <p:cNvSpPr txBox="1"/>
          <p:nvPr/>
        </p:nvSpPr>
        <p:spPr>
          <a:xfrm>
            <a:off x="9650576" y="2651760"/>
            <a:ext cx="1614830" cy="1965960"/>
          </a:xfrm>
          <a:prstGeom prst="rect">
            <a:avLst/>
          </a:prstGeom>
          <a:noFill/>
        </p:spPr>
        <p:txBody>
          <a:bodyPr wrap="square" anchor="t">
            <a:spAutoFit/>
          </a:bodyPr>
          <a:lstStyle/>
          <a:p>
            <a:pPr algn="l">
              <a:spcAft>
                <a:spcPts val="400"/>
              </a:spcAft>
            </a:pPr>
            <a:r>
              <a:rPr sz="1150" b="0">
                <a:solidFill>
                  <a:srgbClr val="161B26"/>
                </a:solidFill>
                <a:latin typeface="Arial"/>
              </a:rPr>
              <a:t>Coat hue over time; the frame Mei first appears.</a:t>
            </a:r>
          </a:p>
        </p:txBody>
      </p:sp>
      <p:sp>
        <p:nvSpPr>
          <p:cNvPr id="31" name="Rectangle 30"/>
          <p:cNvSpPr/>
          <p:nvPr/>
        </p:nvSpPr>
        <p:spPr>
          <a:xfrm>
            <a:off x="777240" y="5120640"/>
            <a:ext cx="10634472" cy="9144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05840" y="5120640"/>
            <a:ext cx="10241280" cy="914400"/>
          </a:xfrm>
          <a:prstGeom prst="rect">
            <a:avLst/>
          </a:prstGeom>
          <a:noFill/>
        </p:spPr>
        <p:txBody>
          <a:bodyPr wrap="square" anchor="ctr">
            <a:spAutoFit/>
          </a:bodyPr>
          <a:lstStyle/>
          <a:p>
            <a:pPr algn="l">
              <a:spcAft>
                <a:spcPts val="400"/>
              </a:spcAft>
            </a:pPr>
            <a:r>
              <a:rPr sz="1150" b="1">
                <a:solidFill>
                  <a:srgbClr val="127A3E"/>
                </a:solidFill>
                <a:latin typeface="Arial"/>
              </a:rPr>
              <a:t>SO WHAT   </a:t>
            </a:r>
            <a:r>
              <a:rPr sz="1300" b="0">
                <a:solidFill>
                  <a:srgbClr val="161B26"/>
                </a:solidFill>
                <a:latin typeface="Arial"/>
              </a:rPr>
              <a:t>Each measure answers one editorial question — where are the cuts, what does the camera do, which shot flickers, who drifts, and when does she enter — with a number and a timecode.</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transition spd="fast">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A6 · DESIGN THE VIDEO ANALYTICS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Three Analytics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74519"/>
            <a:ext cx="336194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112263"/>
            <a:ext cx="2996184" cy="457200"/>
          </a:xfrm>
          <a:prstGeom prst="rect">
            <a:avLst/>
          </a:prstGeom>
          <a:noFill/>
        </p:spPr>
        <p:txBody>
          <a:bodyPr wrap="square" anchor="t">
            <a:spAutoFit/>
          </a:bodyPr>
          <a:lstStyle/>
          <a:p>
            <a:pPr algn="l">
              <a:spcAft>
                <a:spcPts val="400"/>
              </a:spcAft>
            </a:pPr>
            <a:r>
              <a:rPr sz="1500" b="1">
                <a:solidFill>
                  <a:srgbClr val="1F6FEB"/>
                </a:solidFill>
                <a:latin typeface="Arial"/>
              </a:rPr>
              <a:t>Cut</a:t>
            </a:r>
          </a:p>
        </p:txBody>
      </p:sp>
      <p:sp>
        <p:nvSpPr>
          <p:cNvPr id="10" name="Rectangle 9"/>
          <p:cNvSpPr/>
          <p:nvPr/>
        </p:nvSpPr>
        <p:spPr>
          <a:xfrm>
            <a:off x="960120" y="2715767"/>
            <a:ext cx="2996184" cy="104241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2715767"/>
            <a:ext cx="2813304" cy="1042416"/>
          </a:xfrm>
          <a:prstGeom prst="rect">
            <a:avLst/>
          </a:prstGeom>
          <a:noFill/>
        </p:spPr>
        <p:txBody>
          <a:bodyPr wrap="none" lIns="0" rIns="0" tIns="0" bIns="0" anchor="ctr">
            <a:noAutofit/>
          </a:bodyPr>
          <a:lstStyle/>
          <a:p>
            <a:pPr>
              <a:spcAft>
                <a:spcPts val="100"/>
              </a:spcAft>
            </a:pPr>
            <a:r>
              <a:rPr sz="860">
                <a:solidFill>
                  <a:srgbClr val="9CDCFE"/>
                </a:solidFill>
                <a:latin typeface="Consolas"/>
              </a:rPr>
              <a:t>diff_t &gt; max(12, 5 x median(diff_recent))</a:t>
            </a:r>
          </a:p>
          <a:p>
            <a:pPr>
              <a:spcAft>
                <a:spcPts val="100"/>
              </a:spcAft>
            </a:pPr>
            <a:r>
              <a:rPr sz="860">
                <a:solidFill>
                  <a:srgbClr val="9CDCFE"/>
                </a:solidFill>
                <a:latin typeface="Consolas"/>
              </a:rPr>
              <a:t>AND hist_dist_t &gt; 0.08</a:t>
            </a:r>
          </a:p>
        </p:txBody>
      </p:sp>
      <p:sp>
        <p:nvSpPr>
          <p:cNvPr id="12" name="TextBox 11"/>
          <p:cNvSpPr txBox="1"/>
          <p:nvPr/>
        </p:nvSpPr>
        <p:spPr>
          <a:xfrm>
            <a:off x="960120" y="3867911"/>
            <a:ext cx="2996184" cy="1490472"/>
          </a:xfrm>
          <a:prstGeom prst="rect">
            <a:avLst/>
          </a:prstGeom>
          <a:noFill/>
        </p:spPr>
        <p:txBody>
          <a:bodyPr wrap="square" anchor="t">
            <a:spAutoFit/>
          </a:bodyPr>
          <a:lstStyle/>
          <a:p>
            <a:pPr algn="l">
              <a:spcAft>
                <a:spcPts val="400"/>
              </a:spcAft>
            </a:pPr>
            <a:r>
              <a:rPr sz="1200" b="0">
                <a:solidFill>
                  <a:srgbClr val="5B6372"/>
                </a:solidFill>
                <a:latin typeface="Arial"/>
              </a:rPr>
              <a:t>A flicker passes the first test but not the second: brightness changes, palette does not.</a:t>
            </a:r>
          </a:p>
        </p:txBody>
      </p:sp>
      <p:sp>
        <p:nvSpPr>
          <p:cNvPr id="13" name="Rectangle 12"/>
          <p:cNvSpPr/>
          <p:nvPr/>
        </p:nvSpPr>
        <p:spPr>
          <a:xfrm>
            <a:off x="4413504"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13504" y="1874519"/>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96384" y="2112263"/>
            <a:ext cx="2996184" cy="457200"/>
          </a:xfrm>
          <a:prstGeom prst="rect">
            <a:avLst/>
          </a:prstGeom>
          <a:noFill/>
        </p:spPr>
        <p:txBody>
          <a:bodyPr wrap="square" anchor="t">
            <a:spAutoFit/>
          </a:bodyPr>
          <a:lstStyle/>
          <a:p>
            <a:pPr algn="l">
              <a:spcAft>
                <a:spcPts val="400"/>
              </a:spcAft>
            </a:pPr>
            <a:r>
              <a:rPr sz="1500" b="1">
                <a:solidFill>
                  <a:srgbClr val="10B981"/>
                </a:solidFill>
                <a:latin typeface="Arial"/>
              </a:rPr>
              <a:t>Flicker index</a:t>
            </a:r>
          </a:p>
        </p:txBody>
      </p:sp>
      <p:sp>
        <p:nvSpPr>
          <p:cNvPr id="16" name="Rectangle 15"/>
          <p:cNvSpPr/>
          <p:nvPr/>
        </p:nvSpPr>
        <p:spPr>
          <a:xfrm>
            <a:off x="4596384" y="2715767"/>
            <a:ext cx="2996184" cy="104241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87824" y="2715767"/>
            <a:ext cx="2813304" cy="1042416"/>
          </a:xfrm>
          <a:prstGeom prst="rect">
            <a:avLst/>
          </a:prstGeom>
          <a:noFill/>
        </p:spPr>
        <p:txBody>
          <a:bodyPr wrap="none" lIns="0" rIns="0" tIns="0" bIns="0" anchor="ctr">
            <a:noAutofit/>
          </a:bodyPr>
          <a:lstStyle/>
          <a:p>
            <a:pPr>
              <a:spcAft>
                <a:spcPts val="100"/>
              </a:spcAft>
            </a:pPr>
            <a:r>
              <a:rPr sz="1400">
                <a:solidFill>
                  <a:srgbClr val="9CDCFE"/>
                </a:solidFill>
                <a:latin typeface="Consolas"/>
              </a:rPr>
              <a:t>mean | L_t - L_(t-1) |</a:t>
            </a:r>
          </a:p>
          <a:p>
            <a:pPr>
              <a:spcAft>
                <a:spcPts val="100"/>
              </a:spcAft>
            </a:pPr>
            <a:r>
              <a:rPr sz="1400">
                <a:solidFill>
                  <a:srgbClr val="9CDCFE"/>
                </a:solidFill>
                <a:latin typeface="Consolas"/>
              </a:rPr>
              <a:t>L = mean frame brightness</a:t>
            </a:r>
          </a:p>
        </p:txBody>
      </p:sp>
      <p:sp>
        <p:nvSpPr>
          <p:cNvPr id="18" name="TextBox 17"/>
          <p:cNvSpPr txBox="1"/>
          <p:nvPr/>
        </p:nvSpPr>
        <p:spPr>
          <a:xfrm>
            <a:off x="4596384" y="3867911"/>
            <a:ext cx="2996184" cy="1490472"/>
          </a:xfrm>
          <a:prstGeom prst="rect">
            <a:avLst/>
          </a:prstGeom>
          <a:noFill/>
        </p:spPr>
        <p:txBody>
          <a:bodyPr wrap="square" anchor="t">
            <a:spAutoFit/>
          </a:bodyPr>
          <a:lstStyle/>
          <a:p>
            <a:pPr algn="l">
              <a:spcAft>
                <a:spcPts val="400"/>
              </a:spcAft>
            </a:pPr>
            <a:r>
              <a:rPr sz="1200" b="0">
                <a:solidFill>
                  <a:srgbClr val="5B6372"/>
                </a:solidFill>
                <a:latin typeface="Arial"/>
              </a:rPr>
              <a:t>Above 4 inside one shot = a flickering generation.</a:t>
            </a:r>
          </a:p>
        </p:txBody>
      </p:sp>
      <p:sp>
        <p:nvSpPr>
          <p:cNvPr id="19" name="Rectangle 18"/>
          <p:cNvSpPr/>
          <p:nvPr/>
        </p:nvSpPr>
        <p:spPr>
          <a:xfrm>
            <a:off x="8049768"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9768" y="1874519"/>
            <a:ext cx="336194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2648" y="2112263"/>
            <a:ext cx="2996184" cy="457200"/>
          </a:xfrm>
          <a:prstGeom prst="rect">
            <a:avLst/>
          </a:prstGeom>
          <a:noFill/>
        </p:spPr>
        <p:txBody>
          <a:bodyPr wrap="square" anchor="t">
            <a:spAutoFit/>
          </a:bodyPr>
          <a:lstStyle/>
          <a:p>
            <a:pPr algn="l">
              <a:spcAft>
                <a:spcPts val="400"/>
              </a:spcAft>
            </a:pPr>
            <a:r>
              <a:rPr sz="1500" b="1">
                <a:solidFill>
                  <a:srgbClr val="7C3AED"/>
                </a:solidFill>
                <a:latin typeface="Arial"/>
              </a:rPr>
              <a:t>Identity drift</a:t>
            </a:r>
          </a:p>
        </p:txBody>
      </p:sp>
      <p:sp>
        <p:nvSpPr>
          <p:cNvPr id="22" name="Rectangle 21"/>
          <p:cNvSpPr/>
          <p:nvPr/>
        </p:nvSpPr>
        <p:spPr>
          <a:xfrm>
            <a:off x="8232648" y="2715767"/>
            <a:ext cx="2996184" cy="104241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24088" y="2715767"/>
            <a:ext cx="2813304" cy="1042416"/>
          </a:xfrm>
          <a:prstGeom prst="rect">
            <a:avLst/>
          </a:prstGeom>
          <a:noFill/>
        </p:spPr>
        <p:txBody>
          <a:bodyPr wrap="none" lIns="0" rIns="0" tIns="0" bIns="0" anchor="ctr">
            <a:noAutofit/>
          </a:bodyPr>
          <a:lstStyle/>
          <a:p>
            <a:pPr>
              <a:spcAft>
                <a:spcPts val="100"/>
              </a:spcAft>
            </a:pPr>
            <a:r>
              <a:rPr sz="1400">
                <a:solidFill>
                  <a:srgbClr val="9CDCFE"/>
                </a:solidFill>
                <a:latin typeface="Consolas"/>
              </a:rPr>
              <a:t>hue_end - hue_start</a:t>
            </a:r>
          </a:p>
          <a:p>
            <a:pPr>
              <a:spcAft>
                <a:spcPts val="100"/>
              </a:spcAft>
            </a:pPr>
            <a:r>
              <a:rPr sz="1400">
                <a:solidFill>
                  <a:srgbClr val="9CDCFE"/>
                </a:solidFill>
                <a:latin typeface="Consolas"/>
              </a:rPr>
              <a:t>of the tracked coat</a:t>
            </a:r>
          </a:p>
        </p:txBody>
      </p:sp>
      <p:sp>
        <p:nvSpPr>
          <p:cNvPr id="24" name="TextBox 23"/>
          <p:cNvSpPr txBox="1"/>
          <p:nvPr/>
        </p:nvSpPr>
        <p:spPr>
          <a:xfrm>
            <a:off x="8232648" y="3867911"/>
            <a:ext cx="2996184" cy="1490472"/>
          </a:xfrm>
          <a:prstGeom prst="rect">
            <a:avLst/>
          </a:prstGeom>
          <a:noFill/>
        </p:spPr>
        <p:txBody>
          <a:bodyPr wrap="square" anchor="t">
            <a:spAutoFit/>
          </a:bodyPr>
          <a:lstStyle/>
          <a:p>
            <a:pPr algn="l">
              <a:spcAft>
                <a:spcPts val="400"/>
              </a:spcAft>
            </a:pPr>
            <a:r>
              <a:rPr sz="1200" b="0">
                <a:solidFill>
                  <a:srgbClr val="5B6372"/>
                </a:solidFill>
                <a:latin typeface="Arial"/>
              </a:rPr>
              <a:t>More than 4 hue units within one shot = the character changed.</a:t>
            </a:r>
          </a:p>
        </p:txBody>
      </p:sp>
      <p:sp>
        <p:nvSpPr>
          <p:cNvPr id="25" name="TextBox 24"/>
          <p:cNvSpPr txBox="1"/>
          <p:nvPr/>
        </p:nvSpPr>
        <p:spPr>
          <a:xfrm>
            <a:off x="777240" y="5715000"/>
            <a:ext cx="10698480" cy="548640"/>
          </a:xfrm>
          <a:prstGeom prst="rect">
            <a:avLst/>
          </a:prstGeom>
          <a:noFill/>
        </p:spPr>
        <p:txBody>
          <a:bodyPr wrap="square" anchor="ctr">
            <a:spAutoFit/>
          </a:bodyPr>
          <a:lstStyle/>
          <a:p>
            <a:pPr algn="ctr">
              <a:spcAft>
                <a:spcPts val="400"/>
              </a:spcAft>
            </a:pPr>
            <a:r>
              <a:rPr sz="1300" b="0">
                <a:solidFill>
                  <a:srgbClr val="5B6372"/>
                </a:solidFill>
                <a:latin typeface="Arial"/>
              </a:rPr>
              <a:t>Every threshold is a design decision: report the value and the evidence for it.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transition spd="fast">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A6 · LAB 10 RESULT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Flicker Index per Shot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6675120" cy="3977639"/>
        </p:xfrm>
        <a:graphic>
          <a:graphicData uri="http://schemas.openxmlformats.org/drawingml/2006/chart">
            <c:chart xmlns:c="http://schemas.openxmlformats.org/drawingml/2006/chart" r:id="rId2"/>
          </a:graphicData>
        </a:graphic>
      </p:graphicFrame>
      <p:sp>
        <p:nvSpPr>
          <p:cNvPr id="8" name="Rectangle 7"/>
          <p:cNvSpPr/>
          <p:nvPr/>
        </p:nvSpPr>
        <p:spPr>
          <a:xfrm>
            <a:off x="7680960" y="1783080"/>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80960" y="1783080"/>
            <a:ext cx="82296" cy="87096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82128" y="1783080"/>
            <a:ext cx="3346704" cy="870965"/>
          </a:xfrm>
          <a:prstGeom prst="rect">
            <a:avLst/>
          </a:prstGeom>
          <a:noFill/>
        </p:spPr>
        <p:txBody>
          <a:bodyPr wrap="square" anchor="ctr">
            <a:spAutoFit/>
          </a:bodyPr>
          <a:lstStyle/>
          <a:p>
            <a:pPr algn="l">
              <a:spcAft>
                <a:spcPts val="200"/>
              </a:spcAft>
            </a:pPr>
            <a:r>
              <a:rPr sz="1250" b="1">
                <a:solidFill>
                  <a:srgbClr val="1F6FEB"/>
                </a:solidFill>
                <a:latin typeface="Arial"/>
              </a:rPr>
              <a:t>Cuts: 4 of 4</a:t>
            </a:r>
          </a:p>
          <a:p>
            <a:pPr algn="l">
              <a:spcAft>
                <a:spcPts val="200"/>
              </a:spcAft>
            </a:pPr>
            <a:r>
              <a:rPr sz="1100" b="0">
                <a:solidFill>
                  <a:srgbClr val="161B26"/>
                </a:solidFill>
                <a:latin typeface="Arial"/>
              </a:rPr>
              <a:t>Frames 72, 168, 216, 312 — no false cuts.</a:t>
            </a:r>
          </a:p>
        </p:txBody>
      </p:sp>
      <p:sp>
        <p:nvSpPr>
          <p:cNvPr id="11" name="Rectangle 10"/>
          <p:cNvSpPr/>
          <p:nvPr/>
        </p:nvSpPr>
        <p:spPr>
          <a:xfrm>
            <a:off x="7680960" y="2818637"/>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680960" y="2818637"/>
            <a:ext cx="82296" cy="87096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82128" y="2818637"/>
            <a:ext cx="3346704" cy="870965"/>
          </a:xfrm>
          <a:prstGeom prst="rect">
            <a:avLst/>
          </a:prstGeom>
          <a:noFill/>
        </p:spPr>
        <p:txBody>
          <a:bodyPr wrap="square" anchor="ctr">
            <a:spAutoFit/>
          </a:bodyPr>
          <a:lstStyle/>
          <a:p>
            <a:pPr algn="l">
              <a:spcAft>
                <a:spcPts val="200"/>
              </a:spcAft>
            </a:pPr>
            <a:r>
              <a:rPr sz="1250" b="1">
                <a:solidFill>
                  <a:srgbClr val="10B981"/>
                </a:solidFill>
                <a:latin typeface="Arial"/>
              </a:rPr>
              <a:t>S1 pans right</a:t>
            </a:r>
          </a:p>
          <a:p>
            <a:pPr algn="l">
              <a:spcAft>
                <a:spcPts val="200"/>
              </a:spcAft>
            </a:pPr>
            <a:r>
              <a:rPr sz="1100" b="0">
                <a:solidFill>
                  <a:srgbClr val="161B26"/>
                </a:solidFill>
                <a:latin typeface="Arial"/>
              </a:rPr>
              <a:t>Background moves about −5 px per frame.</a:t>
            </a:r>
          </a:p>
        </p:txBody>
      </p:sp>
      <p:sp>
        <p:nvSpPr>
          <p:cNvPr id="14" name="Rectangle 13"/>
          <p:cNvSpPr/>
          <p:nvPr/>
        </p:nvSpPr>
        <p:spPr>
          <a:xfrm>
            <a:off x="7680960" y="3854194"/>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680960" y="3854194"/>
            <a:ext cx="82296" cy="870965"/>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82128" y="3854194"/>
            <a:ext cx="3346704" cy="870965"/>
          </a:xfrm>
          <a:prstGeom prst="rect">
            <a:avLst/>
          </a:prstGeom>
          <a:noFill/>
        </p:spPr>
        <p:txBody>
          <a:bodyPr wrap="square" anchor="ctr">
            <a:spAutoFit/>
          </a:bodyPr>
          <a:lstStyle/>
          <a:p>
            <a:pPr algn="l">
              <a:spcAft>
                <a:spcPts val="200"/>
              </a:spcAft>
            </a:pPr>
            <a:r>
              <a:rPr sz="1250" b="1">
                <a:solidFill>
                  <a:srgbClr val="7C3AED"/>
                </a:solidFill>
                <a:latin typeface="Arial"/>
              </a:rPr>
              <a:t>S3 flickers</a:t>
            </a:r>
          </a:p>
          <a:p>
            <a:pPr algn="l">
              <a:spcAft>
                <a:spcPts val="200"/>
              </a:spcAft>
            </a:pPr>
            <a:r>
              <a:rPr sz="1100" b="0">
                <a:solidFill>
                  <a:srgbClr val="161B26"/>
                </a:solidFill>
                <a:latin typeface="Arial"/>
              </a:rPr>
              <a:t>6.06 against a threshold of 4.</a:t>
            </a:r>
          </a:p>
        </p:txBody>
      </p:sp>
      <p:sp>
        <p:nvSpPr>
          <p:cNvPr id="17" name="Rectangle 16"/>
          <p:cNvSpPr/>
          <p:nvPr/>
        </p:nvSpPr>
        <p:spPr>
          <a:xfrm>
            <a:off x="7680960" y="4889751"/>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0" y="4889751"/>
            <a:ext cx="82296" cy="870965"/>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82128" y="4889751"/>
            <a:ext cx="3346704" cy="870965"/>
          </a:xfrm>
          <a:prstGeom prst="rect">
            <a:avLst/>
          </a:prstGeom>
          <a:noFill/>
        </p:spPr>
        <p:txBody>
          <a:bodyPr wrap="square" anchor="ctr">
            <a:spAutoFit/>
          </a:bodyPr>
          <a:lstStyle/>
          <a:p>
            <a:pPr algn="l">
              <a:spcAft>
                <a:spcPts val="200"/>
              </a:spcAft>
            </a:pPr>
            <a:r>
              <a:rPr sz="1250" b="1">
                <a:solidFill>
                  <a:srgbClr val="F59E0B"/>
                </a:solidFill>
                <a:latin typeface="Arial"/>
              </a:rPr>
              <a:t>Mei enters at 3.00 s</a:t>
            </a:r>
          </a:p>
          <a:p>
            <a:pPr algn="l">
              <a:spcAft>
                <a:spcPts val="200"/>
              </a:spcAft>
            </a:pPr>
            <a:r>
              <a:rPr sz="1100" b="0">
                <a:solidFill>
                  <a:srgbClr val="161B26"/>
                </a:solidFill>
                <a:latin typeface="Arial"/>
              </a:rPr>
              <a:t>Frame 72 — the event for the edit list.</a:t>
            </a:r>
          </a:p>
        </p:txBody>
      </p:sp>
      <p:sp>
        <p:nvSpPr>
          <p:cNvPr id="20" name="Rectangle 19"/>
          <p:cNvSpPr/>
          <p:nvPr/>
        </p:nvSpPr>
        <p:spPr>
          <a:xfrm>
            <a:off x="777240" y="5925312"/>
            <a:ext cx="1417320"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925312"/>
            <a:ext cx="1417320" cy="310896"/>
          </a:xfrm>
          <a:prstGeom prst="rect">
            <a:avLst/>
          </a:prstGeom>
          <a:noFill/>
        </p:spPr>
        <p:txBody>
          <a:bodyPr wrap="square" anchor="ctr">
            <a:spAutoFit/>
          </a:bodyPr>
          <a:lstStyle/>
          <a:p>
            <a:pPr algn="ctr">
              <a:spcAft>
                <a:spcPts val="400"/>
              </a:spcAft>
            </a:pPr>
            <a:r>
              <a:rPr sz="1050" b="1">
                <a:solidFill>
                  <a:srgbClr val="FFFFFF"/>
                </a:solidFill>
                <a:latin typeface="Arial"/>
              </a:rPr>
              <a:t>MEASURED</a:t>
            </a:r>
          </a:p>
        </p:txBody>
      </p:sp>
      <p:sp>
        <p:nvSpPr>
          <p:cNvPr id="22" name="TextBox 21"/>
          <p:cNvSpPr txBox="1"/>
          <p:nvPr/>
        </p:nvSpPr>
        <p:spPr>
          <a:xfrm>
            <a:off x="2331720" y="5925312"/>
            <a:ext cx="9098280" cy="457200"/>
          </a:xfrm>
          <a:prstGeom prst="rect">
            <a:avLst/>
          </a:prstGeom>
          <a:noFill/>
        </p:spPr>
        <p:txBody>
          <a:bodyPr wrap="square" anchor="ctr">
            <a:spAutoFit/>
          </a:bodyPr>
          <a:lstStyle/>
          <a:p>
            <a:pPr algn="l">
              <a:spcAft>
                <a:spcPts val="400"/>
              </a:spcAft>
            </a:pPr>
            <a:r>
              <a:rPr sz="1150" b="0">
                <a:solidFill>
                  <a:srgbClr val="5B6372"/>
                </a:solidFill>
                <a:latin typeface="Arial"/>
              </a:rPr>
              <a:t>continuity.py on the SIMULATED 16-second sequence with an injected flicker in S3. Threshold 4.0.</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transition spd="fast">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A6 · LAB 10 VISUAL EVIDENCE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The Continuity Timeline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755648"/>
            <a:ext cx="6684264" cy="15741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10-timeline.png"/>
          <p:cNvPicPr>
            <a:picLocks noChangeAspect="1"/>
          </p:cNvPicPr>
          <p:nvPr/>
        </p:nvPicPr>
        <p:blipFill>
          <a:blip r:embed="rId2"/>
          <a:stretch>
            <a:fillRect/>
          </a:stretch>
        </p:blipFill>
        <p:spPr>
          <a:xfrm>
            <a:off x="777240" y="1783080"/>
            <a:ext cx="6629400" cy="1519237"/>
          </a:xfrm>
          <a:prstGeom prst="rect">
            <a:avLst/>
          </a:prstGeom>
        </p:spPr>
      </p:pic>
      <p:sp>
        <p:nvSpPr>
          <p:cNvPr id="9" name="TextBox 8"/>
          <p:cNvSpPr txBox="1"/>
          <p:nvPr/>
        </p:nvSpPr>
        <p:spPr>
          <a:xfrm>
            <a:off x="777240" y="3338893"/>
            <a:ext cx="6629400" cy="310896"/>
          </a:xfrm>
          <a:prstGeom prst="rect">
            <a:avLst/>
          </a:prstGeom>
          <a:noFill/>
        </p:spPr>
        <p:txBody>
          <a:bodyPr wrap="square" anchor="t">
            <a:spAutoFit/>
          </a:bodyPr>
          <a:lstStyle/>
          <a:p>
            <a:pPr algn="ctr">
              <a:spcAft>
                <a:spcPts val="400"/>
              </a:spcAft>
            </a:pPr>
            <a:r>
              <a:rPr sz="1050" b="0">
                <a:solidFill>
                  <a:srgbClr val="5B6372"/>
                </a:solidFill>
                <a:latin typeface="Arial"/>
              </a:rPr>
              <a:t>Blue spikes = frame differences (cuts) · red = flicker shot · orange = drift shot</a:t>
            </a:r>
          </a:p>
        </p:txBody>
      </p:sp>
      <p:sp>
        <p:nvSpPr>
          <p:cNvPr id="10" name="Rectangle 9"/>
          <p:cNvSpPr/>
          <p:nvPr/>
        </p:nvSpPr>
        <p:spPr>
          <a:xfrm>
            <a:off x="7680960" y="1783080"/>
            <a:ext cx="3730752"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680960" y="1783080"/>
            <a:ext cx="82296" cy="92811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82128" y="1783080"/>
            <a:ext cx="3346704" cy="928116"/>
          </a:xfrm>
          <a:prstGeom prst="rect">
            <a:avLst/>
          </a:prstGeom>
          <a:noFill/>
        </p:spPr>
        <p:txBody>
          <a:bodyPr wrap="square" anchor="ctr">
            <a:spAutoFit/>
          </a:bodyPr>
          <a:lstStyle/>
          <a:p>
            <a:pPr algn="l">
              <a:spcAft>
                <a:spcPts val="200"/>
              </a:spcAft>
            </a:pPr>
            <a:r>
              <a:rPr sz="1250" b="1">
                <a:solidFill>
                  <a:srgbClr val="1F6FEB"/>
                </a:solidFill>
                <a:latin typeface="Arial"/>
              </a:rPr>
              <a:t>S2 tracked cleanly</a:t>
            </a:r>
          </a:p>
          <a:p>
            <a:pPr algn="l">
              <a:spcAft>
                <a:spcPts val="200"/>
              </a:spcAft>
            </a:pPr>
            <a:r>
              <a:rPr sz="1100" b="0">
                <a:solidFill>
                  <a:srgbClr val="161B26"/>
                </a:solidFill>
                <a:latin typeface="Arial"/>
              </a:rPr>
              <a:t>IoU(x) 0.82, jitter 1 px, coat hue steady at 23.</a:t>
            </a:r>
          </a:p>
        </p:txBody>
      </p:sp>
      <p:sp>
        <p:nvSpPr>
          <p:cNvPr id="13" name="Rectangle 12"/>
          <p:cNvSpPr/>
          <p:nvPr/>
        </p:nvSpPr>
        <p:spPr>
          <a:xfrm>
            <a:off x="7680960" y="2875788"/>
            <a:ext cx="3730752"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680960" y="2875788"/>
            <a:ext cx="82296" cy="9281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82128" y="2875788"/>
            <a:ext cx="3346704" cy="928116"/>
          </a:xfrm>
          <a:prstGeom prst="rect">
            <a:avLst/>
          </a:prstGeom>
          <a:noFill/>
        </p:spPr>
        <p:txBody>
          <a:bodyPr wrap="square" anchor="ctr">
            <a:spAutoFit/>
          </a:bodyPr>
          <a:lstStyle/>
          <a:p>
            <a:pPr algn="l">
              <a:spcAft>
                <a:spcPts val="200"/>
              </a:spcAft>
            </a:pPr>
            <a:r>
              <a:rPr sz="1250" b="1">
                <a:solidFill>
                  <a:srgbClr val="10B981"/>
                </a:solidFill>
                <a:latin typeface="Arial"/>
              </a:rPr>
              <a:t>S4 drifts</a:t>
            </a:r>
          </a:p>
          <a:p>
            <a:pPr algn="l">
              <a:spcAft>
                <a:spcPts val="200"/>
              </a:spcAft>
            </a:pPr>
            <a:r>
              <a:rPr sz="1100" b="0">
                <a:solidFill>
                  <a:srgbClr val="161B26"/>
                </a:solidFill>
                <a:latin typeface="Arial"/>
              </a:rPr>
              <a:t>Coat hue 23 → 13 across the shot.</a:t>
            </a:r>
          </a:p>
        </p:txBody>
      </p:sp>
      <p:sp>
        <p:nvSpPr>
          <p:cNvPr id="16" name="Rectangle 15"/>
          <p:cNvSpPr/>
          <p:nvPr/>
        </p:nvSpPr>
        <p:spPr>
          <a:xfrm>
            <a:off x="7680960" y="3968496"/>
            <a:ext cx="3730752"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80960" y="3968496"/>
            <a:ext cx="82296" cy="92811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82128" y="3968496"/>
            <a:ext cx="3346704" cy="928116"/>
          </a:xfrm>
          <a:prstGeom prst="rect">
            <a:avLst/>
          </a:prstGeom>
          <a:noFill/>
        </p:spPr>
        <p:txBody>
          <a:bodyPr wrap="square" anchor="ctr">
            <a:spAutoFit/>
          </a:bodyPr>
          <a:lstStyle/>
          <a:p>
            <a:pPr algn="l">
              <a:spcAft>
                <a:spcPts val="200"/>
              </a:spcAft>
            </a:pPr>
            <a:r>
              <a:rPr sz="1250" b="1">
                <a:solidFill>
                  <a:srgbClr val="7C3AED"/>
                </a:solidFill>
                <a:latin typeface="Arial"/>
              </a:rPr>
              <a:t>Drift breaks tracking</a:t>
            </a:r>
          </a:p>
          <a:p>
            <a:pPr algn="l">
              <a:spcAft>
                <a:spcPts val="200"/>
              </a:spcAft>
            </a:pPr>
            <a:r>
              <a:rPr sz="1100" b="0">
                <a:solidFill>
                  <a:srgbClr val="161B26"/>
                </a:solidFill>
                <a:latin typeface="Arial"/>
              </a:rPr>
              <a:t>The colour tracker loses her as the hue leaves.</a:t>
            </a:r>
          </a:p>
        </p:txBody>
      </p:sp>
      <p:sp>
        <p:nvSpPr>
          <p:cNvPr id="19" name="Rectangle 18"/>
          <p:cNvSpPr/>
          <p:nvPr/>
        </p:nvSpPr>
        <p:spPr>
          <a:xfrm>
            <a:off x="7680960" y="5061204"/>
            <a:ext cx="3730752"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680960" y="5061204"/>
            <a:ext cx="82296" cy="92811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82128" y="5061204"/>
            <a:ext cx="3346704" cy="928116"/>
          </a:xfrm>
          <a:prstGeom prst="rect">
            <a:avLst/>
          </a:prstGeom>
          <a:noFill/>
        </p:spPr>
        <p:txBody>
          <a:bodyPr wrap="square" anchor="ctr">
            <a:spAutoFit/>
          </a:bodyPr>
          <a:lstStyle/>
          <a:p>
            <a:pPr algn="l">
              <a:spcAft>
                <a:spcPts val="200"/>
              </a:spcAft>
            </a:pPr>
            <a:r>
              <a:rPr sz="1250" b="1">
                <a:solidFill>
                  <a:srgbClr val="F59E0B"/>
                </a:solidFill>
                <a:latin typeface="Arial"/>
              </a:rPr>
              <a:t>Fix</a:t>
            </a:r>
          </a:p>
          <a:p>
            <a:pPr algn="l">
              <a:spcAft>
                <a:spcPts val="200"/>
              </a:spcAft>
            </a:pPr>
            <a:r>
              <a:rPr sz="1100" b="0">
                <a:solidFill>
                  <a:srgbClr val="161B26"/>
                </a:solidFill>
                <a:latin typeface="Arial"/>
              </a:rPr>
              <a:t>Regenerate S4 with @mei re-attached; video-reference S3.</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transition spd="fast">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A6 · K10 · ACTIVITY TRACKING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Tracking the Subject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965960"/>
            <a:ext cx="4754880" cy="365760"/>
          </a:xfrm>
          <a:prstGeom prst="rect">
            <a:avLst/>
          </a:prstGeom>
          <a:noFill/>
        </p:spPr>
        <p:txBody>
          <a:bodyPr wrap="square" anchor="t">
            <a:spAutoFit/>
          </a:bodyPr>
          <a:lstStyle/>
          <a:p>
            <a:pPr algn="l">
              <a:spcAft>
                <a:spcPts val="400"/>
              </a:spcAft>
            </a:pPr>
            <a:r>
              <a:rPr sz="1500" b="1">
                <a:solidFill>
                  <a:srgbClr val="1F6FEB"/>
                </a:solidFill>
                <a:latin typeface="Arial"/>
              </a:rPr>
              <a:t>Mechanism</a:t>
            </a:r>
          </a:p>
        </p:txBody>
      </p:sp>
      <p:sp>
        <p:nvSpPr>
          <p:cNvPr id="12" name="TextBox 11"/>
          <p:cNvSpPr txBox="1"/>
          <p:nvPr/>
        </p:nvSpPr>
        <p:spPr>
          <a:xfrm>
            <a:off x="6583680" y="1965960"/>
            <a:ext cx="4572000" cy="365760"/>
          </a:xfrm>
          <a:prstGeom prst="rect">
            <a:avLst/>
          </a:prstGeom>
          <a:noFill/>
        </p:spPr>
        <p:txBody>
          <a:bodyPr wrap="square" anchor="t">
            <a:spAutoFit/>
          </a:bodyPr>
          <a:lstStyle/>
          <a:p>
            <a:pPr algn="l">
              <a:spcAft>
                <a:spcPts val="400"/>
              </a:spcAft>
            </a:pPr>
            <a:r>
              <a:rPr sz="1500" b="1">
                <a:solidFill>
                  <a:srgbClr val="10B981"/>
                </a:solidFill>
                <a:latin typeface="Arial"/>
              </a:rPr>
              <a:t>Use</a:t>
            </a:r>
          </a:p>
        </p:txBody>
      </p:sp>
      <p:sp>
        <p:nvSpPr>
          <p:cNvPr id="13" name="TextBox 12"/>
          <p:cNvSpPr txBox="1"/>
          <p:nvPr/>
        </p:nvSpPr>
        <p:spPr>
          <a:xfrm>
            <a:off x="1005840" y="2423160"/>
            <a:ext cx="4754880" cy="3520440"/>
          </a:xfrm>
          <a:prstGeom prst="rect">
            <a:avLst/>
          </a:prstGeom>
          <a:noFill/>
        </p:spPr>
        <p:txBody>
          <a:bodyPr wrap="square">
            <a:spAutoFit/>
          </a:bodyPr>
          <a:lstStyle/>
          <a:p>
            <a:pPr>
              <a:spcAft>
                <a:spcPts val="800"/>
              </a:spcAft>
            </a:pPr>
            <a:r>
              <a:rPr sz="1500" b="1">
                <a:solidFill>
                  <a:srgbClr val="161B26"/>
                </a:solidFill>
                <a:latin typeface="Arial"/>
              </a:rPr>
              <a:t>•  How CAMShift follows MEI</a:t>
            </a:r>
          </a:p>
          <a:p>
            <a:pPr>
              <a:spcAft>
                <a:spcPts val="800"/>
              </a:spcAft>
            </a:pPr>
            <a:r>
              <a:rPr sz="1300" b="0">
                <a:solidFill>
                  <a:srgbClr val="5B6372"/>
                </a:solidFill>
                <a:latin typeface="Arial"/>
              </a:rPr>
              <a:t>–  Build a hue histogram of the raincoat in the first box.</a:t>
            </a:r>
          </a:p>
          <a:p>
            <a:pPr>
              <a:spcAft>
                <a:spcPts val="800"/>
              </a:spcAft>
            </a:pPr>
            <a:r>
              <a:rPr sz="1300" b="0">
                <a:solidFill>
                  <a:srgbClr val="5B6372"/>
                </a:solidFill>
                <a:latin typeface="Arial"/>
              </a:rPr>
              <a:t>–  Back-project it: each pixel scores 'how raincoat-like'.</a:t>
            </a:r>
          </a:p>
          <a:p>
            <a:pPr>
              <a:spcAft>
                <a:spcPts val="800"/>
              </a:spcAft>
            </a:pPr>
            <a:r>
              <a:rPr sz="1300" b="0">
                <a:solidFill>
                  <a:srgbClr val="5B6372"/>
                </a:solidFill>
                <a:latin typeface="Arial"/>
              </a:rPr>
              <a:t>–  Climb to the densest window; adapt its size and angle.</a:t>
            </a:r>
          </a:p>
          <a:p>
            <a:pPr>
              <a:spcAft>
                <a:spcPts val="800"/>
              </a:spcAft>
            </a:pPr>
            <a:r>
              <a:rPr sz="1300" b="0">
                <a:solidFill>
                  <a:srgbClr val="5B6372"/>
                </a:solidFill>
                <a:latin typeface="Arial"/>
              </a:rPr>
              <a:t>–  Repeat every frame — no training data needed.</a:t>
            </a:r>
          </a:p>
        </p:txBody>
      </p:sp>
      <p:sp>
        <p:nvSpPr>
          <p:cNvPr id="14" name="TextBox 13"/>
          <p:cNvSpPr txBox="1"/>
          <p:nvPr/>
        </p:nvSpPr>
        <p:spPr>
          <a:xfrm>
            <a:off x="6583680" y="2423160"/>
            <a:ext cx="4617720" cy="3520440"/>
          </a:xfrm>
          <a:prstGeom prst="rect">
            <a:avLst/>
          </a:prstGeom>
          <a:noFill/>
        </p:spPr>
        <p:txBody>
          <a:bodyPr wrap="square">
            <a:spAutoFit/>
          </a:bodyPr>
          <a:lstStyle/>
          <a:p>
            <a:pPr>
              <a:spcAft>
                <a:spcPts val="800"/>
              </a:spcAft>
            </a:pPr>
            <a:r>
              <a:rPr sz="1500" b="1">
                <a:solidFill>
                  <a:srgbClr val="161B26"/>
                </a:solidFill>
                <a:latin typeface="Arial"/>
              </a:rPr>
              <a:t>•  Why it matters for the film</a:t>
            </a:r>
          </a:p>
          <a:p>
            <a:pPr>
              <a:spcAft>
                <a:spcPts val="800"/>
              </a:spcAft>
            </a:pPr>
            <a:r>
              <a:rPr sz="1300" b="0">
                <a:solidFill>
                  <a:srgbClr val="5B6372"/>
                </a:solidFill>
                <a:latin typeface="Arial"/>
              </a:rPr>
              <a:t>–  Subject-following crops for the 9:16 cut-down.</a:t>
            </a:r>
          </a:p>
          <a:p>
            <a:pPr>
              <a:spcAft>
                <a:spcPts val="800"/>
              </a:spcAft>
            </a:pPr>
            <a:r>
              <a:rPr sz="1300" b="0">
                <a:solidFill>
                  <a:srgbClr val="5B6372"/>
                </a:solidFill>
                <a:latin typeface="Arial"/>
              </a:rPr>
              <a:t>–  Jitter and scale drift expose unstable generations.</a:t>
            </a:r>
          </a:p>
          <a:p>
            <a:pPr>
              <a:spcAft>
                <a:spcPts val="800"/>
              </a:spcAft>
            </a:pPr>
            <a:r>
              <a:rPr sz="1300" b="0">
                <a:solidFill>
                  <a:srgbClr val="5B6372"/>
                </a:solidFill>
                <a:latin typeface="Arial"/>
              </a:rPr>
              <a:t>–  A colour tracker fails when the colour drifts.</a:t>
            </a:r>
          </a:p>
          <a:p>
            <a:pPr>
              <a:spcAft>
                <a:spcPts val="800"/>
              </a:spcAft>
            </a:pPr>
            <a:r>
              <a:rPr sz="1300" b="0">
                <a:solidFill>
                  <a:srgbClr val="5B6372"/>
                </a:solidFill>
                <a:latin typeface="Arial"/>
              </a:rPr>
              <a:t>–  That failure is itself evidence of identity drift.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transition spd="fast">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7C3AED"/>
                </a:solidFill>
                <a:latin typeface="Arial"/>
              </a:rPr>
              <a:t>A6 · SOUND DESIGN AND FINISHING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Sound Drives Picture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240280"/>
            <a:ext cx="1513332" cy="288036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40280"/>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68146" y="260604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68146" y="260604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1" name="TextBox 10"/>
          <p:cNvSpPr txBox="1"/>
          <p:nvPr/>
        </p:nvSpPr>
        <p:spPr>
          <a:xfrm>
            <a:off x="905256" y="3611880"/>
            <a:ext cx="1257300" cy="1399032"/>
          </a:xfrm>
          <a:prstGeom prst="rect">
            <a:avLst/>
          </a:prstGeom>
          <a:noFill/>
        </p:spPr>
        <p:txBody>
          <a:bodyPr wrap="square" anchor="t">
            <a:spAutoFit/>
          </a:bodyPr>
          <a:lstStyle/>
          <a:p>
            <a:pPr algn="ctr">
              <a:spcAft>
                <a:spcPts val="400"/>
              </a:spcAft>
            </a:pPr>
            <a:r>
              <a:rPr sz="1250" b="0">
                <a:solidFill>
                  <a:srgbClr val="161B26"/>
                </a:solidFill>
                <a:latin typeface="Arial"/>
              </a:rPr>
              <a:t>Generate the voiceover FIRST and measure each line</a:t>
            </a:r>
          </a:p>
        </p:txBody>
      </p:sp>
      <p:cxnSp>
        <p:nvCxnSpPr>
          <p:cNvPr id="12" name="Connector 11"/>
          <p:cNvCxnSpPr/>
          <p:nvPr/>
        </p:nvCxnSpPr>
        <p:spPr>
          <a:xfrm>
            <a:off x="2327148" y="3680460"/>
            <a:ext cx="237744" cy="0"/>
          </a:xfrm>
          <a:prstGeom prst="line">
            <a:avLst/>
          </a:prstGeom>
          <a:ln w="22225">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601468" y="2240280"/>
            <a:ext cx="1513332" cy="288036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1468" y="2240280"/>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92374" y="260604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92374" y="260604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7" name="TextBox 16"/>
          <p:cNvSpPr txBox="1"/>
          <p:nvPr/>
        </p:nvSpPr>
        <p:spPr>
          <a:xfrm>
            <a:off x="2729484" y="3611880"/>
            <a:ext cx="1257300" cy="1399032"/>
          </a:xfrm>
          <a:prstGeom prst="rect">
            <a:avLst/>
          </a:prstGeom>
          <a:noFill/>
        </p:spPr>
        <p:txBody>
          <a:bodyPr wrap="square" anchor="t">
            <a:spAutoFit/>
          </a:bodyPr>
          <a:lstStyle/>
          <a:p>
            <a:pPr algn="ctr">
              <a:spcAft>
                <a:spcPts val="400"/>
              </a:spcAft>
            </a:pPr>
            <a:r>
              <a:rPr sz="1250" b="0">
                <a:solidFill>
                  <a:srgbClr val="161B26"/>
                </a:solidFill>
                <a:latin typeface="Arial"/>
              </a:rPr>
              <a:t>Cut the storyboard to the voice timing</a:t>
            </a:r>
          </a:p>
        </p:txBody>
      </p:sp>
      <p:cxnSp>
        <p:nvCxnSpPr>
          <p:cNvPr id="18" name="Connector 17"/>
          <p:cNvCxnSpPr/>
          <p:nvPr/>
        </p:nvCxnSpPr>
        <p:spPr>
          <a:xfrm>
            <a:off x="4151376" y="3680460"/>
            <a:ext cx="237744" cy="0"/>
          </a:xfrm>
          <a:prstGeom prst="line">
            <a:avLst/>
          </a:prstGeom>
          <a:ln w="22225">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425696" y="2240280"/>
            <a:ext cx="1513332" cy="288036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2240280"/>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16602" y="260604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16602" y="260604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3" name="TextBox 22"/>
          <p:cNvSpPr txBox="1"/>
          <p:nvPr/>
        </p:nvSpPr>
        <p:spPr>
          <a:xfrm>
            <a:off x="4553712" y="3611880"/>
            <a:ext cx="1257300" cy="1399032"/>
          </a:xfrm>
          <a:prstGeom prst="rect">
            <a:avLst/>
          </a:prstGeom>
          <a:noFill/>
        </p:spPr>
        <p:txBody>
          <a:bodyPr wrap="square" anchor="t">
            <a:spAutoFit/>
          </a:bodyPr>
          <a:lstStyle/>
          <a:p>
            <a:pPr algn="ctr">
              <a:spcAft>
                <a:spcPts val="400"/>
              </a:spcAft>
            </a:pPr>
            <a:r>
              <a:rPr sz="1250" b="0">
                <a:solidFill>
                  <a:srgbClr val="161B26"/>
                </a:solidFill>
                <a:latin typeface="Arial"/>
              </a:rPr>
              <a:t>Direct delivery with audio tags per line</a:t>
            </a:r>
          </a:p>
        </p:txBody>
      </p:sp>
      <p:cxnSp>
        <p:nvCxnSpPr>
          <p:cNvPr id="24" name="Connector 23"/>
          <p:cNvCxnSpPr/>
          <p:nvPr/>
        </p:nvCxnSpPr>
        <p:spPr>
          <a:xfrm>
            <a:off x="5975604" y="3680460"/>
            <a:ext cx="237744" cy="0"/>
          </a:xfrm>
          <a:prstGeom prst="line">
            <a:avLst/>
          </a:prstGeom>
          <a:ln w="22225">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249924" y="2240280"/>
            <a:ext cx="1513332" cy="288036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9924" y="2240280"/>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40830" y="260604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40830" y="260604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9" name="TextBox 28"/>
          <p:cNvSpPr txBox="1"/>
          <p:nvPr/>
        </p:nvSpPr>
        <p:spPr>
          <a:xfrm>
            <a:off x="6377940" y="3611880"/>
            <a:ext cx="1257300" cy="1399032"/>
          </a:xfrm>
          <a:prstGeom prst="rect">
            <a:avLst/>
          </a:prstGeom>
          <a:noFill/>
        </p:spPr>
        <p:txBody>
          <a:bodyPr wrap="square" anchor="t">
            <a:spAutoFit/>
          </a:bodyPr>
          <a:lstStyle/>
          <a:p>
            <a:pPr algn="ctr">
              <a:spcAft>
                <a:spcPts val="400"/>
              </a:spcAft>
            </a:pPr>
            <a:r>
              <a:rPr sz="1250" b="0">
                <a:solidFill>
                  <a:srgbClr val="161B26"/>
                </a:solidFill>
                <a:latin typeface="Arial"/>
              </a:rPr>
              <a:t>Score music by mood and tempo</a:t>
            </a:r>
          </a:p>
        </p:txBody>
      </p:sp>
      <p:cxnSp>
        <p:nvCxnSpPr>
          <p:cNvPr id="30" name="Connector 29"/>
          <p:cNvCxnSpPr/>
          <p:nvPr/>
        </p:nvCxnSpPr>
        <p:spPr>
          <a:xfrm>
            <a:off x="7799832" y="3680460"/>
            <a:ext cx="237744" cy="0"/>
          </a:xfrm>
          <a:prstGeom prst="line">
            <a:avLst/>
          </a:prstGeom>
          <a:ln w="22225">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8074152" y="2240280"/>
            <a:ext cx="1513332" cy="288036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240280"/>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65058" y="260604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65058" y="260604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5" name="TextBox 34"/>
          <p:cNvSpPr txBox="1"/>
          <p:nvPr/>
        </p:nvSpPr>
        <p:spPr>
          <a:xfrm>
            <a:off x="8202168" y="3611880"/>
            <a:ext cx="1257300" cy="1399032"/>
          </a:xfrm>
          <a:prstGeom prst="rect">
            <a:avLst/>
          </a:prstGeom>
          <a:noFill/>
        </p:spPr>
        <p:txBody>
          <a:bodyPr wrap="square" anchor="t">
            <a:spAutoFit/>
          </a:bodyPr>
          <a:lstStyle/>
          <a:p>
            <a:pPr algn="ctr">
              <a:spcAft>
                <a:spcPts val="400"/>
              </a:spcAft>
            </a:pPr>
            <a:r>
              <a:rPr sz="1250" b="0">
                <a:solidFill>
                  <a:srgbClr val="161B26"/>
                </a:solidFill>
                <a:latin typeface="Arial"/>
              </a:rPr>
              <a:t>Add effects; duck music under the voice</a:t>
            </a:r>
          </a:p>
        </p:txBody>
      </p:sp>
      <p:cxnSp>
        <p:nvCxnSpPr>
          <p:cNvPr id="36" name="Connector 35"/>
          <p:cNvCxnSpPr/>
          <p:nvPr/>
        </p:nvCxnSpPr>
        <p:spPr>
          <a:xfrm>
            <a:off x="9624060" y="3680460"/>
            <a:ext cx="237744" cy="0"/>
          </a:xfrm>
          <a:prstGeom prst="line">
            <a:avLst/>
          </a:prstGeom>
          <a:ln w="22225">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9898380" y="2240280"/>
            <a:ext cx="1513332" cy="288036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8380" y="2240280"/>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89286" y="260604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89286" y="260604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41" name="TextBox 40"/>
          <p:cNvSpPr txBox="1"/>
          <p:nvPr/>
        </p:nvSpPr>
        <p:spPr>
          <a:xfrm>
            <a:off x="10026396" y="3611880"/>
            <a:ext cx="1257300" cy="1399032"/>
          </a:xfrm>
          <a:prstGeom prst="rect">
            <a:avLst/>
          </a:prstGeom>
          <a:noFill/>
        </p:spPr>
        <p:txBody>
          <a:bodyPr wrap="square" anchor="t">
            <a:spAutoFit/>
          </a:bodyPr>
          <a:lstStyle/>
          <a:p>
            <a:pPr algn="ctr">
              <a:spcAft>
                <a:spcPts val="400"/>
              </a:spcAft>
            </a:pPr>
            <a:r>
              <a:rPr sz="1250" b="0">
                <a:solidFill>
                  <a:srgbClr val="161B26"/>
                </a:solidFill>
                <a:latin typeface="Arial"/>
              </a:rPr>
              <a:t>Caption inside the safe area; export</a:t>
            </a:r>
          </a:p>
        </p:txBody>
      </p:sp>
      <p:sp>
        <p:nvSpPr>
          <p:cNvPr id="42" name="TextBox 41"/>
          <p:cNvSpPr txBox="1"/>
          <p:nvPr/>
        </p:nvSpPr>
        <p:spPr>
          <a:xfrm>
            <a:off x="777240" y="5394960"/>
            <a:ext cx="10698480" cy="731520"/>
          </a:xfrm>
          <a:prstGeom prst="rect">
            <a:avLst/>
          </a:prstGeom>
          <a:noFill/>
        </p:spPr>
        <p:txBody>
          <a:bodyPr wrap="square" anchor="t">
            <a:spAutoFit/>
          </a:bodyPr>
          <a:lstStyle/>
          <a:p>
            <a:pPr algn="ctr">
              <a:spcAft>
                <a:spcPts val="400"/>
              </a:spcAft>
            </a:pPr>
            <a:r>
              <a:rPr sz="1300" b="0">
                <a:solidFill>
                  <a:srgbClr val="5B6372"/>
                </a:solidFill>
                <a:latin typeface="Arial"/>
              </a:rPr>
              <a:t>Keep one voice ID per character across every clip, or the voice changes between shots even when the face does not.</a:t>
            </a:r>
          </a:p>
        </p:txBody>
      </p:sp>
      <p:sp>
        <p:nvSpPr>
          <p:cNvPr id="43" name="TextBox 4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44" name="TextBox 4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5" name="TextBox 4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transition spd="fast">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A6 · LAB 11 · BURNED-IN CAPTIONS CANNOT BE EDITED LATER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Caption Rules the Export Checks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190341" cy="6335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3007461" cy="633548"/>
          </a:xfrm>
          <a:prstGeom prst="rect">
            <a:avLst/>
          </a:prstGeom>
          <a:noFill/>
        </p:spPr>
        <p:txBody>
          <a:bodyPr wrap="square" anchor="ctr">
            <a:spAutoFit/>
          </a:bodyPr>
          <a:lstStyle/>
          <a:p>
            <a:pPr algn="l">
              <a:spcAft>
                <a:spcPts val="400"/>
              </a:spcAft>
            </a:pPr>
            <a:r>
              <a:rPr sz="1150" b="1">
                <a:solidFill>
                  <a:srgbClr val="FFFFFF"/>
                </a:solidFill>
                <a:latin typeface="Arial"/>
              </a:rPr>
              <a:t>Rule</a:t>
            </a:r>
          </a:p>
        </p:txBody>
      </p:sp>
      <p:sp>
        <p:nvSpPr>
          <p:cNvPr id="9" name="Rectangle 8"/>
          <p:cNvSpPr/>
          <p:nvPr/>
        </p:nvSpPr>
        <p:spPr>
          <a:xfrm>
            <a:off x="3967581" y="1783080"/>
            <a:ext cx="3190341" cy="6335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77309" y="1783080"/>
            <a:ext cx="3007461" cy="633548"/>
          </a:xfrm>
          <a:prstGeom prst="rect">
            <a:avLst/>
          </a:prstGeom>
          <a:noFill/>
        </p:spPr>
        <p:txBody>
          <a:bodyPr wrap="square" anchor="ctr">
            <a:spAutoFit/>
          </a:bodyPr>
          <a:lstStyle/>
          <a:p>
            <a:pPr algn="l">
              <a:spcAft>
                <a:spcPts val="400"/>
              </a:spcAft>
            </a:pPr>
            <a:r>
              <a:rPr sz="1150" b="1">
                <a:solidFill>
                  <a:srgbClr val="FFFFFF"/>
                </a:solidFill>
                <a:latin typeface="Arial"/>
              </a:rPr>
              <a:t>Limit</a:t>
            </a:r>
          </a:p>
        </p:txBody>
      </p:sp>
      <p:sp>
        <p:nvSpPr>
          <p:cNvPr id="11" name="Rectangle 10"/>
          <p:cNvSpPr/>
          <p:nvPr/>
        </p:nvSpPr>
        <p:spPr>
          <a:xfrm>
            <a:off x="7157922" y="1783080"/>
            <a:ext cx="4253788" cy="6335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67650" y="1783080"/>
            <a:ext cx="4070908" cy="633548"/>
          </a:xfrm>
          <a:prstGeom prst="rect">
            <a:avLst/>
          </a:prstGeom>
          <a:noFill/>
        </p:spPr>
        <p:txBody>
          <a:bodyPr wrap="square" anchor="ctr">
            <a:spAutoFit/>
          </a:bodyPr>
          <a:lstStyle/>
          <a:p>
            <a:pPr algn="l">
              <a:spcAft>
                <a:spcPts val="400"/>
              </a:spcAft>
            </a:pPr>
            <a:r>
              <a:rPr sz="1150" b="1">
                <a:solidFill>
                  <a:srgbClr val="FFFFFF"/>
                </a:solidFill>
                <a:latin typeface="Arial"/>
              </a:rPr>
              <a:t>Why</a:t>
            </a:r>
          </a:p>
        </p:txBody>
      </p:sp>
      <p:sp>
        <p:nvSpPr>
          <p:cNvPr id="13" name="Rectangle 12"/>
          <p:cNvSpPr/>
          <p:nvPr/>
        </p:nvSpPr>
        <p:spPr>
          <a:xfrm>
            <a:off x="777240" y="2416628"/>
            <a:ext cx="3190341" cy="6335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 y="2416628"/>
            <a:ext cx="3007461" cy="633548"/>
          </a:xfrm>
          <a:prstGeom prst="rect">
            <a:avLst/>
          </a:prstGeom>
          <a:noFill/>
        </p:spPr>
        <p:txBody>
          <a:bodyPr wrap="square" anchor="ctr">
            <a:spAutoFit/>
          </a:bodyPr>
          <a:lstStyle/>
          <a:p>
            <a:pPr algn="l">
              <a:spcAft>
                <a:spcPts val="400"/>
              </a:spcAft>
            </a:pPr>
            <a:r>
              <a:rPr sz="1050" b="1">
                <a:solidFill>
                  <a:srgbClr val="161B26"/>
                </a:solidFill>
                <a:latin typeface="Arial"/>
              </a:rPr>
              <a:t>Lines per caption</a:t>
            </a:r>
          </a:p>
        </p:txBody>
      </p:sp>
      <p:sp>
        <p:nvSpPr>
          <p:cNvPr id="15" name="Rectangle 14"/>
          <p:cNvSpPr/>
          <p:nvPr/>
        </p:nvSpPr>
        <p:spPr>
          <a:xfrm>
            <a:off x="3967581" y="2416628"/>
            <a:ext cx="3190341" cy="6335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77309" y="2416628"/>
            <a:ext cx="3007461" cy="633548"/>
          </a:xfrm>
          <a:prstGeom prst="rect">
            <a:avLst/>
          </a:prstGeom>
          <a:noFill/>
        </p:spPr>
        <p:txBody>
          <a:bodyPr wrap="square" anchor="ctr">
            <a:spAutoFit/>
          </a:bodyPr>
          <a:lstStyle/>
          <a:p>
            <a:pPr algn="l">
              <a:spcAft>
                <a:spcPts val="400"/>
              </a:spcAft>
            </a:pPr>
            <a:r>
              <a:rPr sz="1050" b="0">
                <a:solidFill>
                  <a:srgbClr val="161B26"/>
                </a:solidFill>
                <a:latin typeface="Arial"/>
              </a:rPr>
              <a:t>2</a:t>
            </a:r>
          </a:p>
        </p:txBody>
      </p:sp>
      <p:sp>
        <p:nvSpPr>
          <p:cNvPr id="17" name="Rectangle 16"/>
          <p:cNvSpPr/>
          <p:nvPr/>
        </p:nvSpPr>
        <p:spPr>
          <a:xfrm>
            <a:off x="7157922" y="2416628"/>
            <a:ext cx="4253788" cy="6335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67650" y="2416628"/>
            <a:ext cx="4070908" cy="633548"/>
          </a:xfrm>
          <a:prstGeom prst="rect">
            <a:avLst/>
          </a:prstGeom>
          <a:noFill/>
        </p:spPr>
        <p:txBody>
          <a:bodyPr wrap="square" anchor="ctr">
            <a:spAutoFit/>
          </a:bodyPr>
          <a:lstStyle/>
          <a:p>
            <a:pPr algn="l">
              <a:spcAft>
                <a:spcPts val="400"/>
              </a:spcAft>
            </a:pPr>
            <a:r>
              <a:rPr sz="1050" b="0">
                <a:solidFill>
                  <a:srgbClr val="161B26"/>
                </a:solidFill>
                <a:latin typeface="Arial"/>
              </a:rPr>
              <a:t>More covers the picture</a:t>
            </a:r>
          </a:p>
        </p:txBody>
      </p:sp>
      <p:sp>
        <p:nvSpPr>
          <p:cNvPr id="19" name="Rectangle 18"/>
          <p:cNvSpPr/>
          <p:nvPr/>
        </p:nvSpPr>
        <p:spPr>
          <a:xfrm>
            <a:off x="777240" y="3050176"/>
            <a:ext cx="3190341" cy="6335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3050176"/>
            <a:ext cx="3007461" cy="633548"/>
          </a:xfrm>
          <a:prstGeom prst="rect">
            <a:avLst/>
          </a:prstGeom>
          <a:noFill/>
        </p:spPr>
        <p:txBody>
          <a:bodyPr wrap="square" anchor="ctr">
            <a:spAutoFit/>
          </a:bodyPr>
          <a:lstStyle/>
          <a:p>
            <a:pPr algn="l">
              <a:spcAft>
                <a:spcPts val="400"/>
              </a:spcAft>
            </a:pPr>
            <a:r>
              <a:rPr sz="1050" b="1">
                <a:solidFill>
                  <a:srgbClr val="161B26"/>
                </a:solidFill>
                <a:latin typeface="Arial"/>
              </a:rPr>
              <a:t>Characters per line</a:t>
            </a:r>
          </a:p>
        </p:txBody>
      </p:sp>
      <p:sp>
        <p:nvSpPr>
          <p:cNvPr id="21" name="Rectangle 20"/>
          <p:cNvSpPr/>
          <p:nvPr/>
        </p:nvSpPr>
        <p:spPr>
          <a:xfrm>
            <a:off x="3967581" y="3050176"/>
            <a:ext cx="3190341" cy="6335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077309" y="3050176"/>
            <a:ext cx="3007461" cy="633548"/>
          </a:xfrm>
          <a:prstGeom prst="rect">
            <a:avLst/>
          </a:prstGeom>
          <a:noFill/>
        </p:spPr>
        <p:txBody>
          <a:bodyPr wrap="square" anchor="ctr">
            <a:spAutoFit/>
          </a:bodyPr>
          <a:lstStyle/>
          <a:p>
            <a:pPr algn="l">
              <a:spcAft>
                <a:spcPts val="400"/>
              </a:spcAft>
            </a:pPr>
            <a:r>
              <a:rPr sz="1050" b="0">
                <a:solidFill>
                  <a:srgbClr val="161B26"/>
                </a:solidFill>
                <a:latin typeface="Arial"/>
              </a:rPr>
              <a:t>42</a:t>
            </a:r>
          </a:p>
        </p:txBody>
      </p:sp>
      <p:sp>
        <p:nvSpPr>
          <p:cNvPr id="23" name="Rectangle 22"/>
          <p:cNvSpPr/>
          <p:nvPr/>
        </p:nvSpPr>
        <p:spPr>
          <a:xfrm>
            <a:off x="7157922" y="3050176"/>
            <a:ext cx="4253788" cy="6335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67650" y="3050176"/>
            <a:ext cx="4070908" cy="633548"/>
          </a:xfrm>
          <a:prstGeom prst="rect">
            <a:avLst/>
          </a:prstGeom>
          <a:noFill/>
        </p:spPr>
        <p:txBody>
          <a:bodyPr wrap="square" anchor="ctr">
            <a:spAutoFit/>
          </a:bodyPr>
          <a:lstStyle/>
          <a:p>
            <a:pPr algn="l">
              <a:spcAft>
                <a:spcPts val="400"/>
              </a:spcAft>
            </a:pPr>
            <a:r>
              <a:rPr sz="1050" b="0">
                <a:solidFill>
                  <a:srgbClr val="161B26"/>
                </a:solidFill>
                <a:latin typeface="Arial"/>
              </a:rPr>
              <a:t>Readable on a phone</a:t>
            </a:r>
          </a:p>
        </p:txBody>
      </p:sp>
      <p:sp>
        <p:nvSpPr>
          <p:cNvPr id="25" name="Rectangle 24"/>
          <p:cNvSpPr/>
          <p:nvPr/>
        </p:nvSpPr>
        <p:spPr>
          <a:xfrm>
            <a:off x="777240" y="3683724"/>
            <a:ext cx="3190341" cy="6335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6968" y="3683724"/>
            <a:ext cx="3007461" cy="633548"/>
          </a:xfrm>
          <a:prstGeom prst="rect">
            <a:avLst/>
          </a:prstGeom>
          <a:noFill/>
        </p:spPr>
        <p:txBody>
          <a:bodyPr wrap="square" anchor="ctr">
            <a:spAutoFit/>
          </a:bodyPr>
          <a:lstStyle/>
          <a:p>
            <a:pPr algn="l">
              <a:spcAft>
                <a:spcPts val="400"/>
              </a:spcAft>
            </a:pPr>
            <a:r>
              <a:rPr sz="1050" b="1">
                <a:solidFill>
                  <a:srgbClr val="161B26"/>
                </a:solidFill>
                <a:latin typeface="Arial"/>
              </a:rPr>
              <a:t>Reading speed</a:t>
            </a:r>
          </a:p>
        </p:txBody>
      </p:sp>
      <p:sp>
        <p:nvSpPr>
          <p:cNvPr id="27" name="Rectangle 26"/>
          <p:cNvSpPr/>
          <p:nvPr/>
        </p:nvSpPr>
        <p:spPr>
          <a:xfrm>
            <a:off x="3967581" y="3683724"/>
            <a:ext cx="3190341" cy="6335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077309" y="3683724"/>
            <a:ext cx="3007461" cy="633548"/>
          </a:xfrm>
          <a:prstGeom prst="rect">
            <a:avLst/>
          </a:prstGeom>
          <a:noFill/>
        </p:spPr>
        <p:txBody>
          <a:bodyPr wrap="square" anchor="ctr">
            <a:spAutoFit/>
          </a:bodyPr>
          <a:lstStyle/>
          <a:p>
            <a:pPr algn="l">
              <a:spcAft>
                <a:spcPts val="400"/>
              </a:spcAft>
            </a:pPr>
            <a:r>
              <a:rPr sz="1050" b="0">
                <a:solidFill>
                  <a:srgbClr val="161B26"/>
                </a:solidFill>
                <a:latin typeface="Arial"/>
              </a:rPr>
              <a:t>17 characters / second</a:t>
            </a:r>
          </a:p>
        </p:txBody>
      </p:sp>
      <p:sp>
        <p:nvSpPr>
          <p:cNvPr id="29" name="Rectangle 28"/>
          <p:cNvSpPr/>
          <p:nvPr/>
        </p:nvSpPr>
        <p:spPr>
          <a:xfrm>
            <a:off x="7157922" y="3683724"/>
            <a:ext cx="4253788" cy="6335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267650" y="3683724"/>
            <a:ext cx="4070908" cy="633548"/>
          </a:xfrm>
          <a:prstGeom prst="rect">
            <a:avLst/>
          </a:prstGeom>
          <a:noFill/>
        </p:spPr>
        <p:txBody>
          <a:bodyPr wrap="square" anchor="ctr">
            <a:spAutoFit/>
          </a:bodyPr>
          <a:lstStyle/>
          <a:p>
            <a:pPr algn="l">
              <a:spcAft>
                <a:spcPts val="400"/>
              </a:spcAft>
            </a:pPr>
            <a:r>
              <a:rPr sz="1050" b="0">
                <a:solidFill>
                  <a:srgbClr val="161B26"/>
                </a:solidFill>
                <a:latin typeface="Arial"/>
              </a:rPr>
              <a:t>Viewers must finish the line</a:t>
            </a:r>
          </a:p>
        </p:txBody>
      </p:sp>
      <p:sp>
        <p:nvSpPr>
          <p:cNvPr id="31" name="Rectangle 30"/>
          <p:cNvSpPr/>
          <p:nvPr/>
        </p:nvSpPr>
        <p:spPr>
          <a:xfrm>
            <a:off x="777240" y="4317272"/>
            <a:ext cx="3190341" cy="6335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4317272"/>
            <a:ext cx="3007461" cy="633548"/>
          </a:xfrm>
          <a:prstGeom prst="rect">
            <a:avLst/>
          </a:prstGeom>
          <a:noFill/>
        </p:spPr>
        <p:txBody>
          <a:bodyPr wrap="square" anchor="ctr">
            <a:spAutoFit/>
          </a:bodyPr>
          <a:lstStyle/>
          <a:p>
            <a:pPr algn="l">
              <a:spcAft>
                <a:spcPts val="400"/>
              </a:spcAft>
            </a:pPr>
            <a:r>
              <a:rPr sz="1050" b="1">
                <a:solidFill>
                  <a:srgbClr val="161B26"/>
                </a:solidFill>
                <a:latin typeface="Arial"/>
              </a:rPr>
              <a:t>On screen</a:t>
            </a:r>
          </a:p>
        </p:txBody>
      </p:sp>
      <p:sp>
        <p:nvSpPr>
          <p:cNvPr id="33" name="Rectangle 32"/>
          <p:cNvSpPr/>
          <p:nvPr/>
        </p:nvSpPr>
        <p:spPr>
          <a:xfrm>
            <a:off x="3967581" y="4317272"/>
            <a:ext cx="3190341" cy="6335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077309" y="4317272"/>
            <a:ext cx="3007461" cy="633548"/>
          </a:xfrm>
          <a:prstGeom prst="rect">
            <a:avLst/>
          </a:prstGeom>
          <a:noFill/>
        </p:spPr>
        <p:txBody>
          <a:bodyPr wrap="square" anchor="ctr">
            <a:spAutoFit/>
          </a:bodyPr>
          <a:lstStyle/>
          <a:p>
            <a:pPr algn="l">
              <a:spcAft>
                <a:spcPts val="400"/>
              </a:spcAft>
            </a:pPr>
            <a:r>
              <a:rPr sz="1050" b="0">
                <a:solidFill>
                  <a:srgbClr val="161B26"/>
                </a:solidFill>
                <a:latin typeface="Arial"/>
              </a:rPr>
              <a:t>1.0 – 7.0 seconds</a:t>
            </a:r>
          </a:p>
        </p:txBody>
      </p:sp>
      <p:sp>
        <p:nvSpPr>
          <p:cNvPr id="35" name="Rectangle 34"/>
          <p:cNvSpPr/>
          <p:nvPr/>
        </p:nvSpPr>
        <p:spPr>
          <a:xfrm>
            <a:off x="7157922" y="4317272"/>
            <a:ext cx="4253788" cy="6335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267650" y="4317272"/>
            <a:ext cx="4070908" cy="633548"/>
          </a:xfrm>
          <a:prstGeom prst="rect">
            <a:avLst/>
          </a:prstGeom>
          <a:noFill/>
        </p:spPr>
        <p:txBody>
          <a:bodyPr wrap="square" anchor="ctr">
            <a:spAutoFit/>
          </a:bodyPr>
          <a:lstStyle/>
          <a:p>
            <a:pPr algn="l">
              <a:spcAft>
                <a:spcPts val="400"/>
              </a:spcAft>
            </a:pPr>
            <a:r>
              <a:rPr sz="1050" b="0">
                <a:solidFill>
                  <a:srgbClr val="161B26"/>
                </a:solidFill>
                <a:latin typeface="Arial"/>
              </a:rPr>
              <a:t>Too short flashes; too long lingers</a:t>
            </a:r>
          </a:p>
        </p:txBody>
      </p:sp>
      <p:sp>
        <p:nvSpPr>
          <p:cNvPr id="37" name="Rectangle 36"/>
          <p:cNvSpPr/>
          <p:nvPr/>
        </p:nvSpPr>
        <p:spPr>
          <a:xfrm>
            <a:off x="777240" y="4950820"/>
            <a:ext cx="3190341" cy="6335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86968" y="4950820"/>
            <a:ext cx="3007461" cy="633548"/>
          </a:xfrm>
          <a:prstGeom prst="rect">
            <a:avLst/>
          </a:prstGeom>
          <a:noFill/>
        </p:spPr>
        <p:txBody>
          <a:bodyPr wrap="square" anchor="ctr">
            <a:spAutoFit/>
          </a:bodyPr>
          <a:lstStyle/>
          <a:p>
            <a:pPr algn="l">
              <a:spcAft>
                <a:spcPts val="400"/>
              </a:spcAft>
            </a:pPr>
            <a:r>
              <a:rPr sz="1050" b="1">
                <a:solidFill>
                  <a:srgbClr val="161B26"/>
                </a:solidFill>
                <a:latin typeface="Arial"/>
              </a:rPr>
              <a:t>Gap between captions</a:t>
            </a:r>
          </a:p>
        </p:txBody>
      </p:sp>
      <p:sp>
        <p:nvSpPr>
          <p:cNvPr id="39" name="Rectangle 38"/>
          <p:cNvSpPr/>
          <p:nvPr/>
        </p:nvSpPr>
        <p:spPr>
          <a:xfrm>
            <a:off x="3967581" y="4950820"/>
            <a:ext cx="3190341" cy="6335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077309" y="4950820"/>
            <a:ext cx="3007461" cy="633548"/>
          </a:xfrm>
          <a:prstGeom prst="rect">
            <a:avLst/>
          </a:prstGeom>
          <a:noFill/>
        </p:spPr>
        <p:txBody>
          <a:bodyPr wrap="square" anchor="ctr">
            <a:spAutoFit/>
          </a:bodyPr>
          <a:lstStyle/>
          <a:p>
            <a:pPr algn="l">
              <a:spcAft>
                <a:spcPts val="400"/>
              </a:spcAft>
            </a:pPr>
            <a:r>
              <a:rPr sz="1050" b="0">
                <a:solidFill>
                  <a:srgbClr val="161B26"/>
                </a:solidFill>
                <a:latin typeface="Arial"/>
              </a:rPr>
              <a:t>≥ 0.08 seconds</a:t>
            </a:r>
          </a:p>
        </p:txBody>
      </p:sp>
      <p:sp>
        <p:nvSpPr>
          <p:cNvPr id="41" name="Rectangle 40"/>
          <p:cNvSpPr/>
          <p:nvPr/>
        </p:nvSpPr>
        <p:spPr>
          <a:xfrm>
            <a:off x="7157922" y="4950820"/>
            <a:ext cx="4253788" cy="6335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267650" y="4950820"/>
            <a:ext cx="4070908" cy="633548"/>
          </a:xfrm>
          <a:prstGeom prst="rect">
            <a:avLst/>
          </a:prstGeom>
          <a:noFill/>
        </p:spPr>
        <p:txBody>
          <a:bodyPr wrap="square" anchor="ctr">
            <a:spAutoFit/>
          </a:bodyPr>
          <a:lstStyle/>
          <a:p>
            <a:pPr algn="l">
              <a:spcAft>
                <a:spcPts val="400"/>
              </a:spcAft>
            </a:pPr>
            <a:r>
              <a:rPr sz="1050" b="0">
                <a:solidFill>
                  <a:srgbClr val="161B26"/>
                </a:solidFill>
                <a:latin typeface="Arial"/>
              </a:rPr>
              <a:t>Separate lines read as separate lines</a:t>
            </a:r>
          </a:p>
        </p:txBody>
      </p:sp>
      <p:sp>
        <p:nvSpPr>
          <p:cNvPr id="43" name="Rectangle 42"/>
          <p:cNvSpPr/>
          <p:nvPr/>
        </p:nvSpPr>
        <p:spPr>
          <a:xfrm>
            <a:off x="777240" y="5584368"/>
            <a:ext cx="3190341" cy="6335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86968" y="5584368"/>
            <a:ext cx="3007461" cy="633548"/>
          </a:xfrm>
          <a:prstGeom prst="rect">
            <a:avLst/>
          </a:prstGeom>
          <a:noFill/>
        </p:spPr>
        <p:txBody>
          <a:bodyPr wrap="square" anchor="ctr">
            <a:spAutoFit/>
          </a:bodyPr>
          <a:lstStyle/>
          <a:p>
            <a:pPr algn="l">
              <a:spcAft>
                <a:spcPts val="400"/>
              </a:spcAft>
            </a:pPr>
            <a:r>
              <a:rPr sz="1050" b="1">
                <a:solidFill>
                  <a:srgbClr val="161B26"/>
                </a:solidFill>
                <a:latin typeface="Arial"/>
              </a:rPr>
              <a:t>Position</a:t>
            </a:r>
          </a:p>
        </p:txBody>
      </p:sp>
      <p:sp>
        <p:nvSpPr>
          <p:cNvPr id="45" name="Rectangle 44"/>
          <p:cNvSpPr/>
          <p:nvPr/>
        </p:nvSpPr>
        <p:spPr>
          <a:xfrm>
            <a:off x="3967581" y="5584368"/>
            <a:ext cx="3190341" cy="6335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077309" y="5584368"/>
            <a:ext cx="3007461" cy="633548"/>
          </a:xfrm>
          <a:prstGeom prst="rect">
            <a:avLst/>
          </a:prstGeom>
          <a:noFill/>
        </p:spPr>
        <p:txBody>
          <a:bodyPr wrap="square" anchor="ctr">
            <a:spAutoFit/>
          </a:bodyPr>
          <a:lstStyle/>
          <a:p>
            <a:pPr algn="l">
              <a:spcAft>
                <a:spcPts val="400"/>
              </a:spcAft>
            </a:pPr>
            <a:r>
              <a:rPr sz="1050" b="0">
                <a:solidFill>
                  <a:srgbClr val="161B26"/>
                </a:solidFill>
                <a:latin typeface="Arial"/>
              </a:rPr>
              <a:t>Inside the platform safe area</a:t>
            </a:r>
          </a:p>
        </p:txBody>
      </p:sp>
      <p:sp>
        <p:nvSpPr>
          <p:cNvPr id="47" name="Rectangle 46"/>
          <p:cNvSpPr/>
          <p:nvPr/>
        </p:nvSpPr>
        <p:spPr>
          <a:xfrm>
            <a:off x="7157922" y="5584368"/>
            <a:ext cx="4253788" cy="6335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267650" y="5584368"/>
            <a:ext cx="4070908" cy="633548"/>
          </a:xfrm>
          <a:prstGeom prst="rect">
            <a:avLst/>
          </a:prstGeom>
          <a:noFill/>
        </p:spPr>
        <p:txBody>
          <a:bodyPr wrap="square" anchor="ctr">
            <a:spAutoFit/>
          </a:bodyPr>
          <a:lstStyle/>
          <a:p>
            <a:pPr algn="l">
              <a:spcAft>
                <a:spcPts val="400"/>
              </a:spcAft>
            </a:pPr>
            <a:r>
              <a:rPr sz="1050" b="0">
                <a:solidFill>
                  <a:srgbClr val="161B26"/>
                </a:solidFill>
                <a:latin typeface="Arial"/>
              </a:rPr>
              <a:t>Buttons and handles cover the rest</a:t>
            </a:r>
          </a:p>
        </p:txBody>
      </p:sp>
      <p:sp>
        <p:nvSpPr>
          <p:cNvPr id="49" name="TextBox 4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50" name="TextBox 4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1" name="TextBox 5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transition spd="fast">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A6 · LAB 11 RESULT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The Export Ladder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6675120" cy="3977639"/>
        </p:xfrm>
        <a:graphic>
          <a:graphicData uri="http://schemas.openxmlformats.org/drawingml/2006/chart">
            <c:chart xmlns:c="http://schemas.openxmlformats.org/drawingml/2006/chart" r:id="rId2"/>
          </a:graphicData>
        </a:graphic>
      </p:graphicFrame>
      <p:sp>
        <p:nvSpPr>
          <p:cNvPr id="8" name="Rectangle 7"/>
          <p:cNvSpPr/>
          <p:nvPr/>
        </p:nvSpPr>
        <p:spPr>
          <a:xfrm>
            <a:off x="7680960" y="1783080"/>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80960" y="1783080"/>
            <a:ext cx="82296" cy="87096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82128" y="1783080"/>
            <a:ext cx="3346704" cy="870965"/>
          </a:xfrm>
          <a:prstGeom prst="rect">
            <a:avLst/>
          </a:prstGeom>
          <a:noFill/>
        </p:spPr>
        <p:txBody>
          <a:bodyPr wrap="square" anchor="ctr">
            <a:spAutoFit/>
          </a:bodyPr>
          <a:lstStyle/>
          <a:p>
            <a:pPr algn="l">
              <a:spcAft>
                <a:spcPts val="200"/>
              </a:spcAft>
            </a:pPr>
            <a:r>
              <a:rPr sz="1250" b="1">
                <a:solidFill>
                  <a:srgbClr val="1F6FEB"/>
                </a:solidFill>
                <a:latin typeface="Arial"/>
              </a:rPr>
              <a:t>Subject-following crop</a:t>
            </a:r>
          </a:p>
          <a:p>
            <a:pPr algn="l">
              <a:spcAft>
                <a:spcPts val="200"/>
              </a:spcAft>
            </a:pPr>
            <a:r>
              <a:rPr sz="1100" b="0">
                <a:solidFill>
                  <a:srgbClr val="161B26"/>
                </a:solidFill>
                <a:latin typeface="Arial"/>
              </a:rPr>
              <a:t>The 9:16 and 4:5 crops follow Mei's raincoat mask.</a:t>
            </a:r>
          </a:p>
        </p:txBody>
      </p:sp>
      <p:sp>
        <p:nvSpPr>
          <p:cNvPr id="11" name="Rectangle 10"/>
          <p:cNvSpPr/>
          <p:nvPr/>
        </p:nvSpPr>
        <p:spPr>
          <a:xfrm>
            <a:off x="7680960" y="2818637"/>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680960" y="2818637"/>
            <a:ext cx="82296" cy="87096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82128" y="2818637"/>
            <a:ext cx="3346704" cy="870965"/>
          </a:xfrm>
          <a:prstGeom prst="rect">
            <a:avLst/>
          </a:prstGeom>
          <a:noFill/>
        </p:spPr>
        <p:txBody>
          <a:bodyPr wrap="square" anchor="ctr">
            <a:spAutoFit/>
          </a:bodyPr>
          <a:lstStyle/>
          <a:p>
            <a:pPr algn="l">
              <a:spcAft>
                <a:spcPts val="200"/>
              </a:spcAft>
            </a:pPr>
            <a:r>
              <a:rPr sz="1250" b="1">
                <a:solidFill>
                  <a:srgbClr val="10B981"/>
                </a:solidFill>
                <a:latin typeface="Arial"/>
              </a:rPr>
              <a:t>Mix</a:t>
            </a:r>
          </a:p>
          <a:p>
            <a:pPr algn="l">
              <a:spcAft>
                <a:spcPts val="200"/>
              </a:spcAft>
            </a:pPr>
            <a:r>
              <a:rPr sz="1100" b="0">
                <a:solidFill>
                  <a:srgbClr val="161B26"/>
                </a:solidFill>
                <a:latin typeface="Arial"/>
              </a:rPr>
              <a:t>Peak −1.5 dBFS; voice 13 dB over the ducked music.</a:t>
            </a:r>
          </a:p>
        </p:txBody>
      </p:sp>
      <p:sp>
        <p:nvSpPr>
          <p:cNvPr id="14" name="Rectangle 13"/>
          <p:cNvSpPr/>
          <p:nvPr/>
        </p:nvSpPr>
        <p:spPr>
          <a:xfrm>
            <a:off x="7680960" y="3854194"/>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680960" y="3854194"/>
            <a:ext cx="82296" cy="870965"/>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82128" y="3854194"/>
            <a:ext cx="3346704" cy="870965"/>
          </a:xfrm>
          <a:prstGeom prst="rect">
            <a:avLst/>
          </a:prstGeom>
          <a:noFill/>
        </p:spPr>
        <p:txBody>
          <a:bodyPr wrap="square" anchor="ctr">
            <a:spAutoFit/>
          </a:bodyPr>
          <a:lstStyle/>
          <a:p>
            <a:pPr algn="l">
              <a:spcAft>
                <a:spcPts val="200"/>
              </a:spcAft>
            </a:pPr>
            <a:r>
              <a:rPr sz="1250" b="1">
                <a:solidFill>
                  <a:srgbClr val="7C3AED"/>
                </a:solidFill>
                <a:latin typeface="Arial"/>
              </a:rPr>
              <a:t>Label travels</a:t>
            </a:r>
          </a:p>
          <a:p>
            <a:pPr algn="l">
              <a:spcAft>
                <a:spcPts val="200"/>
              </a:spcAft>
            </a:pPr>
            <a:r>
              <a:rPr sz="1100" b="0">
                <a:solidFill>
                  <a:srgbClr val="161B26"/>
                </a:solidFill>
                <a:latin typeface="Arial"/>
              </a:rPr>
              <a:t>The SIMULATED banner is re-burned on every derivative.</a:t>
            </a:r>
          </a:p>
        </p:txBody>
      </p:sp>
      <p:sp>
        <p:nvSpPr>
          <p:cNvPr id="17" name="Rectangle 16"/>
          <p:cNvSpPr/>
          <p:nvPr/>
        </p:nvSpPr>
        <p:spPr>
          <a:xfrm>
            <a:off x="7680960" y="4889751"/>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0" y="4889751"/>
            <a:ext cx="82296" cy="870965"/>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82128" y="4889751"/>
            <a:ext cx="3346704" cy="870965"/>
          </a:xfrm>
          <a:prstGeom prst="rect">
            <a:avLst/>
          </a:prstGeom>
          <a:noFill/>
        </p:spPr>
        <p:txBody>
          <a:bodyPr wrap="square" anchor="ctr">
            <a:spAutoFit/>
          </a:bodyPr>
          <a:lstStyle/>
          <a:p>
            <a:pPr algn="l">
              <a:spcAft>
                <a:spcPts val="200"/>
              </a:spcAft>
            </a:pPr>
            <a:r>
              <a:rPr sz="1250" b="1">
                <a:solidFill>
                  <a:srgbClr val="F59E0B"/>
                </a:solidFill>
                <a:latin typeface="Arial"/>
              </a:rPr>
              <a:t>Disclosure</a:t>
            </a:r>
          </a:p>
          <a:p>
            <a:pPr algn="l">
              <a:spcAft>
                <a:spcPts val="200"/>
              </a:spcAft>
            </a:pPr>
            <a:r>
              <a:rPr sz="1100" b="0">
                <a:solidFill>
                  <a:srgbClr val="161B26"/>
                </a:solidFill>
                <a:latin typeface="Arial"/>
              </a:rPr>
              <a:t>Set the platform's AI-content label on upload.</a:t>
            </a:r>
          </a:p>
        </p:txBody>
      </p:sp>
      <p:sp>
        <p:nvSpPr>
          <p:cNvPr id="20" name="Rectangle 19"/>
          <p:cNvSpPr/>
          <p:nvPr/>
        </p:nvSpPr>
        <p:spPr>
          <a:xfrm>
            <a:off x="777240" y="5925312"/>
            <a:ext cx="1417320"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925312"/>
            <a:ext cx="1417320" cy="310896"/>
          </a:xfrm>
          <a:prstGeom prst="rect">
            <a:avLst/>
          </a:prstGeom>
          <a:noFill/>
        </p:spPr>
        <p:txBody>
          <a:bodyPr wrap="square" anchor="ctr">
            <a:spAutoFit/>
          </a:bodyPr>
          <a:lstStyle/>
          <a:p>
            <a:pPr algn="ctr">
              <a:spcAft>
                <a:spcPts val="400"/>
              </a:spcAft>
            </a:pPr>
            <a:r>
              <a:rPr sz="1050" b="1">
                <a:solidFill>
                  <a:srgbClr val="FFFFFF"/>
                </a:solidFill>
                <a:latin typeface="Arial"/>
              </a:rPr>
              <a:t>MEASURED</a:t>
            </a:r>
          </a:p>
        </p:txBody>
      </p:sp>
      <p:sp>
        <p:nvSpPr>
          <p:cNvPr id="22" name="TextBox 21"/>
          <p:cNvSpPr txBox="1"/>
          <p:nvPr/>
        </p:nvSpPr>
        <p:spPr>
          <a:xfrm>
            <a:off x="2331720" y="5925312"/>
            <a:ext cx="9098280" cy="457200"/>
          </a:xfrm>
          <a:prstGeom prst="rect">
            <a:avLst/>
          </a:prstGeom>
          <a:noFill/>
        </p:spPr>
        <p:txBody>
          <a:bodyPr wrap="square" anchor="ctr">
            <a:spAutoFit/>
          </a:bodyPr>
          <a:lstStyle/>
          <a:p>
            <a:pPr algn="l">
              <a:spcAft>
                <a:spcPts val="400"/>
              </a:spcAft>
            </a:pPr>
            <a:r>
              <a:rPr sz="1150" b="0">
                <a:solidFill>
                  <a:srgbClr val="5B6372"/>
                </a:solidFill>
                <a:latin typeface="Arial"/>
              </a:rPr>
              <a:t>finish.py: 240 frames per export; with FFmpeg each is muxed to H.264 video + AAC audio and verified with ffprobe.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transition spd="fast">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A6 · LAB 11 OUTPUT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Finished Frames: Master and Reel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755648"/>
            <a:ext cx="5271516" cy="298923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11-master.png"/>
          <p:cNvPicPr>
            <a:picLocks noChangeAspect="1"/>
          </p:cNvPicPr>
          <p:nvPr/>
        </p:nvPicPr>
        <p:blipFill>
          <a:blip r:embed="rId2"/>
          <a:stretch>
            <a:fillRect/>
          </a:stretch>
        </p:blipFill>
        <p:spPr>
          <a:xfrm>
            <a:off x="777240" y="1783080"/>
            <a:ext cx="5216652" cy="2934366"/>
          </a:xfrm>
          <a:prstGeom prst="rect">
            <a:avLst/>
          </a:prstGeom>
        </p:spPr>
      </p:pic>
      <p:sp>
        <p:nvSpPr>
          <p:cNvPr id="9" name="TextBox 8"/>
          <p:cNvSpPr txBox="1"/>
          <p:nvPr/>
        </p:nvSpPr>
        <p:spPr>
          <a:xfrm>
            <a:off x="777240" y="4754022"/>
            <a:ext cx="5216652" cy="310896"/>
          </a:xfrm>
          <a:prstGeom prst="rect">
            <a:avLst/>
          </a:prstGeom>
          <a:noFill/>
        </p:spPr>
        <p:txBody>
          <a:bodyPr wrap="square" anchor="t">
            <a:spAutoFit/>
          </a:bodyPr>
          <a:lstStyle/>
          <a:p>
            <a:pPr algn="ctr">
              <a:spcAft>
                <a:spcPts val="400"/>
              </a:spcAft>
            </a:pPr>
            <a:r>
              <a:rPr sz="1050" b="0">
                <a:solidFill>
                  <a:srgbClr val="5B6372"/>
                </a:solidFill>
                <a:latin typeface="Arial"/>
              </a:rPr>
              <a:t>16:9 master with captions</a:t>
            </a:r>
          </a:p>
        </p:txBody>
      </p:sp>
      <p:sp>
        <p:nvSpPr>
          <p:cNvPr id="10" name="Rectangle 9"/>
          <p:cNvSpPr/>
          <p:nvPr/>
        </p:nvSpPr>
        <p:spPr>
          <a:xfrm>
            <a:off x="7680388" y="1755648"/>
            <a:ext cx="2245995" cy="395020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l11-reels.png"/>
          <p:cNvPicPr>
            <a:picLocks noChangeAspect="1"/>
          </p:cNvPicPr>
          <p:nvPr/>
        </p:nvPicPr>
        <p:blipFill>
          <a:blip r:embed="rId3"/>
          <a:stretch>
            <a:fillRect/>
          </a:stretch>
        </p:blipFill>
        <p:spPr>
          <a:xfrm>
            <a:off x="7707820" y="1783080"/>
            <a:ext cx="2191131" cy="3895344"/>
          </a:xfrm>
          <a:prstGeom prst="rect">
            <a:avLst/>
          </a:prstGeom>
        </p:spPr>
      </p:pic>
      <p:sp>
        <p:nvSpPr>
          <p:cNvPr id="12" name="TextBox 11"/>
          <p:cNvSpPr txBox="1"/>
          <p:nvPr/>
        </p:nvSpPr>
        <p:spPr>
          <a:xfrm>
            <a:off x="6195060" y="5715000"/>
            <a:ext cx="5216652" cy="310896"/>
          </a:xfrm>
          <a:prstGeom prst="rect">
            <a:avLst/>
          </a:prstGeom>
          <a:noFill/>
        </p:spPr>
        <p:txBody>
          <a:bodyPr wrap="square" anchor="t">
            <a:spAutoFit/>
          </a:bodyPr>
          <a:lstStyle/>
          <a:p>
            <a:pPr algn="ctr">
              <a:spcAft>
                <a:spcPts val="400"/>
              </a:spcAft>
            </a:pPr>
            <a:r>
              <a:rPr sz="1050" b="0">
                <a:solidFill>
                  <a:srgbClr val="5B6372"/>
                </a:solidFill>
                <a:latin typeface="Arial"/>
              </a:rPr>
              <a:t>9:16 Reel: subject-following crop, captions above the UI zone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transition spd="fast">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0B981"/>
                </a:solidFill>
                <a:latin typeface="Arial"/>
              </a:rPr>
              <a:t>TOPIC 04 · ELO5 · A6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Lab 10 — Shot, Motion and Continuity Analytics on the Assembled Sequence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56231"/>
            <a:ext cx="3401568" cy="361188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56231"/>
            <a:ext cx="3401568"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130552"/>
            <a:ext cx="2999232" cy="457200"/>
          </a:xfrm>
          <a:prstGeom prst="rect">
            <a:avLst/>
          </a:prstGeom>
          <a:noFill/>
        </p:spPr>
        <p:txBody>
          <a:bodyPr wrap="square" anchor="t">
            <a:spAutoFit/>
          </a:bodyPr>
          <a:lstStyle/>
          <a:p>
            <a:pPr algn="l">
              <a:spcAft>
                <a:spcPts val="400"/>
              </a:spcAft>
            </a:pPr>
            <a:r>
              <a:rPr sz="1500" b="1">
                <a:solidFill>
                  <a:srgbClr val="10B981"/>
                </a:solidFill>
                <a:latin typeface="Arial"/>
              </a:rPr>
              <a:t>INPUTS</a:t>
            </a:r>
          </a:p>
        </p:txBody>
      </p:sp>
      <p:sp>
        <p:nvSpPr>
          <p:cNvPr id="10" name="TextBox 9"/>
          <p:cNvSpPr txBox="1"/>
          <p:nvPr/>
        </p:nvSpPr>
        <p:spPr>
          <a:xfrm>
            <a:off x="978408" y="2743200"/>
            <a:ext cx="2999232" cy="2468880"/>
          </a:xfrm>
          <a:prstGeom prst="rect">
            <a:avLst/>
          </a:prstGeom>
          <a:noFill/>
        </p:spPr>
        <p:txBody>
          <a:bodyPr wrap="square" anchor="t">
            <a:spAutoFit/>
          </a:bodyPr>
          <a:lstStyle/>
          <a:p>
            <a:pPr algn="l">
              <a:spcAft>
                <a:spcPts val="400"/>
              </a:spcAft>
            </a:pPr>
            <a:r>
              <a:rPr sz="1400" b="0">
                <a:solidFill>
                  <a:srgbClr val="161B26"/>
                </a:solidFill>
                <a:latin typeface="Arial"/>
              </a:rPr>
              <a:t>16-second, five-shot sequence with injected flicker and identity drift (SIMULATED clip)</a:t>
            </a:r>
          </a:p>
        </p:txBody>
      </p:sp>
      <p:sp>
        <p:nvSpPr>
          <p:cNvPr id="11" name="Rounded Rectangle 10"/>
          <p:cNvSpPr/>
          <p:nvPr/>
        </p:nvSpPr>
        <p:spPr>
          <a:xfrm>
            <a:off x="4379976" y="1856231"/>
            <a:ext cx="3401568" cy="361188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9976" y="1856231"/>
            <a:ext cx="3401568"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81144" y="2130552"/>
            <a:ext cx="2999232" cy="457200"/>
          </a:xfrm>
          <a:prstGeom prst="rect">
            <a:avLst/>
          </a:prstGeom>
          <a:noFill/>
        </p:spPr>
        <p:txBody>
          <a:bodyPr wrap="square" anchor="t">
            <a:spAutoFit/>
          </a:bodyPr>
          <a:lstStyle/>
          <a:p>
            <a:pPr algn="l">
              <a:spcAft>
                <a:spcPts val="400"/>
              </a:spcAft>
            </a:pPr>
            <a:r>
              <a:rPr sz="1500" b="1">
                <a:solidFill>
                  <a:srgbClr val="10B981"/>
                </a:solidFill>
                <a:latin typeface="Arial"/>
              </a:rPr>
              <a:t>TECHNICAL QUESTION</a:t>
            </a:r>
          </a:p>
        </p:txBody>
      </p:sp>
      <p:sp>
        <p:nvSpPr>
          <p:cNvPr id="14" name="TextBox 13"/>
          <p:cNvSpPr txBox="1"/>
          <p:nvPr/>
        </p:nvSpPr>
        <p:spPr>
          <a:xfrm>
            <a:off x="4581144" y="2743200"/>
            <a:ext cx="2999232" cy="2468880"/>
          </a:xfrm>
          <a:prstGeom prst="rect">
            <a:avLst/>
          </a:prstGeom>
          <a:noFill/>
        </p:spPr>
        <p:txBody>
          <a:bodyPr wrap="square" anchor="t">
            <a:spAutoFit/>
          </a:bodyPr>
          <a:lstStyle/>
          <a:p>
            <a:pPr algn="l">
              <a:spcAft>
                <a:spcPts val="400"/>
              </a:spcAft>
            </a:pPr>
            <a:r>
              <a:rPr sz="1400" b="0">
                <a:solidFill>
                  <a:srgbClr val="161B26"/>
                </a:solidFill>
                <a:latin typeface="Arial"/>
              </a:rPr>
              <a:t>Do the cut detector, camera-motion estimate, flicker index, tracker and hue-drift measure tell the same story as the truth file?</a:t>
            </a:r>
          </a:p>
        </p:txBody>
      </p:sp>
      <p:sp>
        <p:nvSpPr>
          <p:cNvPr id="15" name="Rounded Rectangle 14"/>
          <p:cNvSpPr/>
          <p:nvPr/>
        </p:nvSpPr>
        <p:spPr>
          <a:xfrm>
            <a:off x="7982712" y="1856231"/>
            <a:ext cx="3401568" cy="361188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82712" y="1856231"/>
            <a:ext cx="3401568"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83880" y="2130552"/>
            <a:ext cx="2999232" cy="457200"/>
          </a:xfrm>
          <a:prstGeom prst="rect">
            <a:avLst/>
          </a:prstGeom>
          <a:noFill/>
        </p:spPr>
        <p:txBody>
          <a:bodyPr wrap="square" anchor="t">
            <a:spAutoFit/>
          </a:bodyPr>
          <a:lstStyle/>
          <a:p>
            <a:pPr algn="l">
              <a:spcAft>
                <a:spcPts val="400"/>
              </a:spcAft>
            </a:pPr>
            <a:r>
              <a:rPr sz="1500" b="1">
                <a:solidFill>
                  <a:srgbClr val="10B981"/>
                </a:solidFill>
                <a:latin typeface="Arial"/>
              </a:rPr>
              <a:t>EVIDENCE TO PRODUCE</a:t>
            </a:r>
          </a:p>
        </p:txBody>
      </p:sp>
      <p:sp>
        <p:nvSpPr>
          <p:cNvPr id="18" name="TextBox 17"/>
          <p:cNvSpPr txBox="1"/>
          <p:nvPr/>
        </p:nvSpPr>
        <p:spPr>
          <a:xfrm>
            <a:off x="8183880" y="2743200"/>
            <a:ext cx="2999232" cy="2468880"/>
          </a:xfrm>
          <a:prstGeom prst="rect">
            <a:avLst/>
          </a:prstGeom>
          <a:noFill/>
        </p:spPr>
        <p:txBody>
          <a:bodyPr wrap="square" anchor="t">
            <a:spAutoFit/>
          </a:bodyPr>
          <a:lstStyle/>
          <a:p>
            <a:pPr algn="l">
              <a:spcAft>
                <a:spcPts val="400"/>
              </a:spcAft>
            </a:pPr>
            <a:r>
              <a:rPr sz="1400" b="0">
                <a:solidFill>
                  <a:srgbClr val="161B26"/>
                </a:solidFill>
                <a:latin typeface="Arial"/>
              </a:rPr>
              <a:t>A shot report (boundaries, camera movement, flicker), a tracking report (IoU, centre error, jitter, hue drift), the first-appearance event, and a timeline graphic, each compared with the truth file.</a:t>
            </a:r>
          </a:p>
        </p:txBody>
      </p:sp>
      <p:sp>
        <p:nvSpPr>
          <p:cNvPr id="19" name="TextBox 18"/>
          <p:cNvSpPr txBox="1"/>
          <p:nvPr/>
        </p:nvSpPr>
        <p:spPr>
          <a:xfrm>
            <a:off x="777240" y="5623560"/>
            <a:ext cx="10607040" cy="685800"/>
          </a:xfrm>
          <a:prstGeom prst="rect">
            <a:avLst/>
          </a:prstGeom>
          <a:noFill/>
        </p:spPr>
        <p:txBody>
          <a:bodyPr wrap="square" anchor="t">
            <a:spAutoFit/>
          </a:bodyPr>
          <a:lstStyle/>
          <a:p>
            <a:pPr algn="l">
              <a:spcAft>
                <a:spcPts val="400"/>
              </a:spcAft>
            </a:pPr>
            <a:r>
              <a:rPr sz="1150" b="0">
                <a:solidFill>
                  <a:srgbClr val="5B6372"/>
                </a:solidFill>
                <a:latin typeface="Arial"/>
              </a:rPr>
              <a:t>LAB 10  ·  60 MIN · Python 3 · opencv-python · NumPy · no network</a:t>
            </a:r>
          </a:p>
          <a:p>
            <a:pPr algn="l">
              <a:spcAft>
                <a:spcPts val="400"/>
              </a:spcAft>
            </a:pPr>
            <a:r>
              <a:rPr sz="1150" b="0">
                <a:solidFill>
                  <a:srgbClr val="5B6372"/>
                </a:solidFill>
                <a:latin typeface="Arial"/>
              </a:rPr>
              <a:t>Detailed procedures and prompts: Learner Guide / labs/lab-10-shot-motion-continuity-analytics/README.md</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transition spd="fast">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0B981"/>
                </a:solidFill>
                <a:latin typeface="Arial"/>
              </a:rPr>
              <a:t>TOPIC 04 · ELO4 · A5, A6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Lab 11 — Voiceover, Music, Captions and the Final Export Ladder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56231"/>
            <a:ext cx="3401568" cy="361188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56231"/>
            <a:ext cx="3401568"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130552"/>
            <a:ext cx="2999232" cy="457200"/>
          </a:xfrm>
          <a:prstGeom prst="rect">
            <a:avLst/>
          </a:prstGeom>
          <a:noFill/>
        </p:spPr>
        <p:txBody>
          <a:bodyPr wrap="square" anchor="t">
            <a:spAutoFit/>
          </a:bodyPr>
          <a:lstStyle/>
          <a:p>
            <a:pPr algn="l">
              <a:spcAft>
                <a:spcPts val="400"/>
              </a:spcAft>
            </a:pPr>
            <a:r>
              <a:rPr sz="1500" b="1">
                <a:solidFill>
                  <a:srgbClr val="10B981"/>
                </a:solidFill>
                <a:latin typeface="Arial"/>
              </a:rPr>
              <a:t>INPUTS</a:t>
            </a:r>
          </a:p>
        </p:txBody>
      </p:sp>
      <p:sp>
        <p:nvSpPr>
          <p:cNvPr id="10" name="TextBox 9"/>
          <p:cNvSpPr txBox="1"/>
          <p:nvPr/>
        </p:nvSpPr>
        <p:spPr>
          <a:xfrm>
            <a:off x="978408" y="2743200"/>
            <a:ext cx="2999232" cy="2468880"/>
          </a:xfrm>
          <a:prstGeom prst="rect">
            <a:avLst/>
          </a:prstGeom>
          <a:noFill/>
        </p:spPr>
        <p:txBody>
          <a:bodyPr wrap="square" anchor="t">
            <a:spAutoFit/>
          </a:bodyPr>
          <a:lstStyle/>
          <a:p>
            <a:pPr algn="l">
              <a:spcAft>
                <a:spcPts val="400"/>
              </a:spcAft>
            </a:pPr>
            <a:r>
              <a:rPr sz="1400" b="0">
                <a:solidFill>
                  <a:srgbClr val="161B26"/>
                </a:solidFill>
                <a:latin typeface="Arial"/>
              </a:rPr>
              <a:t>10-second picture lock of the last three shots (SIMULATED clip)</a:t>
            </a:r>
          </a:p>
        </p:txBody>
      </p:sp>
      <p:sp>
        <p:nvSpPr>
          <p:cNvPr id="11" name="Rounded Rectangle 10"/>
          <p:cNvSpPr/>
          <p:nvPr/>
        </p:nvSpPr>
        <p:spPr>
          <a:xfrm>
            <a:off x="4379976" y="1856231"/>
            <a:ext cx="3401568" cy="361188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9976" y="1856231"/>
            <a:ext cx="3401568"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81144" y="2130552"/>
            <a:ext cx="2999232" cy="457200"/>
          </a:xfrm>
          <a:prstGeom prst="rect">
            <a:avLst/>
          </a:prstGeom>
          <a:noFill/>
        </p:spPr>
        <p:txBody>
          <a:bodyPr wrap="square" anchor="t">
            <a:spAutoFit/>
          </a:bodyPr>
          <a:lstStyle/>
          <a:p>
            <a:pPr algn="l">
              <a:spcAft>
                <a:spcPts val="400"/>
              </a:spcAft>
            </a:pPr>
            <a:r>
              <a:rPr sz="1500" b="1">
                <a:solidFill>
                  <a:srgbClr val="10B981"/>
                </a:solidFill>
                <a:latin typeface="Arial"/>
              </a:rPr>
              <a:t>TECHNICAL QUESTION</a:t>
            </a:r>
          </a:p>
        </p:txBody>
      </p:sp>
      <p:sp>
        <p:nvSpPr>
          <p:cNvPr id="14" name="TextBox 13"/>
          <p:cNvSpPr txBox="1"/>
          <p:nvPr/>
        </p:nvSpPr>
        <p:spPr>
          <a:xfrm>
            <a:off x="4581144" y="2743200"/>
            <a:ext cx="2999232" cy="2468880"/>
          </a:xfrm>
          <a:prstGeom prst="rect">
            <a:avLst/>
          </a:prstGeom>
          <a:noFill/>
        </p:spPr>
        <p:txBody>
          <a:bodyPr wrap="square" anchor="t">
            <a:spAutoFit/>
          </a:bodyPr>
          <a:lstStyle/>
          <a:p>
            <a:pPr algn="l">
              <a:spcAft>
                <a:spcPts val="400"/>
              </a:spcAft>
            </a:pPr>
            <a:r>
              <a:rPr sz="1400" b="0">
                <a:solidFill>
                  <a:srgbClr val="161B26"/>
                </a:solidFill>
                <a:latin typeface="Arial"/>
              </a:rPr>
              <a:t>Do every caption and the mix meet the delivery rules, and does each export keep the subject in frame?</a:t>
            </a:r>
          </a:p>
        </p:txBody>
      </p:sp>
      <p:sp>
        <p:nvSpPr>
          <p:cNvPr id="15" name="Rounded Rectangle 14"/>
          <p:cNvSpPr/>
          <p:nvPr/>
        </p:nvSpPr>
        <p:spPr>
          <a:xfrm>
            <a:off x="7982712" y="1856231"/>
            <a:ext cx="3401568" cy="361188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82712" y="1856231"/>
            <a:ext cx="3401568"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83880" y="2130552"/>
            <a:ext cx="2999232" cy="457200"/>
          </a:xfrm>
          <a:prstGeom prst="rect">
            <a:avLst/>
          </a:prstGeom>
          <a:noFill/>
        </p:spPr>
        <p:txBody>
          <a:bodyPr wrap="square" anchor="t">
            <a:spAutoFit/>
          </a:bodyPr>
          <a:lstStyle/>
          <a:p>
            <a:pPr algn="l">
              <a:spcAft>
                <a:spcPts val="400"/>
              </a:spcAft>
            </a:pPr>
            <a:r>
              <a:rPr sz="1500" b="1">
                <a:solidFill>
                  <a:srgbClr val="10B981"/>
                </a:solidFill>
                <a:latin typeface="Arial"/>
              </a:rPr>
              <a:t>EVIDENCE TO PRODUCE</a:t>
            </a:r>
          </a:p>
        </p:txBody>
      </p:sp>
      <p:sp>
        <p:nvSpPr>
          <p:cNvPr id="18" name="TextBox 17"/>
          <p:cNvSpPr txBox="1"/>
          <p:nvPr/>
        </p:nvSpPr>
        <p:spPr>
          <a:xfrm>
            <a:off x="8183880" y="2743200"/>
            <a:ext cx="2999232" cy="2468880"/>
          </a:xfrm>
          <a:prstGeom prst="rect">
            <a:avLst/>
          </a:prstGeom>
          <a:noFill/>
        </p:spPr>
        <p:txBody>
          <a:bodyPr wrap="square" anchor="t">
            <a:spAutoFit/>
          </a:bodyPr>
          <a:lstStyle/>
          <a:p>
            <a:pPr algn="l">
              <a:spcAft>
                <a:spcPts val="400"/>
              </a:spcAft>
            </a:pPr>
            <a:r>
              <a:rPr sz="1400" b="0">
                <a:solidFill>
                  <a:srgbClr val="161B26"/>
                </a:solidFill>
                <a:latin typeface="Arial"/>
              </a:rPr>
              <a:t>A caption file that passes every rule, an audio report (peak, RMS, voice-over-music margin), and three exported masters with burned-in captions — muxed to H.264/AAC when FFmpeg is installed.</a:t>
            </a:r>
          </a:p>
        </p:txBody>
      </p:sp>
      <p:sp>
        <p:nvSpPr>
          <p:cNvPr id="19" name="TextBox 18"/>
          <p:cNvSpPr txBox="1"/>
          <p:nvPr/>
        </p:nvSpPr>
        <p:spPr>
          <a:xfrm>
            <a:off x="777240" y="5623560"/>
            <a:ext cx="10607040" cy="685800"/>
          </a:xfrm>
          <a:prstGeom prst="rect">
            <a:avLst/>
          </a:prstGeom>
          <a:noFill/>
        </p:spPr>
        <p:txBody>
          <a:bodyPr wrap="square" anchor="t">
            <a:spAutoFit/>
          </a:bodyPr>
          <a:lstStyle/>
          <a:p>
            <a:pPr algn="l">
              <a:spcAft>
                <a:spcPts val="400"/>
              </a:spcAft>
            </a:pPr>
            <a:r>
              <a:rPr sz="1150" b="0">
                <a:solidFill>
                  <a:srgbClr val="5B6372"/>
                </a:solidFill>
                <a:latin typeface="Arial"/>
              </a:rPr>
              <a:t>LAB 11  ·  30 MIN · Python 3 · opencv-python · NumPy · optional FFmpeg · optional: a voice, music and editing tool</a:t>
            </a:r>
          </a:p>
          <a:p>
            <a:pPr algn="l">
              <a:spcAft>
                <a:spcPts val="400"/>
              </a:spcAft>
            </a:pPr>
            <a:r>
              <a:rPr sz="1150" b="0">
                <a:solidFill>
                  <a:srgbClr val="5B6372"/>
                </a:solidFill>
                <a:latin typeface="Arial"/>
              </a:rPr>
              <a:t>Detailed procedures and prompts: Learner Guide / labs/lab-11-sound-captions-final-export/README.md</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transition spd="fast">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700" b="1">
                <a:solidFill>
                  <a:srgbClr val="1F6FEB"/>
                </a:solidFill>
                <a:latin typeface="Arial"/>
              </a:rPr>
              <a:t>TOPIC 05</a:t>
            </a:r>
          </a:p>
        </p:txBody>
      </p:sp>
      <p:sp>
        <p:nvSpPr>
          <p:cNvPr id="6" name="TextBox 5"/>
          <p:cNvSpPr txBox="1"/>
          <p:nvPr/>
        </p:nvSpPr>
        <p:spPr>
          <a:xfrm>
            <a:off x="1143000" y="2743200"/>
            <a:ext cx="9144000" cy="1463040"/>
          </a:xfrm>
          <a:prstGeom prst="rect">
            <a:avLst/>
          </a:prstGeom>
          <a:noFill/>
        </p:spPr>
        <p:txBody>
          <a:bodyPr wrap="square" anchor="t">
            <a:spAutoFit/>
          </a:bodyPr>
          <a:lstStyle/>
          <a:p>
            <a:pPr algn="l">
              <a:spcAft>
                <a:spcPts val="400"/>
              </a:spcAft>
            </a:pPr>
            <a:r>
              <a:rPr sz="3000" b="1">
                <a:solidFill>
                  <a:srgbClr val="161B26"/>
                </a:solidFill>
                <a:latin typeface="Arial"/>
              </a:rPr>
              <a:t>Cloud and Edge AI Workflows for Short Film Production</a:t>
            </a:r>
          </a:p>
        </p:txBody>
      </p:sp>
      <p:sp>
        <p:nvSpPr>
          <p:cNvPr id="7" name="TextBox 6"/>
          <p:cNvSpPr txBox="1"/>
          <p:nvPr/>
        </p:nvSpPr>
        <p:spPr>
          <a:xfrm>
            <a:off x="1161288" y="4297680"/>
            <a:ext cx="9692640" cy="1280160"/>
          </a:xfrm>
          <a:prstGeom prst="rect">
            <a:avLst/>
          </a:prstGeom>
          <a:noFill/>
        </p:spPr>
        <p:txBody>
          <a:bodyPr wrap="square" anchor="t">
            <a:spAutoFit/>
          </a:bodyPr>
          <a:lstStyle/>
          <a:p>
            <a:pPr algn="l">
              <a:spcAft>
                <a:spcPts val="400"/>
              </a:spcAft>
            </a:pPr>
            <a:r>
              <a:rPr sz="1400" b="0">
                <a:solidFill>
                  <a:srgbClr val="5B6372"/>
                </a:solidFill>
                <a:latin typeface="Arial"/>
              </a:rPr>
              <a:t>The four-layer production architecture · all-in-one agents, multi-tool cloud pipelines and local open models · the protocols that move prompts, references and renders · cost, latency, privacy, likeness and disclosure constraints · measured cloud-versus-local trade-offs</a:t>
            </a:r>
          </a:p>
        </p:txBody>
      </p:sp>
      <p:sp>
        <p:nvSpPr>
          <p:cNvPr id="8" name="TextBox 7"/>
          <p:cNvSpPr txBox="1"/>
          <p:nvPr/>
        </p:nvSpPr>
        <p:spPr>
          <a:xfrm>
            <a:off x="9326880" y="640080"/>
            <a:ext cx="2377440" cy="1463040"/>
          </a:xfrm>
          <a:prstGeom prst="rect">
            <a:avLst/>
          </a:prstGeom>
          <a:noFill/>
        </p:spPr>
        <p:txBody>
          <a:bodyPr wrap="square" anchor="t">
            <a:spAutoFit/>
          </a:bodyPr>
          <a:lstStyle/>
          <a:p>
            <a:pPr algn="r">
              <a:spcAft>
                <a:spcPts val="400"/>
              </a:spcAft>
            </a:pPr>
            <a:r>
              <a:rPr sz="6800" b="1">
                <a:solidFill>
                  <a:srgbClr val="E2E8F0"/>
                </a:solidFill>
                <a:latin typeface="Arial"/>
              </a:rPr>
              <a:t>05</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transition spd="fast">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LU6 · ELO6 · K11, K12, K13, A7, A8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Key Concepts — Topic 05</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823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64336"/>
          </a:xfrm>
          <a:prstGeom prst="rect">
            <a:avLst/>
          </a:prstGeom>
          <a:noFill/>
        </p:spPr>
        <p:txBody>
          <a:bodyPr wrap="square" anchor="ctr">
            <a:spAutoFit/>
          </a:bodyPr>
          <a:lstStyle/>
          <a:p>
            <a:pPr algn="l">
              <a:spcAft>
                <a:spcPts val="200"/>
              </a:spcAft>
            </a:pPr>
            <a:r>
              <a:rPr sz="1350" b="1">
                <a:solidFill>
                  <a:srgbClr val="161B26"/>
                </a:solidFill>
                <a:latin typeface="Arial"/>
              </a:rPr>
              <a:t>A production system has four layers</a:t>
            </a:r>
          </a:p>
          <a:p>
            <a:pPr algn="l">
              <a:spcAft>
                <a:spcPts val="200"/>
              </a:spcAft>
            </a:pPr>
            <a:r>
              <a:rPr sz="1050" b="0">
                <a:solidFill>
                  <a:srgbClr val="5B6372"/>
                </a:solidFill>
                <a:latin typeface="Arial"/>
              </a:rPr>
              <a:t>Assets (script, references, voice, footage) -&gt; local/edge workstation (pre-processing, QA, edit, grade, optional local models) -&gt; cloud generation (image, video, voice and music services) -&gt; delivery (platforms, archive).</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8236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64336"/>
          </a:xfrm>
          <a:prstGeom prst="rect">
            <a:avLst/>
          </a:prstGeom>
          <a:noFill/>
        </p:spPr>
        <p:txBody>
          <a:bodyPr wrap="square" anchor="ctr">
            <a:spAutoFit/>
          </a:bodyPr>
          <a:lstStyle/>
          <a:p>
            <a:pPr algn="l">
              <a:spcAft>
                <a:spcPts val="200"/>
              </a:spcAft>
            </a:pPr>
            <a:r>
              <a:rPr sz="1350" b="1">
                <a:solidFill>
                  <a:srgbClr val="161B26"/>
                </a:solidFill>
                <a:latin typeface="Arial"/>
              </a:rPr>
              <a:t>Three workflow patterns, three control levels</a:t>
            </a:r>
          </a:p>
          <a:p>
            <a:pPr algn="l">
              <a:spcAft>
                <a:spcPts val="200"/>
              </a:spcAft>
            </a:pPr>
            <a:r>
              <a:rPr sz="1050" b="0">
                <a:solidFill>
                  <a:srgbClr val="5B6372"/>
                </a:solidFill>
                <a:latin typeface="Arial"/>
              </a:rPr>
              <a:t>An all-in-one agent turns one prompt and one photo into a finished drama. A multi-tool cloud pipeline chains planner, image, video, voice, music and editor. A local or hybrid pipeline runs open models on your own GPU.</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04616"/>
            <a:ext cx="4027932" cy="1164336"/>
          </a:xfrm>
          <a:prstGeom prst="rect">
            <a:avLst/>
          </a:prstGeom>
          <a:noFill/>
        </p:spPr>
        <p:txBody>
          <a:bodyPr wrap="square" anchor="ctr">
            <a:spAutoFit/>
          </a:bodyPr>
          <a:lstStyle/>
          <a:p>
            <a:pPr algn="l">
              <a:spcAft>
                <a:spcPts val="200"/>
              </a:spcAft>
            </a:pPr>
            <a:r>
              <a:rPr sz="1350" b="1">
                <a:solidFill>
                  <a:srgbClr val="161B26"/>
                </a:solidFill>
                <a:latin typeface="Arial"/>
              </a:rPr>
              <a:t>Protocols are chosen by payload and wait time</a:t>
            </a:r>
          </a:p>
          <a:p>
            <a:pPr algn="l">
              <a:spcAft>
                <a:spcPts val="200"/>
              </a:spcAft>
            </a:pPr>
            <a:r>
              <a:rPr sz="1050" b="0">
                <a:solidFill>
                  <a:srgbClr val="5B6372"/>
                </a:solidFill>
                <a:latin typeface="Arial"/>
              </a:rPr>
              <a:t>HTTPS + JSON to submit a job; a long-running operation you poll, or a webhook that calls you back; WebSocket progress events from a local node server; signed-URL uploads to object storage for references and renders; HLS for streaming delivery.</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04616"/>
            <a:ext cx="4027932" cy="1164336"/>
          </a:xfrm>
          <a:prstGeom prst="rect">
            <a:avLst/>
          </a:prstGeom>
          <a:noFill/>
        </p:spPr>
        <p:txBody>
          <a:bodyPr wrap="square" anchor="ctr">
            <a:spAutoFit/>
          </a:bodyPr>
          <a:lstStyle/>
          <a:p>
            <a:pPr algn="l">
              <a:spcAft>
                <a:spcPts val="200"/>
              </a:spcAft>
            </a:pPr>
            <a:r>
              <a:rPr sz="1350" b="1">
                <a:solidFill>
                  <a:srgbClr val="161B26"/>
                </a:solidFill>
                <a:latin typeface="Arial"/>
              </a:rPr>
              <a:t>Cost and time scale with shots x takes x seconds x resolution</a:t>
            </a:r>
          </a:p>
          <a:p>
            <a:pPr algn="l">
              <a:spcAft>
                <a:spcPts val="200"/>
              </a:spcAft>
            </a:pPr>
            <a:r>
              <a:rPr sz="1050" b="0">
                <a:solidFill>
                  <a:srgbClr val="5B6372"/>
                </a:solidFill>
                <a:latin typeface="Arial"/>
              </a:rPr>
              <a:t>Cost per finished minute = total credits spent / minutes that survive the edit. Explore at low resolution, generate extra takes only for dense action, and upscale only the keepers.</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256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34712"/>
            <a:ext cx="4027932" cy="1164336"/>
          </a:xfrm>
          <a:prstGeom prst="rect">
            <a:avLst/>
          </a:prstGeom>
          <a:noFill/>
        </p:spPr>
        <p:txBody>
          <a:bodyPr wrap="square" anchor="ctr">
            <a:spAutoFit/>
          </a:bodyPr>
          <a:lstStyle/>
          <a:p>
            <a:pPr algn="l">
              <a:spcAft>
                <a:spcPts val="200"/>
              </a:spcAft>
            </a:pPr>
            <a:r>
              <a:rPr sz="1350" b="1">
                <a:solidFill>
                  <a:srgbClr val="161B26"/>
                </a:solidFill>
                <a:latin typeface="Arial"/>
              </a:rPr>
              <a:t>Constraints are gates, not weights</a:t>
            </a:r>
          </a:p>
          <a:p>
            <a:pPr algn="l">
              <a:spcAft>
                <a:spcPts val="200"/>
              </a:spcAft>
            </a:pPr>
            <a:r>
              <a:rPr sz="1050" b="0">
                <a:solidFill>
                  <a:srgbClr val="5B6372"/>
                </a:solidFill>
                <a:latin typeface="Arial"/>
              </a:rPr>
              <a:t>Consent for any real face or voice, licence terms for commercial use, personal-data rules (PDPA), platform AI-content disclosure, provenance (C2PA, SynthID) and brand safety eliminate options before cost is argued.</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256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34712"/>
            <a:ext cx="4027932" cy="1164336"/>
          </a:xfrm>
          <a:prstGeom prst="rect">
            <a:avLst/>
          </a:prstGeom>
          <a:noFill/>
        </p:spPr>
        <p:txBody>
          <a:bodyPr wrap="square" anchor="ctr">
            <a:spAutoFit/>
          </a:bodyPr>
          <a:lstStyle/>
          <a:p>
            <a:pPr algn="l">
              <a:spcAft>
                <a:spcPts val="200"/>
              </a:spcAft>
            </a:pPr>
            <a:r>
              <a:rPr sz="1350" b="1">
                <a:solidFill>
                  <a:srgbClr val="161B26"/>
                </a:solidFill>
                <a:latin typeface="Arial"/>
              </a:rPr>
              <a:t>Local compute is bounded by memory</a:t>
            </a:r>
          </a:p>
          <a:p>
            <a:pPr algn="l">
              <a:spcAft>
                <a:spcPts val="200"/>
              </a:spcAft>
            </a:pPr>
            <a:r>
              <a:rPr sz="1050" b="0">
                <a:solidFill>
                  <a:srgbClr val="5B6372"/>
                </a:solidFill>
                <a:latin typeface="Arial"/>
              </a:rPr>
              <a:t>Weight memory = parameters x bytes per parameter; quantising from 32-bit to b-bit scales it by b/32. Local keeps data private and has no per-clip fee; cloud is faster to start, higher quality and needs no GPU.</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transition spd="fast">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7C3AED"/>
                </a:solidFill>
                <a:latin typeface="Arial"/>
              </a:rPr>
              <a:t>K11 · VISION SYSTEM ARCHITECTURE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 Short-Film Production System Has Four Layers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10512"/>
            <a:ext cx="7315200" cy="877824"/>
          </a:xfrm>
          <a:prstGeom prst="roundRect">
            <a:avLst/>
          </a:prstGeom>
          <a:solidFill>
            <a:srgbClr val="F5F8FC"/>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10512"/>
            <a:ext cx="2331720" cy="8778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23544" y="1810512"/>
            <a:ext cx="2103120" cy="877824"/>
          </a:xfrm>
          <a:prstGeom prst="rect">
            <a:avLst/>
          </a:prstGeom>
          <a:noFill/>
        </p:spPr>
        <p:txBody>
          <a:bodyPr wrap="square" anchor="ctr">
            <a:spAutoFit/>
          </a:bodyPr>
          <a:lstStyle/>
          <a:p>
            <a:pPr algn="l">
              <a:spcAft>
                <a:spcPts val="400"/>
              </a:spcAft>
            </a:pPr>
            <a:r>
              <a:rPr sz="1250" b="1">
                <a:solidFill>
                  <a:srgbClr val="FFFFFF"/>
                </a:solidFill>
                <a:latin typeface="Arial"/>
              </a:rPr>
              <a:t>ASSETS</a:t>
            </a:r>
          </a:p>
        </p:txBody>
      </p:sp>
      <p:sp>
        <p:nvSpPr>
          <p:cNvPr id="10" name="TextBox 9"/>
          <p:cNvSpPr txBox="1"/>
          <p:nvPr/>
        </p:nvSpPr>
        <p:spPr>
          <a:xfrm>
            <a:off x="3291840" y="1810512"/>
            <a:ext cx="4617720" cy="877824"/>
          </a:xfrm>
          <a:prstGeom prst="rect">
            <a:avLst/>
          </a:prstGeom>
          <a:noFill/>
        </p:spPr>
        <p:txBody>
          <a:bodyPr wrap="square" anchor="ctr">
            <a:spAutoFit/>
          </a:bodyPr>
          <a:lstStyle/>
          <a:p>
            <a:pPr algn="l">
              <a:spcAft>
                <a:spcPts val="400"/>
              </a:spcAft>
            </a:pPr>
            <a:r>
              <a:rPr sz="1200" b="0">
                <a:solidFill>
                  <a:srgbClr val="161B26"/>
                </a:solidFill>
                <a:latin typeface="Arial"/>
              </a:rPr>
              <a:t>Brief · script · element pack (sheets, plates, props) · voiceover · licences</a:t>
            </a:r>
          </a:p>
        </p:txBody>
      </p:sp>
      <p:cxnSp>
        <p:nvCxnSpPr>
          <p:cNvPr id="11" name="Connector 10"/>
          <p:cNvCxnSpPr/>
          <p:nvPr/>
        </p:nvCxnSpPr>
        <p:spPr>
          <a:xfrm>
            <a:off x="4434840" y="2688336"/>
            <a:ext cx="0" cy="201168"/>
          </a:xfrm>
          <a:prstGeom prst="line">
            <a:avLst/>
          </a:prstGeom>
          <a:ln w="1905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77240" y="2889504"/>
            <a:ext cx="7315200" cy="877824"/>
          </a:xfrm>
          <a:prstGeom prst="roundRect">
            <a:avLst/>
          </a:prstGeom>
          <a:solidFill>
            <a:srgbClr val="F5F8FC"/>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889504"/>
            <a:ext cx="2331720" cy="8778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3544" y="2889504"/>
            <a:ext cx="2103120" cy="877824"/>
          </a:xfrm>
          <a:prstGeom prst="rect">
            <a:avLst/>
          </a:prstGeom>
          <a:noFill/>
        </p:spPr>
        <p:txBody>
          <a:bodyPr wrap="square" anchor="ctr">
            <a:spAutoFit/>
          </a:bodyPr>
          <a:lstStyle/>
          <a:p>
            <a:pPr algn="l">
              <a:spcAft>
                <a:spcPts val="400"/>
              </a:spcAft>
            </a:pPr>
            <a:r>
              <a:rPr sz="1250" b="1">
                <a:solidFill>
                  <a:srgbClr val="FFFFFF"/>
                </a:solidFill>
                <a:latin typeface="Arial"/>
              </a:rPr>
              <a:t>LOCAL / EDGE</a:t>
            </a:r>
          </a:p>
        </p:txBody>
      </p:sp>
      <p:sp>
        <p:nvSpPr>
          <p:cNvPr id="15" name="TextBox 14"/>
          <p:cNvSpPr txBox="1"/>
          <p:nvPr/>
        </p:nvSpPr>
        <p:spPr>
          <a:xfrm>
            <a:off x="3291840" y="2889504"/>
            <a:ext cx="4617720" cy="877824"/>
          </a:xfrm>
          <a:prstGeom prst="rect">
            <a:avLst/>
          </a:prstGeom>
          <a:noFill/>
        </p:spPr>
        <p:txBody>
          <a:bodyPr wrap="square" anchor="ctr">
            <a:spAutoFit/>
          </a:bodyPr>
          <a:lstStyle/>
          <a:p>
            <a:pPr algn="l">
              <a:spcAft>
                <a:spcPts val="400"/>
              </a:spcAft>
            </a:pPr>
            <a:r>
              <a:rPr sz="1200" b="0">
                <a:solidFill>
                  <a:srgbClr val="161B26"/>
                </a:solidFill>
                <a:latin typeface="Arial"/>
              </a:rPr>
              <a:t>Workstation: QA analytics, grading, captions, mix, export; optional local open models</a:t>
            </a:r>
          </a:p>
        </p:txBody>
      </p:sp>
      <p:cxnSp>
        <p:nvCxnSpPr>
          <p:cNvPr id="16" name="Connector 15"/>
          <p:cNvCxnSpPr/>
          <p:nvPr/>
        </p:nvCxnSpPr>
        <p:spPr>
          <a:xfrm>
            <a:off x="4434840" y="3767328"/>
            <a:ext cx="0" cy="201168"/>
          </a:xfrm>
          <a:prstGeom prst="line">
            <a:avLst/>
          </a:prstGeom>
          <a:ln w="1905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77240" y="3968496"/>
            <a:ext cx="7315200" cy="877824"/>
          </a:xfrm>
          <a:prstGeom prst="roundRect">
            <a:avLst/>
          </a:prstGeom>
          <a:solidFill>
            <a:srgbClr val="F5F8FC"/>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968496"/>
            <a:ext cx="2331720" cy="8778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3544" y="3968496"/>
            <a:ext cx="2103120" cy="877824"/>
          </a:xfrm>
          <a:prstGeom prst="rect">
            <a:avLst/>
          </a:prstGeom>
          <a:noFill/>
        </p:spPr>
        <p:txBody>
          <a:bodyPr wrap="square" anchor="ctr">
            <a:spAutoFit/>
          </a:bodyPr>
          <a:lstStyle/>
          <a:p>
            <a:pPr algn="l">
              <a:spcAft>
                <a:spcPts val="400"/>
              </a:spcAft>
            </a:pPr>
            <a:r>
              <a:rPr sz="1250" b="1">
                <a:solidFill>
                  <a:srgbClr val="FFFFFF"/>
                </a:solidFill>
                <a:latin typeface="Arial"/>
              </a:rPr>
              <a:t>CLOUD GENERATION</a:t>
            </a:r>
          </a:p>
        </p:txBody>
      </p:sp>
      <p:sp>
        <p:nvSpPr>
          <p:cNvPr id="20" name="TextBox 19"/>
          <p:cNvSpPr txBox="1"/>
          <p:nvPr/>
        </p:nvSpPr>
        <p:spPr>
          <a:xfrm>
            <a:off x="3291840" y="3968496"/>
            <a:ext cx="4617720" cy="877824"/>
          </a:xfrm>
          <a:prstGeom prst="rect">
            <a:avLst/>
          </a:prstGeom>
          <a:noFill/>
        </p:spPr>
        <p:txBody>
          <a:bodyPr wrap="square" anchor="ctr">
            <a:spAutoFit/>
          </a:bodyPr>
          <a:lstStyle/>
          <a:p>
            <a:pPr algn="l">
              <a:spcAft>
                <a:spcPts val="400"/>
              </a:spcAft>
            </a:pPr>
            <a:r>
              <a:rPr sz="1200" b="0">
                <a:solidFill>
                  <a:srgbClr val="161B26"/>
                </a:solidFill>
                <a:latin typeface="Arial"/>
              </a:rPr>
              <a:t>Image, video, voice and music services called over the network</a:t>
            </a:r>
          </a:p>
        </p:txBody>
      </p:sp>
      <p:cxnSp>
        <p:nvCxnSpPr>
          <p:cNvPr id="21" name="Connector 20"/>
          <p:cNvCxnSpPr/>
          <p:nvPr/>
        </p:nvCxnSpPr>
        <p:spPr>
          <a:xfrm>
            <a:off x="4434840" y="4846320"/>
            <a:ext cx="0" cy="201168"/>
          </a:xfrm>
          <a:prstGeom prst="line">
            <a:avLst/>
          </a:prstGeom>
          <a:ln w="1905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 y="5047488"/>
            <a:ext cx="7315200" cy="877824"/>
          </a:xfrm>
          <a:prstGeom prst="roundRect">
            <a:avLst/>
          </a:prstGeom>
          <a:solidFill>
            <a:srgbClr val="F5F8FC"/>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047488"/>
            <a:ext cx="2331720" cy="87782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3544" y="5047488"/>
            <a:ext cx="2103120" cy="877824"/>
          </a:xfrm>
          <a:prstGeom prst="rect">
            <a:avLst/>
          </a:prstGeom>
          <a:noFill/>
        </p:spPr>
        <p:txBody>
          <a:bodyPr wrap="square" anchor="ctr">
            <a:spAutoFit/>
          </a:bodyPr>
          <a:lstStyle/>
          <a:p>
            <a:pPr algn="l">
              <a:spcAft>
                <a:spcPts val="400"/>
              </a:spcAft>
            </a:pPr>
            <a:r>
              <a:rPr sz="1250" b="1">
                <a:solidFill>
                  <a:srgbClr val="FFFFFF"/>
                </a:solidFill>
                <a:latin typeface="Arial"/>
              </a:rPr>
              <a:t>DELIVERY</a:t>
            </a:r>
          </a:p>
        </p:txBody>
      </p:sp>
      <p:sp>
        <p:nvSpPr>
          <p:cNvPr id="25" name="TextBox 24"/>
          <p:cNvSpPr txBox="1"/>
          <p:nvPr/>
        </p:nvSpPr>
        <p:spPr>
          <a:xfrm>
            <a:off x="3291840" y="5047488"/>
            <a:ext cx="4617720" cy="877824"/>
          </a:xfrm>
          <a:prstGeom prst="rect">
            <a:avLst/>
          </a:prstGeom>
          <a:noFill/>
        </p:spPr>
        <p:txBody>
          <a:bodyPr wrap="square" anchor="ctr">
            <a:spAutoFit/>
          </a:bodyPr>
          <a:lstStyle/>
          <a:p>
            <a:pPr algn="l">
              <a:spcAft>
                <a:spcPts val="400"/>
              </a:spcAft>
            </a:pPr>
            <a:r>
              <a:rPr sz="1200" b="0">
                <a:solidFill>
                  <a:srgbClr val="161B26"/>
                </a:solidFill>
                <a:latin typeface="Arial"/>
              </a:rPr>
              <a:t>Platforms, CDN streaming, client review links, archive with provenance</a:t>
            </a:r>
          </a:p>
        </p:txBody>
      </p:sp>
      <p:sp>
        <p:nvSpPr>
          <p:cNvPr id="26" name="Rectangle 25"/>
          <p:cNvSpPr/>
          <p:nvPr/>
        </p:nvSpPr>
        <p:spPr>
          <a:xfrm>
            <a:off x="8366760" y="1810512"/>
            <a:ext cx="3044952" cy="9052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366760" y="1810512"/>
            <a:ext cx="82296" cy="90525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67928" y="1810512"/>
            <a:ext cx="2679192" cy="905256"/>
          </a:xfrm>
          <a:prstGeom prst="rect">
            <a:avLst/>
          </a:prstGeom>
          <a:noFill/>
        </p:spPr>
        <p:txBody>
          <a:bodyPr wrap="square" anchor="ctr">
            <a:spAutoFit/>
          </a:bodyPr>
          <a:lstStyle/>
          <a:p>
            <a:pPr algn="l">
              <a:spcAft>
                <a:spcPts val="200"/>
              </a:spcAft>
            </a:pPr>
            <a:r>
              <a:rPr sz="1200" b="1">
                <a:solidFill>
                  <a:srgbClr val="1F6FEB"/>
                </a:solidFill>
                <a:latin typeface="Arial"/>
              </a:rPr>
              <a:t>Crosses up</a:t>
            </a:r>
          </a:p>
          <a:p>
            <a:pPr algn="l">
              <a:spcAft>
                <a:spcPts val="200"/>
              </a:spcAft>
            </a:pPr>
            <a:r>
              <a:rPr sz="1100" b="0">
                <a:solidFill>
                  <a:srgbClr val="161B26"/>
                </a:solidFill>
                <a:latin typeface="Arial"/>
              </a:rPr>
              <a:t>References, prompts, voice lines.</a:t>
            </a:r>
          </a:p>
        </p:txBody>
      </p:sp>
      <p:sp>
        <p:nvSpPr>
          <p:cNvPr id="29" name="Rectangle 28"/>
          <p:cNvSpPr/>
          <p:nvPr/>
        </p:nvSpPr>
        <p:spPr>
          <a:xfrm>
            <a:off x="8366760" y="2880360"/>
            <a:ext cx="3044952" cy="9052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366760" y="2880360"/>
            <a:ext cx="82296" cy="9052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67928" y="2880360"/>
            <a:ext cx="2679192" cy="905256"/>
          </a:xfrm>
          <a:prstGeom prst="rect">
            <a:avLst/>
          </a:prstGeom>
          <a:noFill/>
        </p:spPr>
        <p:txBody>
          <a:bodyPr wrap="square" anchor="ctr">
            <a:spAutoFit/>
          </a:bodyPr>
          <a:lstStyle/>
          <a:p>
            <a:pPr algn="l">
              <a:spcAft>
                <a:spcPts val="200"/>
              </a:spcAft>
            </a:pPr>
            <a:r>
              <a:rPr sz="1200" b="1">
                <a:solidFill>
                  <a:srgbClr val="10B981"/>
                </a:solidFill>
                <a:latin typeface="Arial"/>
              </a:rPr>
              <a:t>Crosses down</a:t>
            </a:r>
          </a:p>
          <a:p>
            <a:pPr algn="l">
              <a:spcAft>
                <a:spcPts val="200"/>
              </a:spcAft>
            </a:pPr>
            <a:r>
              <a:rPr sz="1100" b="0">
                <a:solidFill>
                  <a:srgbClr val="161B26"/>
                </a:solidFill>
                <a:latin typeface="Arial"/>
              </a:rPr>
              <a:t>Generated clips, audio, operation status.</a:t>
            </a:r>
          </a:p>
        </p:txBody>
      </p:sp>
      <p:sp>
        <p:nvSpPr>
          <p:cNvPr id="32" name="Rectangle 31"/>
          <p:cNvSpPr/>
          <p:nvPr/>
        </p:nvSpPr>
        <p:spPr>
          <a:xfrm>
            <a:off x="8366760" y="3950208"/>
            <a:ext cx="3044952" cy="9052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366760" y="3950208"/>
            <a:ext cx="82296" cy="90525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567928" y="3950208"/>
            <a:ext cx="2679192" cy="905256"/>
          </a:xfrm>
          <a:prstGeom prst="rect">
            <a:avLst/>
          </a:prstGeom>
          <a:noFill/>
        </p:spPr>
        <p:txBody>
          <a:bodyPr wrap="square" anchor="ctr">
            <a:spAutoFit/>
          </a:bodyPr>
          <a:lstStyle/>
          <a:p>
            <a:pPr algn="l">
              <a:spcAft>
                <a:spcPts val="200"/>
              </a:spcAft>
            </a:pPr>
            <a:r>
              <a:rPr sz="1200" b="1">
                <a:solidFill>
                  <a:srgbClr val="7C3AED"/>
                </a:solidFill>
                <a:latin typeface="Arial"/>
              </a:rPr>
              <a:t>Stays local</a:t>
            </a:r>
          </a:p>
          <a:p>
            <a:pPr algn="l">
              <a:spcAft>
                <a:spcPts val="200"/>
              </a:spcAft>
            </a:pPr>
            <a:r>
              <a:rPr sz="1100" b="0">
                <a:solidFill>
                  <a:srgbClr val="161B26"/>
                </a:solidFill>
                <a:latin typeface="Arial"/>
              </a:rPr>
              <a:t>Personal data, unreleased cuts, QA.</a:t>
            </a:r>
          </a:p>
        </p:txBody>
      </p:sp>
      <p:sp>
        <p:nvSpPr>
          <p:cNvPr id="35" name="Rectangle 34"/>
          <p:cNvSpPr/>
          <p:nvPr/>
        </p:nvSpPr>
        <p:spPr>
          <a:xfrm>
            <a:off x="8366760" y="5020056"/>
            <a:ext cx="3044952" cy="9052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366760" y="5020056"/>
            <a:ext cx="82296" cy="90525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567928" y="5020056"/>
            <a:ext cx="2679192" cy="905256"/>
          </a:xfrm>
          <a:prstGeom prst="rect">
            <a:avLst/>
          </a:prstGeom>
          <a:noFill/>
        </p:spPr>
        <p:txBody>
          <a:bodyPr wrap="square" anchor="ctr">
            <a:spAutoFit/>
          </a:bodyPr>
          <a:lstStyle/>
          <a:p>
            <a:pPr algn="l">
              <a:spcAft>
                <a:spcPts val="200"/>
              </a:spcAft>
            </a:pPr>
            <a:r>
              <a:rPr sz="1200" b="1">
                <a:solidFill>
                  <a:srgbClr val="F59E0B"/>
                </a:solidFill>
                <a:latin typeface="Arial"/>
              </a:rPr>
              <a:t>Goes out</a:t>
            </a:r>
          </a:p>
          <a:p>
            <a:pPr algn="l">
              <a:spcAft>
                <a:spcPts val="200"/>
              </a:spcAft>
            </a:pPr>
            <a:r>
              <a:rPr sz="1100" b="0">
                <a:solidFill>
                  <a:srgbClr val="161B26"/>
                </a:solidFill>
                <a:latin typeface="Arial"/>
              </a:rPr>
              <a:t>Approved masters with disclosure.</a:t>
            </a:r>
          </a:p>
        </p:txBody>
      </p:sp>
      <p:sp>
        <p:nvSpPr>
          <p:cNvPr id="38" name="TextBox 37"/>
          <p:cNvSpPr txBox="1"/>
          <p:nvPr/>
        </p:nvSpPr>
        <p:spPr>
          <a:xfrm>
            <a:off x="777240" y="5989320"/>
            <a:ext cx="10634472" cy="457200"/>
          </a:xfrm>
          <a:prstGeom prst="rect">
            <a:avLst/>
          </a:prstGeom>
          <a:noFill/>
        </p:spPr>
        <p:txBody>
          <a:bodyPr wrap="square" anchor="ctr">
            <a:spAutoFit/>
          </a:bodyPr>
          <a:lstStyle/>
          <a:p>
            <a:pPr algn="ctr">
              <a:spcAft>
                <a:spcPts val="400"/>
              </a:spcAft>
            </a:pPr>
            <a:r>
              <a:rPr sz="1250" b="0">
                <a:solidFill>
                  <a:srgbClr val="5B6372"/>
                </a:solidFill>
                <a:latin typeface="Arial"/>
              </a:rPr>
              <a:t>The design decision is the split: which stages run locally and which in the cloud — and what data crosses each boundary.</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transition spd="fast">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A7 · DESIGN THE ARCHITECTURE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Three Workflow Architectures Compared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339583" cy="6335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2156703" cy="633548"/>
          </a:xfrm>
          <a:prstGeom prst="rect">
            <a:avLst/>
          </a:prstGeom>
          <a:noFill/>
        </p:spPr>
        <p:txBody>
          <a:bodyPr wrap="square" anchor="ctr">
            <a:spAutoFit/>
          </a:bodyPr>
          <a:lstStyle/>
          <a:p>
            <a:pPr algn="l">
              <a:spcAft>
                <a:spcPts val="400"/>
              </a:spcAft>
            </a:pPr>
            <a:r>
              <a:rPr sz="1100" b="1">
                <a:solidFill>
                  <a:srgbClr val="FFFFFF"/>
                </a:solidFill>
                <a:latin typeface="Arial"/>
              </a:rPr>
              <a:t/>
            </a:r>
          </a:p>
        </p:txBody>
      </p:sp>
      <p:sp>
        <p:nvSpPr>
          <p:cNvPr id="9" name="Rectangle 8"/>
          <p:cNvSpPr/>
          <p:nvPr/>
        </p:nvSpPr>
        <p:spPr>
          <a:xfrm>
            <a:off x="3116823" y="1783080"/>
            <a:ext cx="2339583" cy="6335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26551" y="1783080"/>
            <a:ext cx="2156703" cy="633548"/>
          </a:xfrm>
          <a:prstGeom prst="rect">
            <a:avLst/>
          </a:prstGeom>
          <a:noFill/>
        </p:spPr>
        <p:txBody>
          <a:bodyPr wrap="square" anchor="ctr">
            <a:spAutoFit/>
          </a:bodyPr>
          <a:lstStyle/>
          <a:p>
            <a:pPr algn="l">
              <a:spcAft>
                <a:spcPts val="400"/>
              </a:spcAft>
            </a:pPr>
            <a:r>
              <a:rPr sz="1100" b="1">
                <a:solidFill>
                  <a:srgbClr val="FFFFFF"/>
                </a:solidFill>
                <a:latin typeface="Arial"/>
              </a:rPr>
              <a:t>All-in-one agent</a:t>
            </a:r>
          </a:p>
        </p:txBody>
      </p:sp>
      <p:sp>
        <p:nvSpPr>
          <p:cNvPr id="11" name="Rectangle 10"/>
          <p:cNvSpPr/>
          <p:nvPr/>
        </p:nvSpPr>
        <p:spPr>
          <a:xfrm>
            <a:off x="5456406" y="1783080"/>
            <a:ext cx="3190341" cy="6335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66134" y="1783080"/>
            <a:ext cx="3007461" cy="633548"/>
          </a:xfrm>
          <a:prstGeom prst="rect">
            <a:avLst/>
          </a:prstGeom>
          <a:noFill/>
        </p:spPr>
        <p:txBody>
          <a:bodyPr wrap="square" anchor="ctr">
            <a:spAutoFit/>
          </a:bodyPr>
          <a:lstStyle/>
          <a:p>
            <a:pPr algn="l">
              <a:spcAft>
                <a:spcPts val="400"/>
              </a:spcAft>
            </a:pPr>
            <a:r>
              <a:rPr sz="1100" b="1">
                <a:solidFill>
                  <a:srgbClr val="FFFFFF"/>
                </a:solidFill>
                <a:latin typeface="Arial"/>
              </a:rPr>
              <a:t>Multi-tool cloud pipeline</a:t>
            </a:r>
          </a:p>
        </p:txBody>
      </p:sp>
      <p:sp>
        <p:nvSpPr>
          <p:cNvPr id="13" name="Rectangle 12"/>
          <p:cNvSpPr/>
          <p:nvPr/>
        </p:nvSpPr>
        <p:spPr>
          <a:xfrm>
            <a:off x="8646747" y="1783080"/>
            <a:ext cx="2764962" cy="6335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56475" y="1783080"/>
            <a:ext cx="2582082" cy="633548"/>
          </a:xfrm>
          <a:prstGeom prst="rect">
            <a:avLst/>
          </a:prstGeom>
          <a:noFill/>
        </p:spPr>
        <p:txBody>
          <a:bodyPr wrap="square" anchor="ctr">
            <a:spAutoFit/>
          </a:bodyPr>
          <a:lstStyle/>
          <a:p>
            <a:pPr algn="l">
              <a:spcAft>
                <a:spcPts val="400"/>
              </a:spcAft>
            </a:pPr>
            <a:r>
              <a:rPr sz="1100" b="1">
                <a:solidFill>
                  <a:srgbClr val="FFFFFF"/>
                </a:solidFill>
                <a:latin typeface="Arial"/>
              </a:rPr>
              <a:t>Hybrid / local</a:t>
            </a:r>
          </a:p>
        </p:txBody>
      </p:sp>
      <p:sp>
        <p:nvSpPr>
          <p:cNvPr id="15" name="Rectangle 14"/>
          <p:cNvSpPr/>
          <p:nvPr/>
        </p:nvSpPr>
        <p:spPr>
          <a:xfrm>
            <a:off x="777240" y="2416628"/>
            <a:ext cx="2339583" cy="6335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6968" y="2416628"/>
            <a:ext cx="2156703" cy="633548"/>
          </a:xfrm>
          <a:prstGeom prst="rect">
            <a:avLst/>
          </a:prstGeom>
          <a:noFill/>
        </p:spPr>
        <p:txBody>
          <a:bodyPr wrap="square" anchor="ctr">
            <a:spAutoFit/>
          </a:bodyPr>
          <a:lstStyle/>
          <a:p>
            <a:pPr algn="l">
              <a:spcAft>
                <a:spcPts val="400"/>
              </a:spcAft>
            </a:pPr>
            <a:r>
              <a:rPr sz="1000" b="1">
                <a:solidFill>
                  <a:srgbClr val="161B26"/>
                </a:solidFill>
                <a:latin typeface="Arial"/>
              </a:rPr>
              <a:t>Control per shot</a:t>
            </a:r>
          </a:p>
        </p:txBody>
      </p:sp>
      <p:sp>
        <p:nvSpPr>
          <p:cNvPr id="17" name="Rectangle 16"/>
          <p:cNvSpPr/>
          <p:nvPr/>
        </p:nvSpPr>
        <p:spPr>
          <a:xfrm>
            <a:off x="3116823" y="2416628"/>
            <a:ext cx="2339583" cy="6335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26551" y="2416628"/>
            <a:ext cx="2156703" cy="633548"/>
          </a:xfrm>
          <a:prstGeom prst="rect">
            <a:avLst/>
          </a:prstGeom>
          <a:noFill/>
        </p:spPr>
        <p:txBody>
          <a:bodyPr wrap="square" anchor="ctr">
            <a:spAutoFit/>
          </a:bodyPr>
          <a:lstStyle/>
          <a:p>
            <a:pPr algn="l">
              <a:spcAft>
                <a:spcPts val="400"/>
              </a:spcAft>
            </a:pPr>
            <a:r>
              <a:rPr sz="1000" b="0">
                <a:solidFill>
                  <a:srgbClr val="161B26"/>
                </a:solidFill>
                <a:latin typeface="Arial"/>
              </a:rPr>
              <a:t>Low</a:t>
            </a:r>
          </a:p>
        </p:txBody>
      </p:sp>
      <p:sp>
        <p:nvSpPr>
          <p:cNvPr id="19" name="Rectangle 18"/>
          <p:cNvSpPr/>
          <p:nvPr/>
        </p:nvSpPr>
        <p:spPr>
          <a:xfrm>
            <a:off x="5456406" y="2416628"/>
            <a:ext cx="3190341" cy="6335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566134" y="2416628"/>
            <a:ext cx="3007461" cy="633548"/>
          </a:xfrm>
          <a:prstGeom prst="rect">
            <a:avLst/>
          </a:prstGeom>
          <a:noFill/>
        </p:spPr>
        <p:txBody>
          <a:bodyPr wrap="square" anchor="ctr">
            <a:spAutoFit/>
          </a:bodyPr>
          <a:lstStyle/>
          <a:p>
            <a:pPr algn="l">
              <a:spcAft>
                <a:spcPts val="400"/>
              </a:spcAft>
            </a:pPr>
            <a:r>
              <a:rPr sz="1000" b="0">
                <a:solidFill>
                  <a:srgbClr val="161B26"/>
                </a:solidFill>
                <a:latin typeface="Arial"/>
              </a:rPr>
              <a:t>High</a:t>
            </a:r>
          </a:p>
        </p:txBody>
      </p:sp>
      <p:sp>
        <p:nvSpPr>
          <p:cNvPr id="21" name="Rectangle 20"/>
          <p:cNvSpPr/>
          <p:nvPr/>
        </p:nvSpPr>
        <p:spPr>
          <a:xfrm>
            <a:off x="8646747" y="2416628"/>
            <a:ext cx="2764962" cy="6335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756475" y="2416628"/>
            <a:ext cx="2582082" cy="633548"/>
          </a:xfrm>
          <a:prstGeom prst="rect">
            <a:avLst/>
          </a:prstGeom>
          <a:noFill/>
        </p:spPr>
        <p:txBody>
          <a:bodyPr wrap="square" anchor="ctr">
            <a:spAutoFit/>
          </a:bodyPr>
          <a:lstStyle/>
          <a:p>
            <a:pPr algn="l">
              <a:spcAft>
                <a:spcPts val="400"/>
              </a:spcAft>
            </a:pPr>
            <a:r>
              <a:rPr sz="1000" b="0">
                <a:solidFill>
                  <a:srgbClr val="161B26"/>
                </a:solidFill>
                <a:latin typeface="Arial"/>
              </a:rPr>
              <a:t>High</a:t>
            </a:r>
          </a:p>
        </p:txBody>
      </p:sp>
      <p:sp>
        <p:nvSpPr>
          <p:cNvPr id="23" name="Rectangle 22"/>
          <p:cNvSpPr/>
          <p:nvPr/>
        </p:nvSpPr>
        <p:spPr>
          <a:xfrm>
            <a:off x="777240" y="3050176"/>
            <a:ext cx="2339583" cy="6335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6968" y="3050176"/>
            <a:ext cx="2156703" cy="633548"/>
          </a:xfrm>
          <a:prstGeom prst="rect">
            <a:avLst/>
          </a:prstGeom>
          <a:noFill/>
        </p:spPr>
        <p:txBody>
          <a:bodyPr wrap="square" anchor="ctr">
            <a:spAutoFit/>
          </a:bodyPr>
          <a:lstStyle/>
          <a:p>
            <a:pPr algn="l">
              <a:spcAft>
                <a:spcPts val="400"/>
              </a:spcAft>
            </a:pPr>
            <a:r>
              <a:rPr sz="1000" b="1">
                <a:solidFill>
                  <a:srgbClr val="161B26"/>
                </a:solidFill>
                <a:latin typeface="Arial"/>
              </a:rPr>
              <a:t>Speed to first draft</a:t>
            </a:r>
          </a:p>
        </p:txBody>
      </p:sp>
      <p:sp>
        <p:nvSpPr>
          <p:cNvPr id="25" name="Rectangle 24"/>
          <p:cNvSpPr/>
          <p:nvPr/>
        </p:nvSpPr>
        <p:spPr>
          <a:xfrm>
            <a:off x="3116823" y="3050176"/>
            <a:ext cx="2339583" cy="6335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26551" y="3050176"/>
            <a:ext cx="2156703" cy="633548"/>
          </a:xfrm>
          <a:prstGeom prst="rect">
            <a:avLst/>
          </a:prstGeom>
          <a:noFill/>
        </p:spPr>
        <p:txBody>
          <a:bodyPr wrap="square" anchor="ctr">
            <a:spAutoFit/>
          </a:bodyPr>
          <a:lstStyle/>
          <a:p>
            <a:pPr algn="l">
              <a:spcAft>
                <a:spcPts val="400"/>
              </a:spcAft>
            </a:pPr>
            <a:r>
              <a:rPr sz="1000" b="0">
                <a:solidFill>
                  <a:srgbClr val="161B26"/>
                </a:solidFill>
                <a:latin typeface="Arial"/>
              </a:rPr>
              <a:t>Minutes</a:t>
            </a:r>
          </a:p>
        </p:txBody>
      </p:sp>
      <p:sp>
        <p:nvSpPr>
          <p:cNvPr id="27" name="Rectangle 26"/>
          <p:cNvSpPr/>
          <p:nvPr/>
        </p:nvSpPr>
        <p:spPr>
          <a:xfrm>
            <a:off x="5456406" y="3050176"/>
            <a:ext cx="3190341" cy="6335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566134" y="3050176"/>
            <a:ext cx="3007461" cy="633548"/>
          </a:xfrm>
          <a:prstGeom prst="rect">
            <a:avLst/>
          </a:prstGeom>
          <a:noFill/>
        </p:spPr>
        <p:txBody>
          <a:bodyPr wrap="square" anchor="ctr">
            <a:spAutoFit/>
          </a:bodyPr>
          <a:lstStyle/>
          <a:p>
            <a:pPr algn="l">
              <a:spcAft>
                <a:spcPts val="400"/>
              </a:spcAft>
            </a:pPr>
            <a:r>
              <a:rPr sz="1000" b="0">
                <a:solidFill>
                  <a:srgbClr val="161B26"/>
                </a:solidFill>
                <a:latin typeface="Arial"/>
              </a:rPr>
              <a:t>Hours</a:t>
            </a:r>
          </a:p>
        </p:txBody>
      </p:sp>
      <p:sp>
        <p:nvSpPr>
          <p:cNvPr id="29" name="Rectangle 28"/>
          <p:cNvSpPr/>
          <p:nvPr/>
        </p:nvSpPr>
        <p:spPr>
          <a:xfrm>
            <a:off x="8646747" y="3050176"/>
            <a:ext cx="2764962" cy="6335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756475" y="3050176"/>
            <a:ext cx="2582082" cy="633548"/>
          </a:xfrm>
          <a:prstGeom prst="rect">
            <a:avLst/>
          </a:prstGeom>
          <a:noFill/>
        </p:spPr>
        <p:txBody>
          <a:bodyPr wrap="square" anchor="ctr">
            <a:spAutoFit/>
          </a:bodyPr>
          <a:lstStyle/>
          <a:p>
            <a:pPr algn="l">
              <a:spcAft>
                <a:spcPts val="400"/>
              </a:spcAft>
            </a:pPr>
            <a:r>
              <a:rPr sz="1000" b="0">
                <a:solidFill>
                  <a:srgbClr val="161B26"/>
                </a:solidFill>
                <a:latin typeface="Arial"/>
              </a:rPr>
              <a:t>Hours</a:t>
            </a:r>
          </a:p>
        </p:txBody>
      </p:sp>
      <p:sp>
        <p:nvSpPr>
          <p:cNvPr id="31" name="Rectangle 30"/>
          <p:cNvSpPr/>
          <p:nvPr/>
        </p:nvSpPr>
        <p:spPr>
          <a:xfrm>
            <a:off x="777240" y="3683724"/>
            <a:ext cx="2339583" cy="6335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3683724"/>
            <a:ext cx="2156703" cy="633548"/>
          </a:xfrm>
          <a:prstGeom prst="rect">
            <a:avLst/>
          </a:prstGeom>
          <a:noFill/>
        </p:spPr>
        <p:txBody>
          <a:bodyPr wrap="square" anchor="ctr">
            <a:spAutoFit/>
          </a:bodyPr>
          <a:lstStyle/>
          <a:p>
            <a:pPr algn="l">
              <a:spcAft>
                <a:spcPts val="400"/>
              </a:spcAft>
            </a:pPr>
            <a:r>
              <a:rPr sz="1000" b="1">
                <a:solidFill>
                  <a:srgbClr val="161B26"/>
                </a:solidFill>
                <a:latin typeface="Arial"/>
              </a:rPr>
              <a:t>Consistency tools</a:t>
            </a:r>
          </a:p>
        </p:txBody>
      </p:sp>
      <p:sp>
        <p:nvSpPr>
          <p:cNvPr id="33" name="Rectangle 32"/>
          <p:cNvSpPr/>
          <p:nvPr/>
        </p:nvSpPr>
        <p:spPr>
          <a:xfrm>
            <a:off x="3116823" y="3683724"/>
            <a:ext cx="2339583" cy="6335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226551" y="3683724"/>
            <a:ext cx="2156703" cy="633548"/>
          </a:xfrm>
          <a:prstGeom prst="rect">
            <a:avLst/>
          </a:prstGeom>
          <a:noFill/>
        </p:spPr>
        <p:txBody>
          <a:bodyPr wrap="square" anchor="ctr">
            <a:spAutoFit/>
          </a:bodyPr>
          <a:lstStyle/>
          <a:p>
            <a:pPr algn="l">
              <a:spcAft>
                <a:spcPts val="400"/>
              </a:spcAft>
            </a:pPr>
            <a:r>
              <a:rPr sz="1000" b="0">
                <a:solidFill>
                  <a:srgbClr val="161B26"/>
                </a:solidFill>
                <a:latin typeface="Arial"/>
              </a:rPr>
              <a:t>Agent's own</a:t>
            </a:r>
          </a:p>
        </p:txBody>
      </p:sp>
      <p:sp>
        <p:nvSpPr>
          <p:cNvPr id="35" name="Rectangle 34"/>
          <p:cNvSpPr/>
          <p:nvPr/>
        </p:nvSpPr>
        <p:spPr>
          <a:xfrm>
            <a:off x="5456406" y="3683724"/>
            <a:ext cx="3190341" cy="6335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566134" y="3683724"/>
            <a:ext cx="3007461" cy="633548"/>
          </a:xfrm>
          <a:prstGeom prst="rect">
            <a:avLst/>
          </a:prstGeom>
          <a:noFill/>
        </p:spPr>
        <p:txBody>
          <a:bodyPr wrap="square" anchor="ctr">
            <a:spAutoFit/>
          </a:bodyPr>
          <a:lstStyle/>
          <a:p>
            <a:pPr algn="l">
              <a:spcAft>
                <a:spcPts val="400"/>
              </a:spcAft>
            </a:pPr>
            <a:r>
              <a:rPr sz="1000" b="0">
                <a:solidFill>
                  <a:srgbClr val="161B26"/>
                </a:solidFill>
                <a:latin typeface="Arial"/>
              </a:rPr>
              <a:t>Elements, start/end frames, extension</a:t>
            </a:r>
          </a:p>
        </p:txBody>
      </p:sp>
      <p:sp>
        <p:nvSpPr>
          <p:cNvPr id="37" name="Rectangle 36"/>
          <p:cNvSpPr/>
          <p:nvPr/>
        </p:nvSpPr>
        <p:spPr>
          <a:xfrm>
            <a:off x="8646747" y="3683724"/>
            <a:ext cx="2764962" cy="6335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756475" y="3683724"/>
            <a:ext cx="2582082" cy="633548"/>
          </a:xfrm>
          <a:prstGeom prst="rect">
            <a:avLst/>
          </a:prstGeom>
          <a:noFill/>
        </p:spPr>
        <p:txBody>
          <a:bodyPr wrap="square" anchor="ctr">
            <a:spAutoFit/>
          </a:bodyPr>
          <a:lstStyle/>
          <a:p>
            <a:pPr algn="l">
              <a:spcAft>
                <a:spcPts val="400"/>
              </a:spcAft>
            </a:pPr>
            <a:r>
              <a:rPr sz="1000" b="0">
                <a:solidFill>
                  <a:srgbClr val="161B26"/>
                </a:solidFill>
                <a:latin typeface="Arial"/>
              </a:rPr>
              <a:t>Same + local QA</a:t>
            </a:r>
          </a:p>
        </p:txBody>
      </p:sp>
      <p:sp>
        <p:nvSpPr>
          <p:cNvPr id="39" name="Rectangle 38"/>
          <p:cNvSpPr/>
          <p:nvPr/>
        </p:nvSpPr>
        <p:spPr>
          <a:xfrm>
            <a:off x="777240" y="4317272"/>
            <a:ext cx="2339583" cy="6335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86968" y="4317272"/>
            <a:ext cx="2156703" cy="633548"/>
          </a:xfrm>
          <a:prstGeom prst="rect">
            <a:avLst/>
          </a:prstGeom>
          <a:noFill/>
        </p:spPr>
        <p:txBody>
          <a:bodyPr wrap="square" anchor="ctr">
            <a:spAutoFit/>
          </a:bodyPr>
          <a:lstStyle/>
          <a:p>
            <a:pPr algn="l">
              <a:spcAft>
                <a:spcPts val="400"/>
              </a:spcAft>
            </a:pPr>
            <a:r>
              <a:rPr sz="1000" b="1">
                <a:solidFill>
                  <a:srgbClr val="161B26"/>
                </a:solidFill>
                <a:latin typeface="Arial"/>
              </a:rPr>
              <a:t>Data leaves premises</a:t>
            </a:r>
          </a:p>
        </p:txBody>
      </p:sp>
      <p:sp>
        <p:nvSpPr>
          <p:cNvPr id="41" name="Rectangle 40"/>
          <p:cNvSpPr/>
          <p:nvPr/>
        </p:nvSpPr>
        <p:spPr>
          <a:xfrm>
            <a:off x="3116823" y="4317272"/>
            <a:ext cx="2339583" cy="6335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226551" y="4317272"/>
            <a:ext cx="2156703" cy="633548"/>
          </a:xfrm>
          <a:prstGeom prst="rect">
            <a:avLst/>
          </a:prstGeom>
          <a:noFill/>
        </p:spPr>
        <p:txBody>
          <a:bodyPr wrap="square" anchor="ctr">
            <a:spAutoFit/>
          </a:bodyPr>
          <a:lstStyle/>
          <a:p>
            <a:pPr algn="l">
              <a:spcAft>
                <a:spcPts val="400"/>
              </a:spcAft>
            </a:pPr>
            <a:r>
              <a:rPr sz="1000" b="0">
                <a:solidFill>
                  <a:srgbClr val="161B26"/>
                </a:solidFill>
                <a:latin typeface="Arial"/>
              </a:rPr>
              <a:t>Yes</a:t>
            </a:r>
          </a:p>
        </p:txBody>
      </p:sp>
      <p:sp>
        <p:nvSpPr>
          <p:cNvPr id="43" name="Rectangle 42"/>
          <p:cNvSpPr/>
          <p:nvPr/>
        </p:nvSpPr>
        <p:spPr>
          <a:xfrm>
            <a:off x="5456406" y="4317272"/>
            <a:ext cx="3190341" cy="6335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566134" y="4317272"/>
            <a:ext cx="3007461" cy="633548"/>
          </a:xfrm>
          <a:prstGeom prst="rect">
            <a:avLst/>
          </a:prstGeom>
          <a:noFill/>
        </p:spPr>
        <p:txBody>
          <a:bodyPr wrap="square" anchor="ctr">
            <a:spAutoFit/>
          </a:bodyPr>
          <a:lstStyle/>
          <a:p>
            <a:pPr algn="l">
              <a:spcAft>
                <a:spcPts val="400"/>
              </a:spcAft>
            </a:pPr>
            <a:r>
              <a:rPr sz="1000" b="0">
                <a:solidFill>
                  <a:srgbClr val="161B26"/>
                </a:solidFill>
                <a:latin typeface="Arial"/>
              </a:rPr>
              <a:t>Yes</a:t>
            </a:r>
          </a:p>
        </p:txBody>
      </p:sp>
      <p:sp>
        <p:nvSpPr>
          <p:cNvPr id="45" name="Rectangle 44"/>
          <p:cNvSpPr/>
          <p:nvPr/>
        </p:nvSpPr>
        <p:spPr>
          <a:xfrm>
            <a:off x="8646747" y="4317272"/>
            <a:ext cx="2764962" cy="6335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756475" y="4317272"/>
            <a:ext cx="2582082" cy="633548"/>
          </a:xfrm>
          <a:prstGeom prst="rect">
            <a:avLst/>
          </a:prstGeom>
          <a:noFill/>
        </p:spPr>
        <p:txBody>
          <a:bodyPr wrap="square" anchor="ctr">
            <a:spAutoFit/>
          </a:bodyPr>
          <a:lstStyle/>
          <a:p>
            <a:pPr algn="l">
              <a:spcAft>
                <a:spcPts val="400"/>
              </a:spcAft>
            </a:pPr>
            <a:r>
              <a:rPr sz="1000" b="0">
                <a:solidFill>
                  <a:srgbClr val="161B26"/>
                </a:solidFill>
                <a:latin typeface="Arial"/>
              </a:rPr>
              <a:t>Only what you send</a:t>
            </a:r>
          </a:p>
        </p:txBody>
      </p:sp>
      <p:sp>
        <p:nvSpPr>
          <p:cNvPr id="47" name="Rectangle 46"/>
          <p:cNvSpPr/>
          <p:nvPr/>
        </p:nvSpPr>
        <p:spPr>
          <a:xfrm>
            <a:off x="777240" y="4950820"/>
            <a:ext cx="2339583" cy="6335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86968" y="4950820"/>
            <a:ext cx="2156703" cy="633548"/>
          </a:xfrm>
          <a:prstGeom prst="rect">
            <a:avLst/>
          </a:prstGeom>
          <a:noFill/>
        </p:spPr>
        <p:txBody>
          <a:bodyPr wrap="square" anchor="ctr">
            <a:spAutoFit/>
          </a:bodyPr>
          <a:lstStyle/>
          <a:p>
            <a:pPr algn="l">
              <a:spcAft>
                <a:spcPts val="400"/>
              </a:spcAft>
            </a:pPr>
            <a:r>
              <a:rPr sz="1000" b="1">
                <a:solidFill>
                  <a:srgbClr val="161B26"/>
                </a:solidFill>
                <a:latin typeface="Arial"/>
              </a:rPr>
              <a:t>Skills needed</a:t>
            </a:r>
          </a:p>
        </p:txBody>
      </p:sp>
      <p:sp>
        <p:nvSpPr>
          <p:cNvPr id="49" name="Rectangle 48"/>
          <p:cNvSpPr/>
          <p:nvPr/>
        </p:nvSpPr>
        <p:spPr>
          <a:xfrm>
            <a:off x="3116823" y="4950820"/>
            <a:ext cx="2339583" cy="6335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226551" y="4950820"/>
            <a:ext cx="2156703" cy="633548"/>
          </a:xfrm>
          <a:prstGeom prst="rect">
            <a:avLst/>
          </a:prstGeom>
          <a:noFill/>
        </p:spPr>
        <p:txBody>
          <a:bodyPr wrap="square" anchor="ctr">
            <a:spAutoFit/>
          </a:bodyPr>
          <a:lstStyle/>
          <a:p>
            <a:pPr algn="l">
              <a:spcAft>
                <a:spcPts val="400"/>
              </a:spcAft>
            </a:pPr>
            <a:r>
              <a:rPr sz="1000" b="0">
                <a:solidFill>
                  <a:srgbClr val="161B26"/>
                </a:solidFill>
                <a:latin typeface="Arial"/>
              </a:rPr>
              <a:t>Prompting</a:t>
            </a:r>
          </a:p>
        </p:txBody>
      </p:sp>
      <p:sp>
        <p:nvSpPr>
          <p:cNvPr id="51" name="Rectangle 50"/>
          <p:cNvSpPr/>
          <p:nvPr/>
        </p:nvSpPr>
        <p:spPr>
          <a:xfrm>
            <a:off x="5456406" y="4950820"/>
            <a:ext cx="3190341" cy="6335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566134" y="4950820"/>
            <a:ext cx="3007461" cy="633548"/>
          </a:xfrm>
          <a:prstGeom prst="rect">
            <a:avLst/>
          </a:prstGeom>
          <a:noFill/>
        </p:spPr>
        <p:txBody>
          <a:bodyPr wrap="square" anchor="ctr">
            <a:spAutoFit/>
          </a:bodyPr>
          <a:lstStyle/>
          <a:p>
            <a:pPr algn="l">
              <a:spcAft>
                <a:spcPts val="400"/>
              </a:spcAft>
            </a:pPr>
            <a:r>
              <a:rPr sz="1000" b="0">
                <a:solidFill>
                  <a:srgbClr val="161B26"/>
                </a:solidFill>
                <a:latin typeface="Arial"/>
              </a:rPr>
              <a:t>Prompting + editing</a:t>
            </a:r>
          </a:p>
        </p:txBody>
      </p:sp>
      <p:sp>
        <p:nvSpPr>
          <p:cNvPr id="53" name="Rectangle 52"/>
          <p:cNvSpPr/>
          <p:nvPr/>
        </p:nvSpPr>
        <p:spPr>
          <a:xfrm>
            <a:off x="8646747" y="4950820"/>
            <a:ext cx="2764962" cy="6335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756475" y="4950820"/>
            <a:ext cx="2582082" cy="633548"/>
          </a:xfrm>
          <a:prstGeom prst="rect">
            <a:avLst/>
          </a:prstGeom>
          <a:noFill/>
        </p:spPr>
        <p:txBody>
          <a:bodyPr wrap="square" anchor="ctr">
            <a:spAutoFit/>
          </a:bodyPr>
          <a:lstStyle/>
          <a:p>
            <a:pPr algn="l">
              <a:spcAft>
                <a:spcPts val="400"/>
              </a:spcAft>
            </a:pPr>
            <a:r>
              <a:rPr sz="1000" b="0">
                <a:solidFill>
                  <a:srgbClr val="161B26"/>
                </a:solidFill>
                <a:latin typeface="Arial"/>
              </a:rPr>
              <a:t>Plus local set-up</a:t>
            </a:r>
          </a:p>
        </p:txBody>
      </p:sp>
      <p:sp>
        <p:nvSpPr>
          <p:cNvPr id="55" name="Rectangle 54"/>
          <p:cNvSpPr/>
          <p:nvPr/>
        </p:nvSpPr>
        <p:spPr>
          <a:xfrm>
            <a:off x="777240" y="5584368"/>
            <a:ext cx="2339583" cy="6335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86968" y="5584368"/>
            <a:ext cx="2156703" cy="633548"/>
          </a:xfrm>
          <a:prstGeom prst="rect">
            <a:avLst/>
          </a:prstGeom>
          <a:noFill/>
        </p:spPr>
        <p:txBody>
          <a:bodyPr wrap="square" anchor="ctr">
            <a:spAutoFit/>
          </a:bodyPr>
          <a:lstStyle/>
          <a:p>
            <a:pPr algn="l">
              <a:spcAft>
                <a:spcPts val="400"/>
              </a:spcAft>
            </a:pPr>
            <a:r>
              <a:rPr sz="1000" b="1">
                <a:solidFill>
                  <a:srgbClr val="161B26"/>
                </a:solidFill>
                <a:latin typeface="Arial"/>
              </a:rPr>
              <a:t>Best for</a:t>
            </a:r>
          </a:p>
        </p:txBody>
      </p:sp>
      <p:sp>
        <p:nvSpPr>
          <p:cNvPr id="57" name="Rectangle 56"/>
          <p:cNvSpPr/>
          <p:nvPr/>
        </p:nvSpPr>
        <p:spPr>
          <a:xfrm>
            <a:off x="3116823" y="5584368"/>
            <a:ext cx="2339583" cy="6335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226551" y="5584368"/>
            <a:ext cx="2156703" cy="633548"/>
          </a:xfrm>
          <a:prstGeom prst="rect">
            <a:avLst/>
          </a:prstGeom>
          <a:noFill/>
        </p:spPr>
        <p:txBody>
          <a:bodyPr wrap="square" anchor="ctr">
            <a:spAutoFit/>
          </a:bodyPr>
          <a:lstStyle/>
          <a:p>
            <a:pPr algn="l">
              <a:spcAft>
                <a:spcPts val="400"/>
              </a:spcAft>
            </a:pPr>
            <a:r>
              <a:rPr sz="1000" b="0">
                <a:solidFill>
                  <a:srgbClr val="161B26"/>
                </a:solidFill>
                <a:latin typeface="Arial"/>
              </a:rPr>
              <a:t>Social drafts, volume</a:t>
            </a:r>
          </a:p>
        </p:txBody>
      </p:sp>
      <p:sp>
        <p:nvSpPr>
          <p:cNvPr id="59" name="Rectangle 58"/>
          <p:cNvSpPr/>
          <p:nvPr/>
        </p:nvSpPr>
        <p:spPr>
          <a:xfrm>
            <a:off x="5456406" y="5584368"/>
            <a:ext cx="3190341" cy="6335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566134" y="5584368"/>
            <a:ext cx="3007461" cy="633548"/>
          </a:xfrm>
          <a:prstGeom prst="rect">
            <a:avLst/>
          </a:prstGeom>
          <a:noFill/>
        </p:spPr>
        <p:txBody>
          <a:bodyPr wrap="square" anchor="ctr">
            <a:spAutoFit/>
          </a:bodyPr>
          <a:lstStyle/>
          <a:p>
            <a:pPr algn="l">
              <a:spcAft>
                <a:spcPts val="400"/>
              </a:spcAft>
            </a:pPr>
            <a:r>
              <a:rPr sz="1000" b="0">
                <a:solidFill>
                  <a:srgbClr val="161B26"/>
                </a:solidFill>
                <a:latin typeface="Arial"/>
              </a:rPr>
              <a:t>Brand hero films</a:t>
            </a:r>
          </a:p>
        </p:txBody>
      </p:sp>
      <p:sp>
        <p:nvSpPr>
          <p:cNvPr id="61" name="Rectangle 60"/>
          <p:cNvSpPr/>
          <p:nvPr/>
        </p:nvSpPr>
        <p:spPr>
          <a:xfrm>
            <a:off x="8646747" y="5584368"/>
            <a:ext cx="2764962" cy="6335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756475" y="5584368"/>
            <a:ext cx="2582082" cy="633548"/>
          </a:xfrm>
          <a:prstGeom prst="rect">
            <a:avLst/>
          </a:prstGeom>
          <a:noFill/>
        </p:spPr>
        <p:txBody>
          <a:bodyPr wrap="square" anchor="ctr">
            <a:spAutoFit/>
          </a:bodyPr>
          <a:lstStyle/>
          <a:p>
            <a:pPr algn="l">
              <a:spcAft>
                <a:spcPts val="400"/>
              </a:spcAft>
            </a:pPr>
            <a:r>
              <a:rPr sz="1000" b="0">
                <a:solidFill>
                  <a:srgbClr val="161B26"/>
                </a:solidFill>
                <a:latin typeface="Arial"/>
              </a:rPr>
              <a:t>Series, privacy, cost control</a:t>
            </a:r>
          </a:p>
        </p:txBody>
      </p:sp>
      <p:sp>
        <p:nvSpPr>
          <p:cNvPr id="63" name="TextBox 6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64" name="TextBox 6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5" name="TextBox 6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transition spd="fast">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K12 · VISION COMMUNICATION PROTOCOLS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How a Cloud Video Job Actually Travels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240280"/>
            <a:ext cx="1878177" cy="288036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50568" y="260604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50568" y="260604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1" name="TextBox 10"/>
          <p:cNvSpPr txBox="1"/>
          <p:nvPr/>
        </p:nvSpPr>
        <p:spPr>
          <a:xfrm>
            <a:off x="905256" y="3611880"/>
            <a:ext cx="1622145" cy="1399032"/>
          </a:xfrm>
          <a:prstGeom prst="rect">
            <a:avLst/>
          </a:prstGeom>
          <a:noFill/>
        </p:spPr>
        <p:txBody>
          <a:bodyPr wrap="square" anchor="t">
            <a:spAutoFit/>
          </a:bodyPr>
          <a:lstStyle/>
          <a:p>
            <a:pPr algn="ctr">
              <a:spcAft>
                <a:spcPts val="400"/>
              </a:spcAft>
            </a:pPr>
            <a:r>
              <a:rPr sz="1250" b="0">
                <a:solidFill>
                  <a:srgbClr val="161B26"/>
                </a:solidFill>
                <a:latin typeface="Arial"/>
              </a:rPr>
              <a:t>Upload references once — signed-URL PUT to object storage</a:t>
            </a:r>
          </a:p>
        </p:txBody>
      </p:sp>
      <p:cxnSp>
        <p:nvCxnSpPr>
          <p:cNvPr id="12" name="Connector 11"/>
          <p:cNvCxnSpPr/>
          <p:nvPr/>
        </p:nvCxnSpPr>
        <p:spPr>
          <a:xfrm>
            <a:off x="2691993" y="3680460"/>
            <a:ext cx="237744" cy="0"/>
          </a:xfrm>
          <a:prstGeom prst="line">
            <a:avLst/>
          </a:prstGeom>
          <a:ln w="22225">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66313" y="2240280"/>
            <a:ext cx="1878177" cy="288036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9641" y="260604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9641" y="260604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7" name="TextBox 16"/>
          <p:cNvSpPr txBox="1"/>
          <p:nvPr/>
        </p:nvSpPr>
        <p:spPr>
          <a:xfrm>
            <a:off x="3094329" y="3611880"/>
            <a:ext cx="1622145" cy="1399032"/>
          </a:xfrm>
          <a:prstGeom prst="rect">
            <a:avLst/>
          </a:prstGeom>
          <a:noFill/>
        </p:spPr>
        <p:txBody>
          <a:bodyPr wrap="square" anchor="t">
            <a:spAutoFit/>
          </a:bodyPr>
          <a:lstStyle/>
          <a:p>
            <a:pPr algn="ctr">
              <a:spcAft>
                <a:spcPts val="400"/>
              </a:spcAft>
            </a:pPr>
            <a:r>
              <a:rPr sz="1250" b="0">
                <a:solidFill>
                  <a:srgbClr val="161B26"/>
                </a:solidFill>
                <a:latin typeface="Arial"/>
              </a:rPr>
              <a:t>POST the shot as JSON — returns an operation ID</a:t>
            </a:r>
          </a:p>
        </p:txBody>
      </p:sp>
      <p:cxnSp>
        <p:nvCxnSpPr>
          <p:cNvPr id="18" name="Connector 17"/>
          <p:cNvCxnSpPr/>
          <p:nvPr/>
        </p:nvCxnSpPr>
        <p:spPr>
          <a:xfrm>
            <a:off x="4881066" y="3680460"/>
            <a:ext cx="237744" cy="0"/>
          </a:xfrm>
          <a:prstGeom prst="line">
            <a:avLst/>
          </a:prstGeom>
          <a:ln w="22225">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155386" y="2240280"/>
            <a:ext cx="1878177" cy="288036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28714" y="260604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28714" y="260604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3" name="TextBox 22"/>
          <p:cNvSpPr txBox="1"/>
          <p:nvPr/>
        </p:nvSpPr>
        <p:spPr>
          <a:xfrm>
            <a:off x="5283402" y="3611880"/>
            <a:ext cx="1622145" cy="1399032"/>
          </a:xfrm>
          <a:prstGeom prst="rect">
            <a:avLst/>
          </a:prstGeom>
          <a:noFill/>
        </p:spPr>
        <p:txBody>
          <a:bodyPr wrap="square" anchor="t">
            <a:spAutoFit/>
          </a:bodyPr>
          <a:lstStyle/>
          <a:p>
            <a:pPr algn="ctr">
              <a:spcAft>
                <a:spcPts val="400"/>
              </a:spcAft>
            </a:pPr>
            <a:r>
              <a:rPr sz="1250" b="0">
                <a:solidFill>
                  <a:srgbClr val="161B26"/>
                </a:solidFill>
                <a:latin typeface="Arial"/>
              </a:rPr>
              <a:t>Poll the operation (or receive a webhook)</a:t>
            </a:r>
          </a:p>
        </p:txBody>
      </p:sp>
      <p:cxnSp>
        <p:nvCxnSpPr>
          <p:cNvPr id="24" name="Connector 23"/>
          <p:cNvCxnSpPr/>
          <p:nvPr/>
        </p:nvCxnSpPr>
        <p:spPr>
          <a:xfrm>
            <a:off x="7070139" y="3680460"/>
            <a:ext cx="237744" cy="0"/>
          </a:xfrm>
          <a:prstGeom prst="line">
            <a:avLst/>
          </a:prstGeom>
          <a:ln w="22225">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44459" y="2240280"/>
            <a:ext cx="1878177" cy="288036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17787" y="260604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17787" y="260604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9" name="TextBox 28"/>
          <p:cNvSpPr txBox="1"/>
          <p:nvPr/>
        </p:nvSpPr>
        <p:spPr>
          <a:xfrm>
            <a:off x="7472475" y="3611880"/>
            <a:ext cx="1622145" cy="1399032"/>
          </a:xfrm>
          <a:prstGeom prst="rect">
            <a:avLst/>
          </a:prstGeom>
          <a:noFill/>
        </p:spPr>
        <p:txBody>
          <a:bodyPr wrap="square" anchor="t">
            <a:spAutoFit/>
          </a:bodyPr>
          <a:lstStyle/>
          <a:p>
            <a:pPr algn="ctr">
              <a:spcAft>
                <a:spcPts val="400"/>
              </a:spcAft>
            </a:pPr>
            <a:r>
              <a:rPr sz="1250" b="0">
                <a:solidFill>
                  <a:srgbClr val="161B26"/>
                </a:solidFill>
                <a:latin typeface="Arial"/>
              </a:rPr>
              <a:t>Download the clip by signed URL</a:t>
            </a:r>
          </a:p>
        </p:txBody>
      </p:sp>
      <p:cxnSp>
        <p:nvCxnSpPr>
          <p:cNvPr id="30" name="Connector 29"/>
          <p:cNvCxnSpPr/>
          <p:nvPr/>
        </p:nvCxnSpPr>
        <p:spPr>
          <a:xfrm>
            <a:off x="9259212" y="3680460"/>
            <a:ext cx="237744" cy="0"/>
          </a:xfrm>
          <a:prstGeom prst="line">
            <a:avLst/>
          </a:prstGeom>
          <a:ln w="22225">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533532" y="2240280"/>
            <a:ext cx="1878177" cy="288036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106860" y="260604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106860" y="260604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5" name="TextBox 34"/>
          <p:cNvSpPr txBox="1"/>
          <p:nvPr/>
        </p:nvSpPr>
        <p:spPr>
          <a:xfrm>
            <a:off x="9661548" y="3611880"/>
            <a:ext cx="1622145" cy="1399032"/>
          </a:xfrm>
          <a:prstGeom prst="rect">
            <a:avLst/>
          </a:prstGeom>
          <a:noFill/>
        </p:spPr>
        <p:txBody>
          <a:bodyPr wrap="square" anchor="t">
            <a:spAutoFit/>
          </a:bodyPr>
          <a:lstStyle/>
          <a:p>
            <a:pPr algn="ctr">
              <a:spcAft>
                <a:spcPts val="400"/>
              </a:spcAft>
            </a:pPr>
            <a:r>
              <a:rPr sz="1250" b="0">
                <a:solidFill>
                  <a:srgbClr val="161B26"/>
                </a:solidFill>
                <a:latin typeface="Arial"/>
              </a:rPr>
              <a:t>Log model ID, prompt version, seed, cost</a:t>
            </a:r>
          </a:p>
        </p:txBody>
      </p:sp>
      <p:sp>
        <p:nvSpPr>
          <p:cNvPr id="36" name="TextBox 35"/>
          <p:cNvSpPr txBox="1"/>
          <p:nvPr/>
        </p:nvSpPr>
        <p:spPr>
          <a:xfrm>
            <a:off x="777240" y="5394960"/>
            <a:ext cx="10698480" cy="731520"/>
          </a:xfrm>
          <a:prstGeom prst="rect">
            <a:avLst/>
          </a:prstGeom>
          <a:noFill/>
        </p:spPr>
        <p:txBody>
          <a:bodyPr wrap="square" anchor="t">
            <a:spAutoFit/>
          </a:bodyPr>
          <a:lstStyle/>
          <a:p>
            <a:pPr algn="ctr">
              <a:spcAft>
                <a:spcPts val="400"/>
              </a:spcAft>
            </a:pPr>
            <a:r>
              <a:rPr sz="1300" b="0">
                <a:solidFill>
                  <a:srgbClr val="5B6372"/>
                </a:solidFill>
                <a:latin typeface="Arial"/>
              </a:rPr>
              <a:t>Generation takes seconds to minutes, so APIs are asynchronous: a long-running operation you check, not a request you hold open.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transition spd="fast">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K12 · FROM MQTT-SIZED EVENTS TO GIGABYTE RENDERS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Protocols Chosen by Payload and Wait Time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977652" cy="55435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2794772" cy="554355"/>
          </a:xfrm>
          <a:prstGeom prst="rect">
            <a:avLst/>
          </a:prstGeom>
          <a:noFill/>
        </p:spPr>
        <p:txBody>
          <a:bodyPr wrap="square" anchor="ctr">
            <a:spAutoFit/>
          </a:bodyPr>
          <a:lstStyle/>
          <a:p>
            <a:pPr algn="l">
              <a:spcAft>
                <a:spcPts val="400"/>
              </a:spcAft>
            </a:pPr>
            <a:r>
              <a:rPr sz="1100" b="1">
                <a:solidFill>
                  <a:srgbClr val="FFFFFF"/>
                </a:solidFill>
                <a:latin typeface="Arial"/>
              </a:rPr>
              <a:t>Protocol</a:t>
            </a:r>
          </a:p>
        </p:txBody>
      </p:sp>
      <p:sp>
        <p:nvSpPr>
          <p:cNvPr id="9" name="Rectangle 8"/>
          <p:cNvSpPr/>
          <p:nvPr/>
        </p:nvSpPr>
        <p:spPr>
          <a:xfrm>
            <a:off x="3754892" y="1783080"/>
            <a:ext cx="3615720" cy="55435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64620" y="1783080"/>
            <a:ext cx="3432840" cy="554355"/>
          </a:xfrm>
          <a:prstGeom prst="rect">
            <a:avLst/>
          </a:prstGeom>
          <a:noFill/>
        </p:spPr>
        <p:txBody>
          <a:bodyPr wrap="square" anchor="ctr">
            <a:spAutoFit/>
          </a:bodyPr>
          <a:lstStyle/>
          <a:p>
            <a:pPr algn="l">
              <a:spcAft>
                <a:spcPts val="400"/>
              </a:spcAft>
            </a:pPr>
            <a:r>
              <a:rPr sz="1100" b="1">
                <a:solidFill>
                  <a:srgbClr val="FFFFFF"/>
                </a:solidFill>
                <a:latin typeface="Arial"/>
              </a:rPr>
              <a:t>Carries</a:t>
            </a:r>
          </a:p>
        </p:txBody>
      </p:sp>
      <p:sp>
        <p:nvSpPr>
          <p:cNvPr id="11" name="Rectangle 10"/>
          <p:cNvSpPr/>
          <p:nvPr/>
        </p:nvSpPr>
        <p:spPr>
          <a:xfrm>
            <a:off x="7370612" y="1783080"/>
            <a:ext cx="4041099" cy="55435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80340" y="1783080"/>
            <a:ext cx="3858219" cy="554355"/>
          </a:xfrm>
          <a:prstGeom prst="rect">
            <a:avLst/>
          </a:prstGeom>
          <a:noFill/>
        </p:spPr>
        <p:txBody>
          <a:bodyPr wrap="square" anchor="ctr">
            <a:spAutoFit/>
          </a:bodyPr>
          <a:lstStyle/>
          <a:p>
            <a:pPr algn="l">
              <a:spcAft>
                <a:spcPts val="400"/>
              </a:spcAft>
            </a:pPr>
            <a:r>
              <a:rPr sz="1100" b="1">
                <a:solidFill>
                  <a:srgbClr val="FFFFFF"/>
                </a:solidFill>
                <a:latin typeface="Arial"/>
              </a:rPr>
              <a:t>Where in the film pipeline</a:t>
            </a:r>
          </a:p>
        </p:txBody>
      </p:sp>
      <p:sp>
        <p:nvSpPr>
          <p:cNvPr id="13" name="Rectangle 12"/>
          <p:cNvSpPr/>
          <p:nvPr/>
        </p:nvSpPr>
        <p:spPr>
          <a:xfrm>
            <a:off x="777240" y="2337435"/>
            <a:ext cx="2977652" cy="55435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 y="2337435"/>
            <a:ext cx="2794772" cy="554355"/>
          </a:xfrm>
          <a:prstGeom prst="rect">
            <a:avLst/>
          </a:prstGeom>
          <a:noFill/>
        </p:spPr>
        <p:txBody>
          <a:bodyPr wrap="square" anchor="ctr">
            <a:spAutoFit/>
          </a:bodyPr>
          <a:lstStyle/>
          <a:p>
            <a:pPr algn="l">
              <a:spcAft>
                <a:spcPts val="400"/>
              </a:spcAft>
            </a:pPr>
            <a:r>
              <a:rPr sz="1000" b="1">
                <a:solidFill>
                  <a:srgbClr val="161B26"/>
                </a:solidFill>
                <a:latin typeface="Arial"/>
              </a:rPr>
              <a:t>HTTPS + REST/JSON</a:t>
            </a:r>
          </a:p>
        </p:txBody>
      </p:sp>
      <p:sp>
        <p:nvSpPr>
          <p:cNvPr id="15" name="Rectangle 14"/>
          <p:cNvSpPr/>
          <p:nvPr/>
        </p:nvSpPr>
        <p:spPr>
          <a:xfrm>
            <a:off x="3754892" y="2337435"/>
            <a:ext cx="3615720" cy="55435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64620" y="2337435"/>
            <a:ext cx="3432840" cy="554355"/>
          </a:xfrm>
          <a:prstGeom prst="rect">
            <a:avLst/>
          </a:prstGeom>
          <a:noFill/>
        </p:spPr>
        <p:txBody>
          <a:bodyPr wrap="square" anchor="ctr">
            <a:spAutoFit/>
          </a:bodyPr>
          <a:lstStyle/>
          <a:p>
            <a:pPr algn="l">
              <a:spcAft>
                <a:spcPts val="400"/>
              </a:spcAft>
            </a:pPr>
            <a:r>
              <a:rPr sz="1000" b="0">
                <a:solidFill>
                  <a:srgbClr val="161B26"/>
                </a:solidFill>
                <a:latin typeface="Arial"/>
              </a:rPr>
              <a:t>Prompts, parameters, job status</a:t>
            </a:r>
          </a:p>
        </p:txBody>
      </p:sp>
      <p:sp>
        <p:nvSpPr>
          <p:cNvPr id="17" name="Rectangle 16"/>
          <p:cNvSpPr/>
          <p:nvPr/>
        </p:nvSpPr>
        <p:spPr>
          <a:xfrm>
            <a:off x="7370612" y="2337435"/>
            <a:ext cx="4041099" cy="55435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80340" y="2337435"/>
            <a:ext cx="3858219" cy="554355"/>
          </a:xfrm>
          <a:prstGeom prst="rect">
            <a:avLst/>
          </a:prstGeom>
          <a:noFill/>
        </p:spPr>
        <p:txBody>
          <a:bodyPr wrap="square" anchor="ctr">
            <a:spAutoFit/>
          </a:bodyPr>
          <a:lstStyle/>
          <a:p>
            <a:pPr algn="l">
              <a:spcAft>
                <a:spcPts val="400"/>
              </a:spcAft>
            </a:pPr>
            <a:r>
              <a:rPr sz="1000" b="0">
                <a:solidFill>
                  <a:srgbClr val="161B26"/>
                </a:solidFill>
                <a:latin typeface="Arial"/>
              </a:rPr>
              <a:t>Submitting every shot and still</a:t>
            </a:r>
          </a:p>
        </p:txBody>
      </p:sp>
      <p:sp>
        <p:nvSpPr>
          <p:cNvPr id="19" name="Rectangle 18"/>
          <p:cNvSpPr/>
          <p:nvPr/>
        </p:nvSpPr>
        <p:spPr>
          <a:xfrm>
            <a:off x="777240" y="2891790"/>
            <a:ext cx="2977652" cy="554355"/>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2891790"/>
            <a:ext cx="2794772" cy="554355"/>
          </a:xfrm>
          <a:prstGeom prst="rect">
            <a:avLst/>
          </a:prstGeom>
          <a:noFill/>
        </p:spPr>
        <p:txBody>
          <a:bodyPr wrap="square" anchor="ctr">
            <a:spAutoFit/>
          </a:bodyPr>
          <a:lstStyle/>
          <a:p>
            <a:pPr algn="l">
              <a:spcAft>
                <a:spcPts val="400"/>
              </a:spcAft>
            </a:pPr>
            <a:r>
              <a:rPr sz="1000" b="1">
                <a:solidFill>
                  <a:srgbClr val="161B26"/>
                </a:solidFill>
                <a:latin typeface="Arial"/>
              </a:rPr>
              <a:t>Long-running operation + polling</a:t>
            </a:r>
          </a:p>
        </p:txBody>
      </p:sp>
      <p:sp>
        <p:nvSpPr>
          <p:cNvPr id="21" name="Rectangle 20"/>
          <p:cNvSpPr/>
          <p:nvPr/>
        </p:nvSpPr>
        <p:spPr>
          <a:xfrm>
            <a:off x="3754892" y="2891790"/>
            <a:ext cx="3615720" cy="554355"/>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64620" y="2891790"/>
            <a:ext cx="3432840" cy="554355"/>
          </a:xfrm>
          <a:prstGeom prst="rect">
            <a:avLst/>
          </a:prstGeom>
          <a:noFill/>
        </p:spPr>
        <p:txBody>
          <a:bodyPr wrap="square" anchor="ctr">
            <a:spAutoFit/>
          </a:bodyPr>
          <a:lstStyle/>
          <a:p>
            <a:pPr algn="l">
              <a:spcAft>
                <a:spcPts val="400"/>
              </a:spcAft>
            </a:pPr>
            <a:r>
              <a:rPr sz="1000" b="0">
                <a:solidFill>
                  <a:srgbClr val="161B26"/>
                </a:solidFill>
                <a:latin typeface="Arial"/>
              </a:rPr>
              <a:t>An ID you check until done</a:t>
            </a:r>
          </a:p>
        </p:txBody>
      </p:sp>
      <p:sp>
        <p:nvSpPr>
          <p:cNvPr id="23" name="Rectangle 22"/>
          <p:cNvSpPr/>
          <p:nvPr/>
        </p:nvSpPr>
        <p:spPr>
          <a:xfrm>
            <a:off x="7370612" y="2891790"/>
            <a:ext cx="4041099" cy="554355"/>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80340" y="2891790"/>
            <a:ext cx="3858219" cy="554355"/>
          </a:xfrm>
          <a:prstGeom prst="rect">
            <a:avLst/>
          </a:prstGeom>
          <a:noFill/>
        </p:spPr>
        <p:txBody>
          <a:bodyPr wrap="square" anchor="ctr">
            <a:spAutoFit/>
          </a:bodyPr>
          <a:lstStyle/>
          <a:p>
            <a:pPr algn="l">
              <a:spcAft>
                <a:spcPts val="400"/>
              </a:spcAft>
            </a:pPr>
            <a:r>
              <a:rPr sz="1000" b="0">
                <a:solidFill>
                  <a:srgbClr val="161B26"/>
                </a:solidFill>
                <a:latin typeface="Arial"/>
              </a:rPr>
              <a:t>Video generation (seconds–minutes)</a:t>
            </a:r>
          </a:p>
        </p:txBody>
      </p:sp>
      <p:sp>
        <p:nvSpPr>
          <p:cNvPr id="25" name="Rectangle 24"/>
          <p:cNvSpPr/>
          <p:nvPr/>
        </p:nvSpPr>
        <p:spPr>
          <a:xfrm>
            <a:off x="777240" y="3446145"/>
            <a:ext cx="2977652" cy="55435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6968" y="3446145"/>
            <a:ext cx="2794772" cy="554355"/>
          </a:xfrm>
          <a:prstGeom prst="rect">
            <a:avLst/>
          </a:prstGeom>
          <a:noFill/>
        </p:spPr>
        <p:txBody>
          <a:bodyPr wrap="square" anchor="ctr">
            <a:spAutoFit/>
          </a:bodyPr>
          <a:lstStyle/>
          <a:p>
            <a:pPr algn="l">
              <a:spcAft>
                <a:spcPts val="400"/>
              </a:spcAft>
            </a:pPr>
            <a:r>
              <a:rPr sz="1000" b="1">
                <a:solidFill>
                  <a:srgbClr val="161B26"/>
                </a:solidFill>
                <a:latin typeface="Arial"/>
              </a:rPr>
              <a:t>Webhook (HTTP callback)</a:t>
            </a:r>
          </a:p>
        </p:txBody>
      </p:sp>
      <p:sp>
        <p:nvSpPr>
          <p:cNvPr id="27" name="Rectangle 26"/>
          <p:cNvSpPr/>
          <p:nvPr/>
        </p:nvSpPr>
        <p:spPr>
          <a:xfrm>
            <a:off x="3754892" y="3446145"/>
            <a:ext cx="3615720" cy="55435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864620" y="3446145"/>
            <a:ext cx="3432840" cy="554355"/>
          </a:xfrm>
          <a:prstGeom prst="rect">
            <a:avLst/>
          </a:prstGeom>
          <a:noFill/>
        </p:spPr>
        <p:txBody>
          <a:bodyPr wrap="square" anchor="ctr">
            <a:spAutoFit/>
          </a:bodyPr>
          <a:lstStyle/>
          <a:p>
            <a:pPr algn="l">
              <a:spcAft>
                <a:spcPts val="400"/>
              </a:spcAft>
            </a:pPr>
            <a:r>
              <a:rPr sz="1000" b="0">
                <a:solidFill>
                  <a:srgbClr val="161B26"/>
                </a:solidFill>
                <a:latin typeface="Arial"/>
              </a:rPr>
              <a:t>A 'job finished' event pushed to you</a:t>
            </a:r>
          </a:p>
        </p:txBody>
      </p:sp>
      <p:sp>
        <p:nvSpPr>
          <p:cNvPr id="29" name="Rectangle 28"/>
          <p:cNvSpPr/>
          <p:nvPr/>
        </p:nvSpPr>
        <p:spPr>
          <a:xfrm>
            <a:off x="7370612" y="3446145"/>
            <a:ext cx="4041099" cy="55435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80340" y="3446145"/>
            <a:ext cx="3858219" cy="554355"/>
          </a:xfrm>
          <a:prstGeom prst="rect">
            <a:avLst/>
          </a:prstGeom>
          <a:noFill/>
        </p:spPr>
        <p:txBody>
          <a:bodyPr wrap="square" anchor="ctr">
            <a:spAutoFit/>
          </a:bodyPr>
          <a:lstStyle/>
          <a:p>
            <a:pPr algn="l">
              <a:spcAft>
                <a:spcPts val="400"/>
              </a:spcAft>
            </a:pPr>
            <a:r>
              <a:rPr sz="1000" b="0">
                <a:solidFill>
                  <a:srgbClr val="161B26"/>
                </a:solidFill>
                <a:latin typeface="Arial"/>
              </a:rPr>
              <a:t>Batch generation at scale</a:t>
            </a:r>
          </a:p>
        </p:txBody>
      </p:sp>
      <p:sp>
        <p:nvSpPr>
          <p:cNvPr id="31" name="Rectangle 30"/>
          <p:cNvSpPr/>
          <p:nvPr/>
        </p:nvSpPr>
        <p:spPr>
          <a:xfrm>
            <a:off x="777240" y="4000500"/>
            <a:ext cx="2977652" cy="554355"/>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4000500"/>
            <a:ext cx="2794772" cy="554355"/>
          </a:xfrm>
          <a:prstGeom prst="rect">
            <a:avLst/>
          </a:prstGeom>
          <a:noFill/>
        </p:spPr>
        <p:txBody>
          <a:bodyPr wrap="square" anchor="ctr">
            <a:spAutoFit/>
          </a:bodyPr>
          <a:lstStyle/>
          <a:p>
            <a:pPr algn="l">
              <a:spcAft>
                <a:spcPts val="400"/>
              </a:spcAft>
            </a:pPr>
            <a:r>
              <a:rPr sz="1000" b="1">
                <a:solidFill>
                  <a:srgbClr val="161B26"/>
                </a:solidFill>
                <a:latin typeface="Arial"/>
              </a:rPr>
              <a:t>WebSocket</a:t>
            </a:r>
          </a:p>
        </p:txBody>
      </p:sp>
      <p:sp>
        <p:nvSpPr>
          <p:cNvPr id="33" name="Rectangle 32"/>
          <p:cNvSpPr/>
          <p:nvPr/>
        </p:nvSpPr>
        <p:spPr>
          <a:xfrm>
            <a:off x="3754892" y="4000500"/>
            <a:ext cx="3615720" cy="554355"/>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864620" y="4000500"/>
            <a:ext cx="3432840" cy="554355"/>
          </a:xfrm>
          <a:prstGeom prst="rect">
            <a:avLst/>
          </a:prstGeom>
          <a:noFill/>
        </p:spPr>
        <p:txBody>
          <a:bodyPr wrap="square" anchor="ctr">
            <a:spAutoFit/>
          </a:bodyPr>
          <a:lstStyle/>
          <a:p>
            <a:pPr algn="l">
              <a:spcAft>
                <a:spcPts val="400"/>
              </a:spcAft>
            </a:pPr>
            <a:r>
              <a:rPr sz="1000" b="0">
                <a:solidFill>
                  <a:srgbClr val="161B26"/>
                </a:solidFill>
                <a:latin typeface="Arial"/>
              </a:rPr>
              <a:t>Streaming progress events</a:t>
            </a:r>
          </a:p>
        </p:txBody>
      </p:sp>
      <p:sp>
        <p:nvSpPr>
          <p:cNvPr id="35" name="Rectangle 34"/>
          <p:cNvSpPr/>
          <p:nvPr/>
        </p:nvSpPr>
        <p:spPr>
          <a:xfrm>
            <a:off x="7370612" y="4000500"/>
            <a:ext cx="4041099" cy="554355"/>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80340" y="4000500"/>
            <a:ext cx="3858219" cy="554355"/>
          </a:xfrm>
          <a:prstGeom prst="rect">
            <a:avLst/>
          </a:prstGeom>
          <a:noFill/>
        </p:spPr>
        <p:txBody>
          <a:bodyPr wrap="square" anchor="ctr">
            <a:spAutoFit/>
          </a:bodyPr>
          <a:lstStyle/>
          <a:p>
            <a:pPr algn="l">
              <a:spcAft>
                <a:spcPts val="400"/>
              </a:spcAft>
            </a:pPr>
            <a:r>
              <a:rPr sz="1000" b="0">
                <a:solidFill>
                  <a:srgbClr val="161B26"/>
                </a:solidFill>
                <a:latin typeface="Arial"/>
              </a:rPr>
              <a:t>Local node servers; live previews</a:t>
            </a:r>
          </a:p>
        </p:txBody>
      </p:sp>
      <p:sp>
        <p:nvSpPr>
          <p:cNvPr id="37" name="Rectangle 36"/>
          <p:cNvSpPr/>
          <p:nvPr/>
        </p:nvSpPr>
        <p:spPr>
          <a:xfrm>
            <a:off x="777240" y="4554855"/>
            <a:ext cx="2977652" cy="55435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86968" y="4554855"/>
            <a:ext cx="2794772" cy="554355"/>
          </a:xfrm>
          <a:prstGeom prst="rect">
            <a:avLst/>
          </a:prstGeom>
          <a:noFill/>
        </p:spPr>
        <p:txBody>
          <a:bodyPr wrap="square" anchor="ctr">
            <a:spAutoFit/>
          </a:bodyPr>
          <a:lstStyle/>
          <a:p>
            <a:pPr algn="l">
              <a:spcAft>
                <a:spcPts val="400"/>
              </a:spcAft>
            </a:pPr>
            <a:r>
              <a:rPr sz="1000" b="1">
                <a:solidFill>
                  <a:srgbClr val="161B26"/>
                </a:solidFill>
                <a:latin typeface="Arial"/>
              </a:rPr>
              <a:t>Signed URL to object storage</a:t>
            </a:r>
          </a:p>
        </p:txBody>
      </p:sp>
      <p:sp>
        <p:nvSpPr>
          <p:cNvPr id="39" name="Rectangle 38"/>
          <p:cNvSpPr/>
          <p:nvPr/>
        </p:nvSpPr>
        <p:spPr>
          <a:xfrm>
            <a:off x="3754892" y="4554855"/>
            <a:ext cx="3615720" cy="55435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864620" y="4554855"/>
            <a:ext cx="3432840" cy="554355"/>
          </a:xfrm>
          <a:prstGeom prst="rect">
            <a:avLst/>
          </a:prstGeom>
          <a:noFill/>
        </p:spPr>
        <p:txBody>
          <a:bodyPr wrap="square" anchor="ctr">
            <a:spAutoFit/>
          </a:bodyPr>
          <a:lstStyle/>
          <a:p>
            <a:pPr algn="l">
              <a:spcAft>
                <a:spcPts val="400"/>
              </a:spcAft>
            </a:pPr>
            <a:r>
              <a:rPr sz="1000" b="0">
                <a:solidFill>
                  <a:srgbClr val="161B26"/>
                </a:solidFill>
                <a:latin typeface="Arial"/>
              </a:rPr>
              <a:t>Large files: references, renders</a:t>
            </a:r>
          </a:p>
        </p:txBody>
      </p:sp>
      <p:sp>
        <p:nvSpPr>
          <p:cNvPr id="41" name="Rectangle 40"/>
          <p:cNvSpPr/>
          <p:nvPr/>
        </p:nvSpPr>
        <p:spPr>
          <a:xfrm>
            <a:off x="7370612" y="4554855"/>
            <a:ext cx="4041099" cy="55435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480340" y="4554855"/>
            <a:ext cx="3858219" cy="554355"/>
          </a:xfrm>
          <a:prstGeom prst="rect">
            <a:avLst/>
          </a:prstGeom>
          <a:noFill/>
        </p:spPr>
        <p:txBody>
          <a:bodyPr wrap="square" anchor="ctr">
            <a:spAutoFit/>
          </a:bodyPr>
          <a:lstStyle/>
          <a:p>
            <a:pPr algn="l">
              <a:spcAft>
                <a:spcPts val="400"/>
              </a:spcAft>
            </a:pPr>
            <a:r>
              <a:rPr sz="1000" b="0">
                <a:solidFill>
                  <a:srgbClr val="161B26"/>
                </a:solidFill>
                <a:latin typeface="Arial"/>
              </a:rPr>
              <a:t>Upload element pack, download clips</a:t>
            </a:r>
          </a:p>
        </p:txBody>
      </p:sp>
      <p:sp>
        <p:nvSpPr>
          <p:cNvPr id="43" name="Rectangle 42"/>
          <p:cNvSpPr/>
          <p:nvPr/>
        </p:nvSpPr>
        <p:spPr>
          <a:xfrm>
            <a:off x="777240" y="5109210"/>
            <a:ext cx="2977652" cy="554355"/>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86968" y="5109210"/>
            <a:ext cx="2794772" cy="554355"/>
          </a:xfrm>
          <a:prstGeom prst="rect">
            <a:avLst/>
          </a:prstGeom>
          <a:noFill/>
        </p:spPr>
        <p:txBody>
          <a:bodyPr wrap="square" anchor="ctr">
            <a:spAutoFit/>
          </a:bodyPr>
          <a:lstStyle/>
          <a:p>
            <a:pPr algn="l">
              <a:spcAft>
                <a:spcPts val="400"/>
              </a:spcAft>
            </a:pPr>
            <a:r>
              <a:rPr sz="1000" b="1">
                <a:solidFill>
                  <a:srgbClr val="161B26"/>
                </a:solidFill>
                <a:latin typeface="Arial"/>
              </a:rPr>
              <a:t>HLS / RTMP</a:t>
            </a:r>
          </a:p>
        </p:txBody>
      </p:sp>
      <p:sp>
        <p:nvSpPr>
          <p:cNvPr id="45" name="Rectangle 44"/>
          <p:cNvSpPr/>
          <p:nvPr/>
        </p:nvSpPr>
        <p:spPr>
          <a:xfrm>
            <a:off x="3754892" y="5109210"/>
            <a:ext cx="3615720" cy="554355"/>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864620" y="5109210"/>
            <a:ext cx="3432840" cy="554355"/>
          </a:xfrm>
          <a:prstGeom prst="rect">
            <a:avLst/>
          </a:prstGeom>
          <a:noFill/>
        </p:spPr>
        <p:txBody>
          <a:bodyPr wrap="square" anchor="ctr">
            <a:spAutoFit/>
          </a:bodyPr>
          <a:lstStyle/>
          <a:p>
            <a:pPr algn="l">
              <a:spcAft>
                <a:spcPts val="400"/>
              </a:spcAft>
            </a:pPr>
            <a:r>
              <a:rPr sz="1000" b="0">
                <a:solidFill>
                  <a:srgbClr val="161B26"/>
                </a:solidFill>
                <a:latin typeface="Arial"/>
              </a:rPr>
              <a:t>Segmented or live video streams</a:t>
            </a:r>
          </a:p>
        </p:txBody>
      </p:sp>
      <p:sp>
        <p:nvSpPr>
          <p:cNvPr id="47" name="Rectangle 46"/>
          <p:cNvSpPr/>
          <p:nvPr/>
        </p:nvSpPr>
        <p:spPr>
          <a:xfrm>
            <a:off x="7370612" y="5109210"/>
            <a:ext cx="4041099" cy="554355"/>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480340" y="5109210"/>
            <a:ext cx="3858219" cy="554355"/>
          </a:xfrm>
          <a:prstGeom prst="rect">
            <a:avLst/>
          </a:prstGeom>
          <a:noFill/>
        </p:spPr>
        <p:txBody>
          <a:bodyPr wrap="square" anchor="ctr">
            <a:spAutoFit/>
          </a:bodyPr>
          <a:lstStyle/>
          <a:p>
            <a:pPr algn="l">
              <a:spcAft>
                <a:spcPts val="400"/>
              </a:spcAft>
            </a:pPr>
            <a:r>
              <a:rPr sz="1000" b="0">
                <a:solidFill>
                  <a:srgbClr val="161B26"/>
                </a:solidFill>
                <a:latin typeface="Arial"/>
              </a:rPr>
              <a:t>Delivery and review screenings</a:t>
            </a:r>
          </a:p>
        </p:txBody>
      </p:sp>
      <p:sp>
        <p:nvSpPr>
          <p:cNvPr id="49" name="Rectangle 48"/>
          <p:cNvSpPr/>
          <p:nvPr/>
        </p:nvSpPr>
        <p:spPr>
          <a:xfrm>
            <a:off x="777240" y="5663565"/>
            <a:ext cx="2977652" cy="55435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86968" y="5663565"/>
            <a:ext cx="2794772" cy="554355"/>
          </a:xfrm>
          <a:prstGeom prst="rect">
            <a:avLst/>
          </a:prstGeom>
          <a:noFill/>
        </p:spPr>
        <p:txBody>
          <a:bodyPr wrap="square" anchor="ctr">
            <a:spAutoFit/>
          </a:bodyPr>
          <a:lstStyle/>
          <a:p>
            <a:pPr algn="l">
              <a:spcAft>
                <a:spcPts val="400"/>
              </a:spcAft>
            </a:pPr>
            <a:r>
              <a:rPr sz="1000" b="1">
                <a:solidFill>
                  <a:srgbClr val="161B26"/>
                </a:solidFill>
                <a:latin typeface="Arial"/>
              </a:rPr>
              <a:t>C2PA manifest (in the file)</a:t>
            </a:r>
          </a:p>
        </p:txBody>
      </p:sp>
      <p:sp>
        <p:nvSpPr>
          <p:cNvPr id="51" name="Rectangle 50"/>
          <p:cNvSpPr/>
          <p:nvPr/>
        </p:nvSpPr>
        <p:spPr>
          <a:xfrm>
            <a:off x="3754892" y="5663565"/>
            <a:ext cx="3615720" cy="55435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864620" y="5663565"/>
            <a:ext cx="3432840" cy="554355"/>
          </a:xfrm>
          <a:prstGeom prst="rect">
            <a:avLst/>
          </a:prstGeom>
          <a:noFill/>
        </p:spPr>
        <p:txBody>
          <a:bodyPr wrap="square" anchor="ctr">
            <a:spAutoFit/>
          </a:bodyPr>
          <a:lstStyle/>
          <a:p>
            <a:pPr algn="l">
              <a:spcAft>
                <a:spcPts val="400"/>
              </a:spcAft>
            </a:pPr>
            <a:r>
              <a:rPr sz="1000" b="0">
                <a:solidFill>
                  <a:srgbClr val="161B26"/>
                </a:solidFill>
                <a:latin typeface="Arial"/>
              </a:rPr>
              <a:t>Provenance: who, what tool, what edits</a:t>
            </a:r>
          </a:p>
        </p:txBody>
      </p:sp>
      <p:sp>
        <p:nvSpPr>
          <p:cNvPr id="53" name="Rectangle 52"/>
          <p:cNvSpPr/>
          <p:nvPr/>
        </p:nvSpPr>
        <p:spPr>
          <a:xfrm>
            <a:off x="7370612" y="5663565"/>
            <a:ext cx="4041099" cy="55435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480340" y="5663565"/>
            <a:ext cx="3858219" cy="554355"/>
          </a:xfrm>
          <a:prstGeom prst="rect">
            <a:avLst/>
          </a:prstGeom>
          <a:noFill/>
        </p:spPr>
        <p:txBody>
          <a:bodyPr wrap="square" anchor="ctr">
            <a:spAutoFit/>
          </a:bodyPr>
          <a:lstStyle/>
          <a:p>
            <a:pPr algn="l">
              <a:spcAft>
                <a:spcPts val="400"/>
              </a:spcAft>
            </a:pPr>
            <a:r>
              <a:rPr sz="1000" b="0">
                <a:solidFill>
                  <a:srgbClr val="161B26"/>
                </a:solidFill>
                <a:latin typeface="Arial"/>
              </a:rPr>
              <a:t>Travels with every master</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transition spd="fast">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K12 · PATTERN FROM THE VEO DOCUMENTATION (S16)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The Asynchronous Pattern in Code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400800" cy="416052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938528"/>
            <a:ext cx="6035040" cy="3849624"/>
          </a:xfrm>
          <a:prstGeom prst="rect">
            <a:avLst/>
          </a:prstGeom>
          <a:noFill/>
        </p:spPr>
        <p:txBody>
          <a:bodyPr wrap="none" lIns="0" rIns="0" tIns="0" bIns="0" anchor="t">
            <a:noAutofit/>
          </a:bodyPr>
          <a:lstStyle/>
          <a:p>
            <a:pPr>
              <a:spcAft>
                <a:spcPts val="100"/>
              </a:spcAft>
            </a:pPr>
            <a:r>
              <a:rPr sz="1130">
                <a:solidFill>
                  <a:srgbClr val="9CDCFE"/>
                </a:solidFill>
                <a:latin typeface="Consolas"/>
              </a:rPr>
              <a:t>operation = client.models.generate_videos(</a:t>
            </a:r>
          </a:p>
          <a:p>
            <a:pPr>
              <a:spcAft>
                <a:spcPts val="100"/>
              </a:spcAft>
            </a:pPr>
            <a:r>
              <a:rPr sz="1130">
                <a:solidFill>
                  <a:srgbClr val="9CDCFE"/>
                </a:solidFill>
                <a:latin typeface="Consolas"/>
              </a:rPr>
              <a:t>    model=VIDEO_MODEL_ID,            # record the exact ID and date</a:t>
            </a:r>
          </a:p>
          <a:p>
            <a:pPr>
              <a:spcAft>
                <a:spcPts val="100"/>
              </a:spcAft>
            </a:pPr>
            <a:r>
              <a:rPr sz="1130">
                <a:solidFill>
                  <a:srgbClr val="9CDCFE"/>
                </a:solidFill>
                <a:latin typeface="Consolas"/>
              </a:rPr>
              <a:t>    prompt=shot['timeline'],</a:t>
            </a:r>
          </a:p>
          <a:p>
            <a:pPr>
              <a:spcAft>
                <a:spcPts val="100"/>
              </a:spcAft>
            </a:pPr>
            <a:r>
              <a:rPr sz="1130">
                <a:solidFill>
                  <a:srgbClr val="9CDCFE"/>
                </a:solidFill>
                <a:latin typeface="Consolas"/>
              </a:rPr>
              <a:t>    image=start_frame,                # image-to-video</a:t>
            </a:r>
          </a:p>
          <a:p>
            <a:pPr>
              <a:spcAft>
                <a:spcPts val="100"/>
              </a:spcAft>
            </a:pPr>
            <a:r>
              <a:rPr sz="1130">
                <a:solidFill>
                  <a:srgbClr val="9CDCFE"/>
                </a:solidFill>
                <a:latin typeface="Consolas"/>
              </a:rPr>
              <a:t>    config={'aspect_ratio': '16:9', 'duration_seconds': 8})</a:t>
            </a:r>
          </a:p>
          <a:p>
            <a:pPr>
              <a:spcAft>
                <a:spcPts val="100"/>
              </a:spcAft>
            </a:pPr>
            <a:r>
              <a:rPr sz="1130">
                <a:solidFill>
                  <a:srgbClr val="9CDCFE"/>
                </a:solidFill>
                <a:latin typeface="Consolas"/>
              </a:rPr>
              <a:t> </a:t>
            </a:r>
          </a:p>
          <a:p>
            <a:pPr>
              <a:spcAft>
                <a:spcPts val="100"/>
              </a:spcAft>
            </a:pPr>
            <a:r>
              <a:rPr sz="1130">
                <a:solidFill>
                  <a:srgbClr val="9CDCFE"/>
                </a:solidFill>
                <a:latin typeface="Consolas"/>
              </a:rPr>
              <a:t>while not operation.done:            # long-running operation</a:t>
            </a:r>
          </a:p>
          <a:p>
            <a:pPr>
              <a:spcAft>
                <a:spcPts val="100"/>
              </a:spcAft>
            </a:pPr>
            <a:r>
              <a:rPr sz="1130">
                <a:solidFill>
                  <a:srgbClr val="9CDCFE"/>
                </a:solidFill>
                <a:latin typeface="Consolas"/>
              </a:rPr>
              <a:t>    time.sleep(10)</a:t>
            </a:r>
          </a:p>
          <a:p>
            <a:pPr>
              <a:spcAft>
                <a:spcPts val="100"/>
              </a:spcAft>
            </a:pPr>
            <a:r>
              <a:rPr sz="1130">
                <a:solidFill>
                  <a:srgbClr val="9CDCFE"/>
                </a:solidFill>
                <a:latin typeface="Consolas"/>
              </a:rPr>
              <a:t>    operation = client.operations.get(operation)</a:t>
            </a:r>
          </a:p>
          <a:p>
            <a:pPr>
              <a:spcAft>
                <a:spcPts val="100"/>
              </a:spcAft>
            </a:pPr>
            <a:r>
              <a:rPr sz="1130">
                <a:solidFill>
                  <a:srgbClr val="9CDCFE"/>
                </a:solidFill>
                <a:latin typeface="Consolas"/>
              </a:rPr>
              <a:t> </a:t>
            </a:r>
          </a:p>
          <a:p>
            <a:pPr>
              <a:spcAft>
                <a:spcPts val="100"/>
              </a:spcAft>
            </a:pPr>
            <a:r>
              <a:rPr sz="1130">
                <a:solidFill>
                  <a:srgbClr val="9CDCFE"/>
                </a:solidFill>
                <a:latin typeface="Consolas"/>
              </a:rPr>
              <a:t>clip = operation.response.generated_videos[0]</a:t>
            </a:r>
          </a:p>
          <a:p>
            <a:pPr>
              <a:spcAft>
                <a:spcPts val="100"/>
              </a:spcAft>
            </a:pPr>
            <a:r>
              <a:rPr sz="1130">
                <a:solidFill>
                  <a:srgbClr val="9CDCFE"/>
                </a:solidFill>
                <a:latin typeface="Consolas"/>
              </a:rPr>
              <a:t>client.files.download(file=clip.video)</a:t>
            </a:r>
          </a:p>
        </p:txBody>
      </p:sp>
      <p:sp>
        <p:nvSpPr>
          <p:cNvPr id="9" name="Rectangle 8"/>
          <p:cNvSpPr/>
          <p:nvPr/>
        </p:nvSpPr>
        <p:spPr>
          <a:xfrm>
            <a:off x="7406640" y="1783080"/>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06640" y="1783080"/>
            <a:ext cx="82296" cy="91668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26096" y="1783080"/>
            <a:ext cx="3602736" cy="916686"/>
          </a:xfrm>
          <a:prstGeom prst="rect">
            <a:avLst/>
          </a:prstGeom>
          <a:noFill/>
        </p:spPr>
        <p:txBody>
          <a:bodyPr wrap="square" anchor="ctr">
            <a:spAutoFit/>
          </a:bodyPr>
          <a:lstStyle/>
          <a:p>
            <a:pPr algn="l">
              <a:spcAft>
                <a:spcPts val="200"/>
              </a:spcAft>
            </a:pPr>
            <a:r>
              <a:rPr sz="1300" b="1">
                <a:solidFill>
                  <a:srgbClr val="1F6FEB"/>
                </a:solidFill>
                <a:latin typeface="Arial"/>
              </a:rPr>
              <a:t>Submit</a:t>
            </a:r>
          </a:p>
          <a:p>
            <a:pPr algn="l">
              <a:spcAft>
                <a:spcPts val="200"/>
              </a:spcAft>
            </a:pPr>
            <a:r>
              <a:rPr sz="1150" b="0">
                <a:solidFill>
                  <a:srgbClr val="161B26"/>
                </a:solidFill>
                <a:latin typeface="Arial"/>
              </a:rPr>
              <a:t>Returns immediately with an operation handle.</a:t>
            </a:r>
          </a:p>
        </p:txBody>
      </p:sp>
      <p:sp>
        <p:nvSpPr>
          <p:cNvPr id="12" name="Rectangle 11"/>
          <p:cNvSpPr/>
          <p:nvPr/>
        </p:nvSpPr>
        <p:spPr>
          <a:xfrm>
            <a:off x="7406640" y="2864358"/>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406640" y="2864358"/>
            <a:ext cx="82296" cy="91668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26096" y="2864358"/>
            <a:ext cx="3602736" cy="916686"/>
          </a:xfrm>
          <a:prstGeom prst="rect">
            <a:avLst/>
          </a:prstGeom>
          <a:noFill/>
        </p:spPr>
        <p:txBody>
          <a:bodyPr wrap="square" anchor="ctr">
            <a:spAutoFit/>
          </a:bodyPr>
          <a:lstStyle/>
          <a:p>
            <a:pPr algn="l">
              <a:spcAft>
                <a:spcPts val="200"/>
              </a:spcAft>
            </a:pPr>
            <a:r>
              <a:rPr sz="1300" b="1">
                <a:solidFill>
                  <a:srgbClr val="10B981"/>
                </a:solidFill>
                <a:latin typeface="Arial"/>
              </a:rPr>
              <a:t>Poll</a:t>
            </a:r>
          </a:p>
          <a:p>
            <a:pPr algn="l">
              <a:spcAft>
                <a:spcPts val="200"/>
              </a:spcAft>
            </a:pPr>
            <a:r>
              <a:rPr sz="1150" b="0">
                <a:solidFill>
                  <a:srgbClr val="161B26"/>
                </a:solidFill>
                <a:latin typeface="Arial"/>
              </a:rPr>
              <a:t>Check every few seconds; back off politely.</a:t>
            </a:r>
          </a:p>
        </p:txBody>
      </p:sp>
      <p:sp>
        <p:nvSpPr>
          <p:cNvPr id="15" name="Rectangle 14"/>
          <p:cNvSpPr/>
          <p:nvPr/>
        </p:nvSpPr>
        <p:spPr>
          <a:xfrm>
            <a:off x="7406640" y="3945636"/>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06640" y="3945636"/>
            <a:ext cx="82296" cy="91668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26096" y="3945636"/>
            <a:ext cx="3602736" cy="916686"/>
          </a:xfrm>
          <a:prstGeom prst="rect">
            <a:avLst/>
          </a:prstGeom>
          <a:noFill/>
        </p:spPr>
        <p:txBody>
          <a:bodyPr wrap="square" anchor="ctr">
            <a:spAutoFit/>
          </a:bodyPr>
          <a:lstStyle/>
          <a:p>
            <a:pPr algn="l">
              <a:spcAft>
                <a:spcPts val="200"/>
              </a:spcAft>
            </a:pPr>
            <a:r>
              <a:rPr sz="1300" b="1">
                <a:solidFill>
                  <a:srgbClr val="7C3AED"/>
                </a:solidFill>
                <a:latin typeface="Arial"/>
              </a:rPr>
              <a:t>Download</a:t>
            </a:r>
          </a:p>
          <a:p>
            <a:pPr algn="l">
              <a:spcAft>
                <a:spcPts val="200"/>
              </a:spcAft>
            </a:pPr>
            <a:r>
              <a:rPr sz="1150" b="0">
                <a:solidFill>
                  <a:srgbClr val="161B26"/>
                </a:solidFill>
                <a:latin typeface="Arial"/>
              </a:rPr>
              <a:t>The result is a file reference, not the bytes.</a:t>
            </a:r>
          </a:p>
        </p:txBody>
      </p:sp>
      <p:sp>
        <p:nvSpPr>
          <p:cNvPr id="18" name="Rectangle 17"/>
          <p:cNvSpPr/>
          <p:nvPr/>
        </p:nvSpPr>
        <p:spPr>
          <a:xfrm>
            <a:off x="7406640" y="5026914"/>
            <a:ext cx="4005072" cy="9166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406640" y="5026914"/>
            <a:ext cx="82296" cy="91668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26096" y="5026914"/>
            <a:ext cx="3602736" cy="916686"/>
          </a:xfrm>
          <a:prstGeom prst="rect">
            <a:avLst/>
          </a:prstGeom>
          <a:noFill/>
        </p:spPr>
        <p:txBody>
          <a:bodyPr wrap="square" anchor="ctr">
            <a:spAutoFit/>
          </a:bodyPr>
          <a:lstStyle/>
          <a:p>
            <a:pPr algn="l">
              <a:spcAft>
                <a:spcPts val="200"/>
              </a:spcAft>
            </a:pPr>
            <a:r>
              <a:rPr sz="1300" b="1">
                <a:solidFill>
                  <a:srgbClr val="F59E0B"/>
                </a:solidFill>
                <a:latin typeface="Arial"/>
              </a:rPr>
              <a:t>Same shape everywhere</a:t>
            </a:r>
          </a:p>
          <a:p>
            <a:pPr algn="l">
              <a:spcAft>
                <a:spcPts val="200"/>
              </a:spcAft>
            </a:pPr>
            <a:r>
              <a:rPr sz="1150" b="0">
                <a:solidFill>
                  <a:srgbClr val="161B26"/>
                </a:solidFill>
                <a:latin typeface="Arial"/>
              </a:rPr>
              <a:t>Most video APIs follow this submit–poll–fetch pattern.</a:t>
            </a:r>
          </a:p>
        </p:txBody>
      </p:sp>
      <p:sp>
        <p:nvSpPr>
          <p:cNvPr id="21" name="Rectangle 20"/>
          <p:cNvSpPr/>
          <p:nvPr/>
        </p:nvSpPr>
        <p:spPr>
          <a:xfrm>
            <a:off x="777240" y="6053328"/>
            <a:ext cx="10634472" cy="40233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6053328"/>
            <a:ext cx="10241280" cy="402336"/>
          </a:xfrm>
          <a:prstGeom prst="rect">
            <a:avLst/>
          </a:prstGeom>
          <a:noFill/>
        </p:spPr>
        <p:txBody>
          <a:bodyPr wrap="square" anchor="ctr">
            <a:spAutoFit/>
          </a:bodyPr>
          <a:lstStyle/>
          <a:p>
            <a:pPr algn="l">
              <a:spcAft>
                <a:spcPts val="400"/>
              </a:spcAft>
            </a:pPr>
            <a:r>
              <a:rPr sz="1100" b="1">
                <a:solidFill>
                  <a:srgbClr val="127A3E"/>
                </a:solidFill>
                <a:latin typeface="Arial"/>
              </a:rPr>
              <a:t>VERIFY   </a:t>
            </a:r>
            <a:r>
              <a:rPr sz="1200" b="0">
                <a:solidFill>
                  <a:srgbClr val="161B26"/>
                </a:solidFill>
                <a:latin typeface="Arial"/>
              </a:rPr>
              <a:t>Parameter names differ by provider; check the current API reference before use.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transition spd="fast">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A8 · K13 · MODELLED, THEN MEASURED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Modelling Cost, Time and Upload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74519"/>
            <a:ext cx="336194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112263"/>
            <a:ext cx="2996184" cy="457200"/>
          </a:xfrm>
          <a:prstGeom prst="rect">
            <a:avLst/>
          </a:prstGeom>
          <a:noFill/>
        </p:spPr>
        <p:txBody>
          <a:bodyPr wrap="square" anchor="t">
            <a:spAutoFit/>
          </a:bodyPr>
          <a:lstStyle/>
          <a:p>
            <a:pPr algn="l">
              <a:spcAft>
                <a:spcPts val="400"/>
              </a:spcAft>
            </a:pPr>
            <a:r>
              <a:rPr sz="1500" b="1">
                <a:solidFill>
                  <a:srgbClr val="1F6FEB"/>
                </a:solidFill>
                <a:latin typeface="Arial"/>
              </a:rPr>
              <a:t>Cost</a:t>
            </a:r>
          </a:p>
        </p:txBody>
      </p:sp>
      <p:sp>
        <p:nvSpPr>
          <p:cNvPr id="10" name="Rectangle 9"/>
          <p:cNvSpPr/>
          <p:nvPr/>
        </p:nvSpPr>
        <p:spPr>
          <a:xfrm>
            <a:off x="960120" y="2715767"/>
            <a:ext cx="2996184" cy="104241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2715767"/>
            <a:ext cx="2813304" cy="1042416"/>
          </a:xfrm>
          <a:prstGeom prst="rect">
            <a:avLst/>
          </a:prstGeom>
          <a:noFill/>
        </p:spPr>
        <p:txBody>
          <a:bodyPr wrap="none" lIns="0" rIns="0" tIns="0" bIns="0" anchor="ctr">
            <a:noAutofit/>
          </a:bodyPr>
          <a:lstStyle/>
          <a:p>
            <a:pPr>
              <a:spcAft>
                <a:spcPts val="100"/>
              </a:spcAft>
            </a:pPr>
            <a:r>
              <a:rPr sz="1070">
                <a:solidFill>
                  <a:srgbClr val="9CDCFE"/>
                </a:solidFill>
                <a:latin typeface="Consolas"/>
              </a:rPr>
              <a:t>S$ = sum(sec x takes) x credits/s</a:t>
            </a:r>
          </a:p>
          <a:p>
            <a:pPr>
              <a:spcAft>
                <a:spcPts val="100"/>
              </a:spcAft>
            </a:pPr>
            <a:r>
              <a:rPr sz="1070">
                <a:solidFill>
                  <a:srgbClr val="9CDCFE"/>
                </a:solidFill>
                <a:latin typeface="Consolas"/>
              </a:rPr>
              <a:t>     x S$/credit + fixed</a:t>
            </a:r>
          </a:p>
        </p:txBody>
      </p:sp>
      <p:sp>
        <p:nvSpPr>
          <p:cNvPr id="12" name="TextBox 11"/>
          <p:cNvSpPr txBox="1"/>
          <p:nvPr/>
        </p:nvSpPr>
        <p:spPr>
          <a:xfrm>
            <a:off x="960120" y="3867911"/>
            <a:ext cx="2996184" cy="1490472"/>
          </a:xfrm>
          <a:prstGeom prst="rect">
            <a:avLst/>
          </a:prstGeom>
          <a:noFill/>
        </p:spPr>
        <p:txBody>
          <a:bodyPr wrap="square" anchor="t">
            <a:spAutoFit/>
          </a:bodyPr>
          <a:lstStyle/>
          <a:p>
            <a:pPr algn="l">
              <a:spcAft>
                <a:spcPts val="400"/>
              </a:spcAft>
            </a:pPr>
            <a:r>
              <a:rPr sz="1200" b="0">
                <a:solidFill>
                  <a:srgbClr val="5B6372"/>
                </a:solidFill>
                <a:latin typeface="Arial"/>
              </a:rPr>
              <a:t>The Last Ferry: 98 generated seconds for 48 finished seconds.</a:t>
            </a:r>
          </a:p>
        </p:txBody>
      </p:sp>
      <p:sp>
        <p:nvSpPr>
          <p:cNvPr id="13" name="Rectangle 12"/>
          <p:cNvSpPr/>
          <p:nvPr/>
        </p:nvSpPr>
        <p:spPr>
          <a:xfrm>
            <a:off x="4413504"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13504" y="1874519"/>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96384" y="2112263"/>
            <a:ext cx="2996184" cy="457200"/>
          </a:xfrm>
          <a:prstGeom prst="rect">
            <a:avLst/>
          </a:prstGeom>
          <a:noFill/>
        </p:spPr>
        <p:txBody>
          <a:bodyPr wrap="square" anchor="t">
            <a:spAutoFit/>
          </a:bodyPr>
          <a:lstStyle/>
          <a:p>
            <a:pPr algn="l">
              <a:spcAft>
                <a:spcPts val="400"/>
              </a:spcAft>
            </a:pPr>
            <a:r>
              <a:rPr sz="1500" b="1">
                <a:solidFill>
                  <a:srgbClr val="10B981"/>
                </a:solidFill>
                <a:latin typeface="Arial"/>
              </a:rPr>
              <a:t>Cost per finished minute</a:t>
            </a:r>
          </a:p>
        </p:txBody>
      </p:sp>
      <p:sp>
        <p:nvSpPr>
          <p:cNvPr id="16" name="Rectangle 15"/>
          <p:cNvSpPr/>
          <p:nvPr/>
        </p:nvSpPr>
        <p:spPr>
          <a:xfrm>
            <a:off x="4596384" y="2715767"/>
            <a:ext cx="2996184" cy="67665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87824" y="2715767"/>
            <a:ext cx="2813304" cy="676656"/>
          </a:xfrm>
          <a:prstGeom prst="rect">
            <a:avLst/>
          </a:prstGeom>
          <a:noFill/>
        </p:spPr>
        <p:txBody>
          <a:bodyPr wrap="none" lIns="0" rIns="0" tIns="0" bIns="0" anchor="ctr">
            <a:noAutofit/>
          </a:bodyPr>
          <a:lstStyle/>
          <a:p>
            <a:pPr>
              <a:spcAft>
                <a:spcPts val="100"/>
              </a:spcAft>
            </a:pPr>
            <a:r>
              <a:rPr sz="1400">
                <a:solidFill>
                  <a:srgbClr val="9CDCFE"/>
                </a:solidFill>
                <a:latin typeface="Consolas"/>
              </a:rPr>
              <a:t>S$ / (finished_s / 60)</a:t>
            </a:r>
          </a:p>
        </p:txBody>
      </p:sp>
      <p:sp>
        <p:nvSpPr>
          <p:cNvPr id="18" name="TextBox 17"/>
          <p:cNvSpPr txBox="1"/>
          <p:nvPr/>
        </p:nvSpPr>
        <p:spPr>
          <a:xfrm>
            <a:off x="4596384" y="3502151"/>
            <a:ext cx="2996184" cy="1856232"/>
          </a:xfrm>
          <a:prstGeom prst="rect">
            <a:avLst/>
          </a:prstGeom>
          <a:noFill/>
        </p:spPr>
        <p:txBody>
          <a:bodyPr wrap="square" anchor="t">
            <a:spAutoFit/>
          </a:bodyPr>
          <a:lstStyle/>
          <a:p>
            <a:pPr algn="l">
              <a:spcAft>
                <a:spcPts val="400"/>
              </a:spcAft>
            </a:pPr>
            <a:r>
              <a:rPr sz="1200" b="0">
                <a:solidFill>
                  <a:srgbClr val="5B6372"/>
                </a:solidFill>
                <a:latin typeface="Arial"/>
              </a:rPr>
              <a:t>The number to compare with a live shoot or an agency quote.</a:t>
            </a:r>
          </a:p>
        </p:txBody>
      </p:sp>
      <p:sp>
        <p:nvSpPr>
          <p:cNvPr id="19" name="Rectangle 18"/>
          <p:cNvSpPr/>
          <p:nvPr/>
        </p:nvSpPr>
        <p:spPr>
          <a:xfrm>
            <a:off x="8049768"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9768" y="1874519"/>
            <a:ext cx="336194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2648" y="2112263"/>
            <a:ext cx="2996184" cy="457200"/>
          </a:xfrm>
          <a:prstGeom prst="rect">
            <a:avLst/>
          </a:prstGeom>
          <a:noFill/>
        </p:spPr>
        <p:txBody>
          <a:bodyPr wrap="square" anchor="t">
            <a:spAutoFit/>
          </a:bodyPr>
          <a:lstStyle/>
          <a:p>
            <a:pPr algn="l">
              <a:spcAft>
                <a:spcPts val="400"/>
              </a:spcAft>
            </a:pPr>
            <a:r>
              <a:rPr sz="1500" b="1">
                <a:solidFill>
                  <a:srgbClr val="7C3AED"/>
                </a:solidFill>
                <a:latin typeface="Arial"/>
              </a:rPr>
              <a:t>Upload</a:t>
            </a:r>
          </a:p>
        </p:txBody>
      </p:sp>
      <p:sp>
        <p:nvSpPr>
          <p:cNvPr id="22" name="Rectangle 21"/>
          <p:cNvSpPr/>
          <p:nvPr/>
        </p:nvSpPr>
        <p:spPr>
          <a:xfrm>
            <a:off x="8232648" y="2715767"/>
            <a:ext cx="2996184" cy="67665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24088" y="2715767"/>
            <a:ext cx="2813304" cy="676656"/>
          </a:xfrm>
          <a:prstGeom prst="rect">
            <a:avLst/>
          </a:prstGeom>
          <a:noFill/>
        </p:spPr>
        <p:txBody>
          <a:bodyPr wrap="none" lIns="0" rIns="0" tIns="0" bIns="0" anchor="ctr">
            <a:noAutofit/>
          </a:bodyPr>
          <a:lstStyle/>
          <a:p>
            <a:pPr>
              <a:spcAft>
                <a:spcPts val="100"/>
              </a:spcAft>
            </a:pPr>
            <a:r>
              <a:rPr sz="1350">
                <a:solidFill>
                  <a:srgbClr val="9CDCFE"/>
                </a:solidFill>
                <a:latin typeface="Consolas"/>
              </a:rPr>
              <a:t>t = bytes x 8 / uplink_bps</a:t>
            </a:r>
          </a:p>
        </p:txBody>
      </p:sp>
      <p:sp>
        <p:nvSpPr>
          <p:cNvPr id="24" name="TextBox 23"/>
          <p:cNvSpPr txBox="1"/>
          <p:nvPr/>
        </p:nvSpPr>
        <p:spPr>
          <a:xfrm>
            <a:off x="8232648" y="3502151"/>
            <a:ext cx="2996184" cy="1856232"/>
          </a:xfrm>
          <a:prstGeom prst="rect">
            <a:avLst/>
          </a:prstGeom>
          <a:noFill/>
        </p:spPr>
        <p:txBody>
          <a:bodyPr wrap="square" anchor="t">
            <a:spAutoFit/>
          </a:bodyPr>
          <a:lstStyle/>
          <a:p>
            <a:pPr algn="l">
              <a:spcAft>
                <a:spcPts val="400"/>
              </a:spcAft>
            </a:pPr>
            <a:r>
              <a:rPr sz="1200" b="0">
                <a:solidFill>
                  <a:srgbClr val="5B6372"/>
                </a:solidFill>
                <a:latin typeface="Arial"/>
              </a:rPr>
              <a:t>0.44 MB element pack at 20 Mb/s = 0.2 s: references are cheap to send.</a:t>
            </a:r>
          </a:p>
        </p:txBody>
      </p:sp>
      <p:sp>
        <p:nvSpPr>
          <p:cNvPr id="25" name="TextBox 24"/>
          <p:cNvSpPr txBox="1"/>
          <p:nvPr/>
        </p:nvSpPr>
        <p:spPr>
          <a:xfrm>
            <a:off x="777240" y="5715000"/>
            <a:ext cx="10698480" cy="548640"/>
          </a:xfrm>
          <a:prstGeom prst="rect">
            <a:avLst/>
          </a:prstGeom>
          <a:noFill/>
        </p:spPr>
        <p:txBody>
          <a:bodyPr wrap="square" anchor="ctr">
            <a:spAutoFit/>
          </a:bodyPr>
          <a:lstStyle/>
          <a:p>
            <a:pPr algn="ctr">
              <a:spcAft>
                <a:spcPts val="400"/>
              </a:spcAft>
            </a:pPr>
            <a:r>
              <a:rPr sz="1300" b="0">
                <a:solidFill>
                  <a:srgbClr val="5B6372"/>
                </a:solidFill>
                <a:latin typeface="Arial"/>
              </a:rPr>
              <a:t>Lab 12 MEASURES the local stages on your own laptop and MODELS the cloud stages from the production plan.</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transition spd="fast">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A8 · LAB 12 DECISION MATRIX</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Four Architectures for The Last Ferry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6675120" cy="3977639"/>
        </p:xfrm>
        <a:graphic>
          <a:graphicData uri="http://schemas.openxmlformats.org/drawingml/2006/chart">
            <c:chart xmlns:c="http://schemas.openxmlformats.org/drawingml/2006/chart" r:id="rId2"/>
          </a:graphicData>
        </a:graphic>
      </p:graphicFrame>
      <p:sp>
        <p:nvSpPr>
          <p:cNvPr id="8" name="Rectangle 7"/>
          <p:cNvSpPr/>
          <p:nvPr/>
        </p:nvSpPr>
        <p:spPr>
          <a:xfrm>
            <a:off x="7680960" y="1783080"/>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80960" y="1783080"/>
            <a:ext cx="82296" cy="87096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82128" y="1783080"/>
            <a:ext cx="3346704" cy="870965"/>
          </a:xfrm>
          <a:prstGeom prst="rect">
            <a:avLst/>
          </a:prstGeom>
          <a:noFill/>
        </p:spPr>
        <p:txBody>
          <a:bodyPr wrap="square" anchor="ctr">
            <a:spAutoFit/>
          </a:bodyPr>
          <a:lstStyle/>
          <a:p>
            <a:pPr algn="l">
              <a:spcAft>
                <a:spcPts val="200"/>
              </a:spcAft>
            </a:pPr>
            <a:r>
              <a:rPr sz="1250" b="1">
                <a:solidFill>
                  <a:srgbClr val="1F6FEB"/>
                </a:solidFill>
                <a:latin typeface="Arial"/>
              </a:rPr>
              <a:t>A fails two gates</a:t>
            </a:r>
          </a:p>
          <a:p>
            <a:pPr algn="l">
              <a:spcAft>
                <a:spcPts val="200"/>
              </a:spcAft>
            </a:pPr>
            <a:r>
              <a:rPr sz="1100" b="0">
                <a:solidFill>
                  <a:srgbClr val="161B26"/>
                </a:solidFill>
                <a:latin typeface="Arial"/>
              </a:rPr>
              <a:t>Quality tier 3 &lt; 4; no per-shot control.</a:t>
            </a:r>
          </a:p>
        </p:txBody>
      </p:sp>
      <p:sp>
        <p:nvSpPr>
          <p:cNvPr id="11" name="Rectangle 10"/>
          <p:cNvSpPr/>
          <p:nvPr/>
        </p:nvSpPr>
        <p:spPr>
          <a:xfrm>
            <a:off x="7680960" y="2818637"/>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680960" y="2818637"/>
            <a:ext cx="82296" cy="87096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82128" y="2818637"/>
            <a:ext cx="3346704" cy="870965"/>
          </a:xfrm>
          <a:prstGeom prst="rect">
            <a:avLst/>
          </a:prstGeom>
          <a:noFill/>
        </p:spPr>
        <p:txBody>
          <a:bodyPr wrap="square" anchor="ctr">
            <a:spAutoFit/>
          </a:bodyPr>
          <a:lstStyle/>
          <a:p>
            <a:pPr algn="l">
              <a:spcAft>
                <a:spcPts val="200"/>
              </a:spcAft>
            </a:pPr>
            <a:r>
              <a:rPr sz="1250" b="1">
                <a:solidFill>
                  <a:srgbClr val="10B981"/>
                </a:solidFill>
                <a:latin typeface="Arial"/>
              </a:rPr>
              <a:t>D fails quality</a:t>
            </a:r>
          </a:p>
          <a:p>
            <a:pPr algn="l">
              <a:spcAft>
                <a:spcPts val="200"/>
              </a:spcAft>
            </a:pPr>
            <a:r>
              <a:rPr sz="1100" b="0">
                <a:solidFill>
                  <a:srgbClr val="161B26"/>
                </a:solidFill>
                <a:latin typeface="Arial"/>
              </a:rPr>
              <a:t>Cheapest, but tier 2 for a brand hero film.</a:t>
            </a:r>
          </a:p>
        </p:txBody>
      </p:sp>
      <p:sp>
        <p:nvSpPr>
          <p:cNvPr id="14" name="Rectangle 13"/>
          <p:cNvSpPr/>
          <p:nvPr/>
        </p:nvSpPr>
        <p:spPr>
          <a:xfrm>
            <a:off x="7680960" y="3854194"/>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680960" y="3854194"/>
            <a:ext cx="82296" cy="870965"/>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82128" y="3854194"/>
            <a:ext cx="3346704" cy="870965"/>
          </a:xfrm>
          <a:prstGeom prst="rect">
            <a:avLst/>
          </a:prstGeom>
          <a:noFill/>
        </p:spPr>
        <p:txBody>
          <a:bodyPr wrap="square" anchor="ctr">
            <a:spAutoFit/>
          </a:bodyPr>
          <a:lstStyle/>
          <a:p>
            <a:pPr algn="l">
              <a:spcAft>
                <a:spcPts val="200"/>
              </a:spcAft>
            </a:pPr>
            <a:r>
              <a:rPr sz="1250" b="1">
                <a:solidFill>
                  <a:srgbClr val="7C3AED"/>
                </a:solidFill>
                <a:latin typeface="Arial"/>
              </a:rPr>
              <a:t>B and C pass</a:t>
            </a:r>
          </a:p>
          <a:p>
            <a:pPr algn="l">
              <a:spcAft>
                <a:spcPts val="200"/>
              </a:spcAft>
            </a:pPr>
            <a:r>
              <a:rPr sz="1100" b="0">
                <a:solidFill>
                  <a:srgbClr val="161B26"/>
                </a:solidFill>
                <a:latin typeface="Arial"/>
              </a:rPr>
              <a:t>C is cheaper: S$87 vs S$159.</a:t>
            </a:r>
          </a:p>
        </p:txBody>
      </p:sp>
      <p:sp>
        <p:nvSpPr>
          <p:cNvPr id="17" name="Rectangle 16"/>
          <p:cNvSpPr/>
          <p:nvPr/>
        </p:nvSpPr>
        <p:spPr>
          <a:xfrm>
            <a:off x="7680960" y="4889751"/>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0" y="4889751"/>
            <a:ext cx="82296" cy="870965"/>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82128" y="4889751"/>
            <a:ext cx="3346704" cy="870965"/>
          </a:xfrm>
          <a:prstGeom prst="rect">
            <a:avLst/>
          </a:prstGeom>
          <a:noFill/>
        </p:spPr>
        <p:txBody>
          <a:bodyPr wrap="square" anchor="ctr">
            <a:spAutoFit/>
          </a:bodyPr>
          <a:lstStyle/>
          <a:p>
            <a:pPr algn="l">
              <a:spcAft>
                <a:spcPts val="200"/>
              </a:spcAft>
            </a:pPr>
            <a:r>
              <a:rPr sz="1250" b="1">
                <a:solidFill>
                  <a:srgbClr val="F59E0B"/>
                </a:solidFill>
                <a:latin typeface="Arial"/>
              </a:rPr>
              <a:t>Recommend C</a:t>
            </a:r>
          </a:p>
          <a:p>
            <a:pPr algn="l">
              <a:spcAft>
                <a:spcPts val="200"/>
              </a:spcAft>
            </a:pPr>
            <a:r>
              <a:rPr sz="1100" b="0">
                <a:solidFill>
                  <a:srgbClr val="161B26"/>
                </a:solidFill>
                <a:latin typeface="Arial"/>
              </a:rPr>
              <a:t>Cloud hero shots + local QA, grade and export.</a:t>
            </a:r>
          </a:p>
        </p:txBody>
      </p:sp>
      <p:sp>
        <p:nvSpPr>
          <p:cNvPr id="20" name="Rectangle 19"/>
          <p:cNvSpPr/>
          <p:nvPr/>
        </p:nvSpPr>
        <p:spPr>
          <a:xfrm>
            <a:off x="777240" y="5925312"/>
            <a:ext cx="1417320"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925312"/>
            <a:ext cx="1417320" cy="310896"/>
          </a:xfrm>
          <a:prstGeom prst="rect">
            <a:avLst/>
          </a:prstGeom>
          <a:noFill/>
        </p:spPr>
        <p:txBody>
          <a:bodyPr wrap="square" anchor="ctr">
            <a:spAutoFit/>
          </a:bodyPr>
          <a:lstStyle/>
          <a:p>
            <a:pPr algn="ctr">
              <a:spcAft>
                <a:spcPts val="400"/>
              </a:spcAft>
            </a:pPr>
            <a:r>
              <a:rPr sz="1050" b="1">
                <a:solidFill>
                  <a:srgbClr val="FFFFFF"/>
                </a:solidFill>
                <a:latin typeface="Arial"/>
              </a:rPr>
              <a:t>ILLUSTRATIVE</a:t>
            </a:r>
          </a:p>
        </p:txBody>
      </p:sp>
      <p:sp>
        <p:nvSpPr>
          <p:cNvPr id="22" name="TextBox 21"/>
          <p:cNvSpPr txBox="1"/>
          <p:nvPr/>
        </p:nvSpPr>
        <p:spPr>
          <a:xfrm>
            <a:off x="2331720" y="5925312"/>
            <a:ext cx="9098280" cy="457200"/>
          </a:xfrm>
          <a:prstGeom prst="rect">
            <a:avLst/>
          </a:prstGeom>
          <a:noFill/>
        </p:spPr>
        <p:txBody>
          <a:bodyPr wrap="square" anchor="ctr">
            <a:spAutoFit/>
          </a:bodyPr>
          <a:lstStyle/>
          <a:p>
            <a:pPr algn="l">
              <a:spcAft>
                <a:spcPts val="400"/>
              </a:spcAft>
            </a:pPr>
            <a:r>
              <a:rPr sz="1150" b="0">
                <a:solidFill>
                  <a:srgbClr val="5B6372"/>
                </a:solidFill>
                <a:latin typeface="Arial"/>
              </a:rPr>
              <a:t>Modelled from ILLUSTRATIVE credit rates and render speeds in labs/lab-12/data/architectures.json — replace with current prices.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transition spd="fast">
    <p:fade/>
  </p:transition>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A8 · K13 · MEMORY BOUNDS LOCAL GENERATION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Will an Open Video Model Fit the GPU?</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74519"/>
            <a:ext cx="336194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112263"/>
            <a:ext cx="2996184" cy="457200"/>
          </a:xfrm>
          <a:prstGeom prst="rect">
            <a:avLst/>
          </a:prstGeom>
          <a:noFill/>
        </p:spPr>
        <p:txBody>
          <a:bodyPr wrap="square" anchor="t">
            <a:spAutoFit/>
          </a:bodyPr>
          <a:lstStyle/>
          <a:p>
            <a:pPr algn="l">
              <a:spcAft>
                <a:spcPts val="400"/>
              </a:spcAft>
            </a:pPr>
            <a:r>
              <a:rPr sz="1500" b="1">
                <a:solidFill>
                  <a:srgbClr val="1F6FEB"/>
                </a:solidFill>
                <a:latin typeface="Arial"/>
              </a:rPr>
              <a:t>Weights</a:t>
            </a:r>
          </a:p>
        </p:txBody>
      </p:sp>
      <p:sp>
        <p:nvSpPr>
          <p:cNvPr id="10" name="Rectangle 9"/>
          <p:cNvSpPr/>
          <p:nvPr/>
        </p:nvSpPr>
        <p:spPr>
          <a:xfrm>
            <a:off x="960120" y="2715767"/>
            <a:ext cx="2996184" cy="67665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2715767"/>
            <a:ext cx="2813304" cy="676656"/>
          </a:xfrm>
          <a:prstGeom prst="rect">
            <a:avLst/>
          </a:prstGeom>
          <a:noFill/>
        </p:spPr>
        <p:txBody>
          <a:bodyPr wrap="none" lIns="0" rIns="0" tIns="0" bIns="0" anchor="ctr">
            <a:noAutofit/>
          </a:bodyPr>
          <a:lstStyle/>
          <a:p>
            <a:pPr>
              <a:spcAft>
                <a:spcPts val="100"/>
              </a:spcAft>
            </a:pPr>
            <a:r>
              <a:rPr sz="1400">
                <a:solidFill>
                  <a:srgbClr val="9CDCFE"/>
                </a:solidFill>
                <a:latin typeface="Consolas"/>
              </a:rPr>
              <a:t>bytes = params x bits / 8</a:t>
            </a:r>
          </a:p>
        </p:txBody>
      </p:sp>
      <p:sp>
        <p:nvSpPr>
          <p:cNvPr id="12" name="TextBox 11"/>
          <p:cNvSpPr txBox="1"/>
          <p:nvPr/>
        </p:nvSpPr>
        <p:spPr>
          <a:xfrm>
            <a:off x="960120" y="3502151"/>
            <a:ext cx="2996184" cy="1856232"/>
          </a:xfrm>
          <a:prstGeom prst="rect">
            <a:avLst/>
          </a:prstGeom>
          <a:noFill/>
        </p:spPr>
        <p:txBody>
          <a:bodyPr wrap="square" anchor="t">
            <a:spAutoFit/>
          </a:bodyPr>
          <a:lstStyle/>
          <a:p>
            <a:pPr algn="l">
              <a:spcAft>
                <a:spcPts val="400"/>
              </a:spcAft>
            </a:pPr>
            <a:r>
              <a:rPr sz="1200" b="0">
                <a:solidFill>
                  <a:srgbClr val="5B6372"/>
                </a:solidFill>
                <a:latin typeface="Arial"/>
              </a:rPr>
              <a:t>14 B parameters: 28 GB at FP16, 14 GB at INT8, 7 GB at INT4.</a:t>
            </a:r>
          </a:p>
        </p:txBody>
      </p:sp>
      <p:sp>
        <p:nvSpPr>
          <p:cNvPr id="13" name="Rectangle 12"/>
          <p:cNvSpPr/>
          <p:nvPr/>
        </p:nvSpPr>
        <p:spPr>
          <a:xfrm>
            <a:off x="4413504"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13504" y="1874519"/>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96384" y="2112263"/>
            <a:ext cx="2996184" cy="457200"/>
          </a:xfrm>
          <a:prstGeom prst="rect">
            <a:avLst/>
          </a:prstGeom>
          <a:noFill/>
        </p:spPr>
        <p:txBody>
          <a:bodyPr wrap="square" anchor="t">
            <a:spAutoFit/>
          </a:bodyPr>
          <a:lstStyle/>
          <a:p>
            <a:pPr algn="l">
              <a:spcAft>
                <a:spcPts val="400"/>
              </a:spcAft>
            </a:pPr>
            <a:r>
              <a:rPr sz="1500" b="1">
                <a:solidFill>
                  <a:srgbClr val="10B981"/>
                </a:solidFill>
                <a:latin typeface="Arial"/>
              </a:rPr>
              <a:t>With activations</a:t>
            </a:r>
          </a:p>
        </p:txBody>
      </p:sp>
      <p:sp>
        <p:nvSpPr>
          <p:cNvPr id="16" name="Rectangle 15"/>
          <p:cNvSpPr/>
          <p:nvPr/>
        </p:nvSpPr>
        <p:spPr>
          <a:xfrm>
            <a:off x="4596384" y="2715767"/>
            <a:ext cx="2996184" cy="67665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87824" y="2715767"/>
            <a:ext cx="2813304" cy="676656"/>
          </a:xfrm>
          <a:prstGeom prst="rect">
            <a:avLst/>
          </a:prstGeom>
          <a:noFill/>
        </p:spPr>
        <p:txBody>
          <a:bodyPr wrap="none" lIns="0" rIns="0" tIns="0" bIns="0" anchor="ctr">
            <a:noAutofit/>
          </a:bodyPr>
          <a:lstStyle/>
          <a:p>
            <a:pPr>
              <a:spcAft>
                <a:spcPts val="100"/>
              </a:spcAft>
            </a:pPr>
            <a:r>
              <a:rPr sz="1400">
                <a:solidFill>
                  <a:srgbClr val="9CDCFE"/>
                </a:solidFill>
                <a:latin typeface="Consolas"/>
              </a:rPr>
              <a:t>x 1.3 overhead</a:t>
            </a:r>
          </a:p>
        </p:txBody>
      </p:sp>
      <p:sp>
        <p:nvSpPr>
          <p:cNvPr id="18" name="TextBox 17"/>
          <p:cNvSpPr txBox="1"/>
          <p:nvPr/>
        </p:nvSpPr>
        <p:spPr>
          <a:xfrm>
            <a:off x="4596384" y="3502151"/>
            <a:ext cx="2996184" cy="1856232"/>
          </a:xfrm>
          <a:prstGeom prst="rect">
            <a:avLst/>
          </a:prstGeom>
          <a:noFill/>
        </p:spPr>
        <p:txBody>
          <a:bodyPr wrap="square" anchor="t">
            <a:spAutoFit/>
          </a:bodyPr>
          <a:lstStyle/>
          <a:p>
            <a:pPr algn="l">
              <a:spcAft>
                <a:spcPts val="400"/>
              </a:spcAft>
            </a:pPr>
            <a:r>
              <a:rPr sz="1200" b="0">
                <a:solidFill>
                  <a:srgbClr val="5B6372"/>
                </a:solidFill>
                <a:latin typeface="Arial"/>
              </a:rPr>
              <a:t>36.4 GB FP16 · 18.2 GB INT8 · 9.1 GB INT4.</a:t>
            </a:r>
          </a:p>
        </p:txBody>
      </p:sp>
      <p:sp>
        <p:nvSpPr>
          <p:cNvPr id="19" name="Rectangle 18"/>
          <p:cNvSpPr/>
          <p:nvPr/>
        </p:nvSpPr>
        <p:spPr>
          <a:xfrm>
            <a:off x="8049768" y="1874519"/>
            <a:ext cx="3361944"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9768" y="1874519"/>
            <a:ext cx="336194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2648" y="2112263"/>
            <a:ext cx="2996184" cy="457200"/>
          </a:xfrm>
          <a:prstGeom prst="rect">
            <a:avLst/>
          </a:prstGeom>
          <a:noFill/>
        </p:spPr>
        <p:txBody>
          <a:bodyPr wrap="square" anchor="t">
            <a:spAutoFit/>
          </a:bodyPr>
          <a:lstStyle/>
          <a:p>
            <a:pPr algn="l">
              <a:spcAft>
                <a:spcPts val="400"/>
              </a:spcAft>
            </a:pPr>
            <a:r>
              <a:rPr sz="1500" b="1">
                <a:solidFill>
                  <a:srgbClr val="7C3AED"/>
                </a:solidFill>
                <a:latin typeface="Arial"/>
              </a:rPr>
              <a:t>Decision</a:t>
            </a:r>
          </a:p>
        </p:txBody>
      </p:sp>
      <p:sp>
        <p:nvSpPr>
          <p:cNvPr id="22" name="Rectangle 21"/>
          <p:cNvSpPr/>
          <p:nvPr/>
        </p:nvSpPr>
        <p:spPr>
          <a:xfrm>
            <a:off x="8232648" y="2715767"/>
            <a:ext cx="2996184" cy="67665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24088" y="2715767"/>
            <a:ext cx="2813304" cy="676656"/>
          </a:xfrm>
          <a:prstGeom prst="rect">
            <a:avLst/>
          </a:prstGeom>
          <a:noFill/>
        </p:spPr>
        <p:txBody>
          <a:bodyPr wrap="none" lIns="0" rIns="0" tIns="0" bIns="0" anchor="ctr">
            <a:noAutofit/>
          </a:bodyPr>
          <a:lstStyle/>
          <a:p>
            <a:pPr>
              <a:spcAft>
                <a:spcPts val="100"/>
              </a:spcAft>
            </a:pPr>
            <a:r>
              <a:rPr sz="1400">
                <a:solidFill>
                  <a:srgbClr val="9CDCFE"/>
                </a:solidFill>
                <a:latin typeface="Consolas"/>
              </a:rPr>
              <a:t>fits if need &lt;= VRAM</a:t>
            </a:r>
          </a:p>
        </p:txBody>
      </p:sp>
      <p:sp>
        <p:nvSpPr>
          <p:cNvPr id="24" name="TextBox 23"/>
          <p:cNvSpPr txBox="1"/>
          <p:nvPr/>
        </p:nvSpPr>
        <p:spPr>
          <a:xfrm>
            <a:off x="8232648" y="3502151"/>
            <a:ext cx="2996184" cy="1856232"/>
          </a:xfrm>
          <a:prstGeom prst="rect">
            <a:avLst/>
          </a:prstGeom>
          <a:noFill/>
        </p:spPr>
        <p:txBody>
          <a:bodyPr wrap="square" anchor="t">
            <a:spAutoFit/>
          </a:bodyPr>
          <a:lstStyle/>
          <a:p>
            <a:pPr algn="l">
              <a:spcAft>
                <a:spcPts val="400"/>
              </a:spcAft>
            </a:pPr>
            <a:r>
              <a:rPr sz="1200" b="0">
                <a:solidFill>
                  <a:srgbClr val="5B6372"/>
                </a:solidFill>
                <a:latin typeface="Arial"/>
              </a:rPr>
              <a:t>On a 16 GB GPU only INT4 fits — at a quality cost.</a:t>
            </a:r>
          </a:p>
        </p:txBody>
      </p:sp>
      <p:sp>
        <p:nvSpPr>
          <p:cNvPr id="25" name="TextBox 24"/>
          <p:cNvSpPr txBox="1"/>
          <p:nvPr/>
        </p:nvSpPr>
        <p:spPr>
          <a:xfrm>
            <a:off x="777240" y="5715000"/>
            <a:ext cx="10698480" cy="548640"/>
          </a:xfrm>
          <a:prstGeom prst="rect">
            <a:avLst/>
          </a:prstGeom>
          <a:noFill/>
        </p:spPr>
        <p:txBody>
          <a:bodyPr wrap="square" anchor="ctr">
            <a:spAutoFit/>
          </a:bodyPr>
          <a:lstStyle/>
          <a:p>
            <a:pPr algn="ctr">
              <a:spcAft>
                <a:spcPts val="400"/>
              </a:spcAft>
            </a:pPr>
            <a:r>
              <a:rPr sz="1300" b="0">
                <a:solidFill>
                  <a:srgbClr val="5B6372"/>
                </a:solidFill>
                <a:latin typeface="Arial"/>
              </a:rPr>
              <a:t>Quantising from 32-bit to b-bit scales weight memory by b/32. Offloading trades memory for time.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transition spd="fast">
    <p:fade/>
  </p:transition>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A8 · LAB 12 VRAM CHECK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Memory Needed by Precision (14 B-Parameter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6675120" cy="3977639"/>
        </p:xfrm>
        <a:graphic>
          <a:graphicData uri="http://schemas.openxmlformats.org/drawingml/2006/chart">
            <c:chart xmlns:c="http://schemas.openxmlformats.org/drawingml/2006/chart" r:id="rId2"/>
          </a:graphicData>
        </a:graphic>
      </p:graphicFrame>
      <p:sp>
        <p:nvSpPr>
          <p:cNvPr id="8" name="Rectangle 7"/>
          <p:cNvSpPr/>
          <p:nvPr/>
        </p:nvSpPr>
        <p:spPr>
          <a:xfrm>
            <a:off x="7680960" y="1783080"/>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80960" y="1783080"/>
            <a:ext cx="82296" cy="87096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82128" y="1783080"/>
            <a:ext cx="3346704" cy="870965"/>
          </a:xfrm>
          <a:prstGeom prst="rect">
            <a:avLst/>
          </a:prstGeom>
          <a:noFill/>
        </p:spPr>
        <p:txBody>
          <a:bodyPr wrap="square" anchor="ctr">
            <a:spAutoFit/>
          </a:bodyPr>
          <a:lstStyle/>
          <a:p>
            <a:pPr algn="l">
              <a:spcAft>
                <a:spcPts val="200"/>
              </a:spcAft>
            </a:pPr>
            <a:r>
              <a:rPr sz="1250" b="1">
                <a:solidFill>
                  <a:srgbClr val="1F6FEB"/>
                </a:solidFill>
                <a:latin typeface="Arial"/>
              </a:rPr>
              <a:t>FP16</a:t>
            </a:r>
          </a:p>
          <a:p>
            <a:pPr algn="l">
              <a:spcAft>
                <a:spcPts val="200"/>
              </a:spcAft>
            </a:pPr>
            <a:r>
              <a:rPr sz="1100" b="0">
                <a:solidFill>
                  <a:srgbClr val="161B26"/>
                </a:solidFill>
                <a:latin typeface="Arial"/>
              </a:rPr>
              <a:t>More than twice the GPU.</a:t>
            </a:r>
          </a:p>
        </p:txBody>
      </p:sp>
      <p:sp>
        <p:nvSpPr>
          <p:cNvPr id="11" name="Rectangle 10"/>
          <p:cNvSpPr/>
          <p:nvPr/>
        </p:nvSpPr>
        <p:spPr>
          <a:xfrm>
            <a:off x="7680960" y="2818637"/>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680960" y="2818637"/>
            <a:ext cx="82296" cy="87096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82128" y="2818637"/>
            <a:ext cx="3346704" cy="870965"/>
          </a:xfrm>
          <a:prstGeom prst="rect">
            <a:avLst/>
          </a:prstGeom>
          <a:noFill/>
        </p:spPr>
        <p:txBody>
          <a:bodyPr wrap="square" anchor="ctr">
            <a:spAutoFit/>
          </a:bodyPr>
          <a:lstStyle/>
          <a:p>
            <a:pPr algn="l">
              <a:spcAft>
                <a:spcPts val="200"/>
              </a:spcAft>
            </a:pPr>
            <a:r>
              <a:rPr sz="1250" b="1">
                <a:solidFill>
                  <a:srgbClr val="10B981"/>
                </a:solidFill>
                <a:latin typeface="Arial"/>
              </a:rPr>
              <a:t>INT8</a:t>
            </a:r>
          </a:p>
          <a:p>
            <a:pPr algn="l">
              <a:spcAft>
                <a:spcPts val="200"/>
              </a:spcAft>
            </a:pPr>
            <a:r>
              <a:rPr sz="1100" b="0">
                <a:solidFill>
                  <a:srgbClr val="161B26"/>
                </a:solidFill>
                <a:latin typeface="Arial"/>
              </a:rPr>
              <a:t>Still does not fit 16 GB.</a:t>
            </a:r>
          </a:p>
        </p:txBody>
      </p:sp>
      <p:sp>
        <p:nvSpPr>
          <p:cNvPr id="14" name="Rectangle 13"/>
          <p:cNvSpPr/>
          <p:nvPr/>
        </p:nvSpPr>
        <p:spPr>
          <a:xfrm>
            <a:off x="7680960" y="3854194"/>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680960" y="3854194"/>
            <a:ext cx="82296" cy="870965"/>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82128" y="3854194"/>
            <a:ext cx="3346704" cy="870965"/>
          </a:xfrm>
          <a:prstGeom prst="rect">
            <a:avLst/>
          </a:prstGeom>
          <a:noFill/>
        </p:spPr>
        <p:txBody>
          <a:bodyPr wrap="square" anchor="ctr">
            <a:spAutoFit/>
          </a:bodyPr>
          <a:lstStyle/>
          <a:p>
            <a:pPr algn="l">
              <a:spcAft>
                <a:spcPts val="200"/>
              </a:spcAft>
            </a:pPr>
            <a:r>
              <a:rPr sz="1250" b="1">
                <a:solidFill>
                  <a:srgbClr val="7C3AED"/>
                </a:solidFill>
                <a:latin typeface="Arial"/>
              </a:rPr>
              <a:t>INT4</a:t>
            </a:r>
          </a:p>
          <a:p>
            <a:pPr algn="l">
              <a:spcAft>
                <a:spcPts val="200"/>
              </a:spcAft>
            </a:pPr>
            <a:r>
              <a:rPr sz="1100" b="0">
                <a:solidFill>
                  <a:srgbClr val="161B26"/>
                </a:solidFill>
                <a:latin typeface="Arial"/>
              </a:rPr>
              <a:t>Fits, with quality to verify.</a:t>
            </a:r>
          </a:p>
        </p:txBody>
      </p:sp>
      <p:sp>
        <p:nvSpPr>
          <p:cNvPr id="17" name="Rectangle 16"/>
          <p:cNvSpPr/>
          <p:nvPr/>
        </p:nvSpPr>
        <p:spPr>
          <a:xfrm>
            <a:off x="7680960" y="4889751"/>
            <a:ext cx="37307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0" y="4889751"/>
            <a:ext cx="82296" cy="870965"/>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82128" y="4889751"/>
            <a:ext cx="3346704" cy="870965"/>
          </a:xfrm>
          <a:prstGeom prst="rect">
            <a:avLst/>
          </a:prstGeom>
          <a:noFill/>
        </p:spPr>
        <p:txBody>
          <a:bodyPr wrap="square" anchor="ctr">
            <a:spAutoFit/>
          </a:bodyPr>
          <a:lstStyle/>
          <a:p>
            <a:pPr algn="l">
              <a:spcAft>
                <a:spcPts val="200"/>
              </a:spcAft>
            </a:pPr>
            <a:r>
              <a:rPr sz="1250" b="1">
                <a:solidFill>
                  <a:srgbClr val="F59E0B"/>
                </a:solidFill>
                <a:latin typeface="Arial"/>
              </a:rPr>
              <a:t>Or rent</a:t>
            </a:r>
          </a:p>
          <a:p>
            <a:pPr algn="l">
              <a:spcAft>
                <a:spcPts val="200"/>
              </a:spcAft>
            </a:pPr>
            <a:r>
              <a:rPr sz="1100" b="0">
                <a:solidFill>
                  <a:srgbClr val="161B26"/>
                </a:solidFill>
                <a:latin typeface="Arial"/>
              </a:rPr>
              <a:t>A cloud GPU is a hybrid option.</a:t>
            </a:r>
          </a:p>
        </p:txBody>
      </p:sp>
      <p:sp>
        <p:nvSpPr>
          <p:cNvPr id="20" name="Rectangle 19"/>
          <p:cNvSpPr/>
          <p:nvPr/>
        </p:nvSpPr>
        <p:spPr>
          <a:xfrm>
            <a:off x="777240" y="5925312"/>
            <a:ext cx="1417320"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925312"/>
            <a:ext cx="1417320" cy="310896"/>
          </a:xfrm>
          <a:prstGeom prst="rect">
            <a:avLst/>
          </a:prstGeom>
          <a:noFill/>
        </p:spPr>
        <p:txBody>
          <a:bodyPr wrap="square" anchor="ctr">
            <a:spAutoFit/>
          </a:bodyPr>
          <a:lstStyle/>
          <a:p>
            <a:pPr algn="ctr">
              <a:spcAft>
                <a:spcPts val="400"/>
              </a:spcAft>
            </a:pPr>
            <a:r>
              <a:rPr sz="1050" b="1">
                <a:solidFill>
                  <a:srgbClr val="FFFFFF"/>
                </a:solidFill>
                <a:latin typeface="Arial"/>
              </a:rPr>
              <a:t>MODELLED</a:t>
            </a:r>
          </a:p>
        </p:txBody>
      </p:sp>
      <p:sp>
        <p:nvSpPr>
          <p:cNvPr id="22" name="TextBox 21"/>
          <p:cNvSpPr txBox="1"/>
          <p:nvPr/>
        </p:nvSpPr>
        <p:spPr>
          <a:xfrm>
            <a:off x="2331720" y="5925312"/>
            <a:ext cx="9098280" cy="457200"/>
          </a:xfrm>
          <a:prstGeom prst="rect">
            <a:avLst/>
          </a:prstGeom>
          <a:noFill/>
        </p:spPr>
        <p:txBody>
          <a:bodyPr wrap="square" anchor="ctr">
            <a:spAutoFit/>
          </a:bodyPr>
          <a:lstStyle/>
          <a:p>
            <a:pPr algn="l">
              <a:spcAft>
                <a:spcPts val="400"/>
              </a:spcAft>
            </a:pPr>
            <a:r>
              <a:rPr sz="1150" b="0">
                <a:solidFill>
                  <a:srgbClr val="5B6372"/>
                </a:solidFill>
                <a:latin typeface="Arial"/>
              </a:rPr>
              <a:t>params x bytes x 1.3 activation overhead, as computed by production_arch.py. Real usage varies by model and resolution.</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transition spd="fast">
    <p:fade/>
  </p:transition>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DC2626"/>
                </a:solidFill>
                <a:latin typeface="Arial"/>
              </a:rPr>
              <a:t>K13 · REAL-WORLD DESIGN CONSTRAINTS AND SOLUTION OPTIONS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Real-World Constraints Are Gates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823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CONSENT AND LIKENESS</a:t>
            </a:r>
          </a:p>
          <a:p>
            <a:pPr algn="l">
              <a:spcAft>
                <a:spcPts val="200"/>
              </a:spcAft>
            </a:pPr>
            <a:r>
              <a:rPr sz="1000" b="0">
                <a:solidFill>
                  <a:srgbClr val="5B6372"/>
                </a:solidFill>
                <a:latin typeface="Arial"/>
              </a:rPr>
              <a:t>A real face or voice without written consent removes the option — whatever it costs.</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8236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PERSONAL DATA (PDPA)</a:t>
            </a:r>
          </a:p>
          <a:p>
            <a:pPr algn="l">
              <a:spcAft>
                <a:spcPts val="200"/>
              </a:spcAft>
            </a:pPr>
            <a:r>
              <a:rPr sz="1000" b="0">
                <a:solidFill>
                  <a:srgbClr val="5B6372"/>
                </a:solidFill>
                <a:latin typeface="Arial"/>
              </a:rPr>
              <a:t>Customer and staff photos may not leave approved systems or regions.</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04616"/>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LICENCE TERMS</a:t>
            </a:r>
          </a:p>
          <a:p>
            <a:pPr algn="l">
              <a:spcAft>
                <a:spcPts val="200"/>
              </a:spcAft>
            </a:pPr>
            <a:r>
              <a:rPr sz="1000" b="0">
                <a:solidFill>
                  <a:srgbClr val="5B6372"/>
                </a:solidFill>
                <a:latin typeface="Arial"/>
              </a:rPr>
              <a:t>Commercial use, training on uploads, ownership of outputs.</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04616"/>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QUALITY AND CONTROL</a:t>
            </a:r>
          </a:p>
          <a:p>
            <a:pPr algn="l">
              <a:spcAft>
                <a:spcPts val="200"/>
              </a:spcAft>
            </a:pPr>
            <a:r>
              <a:rPr sz="1000" b="0">
                <a:solidFill>
                  <a:srgbClr val="5B6372"/>
                </a:solidFill>
                <a:latin typeface="Arial"/>
              </a:rPr>
              <a:t>Brand hero work needs per-shot control and a quality tier.</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256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34712"/>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DISCLOSURE AND PROVENANCE</a:t>
            </a:r>
          </a:p>
          <a:p>
            <a:pPr algn="l">
              <a:spcAft>
                <a:spcPts val="200"/>
              </a:spcAft>
            </a:pPr>
            <a:r>
              <a:rPr sz="1000" b="0">
                <a:solidFill>
                  <a:srgbClr val="5B6372"/>
                </a:solidFill>
                <a:latin typeface="Arial"/>
              </a:rPr>
              <a:t>Platform AI labels, C2PA credentials, invisible watermarks.</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256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34712"/>
            <a:ext cx="4027932" cy="1164336"/>
          </a:xfrm>
          <a:prstGeom prst="rect">
            <a:avLst/>
          </a:prstGeom>
          <a:noFill/>
        </p:spPr>
        <p:txBody>
          <a:bodyPr wrap="square" anchor="ctr">
            <a:spAutoFit/>
          </a:bodyPr>
          <a:lstStyle/>
          <a:p>
            <a:pPr algn="l">
              <a:spcAft>
                <a:spcPts val="200"/>
              </a:spcAft>
            </a:pPr>
            <a:r>
              <a:rPr sz="1300" b="1">
                <a:solidFill>
                  <a:srgbClr val="161B26"/>
                </a:solidFill>
                <a:latin typeface="Arial"/>
              </a:rPr>
              <a:t>BUDGET AND DEADLINE</a:t>
            </a:r>
          </a:p>
          <a:p>
            <a:pPr algn="l">
              <a:spcAft>
                <a:spcPts val="200"/>
              </a:spcAft>
            </a:pPr>
            <a:r>
              <a:rPr sz="1000" b="0">
                <a:solidFill>
                  <a:srgbClr val="5B6372"/>
                </a:solidFill>
                <a:latin typeface="Arial"/>
              </a:rPr>
              <a:t>Only then compare cost and time among what survives.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transition spd="fast">
    <p:fade/>
  </p:transition>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A8 · LAB 12 WHAT-IFS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What-If: One Change, New Decision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190341" cy="7010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3007461" cy="701040"/>
          </a:xfrm>
          <a:prstGeom prst="rect">
            <a:avLst/>
          </a:prstGeom>
          <a:noFill/>
        </p:spPr>
        <p:txBody>
          <a:bodyPr wrap="square" anchor="ctr">
            <a:spAutoFit/>
          </a:bodyPr>
          <a:lstStyle/>
          <a:p>
            <a:pPr algn="l">
              <a:spcAft>
                <a:spcPts val="400"/>
              </a:spcAft>
            </a:pPr>
            <a:r>
              <a:rPr sz="1150" b="1">
                <a:solidFill>
                  <a:srgbClr val="FFFFFF"/>
                </a:solidFill>
                <a:latin typeface="Arial"/>
              </a:rPr>
              <a:t>Change</a:t>
            </a:r>
          </a:p>
        </p:txBody>
      </p:sp>
      <p:sp>
        <p:nvSpPr>
          <p:cNvPr id="9" name="Rectangle 8"/>
          <p:cNvSpPr/>
          <p:nvPr/>
        </p:nvSpPr>
        <p:spPr>
          <a:xfrm>
            <a:off x="3967581" y="1783080"/>
            <a:ext cx="3190341" cy="7010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77309" y="1783080"/>
            <a:ext cx="3007461" cy="701040"/>
          </a:xfrm>
          <a:prstGeom prst="rect">
            <a:avLst/>
          </a:prstGeom>
          <a:noFill/>
        </p:spPr>
        <p:txBody>
          <a:bodyPr wrap="square" anchor="ctr">
            <a:spAutoFit/>
          </a:bodyPr>
          <a:lstStyle/>
          <a:p>
            <a:pPr algn="l">
              <a:spcAft>
                <a:spcPts val="400"/>
              </a:spcAft>
            </a:pPr>
            <a:r>
              <a:rPr sz="1150" b="1">
                <a:solidFill>
                  <a:srgbClr val="FFFFFF"/>
                </a:solidFill>
                <a:latin typeface="Arial"/>
              </a:rPr>
              <a:t>Survivors</a:t>
            </a:r>
          </a:p>
        </p:txBody>
      </p:sp>
      <p:sp>
        <p:nvSpPr>
          <p:cNvPr id="11" name="Rectangle 10"/>
          <p:cNvSpPr/>
          <p:nvPr/>
        </p:nvSpPr>
        <p:spPr>
          <a:xfrm>
            <a:off x="7157922" y="1783080"/>
            <a:ext cx="4253788" cy="7010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67650" y="1783080"/>
            <a:ext cx="4070908" cy="701040"/>
          </a:xfrm>
          <a:prstGeom prst="rect">
            <a:avLst/>
          </a:prstGeom>
          <a:noFill/>
        </p:spPr>
        <p:txBody>
          <a:bodyPr wrap="square" anchor="ctr">
            <a:spAutoFit/>
          </a:bodyPr>
          <a:lstStyle/>
          <a:p>
            <a:pPr algn="l">
              <a:spcAft>
                <a:spcPts val="400"/>
              </a:spcAft>
            </a:pPr>
            <a:r>
              <a:rPr sz="1150" b="1">
                <a:solidFill>
                  <a:srgbClr val="FFFFFF"/>
                </a:solidFill>
                <a:latin typeface="Arial"/>
              </a:rPr>
              <a:t>Recommendation</a:t>
            </a:r>
          </a:p>
        </p:txBody>
      </p:sp>
      <p:sp>
        <p:nvSpPr>
          <p:cNvPr id="13" name="Rectangle 12"/>
          <p:cNvSpPr/>
          <p:nvPr/>
        </p:nvSpPr>
        <p:spPr>
          <a:xfrm>
            <a:off x="777240" y="2484120"/>
            <a:ext cx="3190341" cy="7010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 y="2484120"/>
            <a:ext cx="3007461" cy="701040"/>
          </a:xfrm>
          <a:prstGeom prst="rect">
            <a:avLst/>
          </a:prstGeom>
          <a:noFill/>
        </p:spPr>
        <p:txBody>
          <a:bodyPr wrap="square" anchor="ctr">
            <a:spAutoFit/>
          </a:bodyPr>
          <a:lstStyle/>
          <a:p>
            <a:pPr algn="l">
              <a:spcAft>
                <a:spcPts val="400"/>
              </a:spcAft>
            </a:pPr>
            <a:r>
              <a:rPr sz="1050" b="1">
                <a:solidFill>
                  <a:srgbClr val="161B26"/>
                </a:solidFill>
                <a:latin typeface="Arial"/>
              </a:rPr>
              <a:t>Baseline brief</a:t>
            </a:r>
          </a:p>
        </p:txBody>
      </p:sp>
      <p:sp>
        <p:nvSpPr>
          <p:cNvPr id="15" name="Rectangle 14"/>
          <p:cNvSpPr/>
          <p:nvPr/>
        </p:nvSpPr>
        <p:spPr>
          <a:xfrm>
            <a:off x="3967581" y="2484120"/>
            <a:ext cx="3190341" cy="7010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77309" y="2484120"/>
            <a:ext cx="3007461" cy="701040"/>
          </a:xfrm>
          <a:prstGeom prst="rect">
            <a:avLst/>
          </a:prstGeom>
          <a:noFill/>
        </p:spPr>
        <p:txBody>
          <a:bodyPr wrap="square" anchor="ctr">
            <a:spAutoFit/>
          </a:bodyPr>
          <a:lstStyle/>
          <a:p>
            <a:pPr algn="l">
              <a:spcAft>
                <a:spcPts val="400"/>
              </a:spcAft>
            </a:pPr>
            <a:r>
              <a:rPr sz="1050" b="0">
                <a:solidFill>
                  <a:srgbClr val="161B26"/>
                </a:solidFill>
                <a:latin typeface="Arial"/>
              </a:rPr>
              <a:t>B, C</a:t>
            </a:r>
          </a:p>
        </p:txBody>
      </p:sp>
      <p:sp>
        <p:nvSpPr>
          <p:cNvPr id="17" name="Rectangle 16"/>
          <p:cNvSpPr/>
          <p:nvPr/>
        </p:nvSpPr>
        <p:spPr>
          <a:xfrm>
            <a:off x="7157922" y="2484120"/>
            <a:ext cx="4253788" cy="7010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67650" y="2484120"/>
            <a:ext cx="4070908" cy="701040"/>
          </a:xfrm>
          <a:prstGeom prst="rect">
            <a:avLst/>
          </a:prstGeom>
          <a:noFill/>
        </p:spPr>
        <p:txBody>
          <a:bodyPr wrap="square" anchor="ctr">
            <a:spAutoFit/>
          </a:bodyPr>
          <a:lstStyle/>
          <a:p>
            <a:pPr algn="l">
              <a:spcAft>
                <a:spcPts val="400"/>
              </a:spcAft>
            </a:pPr>
            <a:r>
              <a:rPr sz="1050" b="0">
                <a:solidFill>
                  <a:srgbClr val="161B26"/>
                </a:solidFill>
                <a:latin typeface="Arial"/>
              </a:rPr>
              <a:t>C hybrid — cheapest that passes</a:t>
            </a:r>
          </a:p>
        </p:txBody>
      </p:sp>
      <p:sp>
        <p:nvSpPr>
          <p:cNvPr id="19" name="Rectangle 18"/>
          <p:cNvSpPr/>
          <p:nvPr/>
        </p:nvSpPr>
        <p:spPr>
          <a:xfrm>
            <a:off x="777240" y="3185160"/>
            <a:ext cx="3190341" cy="7010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3185160"/>
            <a:ext cx="3007461" cy="701040"/>
          </a:xfrm>
          <a:prstGeom prst="rect">
            <a:avLst/>
          </a:prstGeom>
          <a:noFill/>
        </p:spPr>
        <p:txBody>
          <a:bodyPr wrap="square" anchor="ctr">
            <a:spAutoFit/>
          </a:bodyPr>
          <a:lstStyle/>
          <a:p>
            <a:pPr algn="l">
              <a:spcAft>
                <a:spcPts val="400"/>
              </a:spcAft>
            </a:pPr>
            <a:r>
              <a:rPr sz="1050" b="1">
                <a:solidFill>
                  <a:srgbClr val="161B26"/>
                </a:solidFill>
                <a:latin typeface="Arial"/>
              </a:rPr>
              <a:t>Likeness data must stay local</a:t>
            </a:r>
          </a:p>
        </p:txBody>
      </p:sp>
      <p:sp>
        <p:nvSpPr>
          <p:cNvPr id="21" name="Rectangle 20"/>
          <p:cNvSpPr/>
          <p:nvPr/>
        </p:nvSpPr>
        <p:spPr>
          <a:xfrm>
            <a:off x="3967581" y="3185160"/>
            <a:ext cx="3190341" cy="7010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077309" y="3185160"/>
            <a:ext cx="3007461" cy="701040"/>
          </a:xfrm>
          <a:prstGeom prst="rect">
            <a:avLst/>
          </a:prstGeom>
          <a:noFill/>
        </p:spPr>
        <p:txBody>
          <a:bodyPr wrap="square" anchor="ctr">
            <a:spAutoFit/>
          </a:bodyPr>
          <a:lstStyle/>
          <a:p>
            <a:pPr algn="l">
              <a:spcAft>
                <a:spcPts val="400"/>
              </a:spcAft>
            </a:pPr>
            <a:r>
              <a:rPr sz="1050" b="0">
                <a:solidFill>
                  <a:srgbClr val="161B26"/>
                </a:solidFill>
                <a:latin typeface="Arial"/>
              </a:rPr>
              <a:t>D only (fails quality)</a:t>
            </a:r>
          </a:p>
        </p:txBody>
      </p:sp>
      <p:sp>
        <p:nvSpPr>
          <p:cNvPr id="23" name="Rectangle 22"/>
          <p:cNvSpPr/>
          <p:nvPr/>
        </p:nvSpPr>
        <p:spPr>
          <a:xfrm>
            <a:off x="7157922" y="3185160"/>
            <a:ext cx="4253788" cy="7010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67650" y="3185160"/>
            <a:ext cx="4070908" cy="701040"/>
          </a:xfrm>
          <a:prstGeom prst="rect">
            <a:avLst/>
          </a:prstGeom>
          <a:noFill/>
        </p:spPr>
        <p:txBody>
          <a:bodyPr wrap="square" anchor="ctr">
            <a:spAutoFit/>
          </a:bodyPr>
          <a:lstStyle/>
          <a:p>
            <a:pPr algn="l">
              <a:spcAft>
                <a:spcPts val="400"/>
              </a:spcAft>
            </a:pPr>
            <a:r>
              <a:rPr sz="1050" b="0">
                <a:solidFill>
                  <a:srgbClr val="161B26"/>
                </a:solidFill>
                <a:latin typeface="Arial"/>
              </a:rPr>
              <a:t>None: change the plan, e.g. fictional cast</a:t>
            </a:r>
          </a:p>
        </p:txBody>
      </p:sp>
      <p:sp>
        <p:nvSpPr>
          <p:cNvPr id="25" name="Rectangle 24"/>
          <p:cNvSpPr/>
          <p:nvPr/>
        </p:nvSpPr>
        <p:spPr>
          <a:xfrm>
            <a:off x="777240" y="3886200"/>
            <a:ext cx="3190341" cy="7010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6968" y="3886200"/>
            <a:ext cx="3007461" cy="701040"/>
          </a:xfrm>
          <a:prstGeom prst="rect">
            <a:avLst/>
          </a:prstGeom>
          <a:noFill/>
        </p:spPr>
        <p:txBody>
          <a:bodyPr wrap="square" anchor="ctr">
            <a:spAutoFit/>
          </a:bodyPr>
          <a:lstStyle/>
          <a:p>
            <a:pPr algn="l">
              <a:spcAft>
                <a:spcPts val="400"/>
              </a:spcAft>
            </a:pPr>
            <a:r>
              <a:rPr sz="1050" b="1">
                <a:solidFill>
                  <a:srgbClr val="161B26"/>
                </a:solidFill>
                <a:latin typeface="Arial"/>
              </a:rPr>
              <a:t>Quality tier 2 (social draft)</a:t>
            </a:r>
          </a:p>
        </p:txBody>
      </p:sp>
      <p:sp>
        <p:nvSpPr>
          <p:cNvPr id="27" name="Rectangle 26"/>
          <p:cNvSpPr/>
          <p:nvPr/>
        </p:nvSpPr>
        <p:spPr>
          <a:xfrm>
            <a:off x="3967581" y="3886200"/>
            <a:ext cx="3190341" cy="7010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077309" y="3886200"/>
            <a:ext cx="3007461" cy="701040"/>
          </a:xfrm>
          <a:prstGeom prst="rect">
            <a:avLst/>
          </a:prstGeom>
          <a:noFill/>
        </p:spPr>
        <p:txBody>
          <a:bodyPr wrap="square" anchor="ctr">
            <a:spAutoFit/>
          </a:bodyPr>
          <a:lstStyle/>
          <a:p>
            <a:pPr algn="l">
              <a:spcAft>
                <a:spcPts val="400"/>
              </a:spcAft>
            </a:pPr>
            <a:r>
              <a:rPr sz="1050" b="0">
                <a:solidFill>
                  <a:srgbClr val="161B26"/>
                </a:solidFill>
                <a:latin typeface="Arial"/>
              </a:rPr>
              <a:t>B, C, D (A lacks shot control)</a:t>
            </a:r>
          </a:p>
        </p:txBody>
      </p:sp>
      <p:sp>
        <p:nvSpPr>
          <p:cNvPr id="29" name="Rectangle 28"/>
          <p:cNvSpPr/>
          <p:nvPr/>
        </p:nvSpPr>
        <p:spPr>
          <a:xfrm>
            <a:off x="7157922" y="3886200"/>
            <a:ext cx="4253788" cy="7010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267650" y="3886200"/>
            <a:ext cx="4070908" cy="701040"/>
          </a:xfrm>
          <a:prstGeom prst="rect">
            <a:avLst/>
          </a:prstGeom>
          <a:noFill/>
        </p:spPr>
        <p:txBody>
          <a:bodyPr wrap="square" anchor="ctr">
            <a:spAutoFit/>
          </a:bodyPr>
          <a:lstStyle/>
          <a:p>
            <a:pPr algn="l">
              <a:spcAft>
                <a:spcPts val="400"/>
              </a:spcAft>
            </a:pPr>
            <a:r>
              <a:rPr sz="1050" b="0">
                <a:solidFill>
                  <a:srgbClr val="161B26"/>
                </a:solidFill>
                <a:latin typeface="Arial"/>
              </a:rPr>
              <a:t>D local — S$5, but 8 h</a:t>
            </a:r>
          </a:p>
        </p:txBody>
      </p:sp>
      <p:sp>
        <p:nvSpPr>
          <p:cNvPr id="31" name="Rectangle 30"/>
          <p:cNvSpPr/>
          <p:nvPr/>
        </p:nvSpPr>
        <p:spPr>
          <a:xfrm>
            <a:off x="777240" y="4587240"/>
            <a:ext cx="3190341" cy="7010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4587240"/>
            <a:ext cx="3007461" cy="701040"/>
          </a:xfrm>
          <a:prstGeom prst="rect">
            <a:avLst/>
          </a:prstGeom>
          <a:noFill/>
        </p:spPr>
        <p:txBody>
          <a:bodyPr wrap="square" anchor="ctr">
            <a:spAutoFit/>
          </a:bodyPr>
          <a:lstStyle/>
          <a:p>
            <a:pPr algn="l">
              <a:spcAft>
                <a:spcPts val="400"/>
              </a:spcAft>
            </a:pPr>
            <a:r>
              <a:rPr sz="1050" b="1">
                <a:solidFill>
                  <a:srgbClr val="161B26"/>
                </a:solidFill>
                <a:latin typeface="Arial"/>
              </a:rPr>
              <a:t>Deadline 4 hours</a:t>
            </a:r>
          </a:p>
        </p:txBody>
      </p:sp>
      <p:sp>
        <p:nvSpPr>
          <p:cNvPr id="33" name="Rectangle 32"/>
          <p:cNvSpPr/>
          <p:nvPr/>
        </p:nvSpPr>
        <p:spPr>
          <a:xfrm>
            <a:off x="3967581" y="4587240"/>
            <a:ext cx="3190341" cy="7010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077309" y="4587240"/>
            <a:ext cx="3007461" cy="701040"/>
          </a:xfrm>
          <a:prstGeom prst="rect">
            <a:avLst/>
          </a:prstGeom>
          <a:noFill/>
        </p:spPr>
        <p:txBody>
          <a:bodyPr wrap="square" anchor="ctr">
            <a:spAutoFit/>
          </a:bodyPr>
          <a:lstStyle/>
          <a:p>
            <a:pPr algn="l">
              <a:spcAft>
                <a:spcPts val="400"/>
              </a:spcAft>
            </a:pPr>
            <a:r>
              <a:rPr sz="1050" b="0">
                <a:solidFill>
                  <a:srgbClr val="161B26"/>
                </a:solidFill>
                <a:latin typeface="Arial"/>
              </a:rPr>
              <a:t>B, C (D takes 8 h)</a:t>
            </a:r>
          </a:p>
        </p:txBody>
      </p:sp>
      <p:sp>
        <p:nvSpPr>
          <p:cNvPr id="35" name="Rectangle 34"/>
          <p:cNvSpPr/>
          <p:nvPr/>
        </p:nvSpPr>
        <p:spPr>
          <a:xfrm>
            <a:off x="7157922" y="4587240"/>
            <a:ext cx="4253788" cy="7010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267650" y="4587240"/>
            <a:ext cx="4070908" cy="701040"/>
          </a:xfrm>
          <a:prstGeom prst="rect">
            <a:avLst/>
          </a:prstGeom>
          <a:noFill/>
        </p:spPr>
        <p:txBody>
          <a:bodyPr wrap="square" anchor="ctr">
            <a:spAutoFit/>
          </a:bodyPr>
          <a:lstStyle/>
          <a:p>
            <a:pPr algn="l">
              <a:spcAft>
                <a:spcPts val="400"/>
              </a:spcAft>
            </a:pPr>
            <a:r>
              <a:rPr sz="1050" b="0">
                <a:solidFill>
                  <a:srgbClr val="161B26"/>
                </a:solidFill>
                <a:latin typeface="Arial"/>
              </a:rPr>
              <a:t>C hybrid</a:t>
            </a:r>
          </a:p>
        </p:txBody>
      </p:sp>
      <p:sp>
        <p:nvSpPr>
          <p:cNvPr id="37" name="Rectangle 36"/>
          <p:cNvSpPr/>
          <p:nvPr/>
        </p:nvSpPr>
        <p:spPr>
          <a:xfrm>
            <a:off x="777240" y="5288280"/>
            <a:ext cx="3190341" cy="7010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86968" y="5288280"/>
            <a:ext cx="3007461" cy="701040"/>
          </a:xfrm>
          <a:prstGeom prst="rect">
            <a:avLst/>
          </a:prstGeom>
          <a:noFill/>
        </p:spPr>
        <p:txBody>
          <a:bodyPr wrap="square" anchor="ctr">
            <a:spAutoFit/>
          </a:bodyPr>
          <a:lstStyle/>
          <a:p>
            <a:pPr algn="l">
              <a:spcAft>
                <a:spcPts val="400"/>
              </a:spcAft>
            </a:pPr>
            <a:r>
              <a:rPr sz="1050" b="1">
                <a:solidFill>
                  <a:srgbClr val="161B26"/>
                </a:solidFill>
                <a:latin typeface="Arial"/>
              </a:rPr>
              <a:t>Budget S$80</a:t>
            </a:r>
          </a:p>
        </p:txBody>
      </p:sp>
      <p:sp>
        <p:nvSpPr>
          <p:cNvPr id="39" name="Rectangle 38"/>
          <p:cNvSpPr/>
          <p:nvPr/>
        </p:nvSpPr>
        <p:spPr>
          <a:xfrm>
            <a:off x="3967581" y="5288280"/>
            <a:ext cx="3190341" cy="7010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077309" y="5288280"/>
            <a:ext cx="3007461" cy="701040"/>
          </a:xfrm>
          <a:prstGeom prst="rect">
            <a:avLst/>
          </a:prstGeom>
          <a:noFill/>
        </p:spPr>
        <p:txBody>
          <a:bodyPr wrap="square" anchor="ctr">
            <a:spAutoFit/>
          </a:bodyPr>
          <a:lstStyle/>
          <a:p>
            <a:pPr algn="l">
              <a:spcAft>
                <a:spcPts val="400"/>
              </a:spcAft>
            </a:pPr>
            <a:r>
              <a:rPr sz="1050" b="0">
                <a:solidFill>
                  <a:srgbClr val="161B26"/>
                </a:solidFill>
                <a:latin typeface="Arial"/>
              </a:rPr>
              <a:t>A (fails quality), C over budget</a:t>
            </a:r>
          </a:p>
        </p:txBody>
      </p:sp>
      <p:sp>
        <p:nvSpPr>
          <p:cNvPr id="41" name="Rectangle 40"/>
          <p:cNvSpPr/>
          <p:nvPr/>
        </p:nvSpPr>
        <p:spPr>
          <a:xfrm>
            <a:off x="7157922" y="5288280"/>
            <a:ext cx="4253788" cy="7010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267650" y="5288280"/>
            <a:ext cx="4070908" cy="701040"/>
          </a:xfrm>
          <a:prstGeom prst="rect">
            <a:avLst/>
          </a:prstGeom>
          <a:noFill/>
        </p:spPr>
        <p:txBody>
          <a:bodyPr wrap="square" anchor="ctr">
            <a:spAutoFit/>
          </a:bodyPr>
          <a:lstStyle/>
          <a:p>
            <a:pPr algn="l">
              <a:spcAft>
                <a:spcPts val="400"/>
              </a:spcAft>
            </a:pPr>
            <a:r>
              <a:rPr sz="1050" b="0">
                <a:solidFill>
                  <a:srgbClr val="161B26"/>
                </a:solidFill>
                <a:latin typeface="Arial"/>
              </a:rPr>
              <a:t>None: cut takes or draft resolution</a:t>
            </a:r>
          </a:p>
        </p:txBody>
      </p:sp>
      <p:sp>
        <p:nvSpPr>
          <p:cNvPr id="43" name="TextBox 42"/>
          <p:cNvSpPr txBox="1"/>
          <p:nvPr/>
        </p:nvSpPr>
        <p:spPr>
          <a:xfrm>
            <a:off x="777240" y="6053328"/>
            <a:ext cx="10698480" cy="457200"/>
          </a:xfrm>
          <a:prstGeom prst="rect">
            <a:avLst/>
          </a:prstGeom>
          <a:noFill/>
        </p:spPr>
        <p:txBody>
          <a:bodyPr wrap="square" anchor="t">
            <a:spAutoFit/>
          </a:bodyPr>
          <a:lstStyle/>
          <a:p>
            <a:pPr algn="ctr">
              <a:spcAft>
                <a:spcPts val="400"/>
              </a:spcAft>
            </a:pPr>
            <a:r>
              <a:rPr sz="1200" b="0">
                <a:solidFill>
                  <a:srgbClr val="5B6372"/>
                </a:solidFill>
                <a:latin typeface="Arial"/>
              </a:rPr>
              <a:t>Never relax a gate to manufacture a winner — change the plan instead.</a:t>
            </a:r>
          </a:p>
        </p:txBody>
      </p:sp>
      <p:sp>
        <p:nvSpPr>
          <p:cNvPr id="44" name="TextBox 4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45" name="TextBox 4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6" name="TextBox 4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transition spd="fast">
    <p:fade/>
  </p:transition>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A8 · EVALUATE EDGE AND CLOUD SYSTEMS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Cloud versus Local, Honestly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965960"/>
            <a:ext cx="4754880" cy="365760"/>
          </a:xfrm>
          <a:prstGeom prst="rect">
            <a:avLst/>
          </a:prstGeom>
          <a:noFill/>
        </p:spPr>
        <p:txBody>
          <a:bodyPr wrap="square" anchor="t">
            <a:spAutoFit/>
          </a:bodyPr>
          <a:lstStyle/>
          <a:p>
            <a:pPr algn="l">
              <a:spcAft>
                <a:spcPts val="400"/>
              </a:spcAft>
            </a:pPr>
            <a:r>
              <a:rPr sz="1500" b="1">
                <a:solidFill>
                  <a:srgbClr val="1F6FEB"/>
                </a:solidFill>
                <a:latin typeface="Arial"/>
              </a:rPr>
              <a:t>Cloud</a:t>
            </a:r>
          </a:p>
        </p:txBody>
      </p:sp>
      <p:sp>
        <p:nvSpPr>
          <p:cNvPr id="12" name="TextBox 11"/>
          <p:cNvSpPr txBox="1"/>
          <p:nvPr/>
        </p:nvSpPr>
        <p:spPr>
          <a:xfrm>
            <a:off x="6583680" y="1965960"/>
            <a:ext cx="4572000" cy="365760"/>
          </a:xfrm>
          <a:prstGeom prst="rect">
            <a:avLst/>
          </a:prstGeom>
          <a:noFill/>
        </p:spPr>
        <p:txBody>
          <a:bodyPr wrap="square" anchor="t">
            <a:spAutoFit/>
          </a:bodyPr>
          <a:lstStyle/>
          <a:p>
            <a:pPr algn="l">
              <a:spcAft>
                <a:spcPts val="400"/>
              </a:spcAft>
            </a:pPr>
            <a:r>
              <a:rPr sz="1500" b="1">
                <a:solidFill>
                  <a:srgbClr val="10B981"/>
                </a:solidFill>
                <a:latin typeface="Arial"/>
              </a:rPr>
              <a:t>Local / edge</a:t>
            </a:r>
          </a:p>
        </p:txBody>
      </p:sp>
      <p:sp>
        <p:nvSpPr>
          <p:cNvPr id="13" name="TextBox 12"/>
          <p:cNvSpPr txBox="1"/>
          <p:nvPr/>
        </p:nvSpPr>
        <p:spPr>
          <a:xfrm>
            <a:off x="1005840" y="2423160"/>
            <a:ext cx="4754880" cy="3017520"/>
          </a:xfrm>
          <a:prstGeom prst="rect">
            <a:avLst/>
          </a:prstGeom>
          <a:noFill/>
        </p:spPr>
        <p:txBody>
          <a:bodyPr wrap="square">
            <a:spAutoFit/>
          </a:bodyPr>
          <a:lstStyle/>
          <a:p>
            <a:pPr>
              <a:spcAft>
                <a:spcPts val="800"/>
              </a:spcAft>
            </a:pPr>
            <a:r>
              <a:rPr sz="1500" b="1">
                <a:solidFill>
                  <a:srgbClr val="161B26"/>
                </a:solidFill>
                <a:latin typeface="Arial"/>
              </a:rPr>
              <a:t>•  Cloud strengths</a:t>
            </a:r>
          </a:p>
          <a:p>
            <a:pPr>
              <a:spcAft>
                <a:spcPts val="800"/>
              </a:spcAft>
            </a:pPr>
            <a:r>
              <a:rPr sz="1300" b="0">
                <a:solidFill>
                  <a:srgbClr val="5B6372"/>
                </a:solidFill>
                <a:latin typeface="Arial"/>
              </a:rPr>
              <a:t>–  Best available quality and newest models.</a:t>
            </a:r>
          </a:p>
          <a:p>
            <a:pPr>
              <a:spcAft>
                <a:spcPts val="800"/>
              </a:spcAft>
            </a:pPr>
            <a:r>
              <a:rPr sz="1300" b="0">
                <a:solidFill>
                  <a:srgbClr val="5B6372"/>
                </a:solidFill>
                <a:latin typeface="Arial"/>
              </a:rPr>
              <a:t>–  No GPU to buy; scales instantly.</a:t>
            </a:r>
          </a:p>
          <a:p>
            <a:pPr>
              <a:spcAft>
                <a:spcPts val="800"/>
              </a:spcAft>
            </a:pPr>
            <a:r>
              <a:rPr sz="1300" b="0">
                <a:solidFill>
                  <a:srgbClr val="5B6372"/>
                </a:solidFill>
                <a:latin typeface="Arial"/>
              </a:rPr>
              <a:t>–  Integrated voice, music, editing.</a:t>
            </a:r>
          </a:p>
          <a:p>
            <a:pPr>
              <a:spcAft>
                <a:spcPts val="800"/>
              </a:spcAft>
            </a:pPr>
            <a:r>
              <a:rPr sz="1300" b="0">
                <a:solidFill>
                  <a:srgbClr val="5B6372"/>
                </a:solidFill>
                <a:latin typeface="Arial"/>
              </a:rPr>
              <a:t>–  Costs: per-credit spend, data leaves premises, terms change.</a:t>
            </a:r>
          </a:p>
        </p:txBody>
      </p:sp>
      <p:sp>
        <p:nvSpPr>
          <p:cNvPr id="14" name="TextBox 13"/>
          <p:cNvSpPr txBox="1"/>
          <p:nvPr/>
        </p:nvSpPr>
        <p:spPr>
          <a:xfrm>
            <a:off x="6583680" y="2423160"/>
            <a:ext cx="4617720" cy="3017520"/>
          </a:xfrm>
          <a:prstGeom prst="rect">
            <a:avLst/>
          </a:prstGeom>
          <a:noFill/>
        </p:spPr>
        <p:txBody>
          <a:bodyPr wrap="square">
            <a:spAutoFit/>
          </a:bodyPr>
          <a:lstStyle/>
          <a:p>
            <a:pPr>
              <a:spcAft>
                <a:spcPts val="800"/>
              </a:spcAft>
            </a:pPr>
            <a:r>
              <a:rPr sz="1500" b="1">
                <a:solidFill>
                  <a:srgbClr val="161B26"/>
                </a:solidFill>
                <a:latin typeface="Arial"/>
              </a:rPr>
              <a:t>•  Local strengths</a:t>
            </a:r>
          </a:p>
          <a:p>
            <a:pPr>
              <a:spcAft>
                <a:spcPts val="800"/>
              </a:spcAft>
            </a:pPr>
            <a:r>
              <a:rPr sz="1300" b="0">
                <a:solidFill>
                  <a:srgbClr val="5B6372"/>
                </a:solidFill>
                <a:latin typeface="Arial"/>
              </a:rPr>
              <a:t>–  Data stays on your machine.</a:t>
            </a:r>
          </a:p>
          <a:p>
            <a:pPr>
              <a:spcAft>
                <a:spcPts val="800"/>
              </a:spcAft>
            </a:pPr>
            <a:r>
              <a:rPr sz="1300" b="0">
                <a:solidFill>
                  <a:srgbClr val="5B6372"/>
                </a:solidFill>
                <a:latin typeface="Arial"/>
              </a:rPr>
              <a:t>–  No per-clip fee; repeatable workflows.</a:t>
            </a:r>
          </a:p>
          <a:p>
            <a:pPr>
              <a:spcAft>
                <a:spcPts val="800"/>
              </a:spcAft>
            </a:pPr>
            <a:r>
              <a:rPr sz="1300" b="0">
                <a:solidFill>
                  <a:srgbClr val="5B6372"/>
                </a:solidFill>
                <a:latin typeface="Arial"/>
              </a:rPr>
              <a:t>–  Full control of models and versions.</a:t>
            </a:r>
          </a:p>
          <a:p>
            <a:pPr>
              <a:spcAft>
                <a:spcPts val="800"/>
              </a:spcAft>
            </a:pPr>
            <a:r>
              <a:rPr sz="1300" b="0">
                <a:solidFill>
                  <a:srgbClr val="5B6372"/>
                </a:solidFill>
                <a:latin typeface="Arial"/>
              </a:rPr>
              <a:t>–  Costs: GPU memory, slower renders, set-up and upkeep.</a:t>
            </a:r>
          </a:p>
        </p:txBody>
      </p:sp>
      <p:sp>
        <p:nvSpPr>
          <p:cNvPr id="15" name="TextBox 14"/>
          <p:cNvSpPr txBox="1"/>
          <p:nvPr/>
        </p:nvSpPr>
        <p:spPr>
          <a:xfrm>
            <a:off x="777240" y="5669280"/>
            <a:ext cx="10698480" cy="640080"/>
          </a:xfrm>
          <a:prstGeom prst="rect">
            <a:avLst/>
          </a:prstGeom>
          <a:noFill/>
        </p:spPr>
        <p:txBody>
          <a:bodyPr wrap="square" anchor="ctr">
            <a:spAutoFit/>
          </a:bodyPr>
          <a:lstStyle/>
          <a:p>
            <a:pPr algn="ctr">
              <a:spcAft>
                <a:spcPts val="400"/>
              </a:spcAft>
            </a:pPr>
            <a:r>
              <a:rPr sz="1250" b="0">
                <a:solidFill>
                  <a:srgbClr val="5B6372"/>
                </a:solidFill>
                <a:latin typeface="Arial"/>
              </a:rPr>
              <a:t>Most studios land on a hybrid: generate in the cloud, keep QA, grade, captions, mix and export local.</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transition spd="fast">
    <p:fade/>
  </p:transition>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0B981"/>
                </a:solidFill>
                <a:latin typeface="Arial"/>
              </a:rPr>
              <a:t>TOPIC 05 · ELO6 · A7, A8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Lab 12 — Cloud, Local and Hybrid Production Architecture Evaluation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56231"/>
            <a:ext cx="3401568" cy="361188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56231"/>
            <a:ext cx="3401568"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130552"/>
            <a:ext cx="2999232" cy="457200"/>
          </a:xfrm>
          <a:prstGeom prst="rect">
            <a:avLst/>
          </a:prstGeom>
          <a:noFill/>
        </p:spPr>
        <p:txBody>
          <a:bodyPr wrap="square" anchor="t">
            <a:spAutoFit/>
          </a:bodyPr>
          <a:lstStyle/>
          <a:p>
            <a:pPr algn="l">
              <a:spcAft>
                <a:spcPts val="400"/>
              </a:spcAft>
            </a:pPr>
            <a:r>
              <a:rPr sz="1500" b="1">
                <a:solidFill>
                  <a:srgbClr val="10B981"/>
                </a:solidFill>
                <a:latin typeface="Arial"/>
              </a:rPr>
              <a:t>INPUTS</a:t>
            </a:r>
          </a:p>
        </p:txBody>
      </p:sp>
      <p:sp>
        <p:nvSpPr>
          <p:cNvPr id="10" name="TextBox 9"/>
          <p:cNvSpPr txBox="1"/>
          <p:nvPr/>
        </p:nvSpPr>
        <p:spPr>
          <a:xfrm>
            <a:off x="978408" y="2743200"/>
            <a:ext cx="2999232" cy="2468880"/>
          </a:xfrm>
          <a:prstGeom prst="rect">
            <a:avLst/>
          </a:prstGeom>
          <a:noFill/>
        </p:spPr>
        <p:txBody>
          <a:bodyPr wrap="square" anchor="t">
            <a:spAutoFit/>
          </a:bodyPr>
          <a:lstStyle/>
          <a:p>
            <a:pPr algn="l">
              <a:spcAft>
                <a:spcPts val="400"/>
              </a:spcAft>
            </a:pPr>
            <a:r>
              <a:rPr sz="1400" b="0">
                <a:solidFill>
                  <a:srgbClr val="161B26"/>
                </a:solidFill>
                <a:latin typeface="Arial"/>
              </a:rPr>
              <a:t>4-second 960x540 clip used to time the local stages (SIMULATED clip)</a:t>
            </a:r>
          </a:p>
        </p:txBody>
      </p:sp>
      <p:sp>
        <p:nvSpPr>
          <p:cNvPr id="11" name="Rounded Rectangle 10"/>
          <p:cNvSpPr/>
          <p:nvPr/>
        </p:nvSpPr>
        <p:spPr>
          <a:xfrm>
            <a:off x="4379976" y="1856231"/>
            <a:ext cx="3401568" cy="361188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9976" y="1856231"/>
            <a:ext cx="3401568"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81144" y="2130552"/>
            <a:ext cx="2999232" cy="457200"/>
          </a:xfrm>
          <a:prstGeom prst="rect">
            <a:avLst/>
          </a:prstGeom>
          <a:noFill/>
        </p:spPr>
        <p:txBody>
          <a:bodyPr wrap="square" anchor="t">
            <a:spAutoFit/>
          </a:bodyPr>
          <a:lstStyle/>
          <a:p>
            <a:pPr algn="l">
              <a:spcAft>
                <a:spcPts val="400"/>
              </a:spcAft>
            </a:pPr>
            <a:r>
              <a:rPr sz="1500" b="1">
                <a:solidFill>
                  <a:srgbClr val="10B981"/>
                </a:solidFill>
                <a:latin typeface="Arial"/>
              </a:rPr>
              <a:t>TECHNICAL QUESTION</a:t>
            </a:r>
          </a:p>
        </p:txBody>
      </p:sp>
      <p:sp>
        <p:nvSpPr>
          <p:cNvPr id="14" name="TextBox 13"/>
          <p:cNvSpPr txBox="1"/>
          <p:nvPr/>
        </p:nvSpPr>
        <p:spPr>
          <a:xfrm>
            <a:off x="4581144" y="2743200"/>
            <a:ext cx="2999232" cy="2468880"/>
          </a:xfrm>
          <a:prstGeom prst="rect">
            <a:avLst/>
          </a:prstGeom>
          <a:noFill/>
        </p:spPr>
        <p:txBody>
          <a:bodyPr wrap="square" anchor="t">
            <a:spAutoFit/>
          </a:bodyPr>
          <a:lstStyle/>
          <a:p>
            <a:pPr algn="l">
              <a:spcAft>
                <a:spcPts val="400"/>
              </a:spcAft>
            </a:pPr>
            <a:r>
              <a:rPr sz="1400" b="0">
                <a:solidFill>
                  <a:srgbClr val="161B26"/>
                </a:solidFill>
                <a:latin typeface="Arial"/>
              </a:rPr>
              <a:t>Which architecture passes every gate at the lowest cost — and what single change would flip the decision?</a:t>
            </a:r>
          </a:p>
        </p:txBody>
      </p:sp>
      <p:sp>
        <p:nvSpPr>
          <p:cNvPr id="15" name="Rounded Rectangle 14"/>
          <p:cNvSpPr/>
          <p:nvPr/>
        </p:nvSpPr>
        <p:spPr>
          <a:xfrm>
            <a:off x="7982712" y="1856231"/>
            <a:ext cx="3401568" cy="361188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82712" y="1856231"/>
            <a:ext cx="3401568"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83880" y="2130552"/>
            <a:ext cx="2999232" cy="457200"/>
          </a:xfrm>
          <a:prstGeom prst="rect">
            <a:avLst/>
          </a:prstGeom>
          <a:noFill/>
        </p:spPr>
        <p:txBody>
          <a:bodyPr wrap="square" anchor="t">
            <a:spAutoFit/>
          </a:bodyPr>
          <a:lstStyle/>
          <a:p>
            <a:pPr algn="l">
              <a:spcAft>
                <a:spcPts val="400"/>
              </a:spcAft>
            </a:pPr>
            <a:r>
              <a:rPr sz="1500" b="1">
                <a:solidFill>
                  <a:srgbClr val="10B981"/>
                </a:solidFill>
                <a:latin typeface="Arial"/>
              </a:rPr>
              <a:t>EVIDENCE TO PRODUCE</a:t>
            </a:r>
          </a:p>
        </p:txBody>
      </p:sp>
      <p:sp>
        <p:nvSpPr>
          <p:cNvPr id="18" name="TextBox 17"/>
          <p:cNvSpPr txBox="1"/>
          <p:nvPr/>
        </p:nvSpPr>
        <p:spPr>
          <a:xfrm>
            <a:off x="8183880" y="2743200"/>
            <a:ext cx="2999232" cy="2468880"/>
          </a:xfrm>
          <a:prstGeom prst="rect">
            <a:avLst/>
          </a:prstGeom>
          <a:noFill/>
        </p:spPr>
        <p:txBody>
          <a:bodyPr wrap="square" anchor="t">
            <a:spAutoFit/>
          </a:bodyPr>
          <a:lstStyle/>
          <a:p>
            <a:pPr algn="l">
              <a:spcAft>
                <a:spcPts val="400"/>
              </a:spcAft>
            </a:pPr>
            <a:r>
              <a:rPr sz="1400" b="0">
                <a:solidFill>
                  <a:srgbClr val="161B26"/>
                </a:solidFill>
                <a:latin typeface="Arial"/>
              </a:rPr>
              <a:t>A four-layer architecture diagram for your chosen design, an architecture matrix (cost, cost per finished minute, generation time, upload time, end-to-end hours, VRAM fit, gates), the protocol sequence for your design, and two what-if results.</a:t>
            </a:r>
          </a:p>
        </p:txBody>
      </p:sp>
      <p:sp>
        <p:nvSpPr>
          <p:cNvPr id="19" name="TextBox 18"/>
          <p:cNvSpPr txBox="1"/>
          <p:nvPr/>
        </p:nvSpPr>
        <p:spPr>
          <a:xfrm>
            <a:off x="777240" y="5623560"/>
            <a:ext cx="10607040" cy="685800"/>
          </a:xfrm>
          <a:prstGeom prst="rect">
            <a:avLst/>
          </a:prstGeom>
          <a:noFill/>
        </p:spPr>
        <p:txBody>
          <a:bodyPr wrap="square" anchor="t">
            <a:spAutoFit/>
          </a:bodyPr>
          <a:lstStyle/>
          <a:p>
            <a:pPr algn="l">
              <a:spcAft>
                <a:spcPts val="400"/>
              </a:spcAft>
            </a:pPr>
            <a:r>
              <a:rPr sz="1150" b="0">
                <a:solidFill>
                  <a:srgbClr val="5B6372"/>
                </a:solidFill>
                <a:latin typeface="Arial"/>
              </a:rPr>
              <a:t>LAB 12  ·  60 MIN · Python 3 · opencv-python · NumPy · a pen or diagram tool · no paid service required</a:t>
            </a:r>
          </a:p>
          <a:p>
            <a:pPr algn="l">
              <a:spcAft>
                <a:spcPts val="400"/>
              </a:spcAft>
            </a:pPr>
            <a:r>
              <a:rPr sz="1150" b="0">
                <a:solidFill>
                  <a:srgbClr val="5B6372"/>
                </a:solidFill>
                <a:latin typeface="Arial"/>
              </a:rPr>
              <a:t>Detailed procedures and prompts: Learner Guide / labs/lab-12-cloud-local-production-architecture/README.md</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transition spd="fast">
    <p:fade/>
  </p:transition>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700" b="1">
                <a:solidFill>
                  <a:srgbClr val="1F6FEB"/>
                </a:solidFill>
                <a:latin typeface="Arial"/>
              </a:rPr>
              <a:t>WRAP-UP</a:t>
            </a:r>
          </a:p>
        </p:txBody>
      </p:sp>
      <p:sp>
        <p:nvSpPr>
          <p:cNvPr id="6" name="TextBox 5"/>
          <p:cNvSpPr txBox="1"/>
          <p:nvPr/>
        </p:nvSpPr>
        <p:spPr>
          <a:xfrm>
            <a:off x="1143000" y="2743200"/>
            <a:ext cx="9144000" cy="1463040"/>
          </a:xfrm>
          <a:prstGeom prst="rect">
            <a:avLst/>
          </a:prstGeom>
          <a:noFill/>
        </p:spPr>
        <p:txBody>
          <a:bodyPr wrap="square" anchor="t">
            <a:spAutoFit/>
          </a:bodyPr>
          <a:lstStyle/>
          <a:p>
            <a:pPr algn="l">
              <a:spcAft>
                <a:spcPts val="400"/>
              </a:spcAft>
            </a:pPr>
            <a:r>
              <a:rPr sz="3600" b="1">
                <a:solidFill>
                  <a:srgbClr val="161B26"/>
                </a:solidFill>
                <a:latin typeface="Arial"/>
              </a:rPr>
              <a:t>What You Achieved, and What Comes Next</a:t>
            </a:r>
          </a:p>
        </p:txBody>
      </p:sp>
      <p:sp>
        <p:nvSpPr>
          <p:cNvPr id="7" name="TextBox 6"/>
          <p:cNvSpPr txBox="1"/>
          <p:nvPr/>
        </p:nvSpPr>
        <p:spPr>
          <a:xfrm>
            <a:off x="9326880" y="640080"/>
            <a:ext cx="2377440" cy="1463040"/>
          </a:xfrm>
          <a:prstGeom prst="rect">
            <a:avLst/>
          </a:prstGeom>
          <a:noFill/>
        </p:spPr>
        <p:txBody>
          <a:bodyPr wrap="square" anchor="t">
            <a:spAutoFit/>
          </a:bodyPr>
          <a:lstStyle/>
          <a:p>
            <a:pPr algn="r">
              <a:spcAft>
                <a:spcPts val="400"/>
              </a:spcAft>
            </a:pPr>
            <a:r>
              <a:rPr sz="68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transition spd="fast">
    <p:fade/>
  </p:transition>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LEARNING OUTCOMES DELIVERED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What You Achieved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5455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5455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1799844"/>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179984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9482328" cy="399288"/>
          </a:xfrm>
          <a:prstGeom prst="rect">
            <a:avLst/>
          </a:prstGeom>
          <a:noFill/>
        </p:spPr>
        <p:txBody>
          <a:bodyPr wrap="square" anchor="ctr">
            <a:spAutoFit/>
          </a:bodyPr>
          <a:lstStyle/>
          <a:p>
            <a:pPr algn="l">
              <a:spcAft>
                <a:spcPts val="200"/>
              </a:spcAft>
            </a:pPr>
            <a:r>
              <a:rPr sz="1350" b="1">
                <a:solidFill>
                  <a:srgbClr val="161B26"/>
                </a:solidFill>
                <a:latin typeface="Arial"/>
              </a:rPr>
              <a:t>LO1 · Vision system concepts and applications</a:t>
            </a:r>
          </a:p>
          <a:p>
            <a:pPr algn="l">
              <a:spcAft>
                <a:spcPts val="200"/>
              </a:spcAft>
            </a:pPr>
            <a:r>
              <a:rPr sz="1050" b="0">
                <a:solidFill>
                  <a:srgbClr val="5B6372"/>
                </a:solidFill>
                <a:latin typeface="Arial"/>
              </a:rPr>
              <a:t>Scored six film ideas with gates, chose workflows and specified the production pipeline for The Last Ferry. (Lab 01)</a:t>
            </a:r>
          </a:p>
        </p:txBody>
      </p:sp>
      <p:sp>
        <p:nvSpPr>
          <p:cNvPr id="12" name="Rectangle 11"/>
          <p:cNvSpPr/>
          <p:nvPr/>
        </p:nvSpPr>
        <p:spPr>
          <a:xfrm>
            <a:off x="777240" y="2548128"/>
            <a:ext cx="10634472" cy="5455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548128"/>
            <a:ext cx="91440" cy="5455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14984" y="256489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14984"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1709928" y="2639568"/>
            <a:ext cx="9482328" cy="399288"/>
          </a:xfrm>
          <a:prstGeom prst="rect">
            <a:avLst/>
          </a:prstGeom>
          <a:noFill/>
        </p:spPr>
        <p:txBody>
          <a:bodyPr wrap="square" anchor="ctr">
            <a:spAutoFit/>
          </a:bodyPr>
          <a:lstStyle/>
          <a:p>
            <a:pPr algn="l">
              <a:spcAft>
                <a:spcPts val="200"/>
              </a:spcAft>
            </a:pPr>
            <a:r>
              <a:rPr sz="1300" b="1">
                <a:solidFill>
                  <a:srgbClr val="161B26"/>
                </a:solidFill>
                <a:latin typeface="Arial"/>
              </a:rPr>
              <a:t>LO2 · Image processing</a:t>
            </a:r>
          </a:p>
          <a:p>
            <a:pPr algn="l">
              <a:spcAft>
                <a:spcPts val="200"/>
              </a:spcAft>
            </a:pPr>
            <a:r>
              <a:rPr sz="1000" b="0">
                <a:solidFill>
                  <a:srgbClr val="5B6372"/>
                </a:solidFill>
                <a:latin typeface="Arial"/>
              </a:rPr>
              <a:t>Planned formats, linted and measured structured prompts, verified masked edits and scored grading and enhancement with PSNR and SSIM. (Labs 02–05)</a:t>
            </a:r>
          </a:p>
        </p:txBody>
      </p:sp>
      <p:sp>
        <p:nvSpPr>
          <p:cNvPr id="17" name="Rectangle 16"/>
          <p:cNvSpPr/>
          <p:nvPr/>
        </p:nvSpPr>
        <p:spPr>
          <a:xfrm>
            <a:off x="777240" y="3313176"/>
            <a:ext cx="10634472" cy="5455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5455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329940"/>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32994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04616"/>
            <a:ext cx="9482328" cy="399288"/>
          </a:xfrm>
          <a:prstGeom prst="rect">
            <a:avLst/>
          </a:prstGeom>
          <a:noFill/>
        </p:spPr>
        <p:txBody>
          <a:bodyPr wrap="square" anchor="ctr">
            <a:spAutoFit/>
          </a:bodyPr>
          <a:lstStyle/>
          <a:p>
            <a:pPr algn="l">
              <a:spcAft>
                <a:spcPts val="200"/>
              </a:spcAft>
            </a:pPr>
            <a:r>
              <a:rPr sz="1350" b="1">
                <a:solidFill>
                  <a:srgbClr val="161B26"/>
                </a:solidFill>
                <a:latin typeface="Arial"/>
              </a:rPr>
              <a:t>LO3 · Feature extraction</a:t>
            </a:r>
          </a:p>
          <a:p>
            <a:pPr algn="l">
              <a:spcAft>
                <a:spcPts val="200"/>
              </a:spcAft>
            </a:pPr>
            <a:r>
              <a:rPr sz="1050" b="0">
                <a:solidFill>
                  <a:srgbClr val="5B6372"/>
                </a:solidFill>
                <a:latin typeface="Arial"/>
              </a:rPr>
              <a:t>Designed a character-consistency check from local features and audited the sequence against a numeric look bible. (Labs 06–07)</a:t>
            </a:r>
          </a:p>
        </p:txBody>
      </p:sp>
      <p:sp>
        <p:nvSpPr>
          <p:cNvPr id="22" name="Rectangle 21"/>
          <p:cNvSpPr/>
          <p:nvPr/>
        </p:nvSpPr>
        <p:spPr>
          <a:xfrm>
            <a:off x="777240" y="4078224"/>
            <a:ext cx="10634472" cy="5455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78224"/>
            <a:ext cx="91440" cy="5455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14984" y="4094988"/>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14984" y="409498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1709928" y="4169664"/>
            <a:ext cx="9482328" cy="399288"/>
          </a:xfrm>
          <a:prstGeom prst="rect">
            <a:avLst/>
          </a:prstGeom>
          <a:noFill/>
        </p:spPr>
        <p:txBody>
          <a:bodyPr wrap="square" anchor="ctr">
            <a:spAutoFit/>
          </a:bodyPr>
          <a:lstStyle/>
          <a:p>
            <a:pPr algn="l">
              <a:spcAft>
                <a:spcPts val="200"/>
              </a:spcAft>
            </a:pPr>
            <a:r>
              <a:rPr sz="1350" b="1">
                <a:solidFill>
                  <a:srgbClr val="161B26"/>
                </a:solidFill>
                <a:latin typeface="Arial"/>
              </a:rPr>
              <a:t>LO4 · Machine-learning computer vision</a:t>
            </a:r>
          </a:p>
          <a:p>
            <a:pPr algn="l">
              <a:spcAft>
                <a:spcPts val="200"/>
              </a:spcAft>
            </a:pPr>
            <a:r>
              <a:rPr sz="1050" b="0">
                <a:solidFill>
                  <a:srgbClr val="5B6372"/>
                </a:solidFill>
                <a:latin typeface="Arial"/>
              </a:rPr>
              <a:t>Evaluated two detectors, checked the cast in every frame, and wrote shot prompts with start/end frames and a timed animatic. (Labs 08–09, 11)</a:t>
            </a:r>
          </a:p>
        </p:txBody>
      </p:sp>
      <p:sp>
        <p:nvSpPr>
          <p:cNvPr id="27" name="Rectangle 26"/>
          <p:cNvSpPr/>
          <p:nvPr/>
        </p:nvSpPr>
        <p:spPr>
          <a:xfrm>
            <a:off x="777240" y="4843272"/>
            <a:ext cx="10634472" cy="5455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5455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4860036"/>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34712"/>
            <a:ext cx="9482328" cy="399288"/>
          </a:xfrm>
          <a:prstGeom prst="rect">
            <a:avLst/>
          </a:prstGeom>
          <a:noFill/>
        </p:spPr>
        <p:txBody>
          <a:bodyPr wrap="square" anchor="ctr">
            <a:spAutoFit/>
          </a:bodyPr>
          <a:lstStyle/>
          <a:p>
            <a:pPr algn="l">
              <a:spcAft>
                <a:spcPts val="200"/>
              </a:spcAft>
            </a:pPr>
            <a:r>
              <a:rPr sz="1300" b="1">
                <a:solidFill>
                  <a:srgbClr val="161B26"/>
                </a:solidFill>
                <a:latin typeface="Arial"/>
              </a:rPr>
              <a:t>LO5 · Video analytics</a:t>
            </a:r>
          </a:p>
          <a:p>
            <a:pPr algn="l">
              <a:spcAft>
                <a:spcPts val="200"/>
              </a:spcAft>
            </a:pPr>
            <a:r>
              <a:rPr sz="1000" b="0">
                <a:solidFill>
                  <a:srgbClr val="5B6372"/>
                </a:solidFill>
                <a:latin typeface="Arial"/>
              </a:rPr>
              <a:t>Found cuts, camera motion, flicker, identity drift and the entrance event, and finished the film with captions and an export ladder. (Labs 10–11)</a:t>
            </a:r>
          </a:p>
        </p:txBody>
      </p:sp>
      <p:sp>
        <p:nvSpPr>
          <p:cNvPr id="32" name="Rectangle 31"/>
          <p:cNvSpPr/>
          <p:nvPr/>
        </p:nvSpPr>
        <p:spPr>
          <a:xfrm>
            <a:off x="777240" y="5608320"/>
            <a:ext cx="10634472" cy="5455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608320"/>
            <a:ext cx="91440" cy="5455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14984" y="5625084"/>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14984" y="562508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1709928" y="5699760"/>
            <a:ext cx="9482328" cy="399288"/>
          </a:xfrm>
          <a:prstGeom prst="rect">
            <a:avLst/>
          </a:prstGeom>
          <a:noFill/>
        </p:spPr>
        <p:txBody>
          <a:bodyPr wrap="square" anchor="ctr">
            <a:spAutoFit/>
          </a:bodyPr>
          <a:lstStyle/>
          <a:p>
            <a:pPr algn="l">
              <a:spcAft>
                <a:spcPts val="200"/>
              </a:spcAft>
            </a:pPr>
            <a:r>
              <a:rPr sz="1350" b="1">
                <a:solidFill>
                  <a:srgbClr val="161B26"/>
                </a:solidFill>
                <a:latin typeface="Arial"/>
              </a:rPr>
              <a:t>LO6 · Edge versus cloud evaluation</a:t>
            </a:r>
          </a:p>
          <a:p>
            <a:pPr algn="l">
              <a:spcAft>
                <a:spcPts val="200"/>
              </a:spcAft>
            </a:pPr>
            <a:r>
              <a:rPr sz="1050" b="0">
                <a:solidFill>
                  <a:srgbClr val="5B6372"/>
                </a:solidFill>
                <a:latin typeface="Arial"/>
              </a:rPr>
              <a:t>Measured local stages, modelled four architectures, applied the gates and defended a hybrid design. (Lab 12)</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transition spd="fast">
    <p:fade/>
  </p:transition>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EVERY EXTERNAL CLAIM IN THIS DECK IS TRACEABLE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Source Register — Primary Sources Used (1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38068"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455188" cy="420624"/>
          </a:xfrm>
          <a:prstGeom prst="rect">
            <a:avLst/>
          </a:prstGeom>
          <a:noFill/>
        </p:spPr>
        <p:txBody>
          <a:bodyPr wrap="square" anchor="ctr">
            <a:spAutoFit/>
          </a:bodyPr>
          <a:lstStyle/>
          <a:p>
            <a:pPr algn="l">
              <a:spcAft>
                <a:spcPts val="400"/>
              </a:spcAft>
            </a:pPr>
            <a:r>
              <a:rPr sz="950" b="1">
                <a:solidFill>
                  <a:srgbClr val="FFFFFF"/>
                </a:solidFill>
                <a:latin typeface="Arial"/>
              </a:rPr>
              <a:t>Ref</a:t>
            </a:r>
          </a:p>
        </p:txBody>
      </p:sp>
      <p:sp>
        <p:nvSpPr>
          <p:cNvPr id="9" name="Rectangle 8"/>
          <p:cNvSpPr/>
          <p:nvPr/>
        </p:nvSpPr>
        <p:spPr>
          <a:xfrm>
            <a:off x="1415308" y="1783080"/>
            <a:ext cx="6380683"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25036" y="1783080"/>
            <a:ext cx="6197803" cy="420624"/>
          </a:xfrm>
          <a:prstGeom prst="rect">
            <a:avLst/>
          </a:prstGeom>
          <a:noFill/>
        </p:spPr>
        <p:txBody>
          <a:bodyPr wrap="square" anchor="ctr">
            <a:spAutoFit/>
          </a:bodyPr>
          <a:lstStyle/>
          <a:p>
            <a:pPr algn="l">
              <a:spcAft>
                <a:spcPts val="400"/>
              </a:spcAft>
            </a:pPr>
            <a:r>
              <a:rPr sz="950" b="1">
                <a:solidFill>
                  <a:srgbClr val="FFFFFF"/>
                </a:solidFill>
                <a:latin typeface="Arial"/>
              </a:rPr>
              <a:t>Source</a:t>
            </a:r>
          </a:p>
        </p:txBody>
      </p:sp>
      <p:sp>
        <p:nvSpPr>
          <p:cNvPr id="11" name="Rectangle 10"/>
          <p:cNvSpPr/>
          <p:nvPr/>
        </p:nvSpPr>
        <p:spPr>
          <a:xfrm>
            <a:off x="7795991" y="1783080"/>
            <a:ext cx="361572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05719" y="1783080"/>
            <a:ext cx="3432840" cy="420624"/>
          </a:xfrm>
          <a:prstGeom prst="rect">
            <a:avLst/>
          </a:prstGeom>
          <a:noFill/>
        </p:spPr>
        <p:txBody>
          <a:bodyPr wrap="square" anchor="ctr">
            <a:spAutoFit/>
          </a:bodyPr>
          <a:lstStyle/>
          <a:p>
            <a:pPr algn="l">
              <a:spcAft>
                <a:spcPts val="400"/>
              </a:spcAft>
            </a:pPr>
            <a:r>
              <a:rPr sz="950" b="1">
                <a:solidFill>
                  <a:srgbClr val="FFFFFF"/>
                </a:solidFill>
                <a:latin typeface="Arial"/>
              </a:rPr>
              <a:t>Locator</a:t>
            </a:r>
          </a:p>
        </p:txBody>
      </p:sp>
      <p:sp>
        <p:nvSpPr>
          <p:cNvPr id="13" name="Rectangle 12"/>
          <p:cNvSpPr/>
          <p:nvPr/>
        </p:nvSpPr>
        <p:spPr>
          <a:xfrm>
            <a:off x="777240" y="2203704"/>
            <a:ext cx="638068" cy="42062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 y="2203704"/>
            <a:ext cx="455188" cy="420624"/>
          </a:xfrm>
          <a:prstGeom prst="rect">
            <a:avLst/>
          </a:prstGeom>
          <a:noFill/>
        </p:spPr>
        <p:txBody>
          <a:bodyPr wrap="square" anchor="ctr">
            <a:spAutoFit/>
          </a:bodyPr>
          <a:lstStyle/>
          <a:p>
            <a:pPr algn="l">
              <a:spcAft>
                <a:spcPts val="400"/>
              </a:spcAft>
            </a:pPr>
            <a:r>
              <a:rPr sz="850" b="1">
                <a:solidFill>
                  <a:srgbClr val="161B26"/>
                </a:solidFill>
                <a:latin typeface="Arial"/>
              </a:rPr>
              <a:t>S1</a:t>
            </a:r>
          </a:p>
        </p:txBody>
      </p:sp>
      <p:sp>
        <p:nvSpPr>
          <p:cNvPr id="15" name="Rectangle 14"/>
          <p:cNvSpPr/>
          <p:nvPr/>
        </p:nvSpPr>
        <p:spPr>
          <a:xfrm>
            <a:off x="1415308" y="2203704"/>
            <a:ext cx="6380683" cy="42062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5036" y="2203704"/>
            <a:ext cx="6197803" cy="420624"/>
          </a:xfrm>
          <a:prstGeom prst="rect">
            <a:avLst/>
          </a:prstGeom>
          <a:noFill/>
        </p:spPr>
        <p:txBody>
          <a:bodyPr wrap="square" anchor="ctr">
            <a:spAutoFit/>
          </a:bodyPr>
          <a:lstStyle/>
          <a:p>
            <a:pPr algn="l">
              <a:spcAft>
                <a:spcPts val="400"/>
              </a:spcAft>
            </a:pPr>
            <a:r>
              <a:rPr sz="850" b="0">
                <a:solidFill>
                  <a:srgbClr val="161B26"/>
                </a:solidFill>
                <a:latin typeface="Arial"/>
              </a:rPr>
              <a:t>Course Proposal Tertiary Infotech CA-WSQ-2020-013290-v2 (SSG-approved)</a:t>
            </a:r>
          </a:p>
        </p:txBody>
      </p:sp>
      <p:sp>
        <p:nvSpPr>
          <p:cNvPr id="17" name="Rectangle 16"/>
          <p:cNvSpPr/>
          <p:nvPr/>
        </p:nvSpPr>
        <p:spPr>
          <a:xfrm>
            <a:off x="7795991" y="2203704"/>
            <a:ext cx="3615720" cy="42062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05719" y="2203704"/>
            <a:ext cx="3432840" cy="420624"/>
          </a:xfrm>
          <a:prstGeom prst="rect">
            <a:avLst/>
          </a:prstGeom>
          <a:noFill/>
        </p:spPr>
        <p:txBody>
          <a:bodyPr wrap="square" anchor="ctr">
            <a:spAutoFit/>
          </a:bodyPr>
          <a:lstStyle/>
          <a:p>
            <a:pPr algn="l">
              <a:spcAft>
                <a:spcPts val="400"/>
              </a:spcAft>
            </a:pPr>
            <a:r>
              <a:rPr sz="850" b="0">
                <a:solidFill>
                  <a:srgbClr val="161B26"/>
                </a:solidFill>
                <a:latin typeface="Arial"/>
              </a:rPr>
              <a:t>Part 4 Section E, Curriculum Key Features table</a:t>
            </a:r>
          </a:p>
        </p:txBody>
      </p:sp>
      <p:sp>
        <p:nvSpPr>
          <p:cNvPr id="19" name="Rectangle 18"/>
          <p:cNvSpPr/>
          <p:nvPr/>
        </p:nvSpPr>
        <p:spPr>
          <a:xfrm>
            <a:off x="777240" y="2624328"/>
            <a:ext cx="638068" cy="42062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2624328"/>
            <a:ext cx="455188" cy="420624"/>
          </a:xfrm>
          <a:prstGeom prst="rect">
            <a:avLst/>
          </a:prstGeom>
          <a:noFill/>
        </p:spPr>
        <p:txBody>
          <a:bodyPr wrap="square" anchor="ctr">
            <a:spAutoFit/>
          </a:bodyPr>
          <a:lstStyle/>
          <a:p>
            <a:pPr algn="l">
              <a:spcAft>
                <a:spcPts val="400"/>
              </a:spcAft>
            </a:pPr>
            <a:r>
              <a:rPr sz="850" b="1">
                <a:solidFill>
                  <a:srgbClr val="161B26"/>
                </a:solidFill>
                <a:latin typeface="Arial"/>
              </a:rPr>
              <a:t>S2</a:t>
            </a:r>
          </a:p>
        </p:txBody>
      </p:sp>
      <p:sp>
        <p:nvSpPr>
          <p:cNvPr id="21" name="Rectangle 20"/>
          <p:cNvSpPr/>
          <p:nvPr/>
        </p:nvSpPr>
        <p:spPr>
          <a:xfrm>
            <a:off x="1415308" y="2624328"/>
            <a:ext cx="6380683" cy="42062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25036" y="2624328"/>
            <a:ext cx="6197803" cy="420624"/>
          </a:xfrm>
          <a:prstGeom prst="rect">
            <a:avLst/>
          </a:prstGeom>
          <a:noFill/>
        </p:spPr>
        <p:txBody>
          <a:bodyPr wrap="square" anchor="ctr">
            <a:spAutoFit/>
          </a:bodyPr>
          <a:lstStyle/>
          <a:p>
            <a:pPr algn="l">
              <a:spcAft>
                <a:spcPts val="400"/>
              </a:spcAft>
            </a:pPr>
            <a:r>
              <a:rPr sz="850" b="0">
                <a:solidFill>
                  <a:srgbClr val="161B26"/>
                </a:solidFill>
                <a:latin typeface="Arial"/>
              </a:rPr>
              <a:t>Assessment Plan_OpenCV_TGS-2020505925_V1.0 (28 Dec 2020)</a:t>
            </a:r>
          </a:p>
        </p:txBody>
      </p:sp>
      <p:sp>
        <p:nvSpPr>
          <p:cNvPr id="23" name="Rectangle 22"/>
          <p:cNvSpPr/>
          <p:nvPr/>
        </p:nvSpPr>
        <p:spPr>
          <a:xfrm>
            <a:off x="7795991" y="2624328"/>
            <a:ext cx="3615720" cy="42062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05719" y="2624328"/>
            <a:ext cx="3432840" cy="420624"/>
          </a:xfrm>
          <a:prstGeom prst="rect">
            <a:avLst/>
          </a:prstGeom>
          <a:noFill/>
        </p:spPr>
        <p:txBody>
          <a:bodyPr wrap="square" anchor="ctr">
            <a:spAutoFit/>
          </a:bodyPr>
          <a:lstStyle/>
          <a:p>
            <a:pPr algn="l">
              <a:spcAft>
                <a:spcPts val="400"/>
              </a:spcAft>
            </a:pPr>
            <a:r>
              <a:rPr sz="850" b="0">
                <a:solidFill>
                  <a:srgbClr val="161B26"/>
                </a:solidFill>
                <a:latin typeface="Arial"/>
              </a:rPr>
              <a:t>Assessment Duration table; WA and PP specification table</a:t>
            </a:r>
          </a:p>
        </p:txBody>
      </p:sp>
      <p:sp>
        <p:nvSpPr>
          <p:cNvPr id="25" name="Rectangle 24"/>
          <p:cNvSpPr/>
          <p:nvPr/>
        </p:nvSpPr>
        <p:spPr>
          <a:xfrm>
            <a:off x="777240" y="3044952"/>
            <a:ext cx="638068" cy="42062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6968" y="3044952"/>
            <a:ext cx="455188" cy="420624"/>
          </a:xfrm>
          <a:prstGeom prst="rect">
            <a:avLst/>
          </a:prstGeom>
          <a:noFill/>
        </p:spPr>
        <p:txBody>
          <a:bodyPr wrap="square" anchor="ctr">
            <a:spAutoFit/>
          </a:bodyPr>
          <a:lstStyle/>
          <a:p>
            <a:pPr algn="l">
              <a:spcAft>
                <a:spcPts val="400"/>
              </a:spcAft>
            </a:pPr>
            <a:r>
              <a:rPr sz="850" b="1">
                <a:solidFill>
                  <a:srgbClr val="161B26"/>
                </a:solidFill>
                <a:latin typeface="Arial"/>
              </a:rPr>
              <a:t>S3</a:t>
            </a:r>
          </a:p>
        </p:txBody>
      </p:sp>
      <p:sp>
        <p:nvSpPr>
          <p:cNvPr id="27" name="Rectangle 26"/>
          <p:cNvSpPr/>
          <p:nvPr/>
        </p:nvSpPr>
        <p:spPr>
          <a:xfrm>
            <a:off x="1415308" y="3044952"/>
            <a:ext cx="6380683" cy="42062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525036" y="3044952"/>
            <a:ext cx="6197803" cy="420624"/>
          </a:xfrm>
          <a:prstGeom prst="rect">
            <a:avLst/>
          </a:prstGeom>
          <a:noFill/>
        </p:spPr>
        <p:txBody>
          <a:bodyPr wrap="square" anchor="ctr">
            <a:spAutoFit/>
          </a:bodyPr>
          <a:lstStyle/>
          <a:p>
            <a:pPr algn="l">
              <a:spcAft>
                <a:spcPts val="400"/>
              </a:spcAft>
            </a:pPr>
            <a:r>
              <a:rPr sz="850" b="0">
                <a:solidFill>
                  <a:srgbClr val="161B26"/>
                </a:solidFill>
                <a:latin typeface="Arial"/>
              </a:rPr>
              <a:t>Competency Mapping.docx (TSC ICT-DIT-4022-1.1)</a:t>
            </a:r>
          </a:p>
        </p:txBody>
      </p:sp>
      <p:sp>
        <p:nvSpPr>
          <p:cNvPr id="29" name="Rectangle 28"/>
          <p:cNvSpPr/>
          <p:nvPr/>
        </p:nvSpPr>
        <p:spPr>
          <a:xfrm>
            <a:off x="7795991" y="3044952"/>
            <a:ext cx="3615720" cy="42062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05719" y="3044952"/>
            <a:ext cx="3432840" cy="420624"/>
          </a:xfrm>
          <a:prstGeom prst="rect">
            <a:avLst/>
          </a:prstGeom>
          <a:noFill/>
        </p:spPr>
        <p:txBody>
          <a:bodyPr wrap="square" anchor="ctr">
            <a:spAutoFit/>
          </a:bodyPr>
          <a:lstStyle/>
          <a:p>
            <a:pPr algn="l">
              <a:spcAft>
                <a:spcPts val="400"/>
              </a:spcAft>
            </a:pPr>
            <a:r>
              <a:rPr sz="850" b="0">
                <a:solidFill>
                  <a:srgbClr val="161B26"/>
                </a:solidFill>
                <a:latin typeface="Arial"/>
              </a:rPr>
              <a:t>Course Mapping section and ELO/A-code matrix</a:t>
            </a:r>
          </a:p>
        </p:txBody>
      </p:sp>
      <p:sp>
        <p:nvSpPr>
          <p:cNvPr id="31" name="Rectangle 30"/>
          <p:cNvSpPr/>
          <p:nvPr/>
        </p:nvSpPr>
        <p:spPr>
          <a:xfrm>
            <a:off x="777240" y="3465576"/>
            <a:ext cx="638068" cy="42062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3465576"/>
            <a:ext cx="455188" cy="420624"/>
          </a:xfrm>
          <a:prstGeom prst="rect">
            <a:avLst/>
          </a:prstGeom>
          <a:noFill/>
        </p:spPr>
        <p:txBody>
          <a:bodyPr wrap="square" anchor="ctr">
            <a:spAutoFit/>
          </a:bodyPr>
          <a:lstStyle/>
          <a:p>
            <a:pPr algn="l">
              <a:spcAft>
                <a:spcPts val="400"/>
              </a:spcAft>
            </a:pPr>
            <a:r>
              <a:rPr sz="850" b="1">
                <a:solidFill>
                  <a:srgbClr val="161B26"/>
                </a:solidFill>
                <a:latin typeface="Arial"/>
              </a:rPr>
              <a:t>S4</a:t>
            </a:r>
          </a:p>
        </p:txBody>
      </p:sp>
      <p:sp>
        <p:nvSpPr>
          <p:cNvPr id="33" name="Rectangle 32"/>
          <p:cNvSpPr/>
          <p:nvPr/>
        </p:nvSpPr>
        <p:spPr>
          <a:xfrm>
            <a:off x="1415308" y="3465576"/>
            <a:ext cx="6380683" cy="42062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525036" y="3465576"/>
            <a:ext cx="6197803" cy="420624"/>
          </a:xfrm>
          <a:prstGeom prst="rect">
            <a:avLst/>
          </a:prstGeom>
          <a:noFill/>
        </p:spPr>
        <p:txBody>
          <a:bodyPr wrap="square" anchor="ctr">
            <a:spAutoFit/>
          </a:bodyPr>
          <a:lstStyle/>
          <a:p>
            <a:pPr algn="l">
              <a:spcAft>
                <a:spcPts val="400"/>
              </a:spcAft>
            </a:pPr>
            <a:r>
              <a:rPr sz="850" b="0">
                <a:solidFill>
                  <a:srgbClr val="161B26"/>
                </a:solidFill>
                <a:latin typeface="Arial"/>
              </a:rPr>
              <a:t>Computer Vision Technology.docx (Skills Framework TSC extract)</a:t>
            </a:r>
          </a:p>
        </p:txBody>
      </p:sp>
      <p:sp>
        <p:nvSpPr>
          <p:cNvPr id="35" name="Rectangle 34"/>
          <p:cNvSpPr/>
          <p:nvPr/>
        </p:nvSpPr>
        <p:spPr>
          <a:xfrm>
            <a:off x="7795991" y="3465576"/>
            <a:ext cx="3615720" cy="42062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05719" y="3465576"/>
            <a:ext cx="3432840" cy="420624"/>
          </a:xfrm>
          <a:prstGeom prst="rect">
            <a:avLst/>
          </a:prstGeom>
          <a:noFill/>
        </p:spPr>
        <p:txBody>
          <a:bodyPr wrap="square" anchor="ctr">
            <a:spAutoFit/>
          </a:bodyPr>
          <a:lstStyle/>
          <a:p>
            <a:pPr algn="l">
              <a:spcAft>
                <a:spcPts val="400"/>
              </a:spcAft>
            </a:pPr>
            <a:r>
              <a:rPr sz="850" b="0">
                <a:solidFill>
                  <a:srgbClr val="161B26"/>
                </a:solidFill>
                <a:latin typeface="Arial"/>
              </a:rPr>
              <a:t>TSC Proficiency Level 4 (ICT-DIT-4022-1.1) knowledge and</a:t>
            </a:r>
          </a:p>
        </p:txBody>
      </p:sp>
      <p:sp>
        <p:nvSpPr>
          <p:cNvPr id="37" name="Rectangle 36"/>
          <p:cNvSpPr/>
          <p:nvPr/>
        </p:nvSpPr>
        <p:spPr>
          <a:xfrm>
            <a:off x="777240" y="3886200"/>
            <a:ext cx="638068" cy="42062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86968" y="3886200"/>
            <a:ext cx="455188" cy="420624"/>
          </a:xfrm>
          <a:prstGeom prst="rect">
            <a:avLst/>
          </a:prstGeom>
          <a:noFill/>
        </p:spPr>
        <p:txBody>
          <a:bodyPr wrap="square" anchor="ctr">
            <a:spAutoFit/>
          </a:bodyPr>
          <a:lstStyle/>
          <a:p>
            <a:pPr algn="l">
              <a:spcAft>
                <a:spcPts val="400"/>
              </a:spcAft>
            </a:pPr>
            <a:r>
              <a:rPr sz="850" b="1">
                <a:solidFill>
                  <a:srgbClr val="161B26"/>
                </a:solidFill>
                <a:latin typeface="Arial"/>
              </a:rPr>
              <a:t>S5</a:t>
            </a:r>
          </a:p>
        </p:txBody>
      </p:sp>
      <p:sp>
        <p:nvSpPr>
          <p:cNvPr id="39" name="Rectangle 38"/>
          <p:cNvSpPr/>
          <p:nvPr/>
        </p:nvSpPr>
        <p:spPr>
          <a:xfrm>
            <a:off x="1415308" y="3886200"/>
            <a:ext cx="6380683" cy="42062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525036" y="3886200"/>
            <a:ext cx="6197803" cy="420624"/>
          </a:xfrm>
          <a:prstGeom prst="rect">
            <a:avLst/>
          </a:prstGeom>
          <a:noFill/>
        </p:spPr>
        <p:txBody>
          <a:bodyPr wrap="square" anchor="ctr">
            <a:spAutoFit/>
          </a:bodyPr>
          <a:lstStyle/>
          <a:p>
            <a:pPr algn="l">
              <a:spcAft>
                <a:spcPts val="400"/>
              </a:spcAft>
            </a:pPr>
            <a:r>
              <a:rPr sz="850" b="0">
                <a:solidFill>
                  <a:srgbClr val="161B26"/>
                </a:solidFill>
                <a:latin typeface="Arial"/>
              </a:rPr>
              <a:t>Tertiary Courses public registration page and LMS-TMS course record</a:t>
            </a:r>
          </a:p>
        </p:txBody>
      </p:sp>
      <p:sp>
        <p:nvSpPr>
          <p:cNvPr id="41" name="Rectangle 40"/>
          <p:cNvSpPr/>
          <p:nvPr/>
        </p:nvSpPr>
        <p:spPr>
          <a:xfrm>
            <a:off x="7795991" y="3886200"/>
            <a:ext cx="3615720" cy="42062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905719" y="3886200"/>
            <a:ext cx="3432840" cy="420624"/>
          </a:xfrm>
          <a:prstGeom prst="rect">
            <a:avLst/>
          </a:prstGeom>
          <a:noFill/>
        </p:spPr>
        <p:txBody>
          <a:bodyPr wrap="square" anchor="ctr">
            <a:spAutoFit/>
          </a:bodyPr>
          <a:lstStyle/>
          <a:p>
            <a:pPr algn="l">
              <a:spcAft>
                <a:spcPts val="400"/>
              </a:spcAft>
            </a:pPr>
            <a:r>
              <a:rPr sz="850" b="0">
                <a:solidFill>
                  <a:srgbClr val="161B26"/>
                </a:solidFill>
                <a:latin typeface="Arial"/>
              </a:rPr>
              <a:t>https://www.tertiarycourses.com.sg/wsq-create-short-vide</a:t>
            </a:r>
          </a:p>
        </p:txBody>
      </p:sp>
      <p:sp>
        <p:nvSpPr>
          <p:cNvPr id="43" name="Rectangle 42"/>
          <p:cNvSpPr/>
          <p:nvPr/>
        </p:nvSpPr>
        <p:spPr>
          <a:xfrm>
            <a:off x="777240" y="4306824"/>
            <a:ext cx="638068" cy="42062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86968" y="4306824"/>
            <a:ext cx="455188" cy="420624"/>
          </a:xfrm>
          <a:prstGeom prst="rect">
            <a:avLst/>
          </a:prstGeom>
          <a:noFill/>
        </p:spPr>
        <p:txBody>
          <a:bodyPr wrap="square" anchor="ctr">
            <a:spAutoFit/>
          </a:bodyPr>
          <a:lstStyle/>
          <a:p>
            <a:pPr algn="l">
              <a:spcAft>
                <a:spcPts val="400"/>
              </a:spcAft>
            </a:pPr>
            <a:r>
              <a:rPr sz="850" b="1">
                <a:solidFill>
                  <a:srgbClr val="161B26"/>
                </a:solidFill>
                <a:latin typeface="Arial"/>
              </a:rPr>
              <a:t>S6</a:t>
            </a:r>
          </a:p>
        </p:txBody>
      </p:sp>
      <p:sp>
        <p:nvSpPr>
          <p:cNvPr id="45" name="Rectangle 44"/>
          <p:cNvSpPr/>
          <p:nvPr/>
        </p:nvSpPr>
        <p:spPr>
          <a:xfrm>
            <a:off x="1415308" y="4306824"/>
            <a:ext cx="6380683" cy="42062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525036" y="4306824"/>
            <a:ext cx="6197803" cy="420624"/>
          </a:xfrm>
          <a:prstGeom prst="rect">
            <a:avLst/>
          </a:prstGeom>
          <a:noFill/>
        </p:spPr>
        <p:txBody>
          <a:bodyPr wrap="square" anchor="ctr">
            <a:spAutoFit/>
          </a:bodyPr>
          <a:lstStyle/>
          <a:p>
            <a:pPr algn="l">
              <a:spcAft>
                <a:spcPts val="400"/>
              </a:spcAft>
            </a:pPr>
            <a:r>
              <a:rPr sz="850" b="0">
                <a:solidFill>
                  <a:srgbClr val="161B26"/>
                </a:solidFill>
                <a:latin typeface="Arial"/>
              </a:rPr>
              <a:t>Youri van Hofwegen, 'EXACTLY How to Make an AI Short Film (Full Workflow)'</a:t>
            </a:r>
          </a:p>
        </p:txBody>
      </p:sp>
      <p:sp>
        <p:nvSpPr>
          <p:cNvPr id="47" name="Rectangle 46"/>
          <p:cNvSpPr/>
          <p:nvPr/>
        </p:nvSpPr>
        <p:spPr>
          <a:xfrm>
            <a:off x="7795991" y="4306824"/>
            <a:ext cx="3615720" cy="42062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905719" y="4306824"/>
            <a:ext cx="3432840" cy="420624"/>
          </a:xfrm>
          <a:prstGeom prst="rect">
            <a:avLst/>
          </a:prstGeom>
          <a:noFill/>
        </p:spPr>
        <p:txBody>
          <a:bodyPr wrap="square" anchor="ctr">
            <a:spAutoFit/>
          </a:bodyPr>
          <a:lstStyle/>
          <a:p>
            <a:pPr algn="l">
              <a:spcAft>
                <a:spcPts val="400"/>
              </a:spcAft>
            </a:pPr>
            <a:r>
              <a:rPr sz="850" b="0">
                <a:solidFill>
                  <a:srgbClr val="161B26"/>
                </a:solidFill>
                <a:latin typeface="Arial"/>
              </a:rPr>
              <a:t>Full video, 16:49</a:t>
            </a:r>
          </a:p>
        </p:txBody>
      </p:sp>
      <p:sp>
        <p:nvSpPr>
          <p:cNvPr id="49" name="Rectangle 48"/>
          <p:cNvSpPr/>
          <p:nvPr/>
        </p:nvSpPr>
        <p:spPr>
          <a:xfrm>
            <a:off x="777240" y="4727448"/>
            <a:ext cx="638068" cy="42062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86968" y="4727448"/>
            <a:ext cx="455188" cy="420624"/>
          </a:xfrm>
          <a:prstGeom prst="rect">
            <a:avLst/>
          </a:prstGeom>
          <a:noFill/>
        </p:spPr>
        <p:txBody>
          <a:bodyPr wrap="square" anchor="ctr">
            <a:spAutoFit/>
          </a:bodyPr>
          <a:lstStyle/>
          <a:p>
            <a:pPr algn="l">
              <a:spcAft>
                <a:spcPts val="400"/>
              </a:spcAft>
            </a:pPr>
            <a:r>
              <a:rPr sz="850" b="1">
                <a:solidFill>
                  <a:srgbClr val="161B26"/>
                </a:solidFill>
                <a:latin typeface="Arial"/>
              </a:rPr>
              <a:t>S7</a:t>
            </a:r>
          </a:p>
        </p:txBody>
      </p:sp>
      <p:sp>
        <p:nvSpPr>
          <p:cNvPr id="51" name="Rectangle 50"/>
          <p:cNvSpPr/>
          <p:nvPr/>
        </p:nvSpPr>
        <p:spPr>
          <a:xfrm>
            <a:off x="1415308" y="4727448"/>
            <a:ext cx="6380683" cy="42062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525036" y="4727448"/>
            <a:ext cx="6197803" cy="420624"/>
          </a:xfrm>
          <a:prstGeom prst="rect">
            <a:avLst/>
          </a:prstGeom>
          <a:noFill/>
        </p:spPr>
        <p:txBody>
          <a:bodyPr wrap="square" anchor="ctr">
            <a:spAutoFit/>
          </a:bodyPr>
          <a:lstStyle/>
          <a:p>
            <a:pPr algn="l">
              <a:spcAft>
                <a:spcPts val="400"/>
              </a:spcAft>
            </a:pPr>
            <a:r>
              <a:rPr sz="850" b="0">
                <a:solidFill>
                  <a:srgbClr val="161B26"/>
                </a:solidFill>
                <a:latin typeface="Arial"/>
              </a:rPr>
              <a:t>Mira AI, '6 AI Video Tools I'd Use To Make An AI Short Film', YouTube, 14 </a:t>
            </a:r>
          </a:p>
        </p:txBody>
      </p:sp>
      <p:sp>
        <p:nvSpPr>
          <p:cNvPr id="53" name="Rectangle 52"/>
          <p:cNvSpPr/>
          <p:nvPr/>
        </p:nvSpPr>
        <p:spPr>
          <a:xfrm>
            <a:off x="7795991" y="4727448"/>
            <a:ext cx="3615720" cy="42062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905719" y="4727448"/>
            <a:ext cx="3432840" cy="420624"/>
          </a:xfrm>
          <a:prstGeom prst="rect">
            <a:avLst/>
          </a:prstGeom>
          <a:noFill/>
        </p:spPr>
        <p:txBody>
          <a:bodyPr wrap="square" anchor="ctr">
            <a:spAutoFit/>
          </a:bodyPr>
          <a:lstStyle/>
          <a:p>
            <a:pPr algn="l">
              <a:spcAft>
                <a:spcPts val="400"/>
              </a:spcAft>
            </a:pPr>
            <a:r>
              <a:rPr sz="850" b="0">
                <a:solidFill>
                  <a:srgbClr val="161B26"/>
                </a:solidFill>
                <a:latin typeface="Arial"/>
              </a:rPr>
              <a:t>Full video, 10:04</a:t>
            </a:r>
          </a:p>
        </p:txBody>
      </p:sp>
      <p:sp>
        <p:nvSpPr>
          <p:cNvPr id="55" name="Rectangle 54"/>
          <p:cNvSpPr/>
          <p:nvPr/>
        </p:nvSpPr>
        <p:spPr>
          <a:xfrm>
            <a:off x="777240" y="5148072"/>
            <a:ext cx="638068" cy="42062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86968" y="5148072"/>
            <a:ext cx="455188" cy="420624"/>
          </a:xfrm>
          <a:prstGeom prst="rect">
            <a:avLst/>
          </a:prstGeom>
          <a:noFill/>
        </p:spPr>
        <p:txBody>
          <a:bodyPr wrap="square" anchor="ctr">
            <a:spAutoFit/>
          </a:bodyPr>
          <a:lstStyle/>
          <a:p>
            <a:pPr algn="l">
              <a:spcAft>
                <a:spcPts val="400"/>
              </a:spcAft>
            </a:pPr>
            <a:r>
              <a:rPr sz="850" b="1">
                <a:solidFill>
                  <a:srgbClr val="161B26"/>
                </a:solidFill>
                <a:latin typeface="Arial"/>
              </a:rPr>
              <a:t>S8</a:t>
            </a:r>
          </a:p>
        </p:txBody>
      </p:sp>
      <p:sp>
        <p:nvSpPr>
          <p:cNvPr id="57" name="Rectangle 56"/>
          <p:cNvSpPr/>
          <p:nvPr/>
        </p:nvSpPr>
        <p:spPr>
          <a:xfrm>
            <a:off x="1415308" y="5148072"/>
            <a:ext cx="6380683" cy="42062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525036" y="5148072"/>
            <a:ext cx="6197803" cy="420624"/>
          </a:xfrm>
          <a:prstGeom prst="rect">
            <a:avLst/>
          </a:prstGeom>
          <a:noFill/>
        </p:spPr>
        <p:txBody>
          <a:bodyPr wrap="square" anchor="ctr">
            <a:spAutoFit/>
          </a:bodyPr>
          <a:lstStyle/>
          <a:p>
            <a:pPr algn="l">
              <a:spcAft>
                <a:spcPts val="400"/>
              </a:spcAft>
            </a:pPr>
            <a:r>
              <a:rPr sz="850" b="0">
                <a:solidFill>
                  <a:srgbClr val="161B26"/>
                </a:solidFill>
                <a:latin typeface="Arial"/>
              </a:rPr>
              <a:t>Thomas Creates, 'How to Start Making AI Short Films in 2026', YouTube, 18 </a:t>
            </a:r>
          </a:p>
        </p:txBody>
      </p:sp>
      <p:sp>
        <p:nvSpPr>
          <p:cNvPr id="59" name="Rectangle 58"/>
          <p:cNvSpPr/>
          <p:nvPr/>
        </p:nvSpPr>
        <p:spPr>
          <a:xfrm>
            <a:off x="7795991" y="5148072"/>
            <a:ext cx="3615720" cy="42062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905719" y="5148072"/>
            <a:ext cx="3432840" cy="420624"/>
          </a:xfrm>
          <a:prstGeom prst="rect">
            <a:avLst/>
          </a:prstGeom>
          <a:noFill/>
        </p:spPr>
        <p:txBody>
          <a:bodyPr wrap="square" anchor="ctr">
            <a:spAutoFit/>
          </a:bodyPr>
          <a:lstStyle/>
          <a:p>
            <a:pPr algn="l">
              <a:spcAft>
                <a:spcPts val="400"/>
              </a:spcAft>
            </a:pPr>
            <a:r>
              <a:rPr sz="850" b="0">
                <a:solidFill>
                  <a:srgbClr val="161B26"/>
                </a:solidFill>
                <a:latin typeface="Arial"/>
              </a:rPr>
              <a:t>Video description and chapters, 12:42</a:t>
            </a:r>
          </a:p>
        </p:txBody>
      </p:sp>
      <p:sp>
        <p:nvSpPr>
          <p:cNvPr id="61" name="Rectangle 60"/>
          <p:cNvSpPr/>
          <p:nvPr/>
        </p:nvSpPr>
        <p:spPr>
          <a:xfrm>
            <a:off x="777240" y="5568696"/>
            <a:ext cx="638068" cy="42062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86968" y="5568696"/>
            <a:ext cx="455188" cy="420624"/>
          </a:xfrm>
          <a:prstGeom prst="rect">
            <a:avLst/>
          </a:prstGeom>
          <a:noFill/>
        </p:spPr>
        <p:txBody>
          <a:bodyPr wrap="square" anchor="ctr">
            <a:spAutoFit/>
          </a:bodyPr>
          <a:lstStyle/>
          <a:p>
            <a:pPr algn="l">
              <a:spcAft>
                <a:spcPts val="400"/>
              </a:spcAft>
            </a:pPr>
            <a:r>
              <a:rPr sz="850" b="1">
                <a:solidFill>
                  <a:srgbClr val="161B26"/>
                </a:solidFill>
                <a:latin typeface="Arial"/>
              </a:rPr>
              <a:t>S9</a:t>
            </a:r>
          </a:p>
        </p:txBody>
      </p:sp>
      <p:sp>
        <p:nvSpPr>
          <p:cNvPr id="63" name="Rectangle 62"/>
          <p:cNvSpPr/>
          <p:nvPr/>
        </p:nvSpPr>
        <p:spPr>
          <a:xfrm>
            <a:off x="1415308" y="5568696"/>
            <a:ext cx="6380683" cy="42062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525036" y="5568696"/>
            <a:ext cx="6197803" cy="420624"/>
          </a:xfrm>
          <a:prstGeom prst="rect">
            <a:avLst/>
          </a:prstGeom>
          <a:noFill/>
        </p:spPr>
        <p:txBody>
          <a:bodyPr wrap="square" anchor="ctr">
            <a:spAutoFit/>
          </a:bodyPr>
          <a:lstStyle/>
          <a:p>
            <a:pPr algn="l">
              <a:spcAft>
                <a:spcPts val="400"/>
              </a:spcAft>
            </a:pPr>
            <a:r>
              <a:rPr sz="850" b="0">
                <a:solidFill>
                  <a:srgbClr val="161B26"/>
                </a:solidFill>
                <a:latin typeface="Arial"/>
              </a:rPr>
              <a:t>Roboverse, 'The Complete Guide to Making Cinematic AI Videos (2026)', YouT</a:t>
            </a:r>
          </a:p>
        </p:txBody>
      </p:sp>
      <p:sp>
        <p:nvSpPr>
          <p:cNvPr id="65" name="Rectangle 64"/>
          <p:cNvSpPr/>
          <p:nvPr/>
        </p:nvSpPr>
        <p:spPr>
          <a:xfrm>
            <a:off x="7795991" y="5568696"/>
            <a:ext cx="3615720" cy="42062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905719" y="5568696"/>
            <a:ext cx="3432840" cy="420624"/>
          </a:xfrm>
          <a:prstGeom prst="rect">
            <a:avLst/>
          </a:prstGeom>
          <a:noFill/>
        </p:spPr>
        <p:txBody>
          <a:bodyPr wrap="square" anchor="ctr">
            <a:spAutoFit/>
          </a:bodyPr>
          <a:lstStyle/>
          <a:p>
            <a:pPr algn="l">
              <a:spcAft>
                <a:spcPts val="400"/>
              </a:spcAft>
            </a:pPr>
            <a:r>
              <a:rPr sz="850" b="0">
                <a:solidFill>
                  <a:srgbClr val="161B26"/>
                </a:solidFill>
                <a:latin typeface="Arial"/>
              </a:rPr>
              <a:t>Chapters, 10:30</a:t>
            </a:r>
          </a:p>
        </p:txBody>
      </p:sp>
      <p:sp>
        <p:nvSpPr>
          <p:cNvPr id="67" name="TextBox 66"/>
          <p:cNvSpPr txBox="1"/>
          <p:nvPr/>
        </p:nvSpPr>
        <p:spPr>
          <a:xfrm>
            <a:off x="777240" y="6053328"/>
            <a:ext cx="10698480" cy="457200"/>
          </a:xfrm>
          <a:prstGeom prst="rect">
            <a:avLst/>
          </a:prstGeom>
          <a:noFill/>
        </p:spPr>
        <p:txBody>
          <a:bodyPr wrap="square" anchor="t">
            <a:spAutoFit/>
          </a:bodyPr>
          <a:lstStyle/>
          <a:p>
            <a:pPr algn="ctr">
              <a:spcAft>
                <a:spcPts val="400"/>
              </a:spcAft>
            </a:pPr>
            <a:r>
              <a:rPr sz="1200" b="0">
                <a:solidFill>
                  <a:srgbClr val="5B6372"/>
                </a:solidFill>
                <a:latin typeface="Arial"/>
              </a:rPr>
              <a:t>The full register, including exactly what each source anchors and where it is used, is reproduced in the Learner Guide.</a:t>
            </a:r>
          </a:p>
        </p:txBody>
      </p:sp>
      <p:sp>
        <p:nvSpPr>
          <p:cNvPr id="68" name="TextBox 6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69" name="TextBox 6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70" name="TextBox 6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transition spd="fast">
    <p:fade/>
  </p:transition>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TUTORIALS, BOOKS AND VENDOR DOCUMENTATION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Source Register — Primary Sources Used (2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38068" cy="4673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455188" cy="467360"/>
          </a:xfrm>
          <a:prstGeom prst="rect">
            <a:avLst/>
          </a:prstGeom>
          <a:noFill/>
        </p:spPr>
        <p:txBody>
          <a:bodyPr wrap="square" anchor="ctr">
            <a:spAutoFit/>
          </a:bodyPr>
          <a:lstStyle/>
          <a:p>
            <a:pPr algn="l">
              <a:spcAft>
                <a:spcPts val="400"/>
              </a:spcAft>
            </a:pPr>
            <a:r>
              <a:rPr sz="950" b="1">
                <a:solidFill>
                  <a:srgbClr val="FFFFFF"/>
                </a:solidFill>
                <a:latin typeface="Arial"/>
              </a:rPr>
              <a:t>Ref</a:t>
            </a:r>
          </a:p>
        </p:txBody>
      </p:sp>
      <p:sp>
        <p:nvSpPr>
          <p:cNvPr id="9" name="Rectangle 8"/>
          <p:cNvSpPr/>
          <p:nvPr/>
        </p:nvSpPr>
        <p:spPr>
          <a:xfrm>
            <a:off x="1415308" y="1783080"/>
            <a:ext cx="6380683" cy="4673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25036" y="1783080"/>
            <a:ext cx="6197803" cy="467360"/>
          </a:xfrm>
          <a:prstGeom prst="rect">
            <a:avLst/>
          </a:prstGeom>
          <a:noFill/>
        </p:spPr>
        <p:txBody>
          <a:bodyPr wrap="square" anchor="ctr">
            <a:spAutoFit/>
          </a:bodyPr>
          <a:lstStyle/>
          <a:p>
            <a:pPr algn="l">
              <a:spcAft>
                <a:spcPts val="400"/>
              </a:spcAft>
            </a:pPr>
            <a:r>
              <a:rPr sz="950" b="1">
                <a:solidFill>
                  <a:srgbClr val="FFFFFF"/>
                </a:solidFill>
                <a:latin typeface="Arial"/>
              </a:rPr>
              <a:t>Source</a:t>
            </a:r>
          </a:p>
        </p:txBody>
      </p:sp>
      <p:sp>
        <p:nvSpPr>
          <p:cNvPr id="11" name="Rectangle 10"/>
          <p:cNvSpPr/>
          <p:nvPr/>
        </p:nvSpPr>
        <p:spPr>
          <a:xfrm>
            <a:off x="7795991" y="1783080"/>
            <a:ext cx="3615720" cy="4673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05719" y="1783080"/>
            <a:ext cx="3432840" cy="467360"/>
          </a:xfrm>
          <a:prstGeom prst="rect">
            <a:avLst/>
          </a:prstGeom>
          <a:noFill/>
        </p:spPr>
        <p:txBody>
          <a:bodyPr wrap="square" anchor="ctr">
            <a:spAutoFit/>
          </a:bodyPr>
          <a:lstStyle/>
          <a:p>
            <a:pPr algn="l">
              <a:spcAft>
                <a:spcPts val="400"/>
              </a:spcAft>
            </a:pPr>
            <a:r>
              <a:rPr sz="950" b="1">
                <a:solidFill>
                  <a:srgbClr val="FFFFFF"/>
                </a:solidFill>
                <a:latin typeface="Arial"/>
              </a:rPr>
              <a:t>Locator</a:t>
            </a:r>
          </a:p>
        </p:txBody>
      </p:sp>
      <p:sp>
        <p:nvSpPr>
          <p:cNvPr id="13" name="Rectangle 12"/>
          <p:cNvSpPr/>
          <p:nvPr/>
        </p:nvSpPr>
        <p:spPr>
          <a:xfrm>
            <a:off x="777240" y="2250440"/>
            <a:ext cx="638068" cy="467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 y="2250440"/>
            <a:ext cx="455188" cy="467360"/>
          </a:xfrm>
          <a:prstGeom prst="rect">
            <a:avLst/>
          </a:prstGeom>
          <a:noFill/>
        </p:spPr>
        <p:txBody>
          <a:bodyPr wrap="square" anchor="ctr">
            <a:spAutoFit/>
          </a:bodyPr>
          <a:lstStyle/>
          <a:p>
            <a:pPr algn="l">
              <a:spcAft>
                <a:spcPts val="400"/>
              </a:spcAft>
            </a:pPr>
            <a:r>
              <a:rPr sz="850" b="1">
                <a:solidFill>
                  <a:srgbClr val="161B26"/>
                </a:solidFill>
                <a:latin typeface="Arial"/>
              </a:rPr>
              <a:t>S10</a:t>
            </a:r>
          </a:p>
        </p:txBody>
      </p:sp>
      <p:sp>
        <p:nvSpPr>
          <p:cNvPr id="15" name="Rectangle 14"/>
          <p:cNvSpPr/>
          <p:nvPr/>
        </p:nvSpPr>
        <p:spPr>
          <a:xfrm>
            <a:off x="1415308" y="2250440"/>
            <a:ext cx="6380683" cy="467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5036" y="2250440"/>
            <a:ext cx="6197803" cy="467360"/>
          </a:xfrm>
          <a:prstGeom prst="rect">
            <a:avLst/>
          </a:prstGeom>
          <a:noFill/>
        </p:spPr>
        <p:txBody>
          <a:bodyPr wrap="square" anchor="ctr">
            <a:spAutoFit/>
          </a:bodyPr>
          <a:lstStyle/>
          <a:p>
            <a:pPr algn="l">
              <a:spcAft>
                <a:spcPts val="400"/>
              </a:spcAft>
            </a:pPr>
            <a:r>
              <a:rPr sz="850" b="0">
                <a:solidFill>
                  <a:srgbClr val="161B26"/>
                </a:solidFill>
                <a:latin typeface="Arial"/>
              </a:rPr>
              <a:t>Youri van Hofwegen, 'How to Make Your First AI Movie (Full Guide)', YouTub</a:t>
            </a:r>
          </a:p>
        </p:txBody>
      </p:sp>
      <p:sp>
        <p:nvSpPr>
          <p:cNvPr id="17" name="Rectangle 16"/>
          <p:cNvSpPr/>
          <p:nvPr/>
        </p:nvSpPr>
        <p:spPr>
          <a:xfrm>
            <a:off x="7795991" y="2250440"/>
            <a:ext cx="3615720" cy="467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05719" y="2250440"/>
            <a:ext cx="3432840" cy="467360"/>
          </a:xfrm>
          <a:prstGeom prst="rect">
            <a:avLst/>
          </a:prstGeom>
          <a:noFill/>
        </p:spPr>
        <p:txBody>
          <a:bodyPr wrap="square" anchor="ctr">
            <a:spAutoFit/>
          </a:bodyPr>
          <a:lstStyle/>
          <a:p>
            <a:pPr algn="l">
              <a:spcAft>
                <a:spcPts val="400"/>
              </a:spcAft>
            </a:pPr>
            <a:r>
              <a:rPr sz="850" b="0">
                <a:solidFill>
                  <a:srgbClr val="161B26"/>
                </a:solidFill>
                <a:latin typeface="Arial"/>
              </a:rPr>
              <a:t>Video description, 17:03</a:t>
            </a:r>
          </a:p>
        </p:txBody>
      </p:sp>
      <p:sp>
        <p:nvSpPr>
          <p:cNvPr id="19" name="Rectangle 18"/>
          <p:cNvSpPr/>
          <p:nvPr/>
        </p:nvSpPr>
        <p:spPr>
          <a:xfrm>
            <a:off x="777240" y="2717800"/>
            <a:ext cx="638068" cy="467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2717800"/>
            <a:ext cx="455188" cy="467360"/>
          </a:xfrm>
          <a:prstGeom prst="rect">
            <a:avLst/>
          </a:prstGeom>
          <a:noFill/>
        </p:spPr>
        <p:txBody>
          <a:bodyPr wrap="square" anchor="ctr">
            <a:spAutoFit/>
          </a:bodyPr>
          <a:lstStyle/>
          <a:p>
            <a:pPr algn="l">
              <a:spcAft>
                <a:spcPts val="400"/>
              </a:spcAft>
            </a:pPr>
            <a:r>
              <a:rPr sz="850" b="1">
                <a:solidFill>
                  <a:srgbClr val="161B26"/>
                </a:solidFill>
                <a:latin typeface="Arial"/>
              </a:rPr>
              <a:t>S11</a:t>
            </a:r>
          </a:p>
        </p:txBody>
      </p:sp>
      <p:sp>
        <p:nvSpPr>
          <p:cNvPr id="21" name="Rectangle 20"/>
          <p:cNvSpPr/>
          <p:nvPr/>
        </p:nvSpPr>
        <p:spPr>
          <a:xfrm>
            <a:off x="1415308" y="2717800"/>
            <a:ext cx="6380683" cy="467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25036" y="2717800"/>
            <a:ext cx="6197803" cy="467360"/>
          </a:xfrm>
          <a:prstGeom prst="rect">
            <a:avLst/>
          </a:prstGeom>
          <a:noFill/>
        </p:spPr>
        <p:txBody>
          <a:bodyPr wrap="square" anchor="ctr">
            <a:spAutoFit/>
          </a:bodyPr>
          <a:lstStyle/>
          <a:p>
            <a:pPr algn="l">
              <a:spcAft>
                <a:spcPts val="400"/>
              </a:spcAft>
            </a:pPr>
            <a:r>
              <a:rPr sz="850" b="0">
                <a:solidFill>
                  <a:srgbClr val="161B26"/>
                </a:solidFill>
                <a:latin typeface="Arial"/>
              </a:rPr>
              <a:t>ElevenLabs, 'How to Make Your First AI Short Film (Full Tutorial)', YouTub</a:t>
            </a:r>
          </a:p>
        </p:txBody>
      </p:sp>
      <p:sp>
        <p:nvSpPr>
          <p:cNvPr id="23" name="Rectangle 22"/>
          <p:cNvSpPr/>
          <p:nvPr/>
        </p:nvSpPr>
        <p:spPr>
          <a:xfrm>
            <a:off x="7795991" y="2717800"/>
            <a:ext cx="3615720" cy="467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05719" y="2717800"/>
            <a:ext cx="3432840" cy="467360"/>
          </a:xfrm>
          <a:prstGeom prst="rect">
            <a:avLst/>
          </a:prstGeom>
          <a:noFill/>
        </p:spPr>
        <p:txBody>
          <a:bodyPr wrap="square" anchor="ctr">
            <a:spAutoFit/>
          </a:bodyPr>
          <a:lstStyle/>
          <a:p>
            <a:pPr algn="l">
              <a:spcAft>
                <a:spcPts val="400"/>
              </a:spcAft>
            </a:pPr>
            <a:r>
              <a:rPr sz="850" b="0">
                <a:solidFill>
                  <a:srgbClr val="161B26"/>
                </a:solidFill>
                <a:latin typeface="Arial"/>
              </a:rPr>
              <a:t>Chapters, 31:13</a:t>
            </a:r>
          </a:p>
        </p:txBody>
      </p:sp>
      <p:sp>
        <p:nvSpPr>
          <p:cNvPr id="25" name="Rectangle 24"/>
          <p:cNvSpPr/>
          <p:nvPr/>
        </p:nvSpPr>
        <p:spPr>
          <a:xfrm>
            <a:off x="777240" y="3185160"/>
            <a:ext cx="638068" cy="467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6968" y="3185160"/>
            <a:ext cx="455188" cy="467360"/>
          </a:xfrm>
          <a:prstGeom prst="rect">
            <a:avLst/>
          </a:prstGeom>
          <a:noFill/>
        </p:spPr>
        <p:txBody>
          <a:bodyPr wrap="square" anchor="ctr">
            <a:spAutoFit/>
          </a:bodyPr>
          <a:lstStyle/>
          <a:p>
            <a:pPr algn="l">
              <a:spcAft>
                <a:spcPts val="400"/>
              </a:spcAft>
            </a:pPr>
            <a:r>
              <a:rPr sz="850" b="1">
                <a:solidFill>
                  <a:srgbClr val="161B26"/>
                </a:solidFill>
                <a:latin typeface="Arial"/>
              </a:rPr>
              <a:t>S12</a:t>
            </a:r>
          </a:p>
        </p:txBody>
      </p:sp>
      <p:sp>
        <p:nvSpPr>
          <p:cNvPr id="27" name="Rectangle 26"/>
          <p:cNvSpPr/>
          <p:nvPr/>
        </p:nvSpPr>
        <p:spPr>
          <a:xfrm>
            <a:off x="1415308" y="3185160"/>
            <a:ext cx="6380683" cy="467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525036" y="3185160"/>
            <a:ext cx="6197803" cy="467360"/>
          </a:xfrm>
          <a:prstGeom prst="rect">
            <a:avLst/>
          </a:prstGeom>
          <a:noFill/>
        </p:spPr>
        <p:txBody>
          <a:bodyPr wrap="square" anchor="ctr">
            <a:spAutoFit/>
          </a:bodyPr>
          <a:lstStyle/>
          <a:p>
            <a:pPr algn="l">
              <a:spcAft>
                <a:spcPts val="400"/>
              </a:spcAft>
            </a:pPr>
            <a:r>
              <a:rPr sz="850" b="0">
                <a:solidFill>
                  <a:srgbClr val="161B26"/>
                </a:solidFill>
                <a:latin typeface="Arial"/>
              </a:rPr>
              <a:t>Sanky, 'How I Made an AI Short Drama in under 10 Minutes with ZooClaw + Se</a:t>
            </a:r>
          </a:p>
        </p:txBody>
      </p:sp>
      <p:sp>
        <p:nvSpPr>
          <p:cNvPr id="29" name="Rectangle 28"/>
          <p:cNvSpPr/>
          <p:nvPr/>
        </p:nvSpPr>
        <p:spPr>
          <a:xfrm>
            <a:off x="7795991" y="3185160"/>
            <a:ext cx="3615720" cy="467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05719" y="3185160"/>
            <a:ext cx="3432840" cy="467360"/>
          </a:xfrm>
          <a:prstGeom prst="rect">
            <a:avLst/>
          </a:prstGeom>
          <a:noFill/>
        </p:spPr>
        <p:txBody>
          <a:bodyPr wrap="square" anchor="ctr">
            <a:spAutoFit/>
          </a:bodyPr>
          <a:lstStyle/>
          <a:p>
            <a:pPr algn="l">
              <a:spcAft>
                <a:spcPts val="400"/>
              </a:spcAft>
            </a:pPr>
            <a:r>
              <a:rPr sz="850" b="0">
                <a:solidFill>
                  <a:srgbClr val="161B26"/>
                </a:solidFill>
                <a:latin typeface="Arial"/>
              </a:rPr>
              <a:t>Chapters and description, 7:47</a:t>
            </a:r>
          </a:p>
        </p:txBody>
      </p:sp>
      <p:sp>
        <p:nvSpPr>
          <p:cNvPr id="31" name="Rectangle 30"/>
          <p:cNvSpPr/>
          <p:nvPr/>
        </p:nvSpPr>
        <p:spPr>
          <a:xfrm>
            <a:off x="777240" y="3652520"/>
            <a:ext cx="638068" cy="467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3652520"/>
            <a:ext cx="455188" cy="467360"/>
          </a:xfrm>
          <a:prstGeom prst="rect">
            <a:avLst/>
          </a:prstGeom>
          <a:noFill/>
        </p:spPr>
        <p:txBody>
          <a:bodyPr wrap="square" anchor="ctr">
            <a:spAutoFit/>
          </a:bodyPr>
          <a:lstStyle/>
          <a:p>
            <a:pPr algn="l">
              <a:spcAft>
                <a:spcPts val="400"/>
              </a:spcAft>
            </a:pPr>
            <a:r>
              <a:rPr sz="850" b="1">
                <a:solidFill>
                  <a:srgbClr val="161B26"/>
                </a:solidFill>
                <a:latin typeface="Arial"/>
              </a:rPr>
              <a:t>S13</a:t>
            </a:r>
          </a:p>
        </p:txBody>
      </p:sp>
      <p:sp>
        <p:nvSpPr>
          <p:cNvPr id="33" name="Rectangle 32"/>
          <p:cNvSpPr/>
          <p:nvPr/>
        </p:nvSpPr>
        <p:spPr>
          <a:xfrm>
            <a:off x="1415308" y="3652520"/>
            <a:ext cx="6380683" cy="467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525036" y="3652520"/>
            <a:ext cx="6197803" cy="467360"/>
          </a:xfrm>
          <a:prstGeom prst="rect">
            <a:avLst/>
          </a:prstGeom>
          <a:noFill/>
        </p:spPr>
        <p:txBody>
          <a:bodyPr wrap="square" anchor="ctr">
            <a:spAutoFit/>
          </a:bodyPr>
          <a:lstStyle/>
          <a:p>
            <a:pPr algn="l">
              <a:spcAft>
                <a:spcPts val="400"/>
              </a:spcAft>
            </a:pPr>
            <a:r>
              <a:rPr sz="850" b="0">
                <a:solidFill>
                  <a:srgbClr val="161B26"/>
                </a:solidFill>
                <a:latin typeface="Arial"/>
              </a:rPr>
              <a:t>M. Tschochohei and F. Schenker, 'Multimodal Generative AI in the Enterpris</a:t>
            </a:r>
          </a:p>
        </p:txBody>
      </p:sp>
      <p:sp>
        <p:nvSpPr>
          <p:cNvPr id="35" name="Rectangle 34"/>
          <p:cNvSpPr/>
          <p:nvPr/>
        </p:nvSpPr>
        <p:spPr>
          <a:xfrm>
            <a:off x="7795991" y="3652520"/>
            <a:ext cx="3615720" cy="467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05719" y="3652520"/>
            <a:ext cx="3432840" cy="467360"/>
          </a:xfrm>
          <a:prstGeom prst="rect">
            <a:avLst/>
          </a:prstGeom>
          <a:noFill/>
        </p:spPr>
        <p:txBody>
          <a:bodyPr wrap="square" anchor="ctr">
            <a:spAutoFit/>
          </a:bodyPr>
          <a:lstStyle/>
          <a:p>
            <a:pPr algn="l">
              <a:spcAft>
                <a:spcPts val="400"/>
              </a:spcAft>
            </a:pPr>
            <a:r>
              <a:rPr sz="850" b="0">
                <a:solidFill>
                  <a:srgbClr val="161B26"/>
                </a:solidFill>
                <a:latin typeface="Arial"/>
              </a:rPr>
              <a:t>Ch.5 pp.56-75; Ch.7 pp.106-119; Ch.8 pp.127-143</a:t>
            </a:r>
          </a:p>
        </p:txBody>
      </p:sp>
      <p:sp>
        <p:nvSpPr>
          <p:cNvPr id="37" name="Rectangle 36"/>
          <p:cNvSpPr/>
          <p:nvPr/>
        </p:nvSpPr>
        <p:spPr>
          <a:xfrm>
            <a:off x="777240" y="4119880"/>
            <a:ext cx="638068" cy="467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86968" y="4119880"/>
            <a:ext cx="455188" cy="467360"/>
          </a:xfrm>
          <a:prstGeom prst="rect">
            <a:avLst/>
          </a:prstGeom>
          <a:noFill/>
        </p:spPr>
        <p:txBody>
          <a:bodyPr wrap="square" anchor="ctr">
            <a:spAutoFit/>
          </a:bodyPr>
          <a:lstStyle/>
          <a:p>
            <a:pPr algn="l">
              <a:spcAft>
                <a:spcPts val="400"/>
              </a:spcAft>
            </a:pPr>
            <a:r>
              <a:rPr sz="850" b="1">
                <a:solidFill>
                  <a:srgbClr val="161B26"/>
                </a:solidFill>
                <a:latin typeface="Arial"/>
              </a:rPr>
              <a:t>S14</a:t>
            </a:r>
          </a:p>
        </p:txBody>
      </p:sp>
      <p:sp>
        <p:nvSpPr>
          <p:cNvPr id="39" name="Rectangle 38"/>
          <p:cNvSpPr/>
          <p:nvPr/>
        </p:nvSpPr>
        <p:spPr>
          <a:xfrm>
            <a:off x="1415308" y="4119880"/>
            <a:ext cx="6380683" cy="467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525036" y="4119880"/>
            <a:ext cx="6197803" cy="467360"/>
          </a:xfrm>
          <a:prstGeom prst="rect">
            <a:avLst/>
          </a:prstGeom>
          <a:noFill/>
        </p:spPr>
        <p:txBody>
          <a:bodyPr wrap="square" anchor="ctr">
            <a:spAutoFit/>
          </a:bodyPr>
          <a:lstStyle/>
          <a:p>
            <a:pPr algn="l">
              <a:spcAft>
                <a:spcPts val="400"/>
              </a:spcAft>
            </a:pPr>
            <a:r>
              <a:rPr sz="850" b="0">
                <a:solidFill>
                  <a:srgbClr val="161B26"/>
                </a:solidFill>
                <a:latin typeface="Arial"/>
              </a:rPr>
              <a:t>A. Mewada, M. A. Ansari, S. Ahmad and N. Singh (eds), 'AI-Generated Image </a:t>
            </a:r>
          </a:p>
        </p:txBody>
      </p:sp>
      <p:sp>
        <p:nvSpPr>
          <p:cNvPr id="41" name="Rectangle 40"/>
          <p:cNvSpPr/>
          <p:nvPr/>
        </p:nvSpPr>
        <p:spPr>
          <a:xfrm>
            <a:off x="7795991" y="4119880"/>
            <a:ext cx="3615720" cy="467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905719" y="4119880"/>
            <a:ext cx="3432840" cy="467360"/>
          </a:xfrm>
          <a:prstGeom prst="rect">
            <a:avLst/>
          </a:prstGeom>
          <a:noFill/>
        </p:spPr>
        <p:txBody>
          <a:bodyPr wrap="square" anchor="ctr">
            <a:spAutoFit/>
          </a:bodyPr>
          <a:lstStyle/>
          <a:p>
            <a:pPr algn="l">
              <a:spcAft>
                <a:spcPts val="400"/>
              </a:spcAft>
            </a:pPr>
            <a:r>
              <a:rPr sz="850" b="0">
                <a:solidFill>
                  <a:srgbClr val="161B26"/>
                </a:solidFill>
                <a:latin typeface="Arial"/>
              </a:rPr>
              <a:t>Ch.1 pp.1-11; Ch.3 pp.35-44; Ch.7 pp.94-100</a:t>
            </a:r>
          </a:p>
        </p:txBody>
      </p:sp>
      <p:sp>
        <p:nvSpPr>
          <p:cNvPr id="43" name="Rectangle 42"/>
          <p:cNvSpPr/>
          <p:nvPr/>
        </p:nvSpPr>
        <p:spPr>
          <a:xfrm>
            <a:off x="777240" y="4587240"/>
            <a:ext cx="638068" cy="467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86968" y="4587240"/>
            <a:ext cx="455188" cy="467360"/>
          </a:xfrm>
          <a:prstGeom prst="rect">
            <a:avLst/>
          </a:prstGeom>
          <a:noFill/>
        </p:spPr>
        <p:txBody>
          <a:bodyPr wrap="square" anchor="ctr">
            <a:spAutoFit/>
          </a:bodyPr>
          <a:lstStyle/>
          <a:p>
            <a:pPr algn="l">
              <a:spcAft>
                <a:spcPts val="400"/>
              </a:spcAft>
            </a:pPr>
            <a:r>
              <a:rPr sz="850" b="1">
                <a:solidFill>
                  <a:srgbClr val="161B26"/>
                </a:solidFill>
                <a:latin typeface="Arial"/>
              </a:rPr>
              <a:t>S15</a:t>
            </a:r>
          </a:p>
        </p:txBody>
      </p:sp>
      <p:sp>
        <p:nvSpPr>
          <p:cNvPr id="45" name="Rectangle 44"/>
          <p:cNvSpPr/>
          <p:nvPr/>
        </p:nvSpPr>
        <p:spPr>
          <a:xfrm>
            <a:off x="1415308" y="4587240"/>
            <a:ext cx="6380683" cy="467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525036" y="4587240"/>
            <a:ext cx="6197803" cy="467360"/>
          </a:xfrm>
          <a:prstGeom prst="rect">
            <a:avLst/>
          </a:prstGeom>
          <a:noFill/>
        </p:spPr>
        <p:txBody>
          <a:bodyPr wrap="square" anchor="ctr">
            <a:spAutoFit/>
          </a:bodyPr>
          <a:lstStyle/>
          <a:p>
            <a:pPr algn="l">
              <a:spcAft>
                <a:spcPts val="400"/>
              </a:spcAft>
            </a:pPr>
            <a:r>
              <a:rPr sz="850" b="0">
                <a:solidFill>
                  <a:srgbClr val="161B26"/>
                </a:solidFill>
                <a:latin typeface="Arial"/>
              </a:rPr>
              <a:t>Google AI for Developers — Gemini API image generation documentation</a:t>
            </a:r>
          </a:p>
        </p:txBody>
      </p:sp>
      <p:sp>
        <p:nvSpPr>
          <p:cNvPr id="47" name="Rectangle 46"/>
          <p:cNvSpPr/>
          <p:nvPr/>
        </p:nvSpPr>
        <p:spPr>
          <a:xfrm>
            <a:off x="7795991" y="4587240"/>
            <a:ext cx="3615720" cy="467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905719" y="4587240"/>
            <a:ext cx="3432840" cy="467360"/>
          </a:xfrm>
          <a:prstGeom prst="rect">
            <a:avLst/>
          </a:prstGeom>
          <a:noFill/>
        </p:spPr>
        <p:txBody>
          <a:bodyPr wrap="square" anchor="ctr">
            <a:spAutoFit/>
          </a:bodyPr>
          <a:lstStyle/>
          <a:p>
            <a:pPr algn="l">
              <a:spcAft>
                <a:spcPts val="400"/>
              </a:spcAft>
            </a:pPr>
            <a:r>
              <a:rPr sz="850" b="0">
                <a:solidFill>
                  <a:srgbClr val="161B26"/>
                </a:solidFill>
                <a:latin typeface="Arial"/>
              </a:rPr>
              <a:t>https://ai.google.dev/gemini-api/docs/image-generation (</a:t>
            </a:r>
          </a:p>
        </p:txBody>
      </p:sp>
      <p:sp>
        <p:nvSpPr>
          <p:cNvPr id="49" name="Rectangle 48"/>
          <p:cNvSpPr/>
          <p:nvPr/>
        </p:nvSpPr>
        <p:spPr>
          <a:xfrm>
            <a:off x="777240" y="5054600"/>
            <a:ext cx="638068" cy="467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86968" y="5054600"/>
            <a:ext cx="455188" cy="467360"/>
          </a:xfrm>
          <a:prstGeom prst="rect">
            <a:avLst/>
          </a:prstGeom>
          <a:noFill/>
        </p:spPr>
        <p:txBody>
          <a:bodyPr wrap="square" anchor="ctr">
            <a:spAutoFit/>
          </a:bodyPr>
          <a:lstStyle/>
          <a:p>
            <a:pPr algn="l">
              <a:spcAft>
                <a:spcPts val="400"/>
              </a:spcAft>
            </a:pPr>
            <a:r>
              <a:rPr sz="850" b="1">
                <a:solidFill>
                  <a:srgbClr val="161B26"/>
                </a:solidFill>
                <a:latin typeface="Arial"/>
              </a:rPr>
              <a:t>S16</a:t>
            </a:r>
          </a:p>
        </p:txBody>
      </p:sp>
      <p:sp>
        <p:nvSpPr>
          <p:cNvPr id="51" name="Rectangle 50"/>
          <p:cNvSpPr/>
          <p:nvPr/>
        </p:nvSpPr>
        <p:spPr>
          <a:xfrm>
            <a:off x="1415308" y="5054600"/>
            <a:ext cx="6380683" cy="467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525036" y="5054600"/>
            <a:ext cx="6197803" cy="467360"/>
          </a:xfrm>
          <a:prstGeom prst="rect">
            <a:avLst/>
          </a:prstGeom>
          <a:noFill/>
        </p:spPr>
        <p:txBody>
          <a:bodyPr wrap="square" anchor="ctr">
            <a:spAutoFit/>
          </a:bodyPr>
          <a:lstStyle/>
          <a:p>
            <a:pPr algn="l">
              <a:spcAft>
                <a:spcPts val="400"/>
              </a:spcAft>
            </a:pPr>
            <a:r>
              <a:rPr sz="850" b="0">
                <a:solidFill>
                  <a:srgbClr val="161B26"/>
                </a:solidFill>
                <a:latin typeface="Arial"/>
              </a:rPr>
              <a:t>Google AI for Developers — Veo video generation documentation</a:t>
            </a:r>
          </a:p>
        </p:txBody>
      </p:sp>
      <p:sp>
        <p:nvSpPr>
          <p:cNvPr id="53" name="Rectangle 52"/>
          <p:cNvSpPr/>
          <p:nvPr/>
        </p:nvSpPr>
        <p:spPr>
          <a:xfrm>
            <a:off x="7795991" y="5054600"/>
            <a:ext cx="3615720" cy="467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905719" y="5054600"/>
            <a:ext cx="3432840" cy="467360"/>
          </a:xfrm>
          <a:prstGeom prst="rect">
            <a:avLst/>
          </a:prstGeom>
          <a:noFill/>
        </p:spPr>
        <p:txBody>
          <a:bodyPr wrap="square" anchor="ctr">
            <a:spAutoFit/>
          </a:bodyPr>
          <a:lstStyle/>
          <a:p>
            <a:pPr algn="l">
              <a:spcAft>
                <a:spcPts val="400"/>
              </a:spcAft>
            </a:pPr>
            <a:r>
              <a:rPr sz="850" b="0">
                <a:solidFill>
                  <a:srgbClr val="161B26"/>
                </a:solidFill>
                <a:latin typeface="Arial"/>
              </a:rPr>
              <a:t>https://ai.google.dev/gemini-api/docs/veo (verified 6 Se</a:t>
            </a:r>
          </a:p>
        </p:txBody>
      </p:sp>
      <p:sp>
        <p:nvSpPr>
          <p:cNvPr id="55" name="Rectangle 54"/>
          <p:cNvSpPr/>
          <p:nvPr/>
        </p:nvSpPr>
        <p:spPr>
          <a:xfrm>
            <a:off x="777240" y="5521960"/>
            <a:ext cx="638068" cy="467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86968" y="5521960"/>
            <a:ext cx="455188" cy="467360"/>
          </a:xfrm>
          <a:prstGeom prst="rect">
            <a:avLst/>
          </a:prstGeom>
          <a:noFill/>
        </p:spPr>
        <p:txBody>
          <a:bodyPr wrap="square" anchor="ctr">
            <a:spAutoFit/>
          </a:bodyPr>
          <a:lstStyle/>
          <a:p>
            <a:pPr algn="l">
              <a:spcAft>
                <a:spcPts val="400"/>
              </a:spcAft>
            </a:pPr>
            <a:r>
              <a:rPr sz="850" b="1">
                <a:solidFill>
                  <a:srgbClr val="161B26"/>
                </a:solidFill>
                <a:latin typeface="Arial"/>
              </a:rPr>
              <a:t>S17</a:t>
            </a:r>
          </a:p>
        </p:txBody>
      </p:sp>
      <p:sp>
        <p:nvSpPr>
          <p:cNvPr id="57" name="Rectangle 56"/>
          <p:cNvSpPr/>
          <p:nvPr/>
        </p:nvSpPr>
        <p:spPr>
          <a:xfrm>
            <a:off x="1415308" y="5521960"/>
            <a:ext cx="6380683" cy="467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525036" y="5521960"/>
            <a:ext cx="6197803" cy="467360"/>
          </a:xfrm>
          <a:prstGeom prst="rect">
            <a:avLst/>
          </a:prstGeom>
          <a:noFill/>
        </p:spPr>
        <p:txBody>
          <a:bodyPr wrap="square" anchor="ctr">
            <a:spAutoFit/>
          </a:bodyPr>
          <a:lstStyle/>
          <a:p>
            <a:pPr algn="l">
              <a:spcAft>
                <a:spcPts val="400"/>
              </a:spcAft>
            </a:pPr>
            <a:r>
              <a:rPr sz="850" b="0">
                <a:solidFill>
                  <a:srgbClr val="161B26"/>
                </a:solidFill>
                <a:latin typeface="Arial"/>
              </a:rPr>
              <a:t>OpenCV 4.13 Python package and FFmpeg, verified locally on the delivery im</a:t>
            </a:r>
          </a:p>
        </p:txBody>
      </p:sp>
      <p:sp>
        <p:nvSpPr>
          <p:cNvPr id="59" name="Rectangle 58"/>
          <p:cNvSpPr/>
          <p:nvPr/>
        </p:nvSpPr>
        <p:spPr>
          <a:xfrm>
            <a:off x="7795991" y="5521960"/>
            <a:ext cx="3615720" cy="467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905719" y="5521960"/>
            <a:ext cx="3432840" cy="467360"/>
          </a:xfrm>
          <a:prstGeom prst="rect">
            <a:avLst/>
          </a:prstGeom>
          <a:noFill/>
        </p:spPr>
        <p:txBody>
          <a:bodyPr wrap="square" anchor="ctr">
            <a:spAutoFit/>
          </a:bodyPr>
          <a:lstStyle/>
          <a:p>
            <a:pPr algn="l">
              <a:spcAft>
                <a:spcPts val="400"/>
              </a:spcAft>
            </a:pPr>
            <a:r>
              <a:rPr sz="850" b="0">
                <a:solidFill>
                  <a:srgbClr val="161B26"/>
                </a:solidFill>
                <a:latin typeface="Arial"/>
              </a:rPr>
              <a:t>cv2 4.13.0 (opencv-python 4.13.0.92); ffmpeg/ffprobe opt</a:t>
            </a:r>
          </a:p>
        </p:txBody>
      </p:sp>
      <p:sp>
        <p:nvSpPr>
          <p:cNvPr id="61" name="TextBox 60"/>
          <p:cNvSpPr txBox="1"/>
          <p:nvPr/>
        </p:nvSpPr>
        <p:spPr>
          <a:xfrm>
            <a:off x="777240" y="6053328"/>
            <a:ext cx="10698480" cy="457200"/>
          </a:xfrm>
          <a:prstGeom prst="rect">
            <a:avLst/>
          </a:prstGeom>
          <a:noFill/>
        </p:spPr>
        <p:txBody>
          <a:bodyPr wrap="square" anchor="t">
            <a:spAutoFit/>
          </a:bodyPr>
          <a:lstStyle/>
          <a:p>
            <a:pPr algn="ctr">
              <a:spcAft>
                <a:spcPts val="400"/>
              </a:spcAft>
            </a:pPr>
            <a:r>
              <a:rPr sz="1200" b="0">
                <a:solidFill>
                  <a:srgbClr val="5B6372"/>
                </a:solidFill>
                <a:latin typeface="Arial"/>
              </a:rPr>
              <a:t>S6–S12 are creator tutorials, some sponsored: they anchor techniques, not tool choices.</a:t>
            </a:r>
          </a:p>
        </p:txBody>
      </p:sp>
      <p:sp>
        <p:nvSpPr>
          <p:cNvPr id="62" name="TextBox 6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63" name="TextBox 6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4" name="TextBox 6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transition spd="fast">
    <p:fade/>
  </p:transition>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CONTINUE THE JOURNEY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Recommended Follow-On Courses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9860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9860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187634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187634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9482328" cy="552297"/>
          </a:xfrm>
          <a:prstGeom prst="rect">
            <a:avLst/>
          </a:prstGeom>
          <a:noFill/>
        </p:spPr>
        <p:txBody>
          <a:bodyPr wrap="square" anchor="ctr">
            <a:spAutoFit/>
          </a:bodyPr>
          <a:lstStyle/>
          <a:p>
            <a:pPr algn="l">
              <a:spcAft>
                <a:spcPts val="200"/>
              </a:spcAft>
            </a:pPr>
            <a:r>
              <a:rPr sz="1400" b="1">
                <a:solidFill>
                  <a:srgbClr val="161B26"/>
                </a:solidFill>
                <a:latin typeface="Arial"/>
              </a:rPr>
              <a:t>Generative AI for Script Development and Storytelling</a:t>
            </a:r>
          </a:p>
          <a:p>
            <a:pPr algn="l">
              <a:spcAft>
                <a:spcPts val="200"/>
              </a:spcAft>
            </a:pPr>
            <a:r>
              <a:rPr sz="1100" b="0">
                <a:solidFill>
                  <a:srgbClr val="5B6372"/>
                </a:solidFill>
                <a:latin typeface="Arial"/>
              </a:rPr>
              <a:t>WSQ funded · Tertiary Infotech Academy</a:t>
            </a:r>
          </a:p>
        </p:txBody>
      </p:sp>
      <p:sp>
        <p:nvSpPr>
          <p:cNvPr id="12" name="Rectangle 11"/>
          <p:cNvSpPr/>
          <p:nvPr/>
        </p:nvSpPr>
        <p:spPr>
          <a:xfrm>
            <a:off x="777240" y="2701137"/>
            <a:ext cx="10634472" cy="69860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1137"/>
            <a:ext cx="91440" cy="69860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14984" y="2794405"/>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14984" y="2794405"/>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1709928" y="2792577"/>
            <a:ext cx="9482328" cy="552297"/>
          </a:xfrm>
          <a:prstGeom prst="rect">
            <a:avLst/>
          </a:prstGeom>
          <a:noFill/>
        </p:spPr>
        <p:txBody>
          <a:bodyPr wrap="square" anchor="ctr">
            <a:spAutoFit/>
          </a:bodyPr>
          <a:lstStyle/>
          <a:p>
            <a:pPr algn="l">
              <a:spcAft>
                <a:spcPts val="200"/>
              </a:spcAft>
            </a:pPr>
            <a:r>
              <a:rPr sz="1400" b="1">
                <a:solidFill>
                  <a:srgbClr val="161B26"/>
                </a:solidFill>
                <a:latin typeface="Arial"/>
              </a:rPr>
              <a:t>Creating Engaging Videos with Generative AI</a:t>
            </a:r>
          </a:p>
          <a:p>
            <a:pPr algn="l">
              <a:spcAft>
                <a:spcPts val="200"/>
              </a:spcAft>
            </a:pPr>
            <a:r>
              <a:rPr sz="1100" b="0">
                <a:solidFill>
                  <a:srgbClr val="5B6372"/>
                </a:solidFill>
                <a:latin typeface="Arial"/>
              </a:rPr>
              <a:t>WSQ funded · Tertiary Infotech Academy</a:t>
            </a:r>
          </a:p>
        </p:txBody>
      </p:sp>
      <p:sp>
        <p:nvSpPr>
          <p:cNvPr id="17" name="Rectangle 16"/>
          <p:cNvSpPr/>
          <p:nvPr/>
        </p:nvSpPr>
        <p:spPr>
          <a:xfrm>
            <a:off x="777240" y="3619194"/>
            <a:ext cx="10634472" cy="69860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19194"/>
            <a:ext cx="91440" cy="69860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2"/>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710634"/>
            <a:ext cx="9482328" cy="552297"/>
          </a:xfrm>
          <a:prstGeom prst="rect">
            <a:avLst/>
          </a:prstGeom>
          <a:noFill/>
        </p:spPr>
        <p:txBody>
          <a:bodyPr wrap="square" anchor="ctr">
            <a:spAutoFit/>
          </a:bodyPr>
          <a:lstStyle/>
          <a:p>
            <a:pPr algn="l">
              <a:spcAft>
                <a:spcPts val="200"/>
              </a:spcAft>
            </a:pPr>
            <a:r>
              <a:rPr sz="1400" b="1">
                <a:solidFill>
                  <a:srgbClr val="161B26"/>
                </a:solidFill>
                <a:latin typeface="Arial"/>
              </a:rPr>
              <a:t>Agentic AI for Video Creation</a:t>
            </a:r>
          </a:p>
          <a:p>
            <a:pPr algn="l">
              <a:spcAft>
                <a:spcPts val="200"/>
              </a:spcAft>
            </a:pPr>
            <a:r>
              <a:rPr sz="1100" b="0">
                <a:solidFill>
                  <a:srgbClr val="5B6372"/>
                </a:solidFill>
                <a:latin typeface="Arial"/>
              </a:rPr>
              <a:t>WSQ funded · Tertiary Infotech Academy</a:t>
            </a:r>
          </a:p>
        </p:txBody>
      </p:sp>
      <p:sp>
        <p:nvSpPr>
          <p:cNvPr id="22" name="Rectangle 21"/>
          <p:cNvSpPr/>
          <p:nvPr/>
        </p:nvSpPr>
        <p:spPr>
          <a:xfrm>
            <a:off x="777240" y="4537251"/>
            <a:ext cx="10634472" cy="69860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37251"/>
            <a:ext cx="91440" cy="69860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14984" y="4630519"/>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14984" y="4630519"/>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1709928" y="4628691"/>
            <a:ext cx="9482328" cy="552297"/>
          </a:xfrm>
          <a:prstGeom prst="rect">
            <a:avLst/>
          </a:prstGeom>
          <a:noFill/>
        </p:spPr>
        <p:txBody>
          <a:bodyPr wrap="square" anchor="ctr">
            <a:spAutoFit/>
          </a:bodyPr>
          <a:lstStyle/>
          <a:p>
            <a:pPr algn="l">
              <a:spcAft>
                <a:spcPts val="200"/>
              </a:spcAft>
            </a:pPr>
            <a:r>
              <a:rPr sz="1400" b="1">
                <a:solidFill>
                  <a:srgbClr val="161B26"/>
                </a:solidFill>
                <a:latin typeface="Arial"/>
              </a:rPr>
              <a:t>Generative AI for Photoshop</a:t>
            </a:r>
          </a:p>
          <a:p>
            <a:pPr algn="l">
              <a:spcAft>
                <a:spcPts val="200"/>
              </a:spcAft>
            </a:pPr>
            <a:r>
              <a:rPr sz="1100" b="0">
                <a:solidFill>
                  <a:srgbClr val="5B6372"/>
                </a:solidFill>
                <a:latin typeface="Arial"/>
              </a:rPr>
              <a:t>WSQ funded · Tertiary Infotech Academy</a:t>
            </a:r>
          </a:p>
        </p:txBody>
      </p:sp>
      <p:sp>
        <p:nvSpPr>
          <p:cNvPr id="27" name="Rectangle 26"/>
          <p:cNvSpPr/>
          <p:nvPr/>
        </p:nvSpPr>
        <p:spPr>
          <a:xfrm>
            <a:off x="777240" y="5455308"/>
            <a:ext cx="10634472" cy="69860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55308"/>
            <a:ext cx="91440" cy="69860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548576"/>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54857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5546748"/>
            <a:ext cx="9482328" cy="552297"/>
          </a:xfrm>
          <a:prstGeom prst="rect">
            <a:avLst/>
          </a:prstGeom>
          <a:noFill/>
        </p:spPr>
        <p:txBody>
          <a:bodyPr wrap="square" anchor="ctr">
            <a:spAutoFit/>
          </a:bodyPr>
          <a:lstStyle/>
          <a:p>
            <a:pPr algn="l">
              <a:spcAft>
                <a:spcPts val="200"/>
              </a:spcAft>
            </a:pPr>
            <a:r>
              <a:rPr sz="1400" b="1">
                <a:solidFill>
                  <a:srgbClr val="161B26"/>
                </a:solidFill>
                <a:latin typeface="Arial"/>
              </a:rPr>
              <a:t>Video Editing with After Effects</a:t>
            </a:r>
          </a:p>
          <a:p>
            <a:pPr algn="l">
              <a:spcAft>
                <a:spcPts val="200"/>
              </a:spcAft>
            </a:pPr>
            <a:r>
              <a:rPr sz="1100" b="0">
                <a:solidFill>
                  <a:srgbClr val="5B6372"/>
                </a:solidFill>
                <a:latin typeface="Arial"/>
              </a:rPr>
              <a:t>WSQ funded · Tertiary Infotech Academy</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transition spd="fast">
    <p:fade/>
  </p:transition>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WE'RE HERE TO HELP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Support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If you have any enquiries during or after the class, contact us:</a:t>
            </a:r>
          </a:p>
          <a:p>
            <a:pPr>
              <a:spcAft>
                <a:spcPts val="1000"/>
              </a:spcAft>
            </a:pPr>
            <a:r>
              <a:rPr sz="1700" b="0">
                <a:solidFill>
                  <a:srgbClr val="161B26"/>
                </a:solidFill>
                <a:latin typeface="Arial"/>
              </a:rPr>
              <a:t>•  Email: enquiry@tertiaryinfotech.com</a:t>
            </a:r>
          </a:p>
          <a:p>
            <a:pPr>
              <a:spcAft>
                <a:spcPts val="1000"/>
              </a:spcAft>
            </a:pPr>
            <a:r>
              <a:rPr sz="1700" b="0">
                <a:solidFill>
                  <a:srgbClr val="161B26"/>
                </a:solidFill>
                <a:latin typeface="Arial"/>
              </a:rPr>
              <a:t>•  Telephone: +65 6100 0613</a:t>
            </a:r>
          </a:p>
          <a:p>
            <a:pPr>
              <a:spcAft>
                <a:spcPts val="1000"/>
              </a:spcAft>
            </a:pPr>
            <a:r>
              <a:rPr sz="1700" b="0">
                <a:solidFill>
                  <a:srgbClr val="161B26"/>
                </a:solidFill>
                <a:latin typeface="Arial"/>
              </a:rPr>
              <a:t>•  Website: www.tertiarycourses.com.sg</a:t>
            </a:r>
          </a:p>
          <a:p>
            <a:pPr>
              <a:spcAft>
                <a:spcPts val="1000"/>
              </a:spcAft>
            </a:pPr>
            <a:r>
              <a:rPr sz="1700" b="0">
                <a:solidFill>
                  <a:srgbClr val="161B26"/>
                </a:solidFill>
                <a:latin typeface="Arial"/>
              </a:rPr>
              <a:t>•  Course page: https://www.tertiarycourses.com.sg/wsq-create-short-video-film-using-ai.html</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p:transition spd="fast">
    <p:fade/>
  </p:transition>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FINAL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b="0">
                <a:solidFill>
                  <a:srgbClr val="161B26"/>
                </a:solidFill>
                <a:latin typeface="Arial"/>
              </a:rPr>
              <a:t>•  Written Assessment WA(Q&amp;A) — 13 open-ended questions covering K1 to K13, 60 minutes.</a:t>
            </a:r>
          </a:p>
          <a:p>
            <a:pPr>
              <a:spcAft>
                <a:spcPts val="1000"/>
              </a:spcAft>
            </a:pPr>
            <a:r>
              <a:rPr sz="1600" b="0">
                <a:solidFill>
                  <a:srgbClr val="161B26"/>
                </a:solidFill>
                <a:latin typeface="Arial"/>
              </a:rPr>
              <a:t>•  Practical Performance (PP) — 5 scenario-based tasks covering A1 to A8, 90 minutes.</a:t>
            </a:r>
          </a:p>
          <a:p>
            <a:pPr>
              <a:spcAft>
                <a:spcPts val="1000"/>
              </a:spcAft>
            </a:pPr>
            <a:r>
              <a:rPr sz="1600" b="0">
                <a:solidFill>
                  <a:srgbClr val="161B26"/>
                </a:solidFill>
                <a:latin typeface="Arial"/>
              </a:rPr>
              <a:t>•  Open book: slides, Learner Guide and approved course materials only.</a:t>
            </a:r>
          </a:p>
          <a:p>
            <a:pPr>
              <a:spcAft>
                <a:spcPts val="1000"/>
              </a:spcAft>
            </a:pPr>
            <a:r>
              <a:rPr sz="1600" b="0">
                <a:solidFill>
                  <a:srgbClr val="161B26"/>
                </a:solidFill>
                <a:latin typeface="Arial"/>
              </a:rPr>
              <a:t>•  Remember to take the Assessment digital attendance before you start.</a:t>
            </a:r>
          </a:p>
          <a:p>
            <a:pPr>
              <a:spcAft>
                <a:spcPts val="1000"/>
              </a:spcAft>
            </a:pPr>
            <a:r>
              <a:rPr sz="1600" b="0">
                <a:solidFill>
                  <a:srgbClr val="161B26"/>
                </a:solidFill>
                <a:latin typeface="Arial"/>
              </a:rPr>
              <a:t>•  Submit your completed answers on the LMS at https://lms-tms.tertiaryinfotech.com/</a:t>
            </a:r>
          </a:p>
          <a:p>
            <a:pPr>
              <a:spcAft>
                <a:spcPts val="1000"/>
              </a:spcAft>
            </a:pPr>
            <a:r>
              <a:rPr sz="1600" b="0">
                <a:solidFill>
                  <a:srgbClr val="161B26"/>
                </a:solidFill>
                <a:latin typeface="Arial"/>
              </a:rPr>
              <a:t>•  Sign the Assessment Summary Record when your assessor has completed it.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p:transition spd="fast">
    <p:fade/>
  </p:transition>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240280"/>
            <a:ext cx="1878177" cy="288036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50568" y="260604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50568" y="260604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1" name="TextBox 10"/>
          <p:cNvSpPr txBox="1"/>
          <p:nvPr/>
        </p:nvSpPr>
        <p:spPr>
          <a:xfrm>
            <a:off x="905256" y="3611880"/>
            <a:ext cx="1622145" cy="1399032"/>
          </a:xfrm>
          <a:prstGeom prst="rect">
            <a:avLst/>
          </a:prstGeom>
          <a:noFill/>
        </p:spPr>
        <p:txBody>
          <a:bodyPr wrap="square" anchor="t">
            <a:spAutoFit/>
          </a:bodyPr>
          <a:lstStyle/>
          <a:p>
            <a:pPr algn="ctr">
              <a:spcAft>
                <a:spcPts val="400"/>
              </a:spcAft>
            </a:pPr>
            <a:r>
              <a:rPr sz="1250" b="0">
                <a:solidFill>
                  <a:srgbClr val="161B26"/>
                </a:solidFill>
                <a:latin typeface="Arial"/>
              </a:rPr>
              <a:t>TRAQOM survey — scan the QR code on the LMS</a:t>
            </a:r>
          </a:p>
        </p:txBody>
      </p:sp>
      <p:cxnSp>
        <p:nvCxnSpPr>
          <p:cNvPr id="12" name="Connector 11"/>
          <p:cNvCxnSpPr/>
          <p:nvPr/>
        </p:nvCxnSpPr>
        <p:spPr>
          <a:xfrm>
            <a:off x="2691993" y="3680460"/>
            <a:ext cx="237744" cy="0"/>
          </a:xfrm>
          <a:prstGeom prst="line">
            <a:avLst/>
          </a:prstGeom>
          <a:ln w="22225">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66313" y="2240280"/>
            <a:ext cx="1878177" cy="288036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9641" y="260604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9641" y="260604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7" name="TextBox 16"/>
          <p:cNvSpPr txBox="1"/>
          <p:nvPr/>
        </p:nvSpPr>
        <p:spPr>
          <a:xfrm>
            <a:off x="3094329" y="3611880"/>
            <a:ext cx="1622145" cy="1399032"/>
          </a:xfrm>
          <a:prstGeom prst="rect">
            <a:avLst/>
          </a:prstGeom>
          <a:noFill/>
        </p:spPr>
        <p:txBody>
          <a:bodyPr wrap="square" anchor="t">
            <a:spAutoFit/>
          </a:bodyPr>
          <a:lstStyle/>
          <a:p>
            <a:pPr algn="ctr">
              <a:spcAft>
                <a:spcPts val="400"/>
              </a:spcAft>
            </a:pPr>
            <a:r>
              <a:rPr sz="1250" b="0">
                <a:solidFill>
                  <a:srgbClr val="161B26"/>
                </a:solidFill>
                <a:latin typeface="Arial"/>
              </a:rPr>
              <a:t>Assessment digital attendance — scan the SSG QR</a:t>
            </a:r>
          </a:p>
        </p:txBody>
      </p:sp>
      <p:cxnSp>
        <p:nvCxnSpPr>
          <p:cNvPr id="18" name="Connector 17"/>
          <p:cNvCxnSpPr/>
          <p:nvPr/>
        </p:nvCxnSpPr>
        <p:spPr>
          <a:xfrm>
            <a:off x="4881066" y="3680460"/>
            <a:ext cx="237744" cy="0"/>
          </a:xfrm>
          <a:prstGeom prst="line">
            <a:avLst/>
          </a:prstGeom>
          <a:ln w="22225">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155386" y="2240280"/>
            <a:ext cx="1878177" cy="288036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28714" y="260604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28714" y="260604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3" name="TextBox 22"/>
          <p:cNvSpPr txBox="1"/>
          <p:nvPr/>
        </p:nvSpPr>
        <p:spPr>
          <a:xfrm>
            <a:off x="5283402" y="3611880"/>
            <a:ext cx="1622145" cy="1399032"/>
          </a:xfrm>
          <a:prstGeom prst="rect">
            <a:avLst/>
          </a:prstGeom>
          <a:noFill/>
        </p:spPr>
        <p:txBody>
          <a:bodyPr wrap="square" anchor="t">
            <a:spAutoFit/>
          </a:bodyPr>
          <a:lstStyle/>
          <a:p>
            <a:pPr algn="ctr">
              <a:spcAft>
                <a:spcPts val="400"/>
              </a:spcAft>
            </a:pPr>
            <a:r>
              <a:rPr sz="1250" b="0">
                <a:solidFill>
                  <a:srgbClr val="161B26"/>
                </a:solidFill>
                <a:latin typeface="Arial"/>
              </a:rPr>
              <a:t>Sit WA(Q&amp;A) 60 min, then PP 90 min — open book</a:t>
            </a:r>
          </a:p>
        </p:txBody>
      </p:sp>
      <p:cxnSp>
        <p:nvCxnSpPr>
          <p:cNvPr id="24" name="Connector 23"/>
          <p:cNvCxnSpPr/>
          <p:nvPr/>
        </p:nvCxnSpPr>
        <p:spPr>
          <a:xfrm>
            <a:off x="7070139" y="3680460"/>
            <a:ext cx="237744" cy="0"/>
          </a:xfrm>
          <a:prstGeom prst="line">
            <a:avLst/>
          </a:prstGeom>
          <a:ln w="22225">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44459" y="2240280"/>
            <a:ext cx="1878177" cy="288036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17787" y="260604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17787" y="260604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9" name="TextBox 28"/>
          <p:cNvSpPr txBox="1"/>
          <p:nvPr/>
        </p:nvSpPr>
        <p:spPr>
          <a:xfrm>
            <a:off x="7472475" y="3611880"/>
            <a:ext cx="1622145" cy="1399032"/>
          </a:xfrm>
          <a:prstGeom prst="rect">
            <a:avLst/>
          </a:prstGeom>
          <a:noFill/>
        </p:spPr>
        <p:txBody>
          <a:bodyPr wrap="square" anchor="t">
            <a:spAutoFit/>
          </a:bodyPr>
          <a:lstStyle/>
          <a:p>
            <a:pPr algn="ctr">
              <a:spcAft>
                <a:spcPts val="400"/>
              </a:spcAft>
            </a:pPr>
            <a:r>
              <a:rPr sz="1250" b="0">
                <a:solidFill>
                  <a:srgbClr val="161B26"/>
                </a:solidFill>
                <a:latin typeface="Arial"/>
              </a:rPr>
              <a:t>Submit your answers on the LMS</a:t>
            </a:r>
          </a:p>
        </p:txBody>
      </p:sp>
      <p:cxnSp>
        <p:nvCxnSpPr>
          <p:cNvPr id="30" name="Connector 29"/>
          <p:cNvCxnSpPr/>
          <p:nvPr/>
        </p:nvCxnSpPr>
        <p:spPr>
          <a:xfrm>
            <a:off x="9259212" y="3680460"/>
            <a:ext cx="237744" cy="0"/>
          </a:xfrm>
          <a:prstGeom prst="line">
            <a:avLst/>
          </a:prstGeom>
          <a:ln w="22225">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533532" y="2240280"/>
            <a:ext cx="1878177" cy="288036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106860" y="260604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106860" y="260604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5" name="TextBox 34"/>
          <p:cNvSpPr txBox="1"/>
          <p:nvPr/>
        </p:nvSpPr>
        <p:spPr>
          <a:xfrm>
            <a:off x="9661548" y="3611880"/>
            <a:ext cx="1622145" cy="1399032"/>
          </a:xfrm>
          <a:prstGeom prst="rect">
            <a:avLst/>
          </a:prstGeom>
          <a:noFill/>
        </p:spPr>
        <p:txBody>
          <a:bodyPr wrap="square" anchor="t">
            <a:spAutoFit/>
          </a:bodyPr>
          <a:lstStyle/>
          <a:p>
            <a:pPr algn="ctr">
              <a:spcAft>
                <a:spcPts val="400"/>
              </a:spcAft>
            </a:pPr>
            <a:r>
              <a:rPr sz="1250" b="0">
                <a:solidFill>
                  <a:srgbClr val="161B26"/>
                </a:solidFill>
                <a:latin typeface="Arial"/>
              </a:rPr>
              <a:t>Sign the Assessment Summary Record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transition spd="fast">
    <p:fade/>
  </p:transition>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TRAQOM · SSG DIGITAL ATTENDANCE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It is mandatory to take the AM, PM and Assessment digital attendance for WSQ-funded courses.</a:t>
            </a:r>
          </a:p>
          <a:p>
            <a:pPr>
              <a:spcAft>
                <a:spcPts val="1000"/>
              </a:spcAft>
            </a:pPr>
            <a:r>
              <a:rPr sz="1700" b="0">
                <a:solidFill>
                  <a:srgbClr val="161B26"/>
                </a:solidFill>
                <a:latin typeface="Arial"/>
              </a:rPr>
              <a:t>•  The trainer or administrator displays the digital attendance QR code generated from the SSG portal.</a:t>
            </a:r>
          </a:p>
          <a:p>
            <a:pPr>
              <a:spcAft>
                <a:spcPts val="1000"/>
              </a:spcAft>
            </a:pPr>
            <a:r>
              <a:rPr sz="1700" b="0">
                <a:solidFill>
                  <a:srgbClr val="161B26"/>
                </a:solidFill>
                <a:latin typeface="Arial"/>
              </a:rPr>
              <a:t>•  Scan the QR code with your mobile phone camera and submit your attendance.</a:t>
            </a:r>
          </a:p>
          <a:p>
            <a:pPr>
              <a:spcAft>
                <a:spcPts val="1000"/>
              </a:spcAft>
            </a:pPr>
            <a:r>
              <a:rPr sz="1700" b="0">
                <a:solidFill>
                  <a:srgbClr val="161B26"/>
                </a:solidFill>
                <a:latin typeface="Arial"/>
              </a:rPr>
              <a:t>•  A minimum of 75% attendance is required to be eligible for assessment and funding.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p:transition spd="fast">
    <p:fade/>
  </p:transition>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500" b="1">
                <a:solidFill>
                  <a:srgbClr val="10B981"/>
                </a:solidFill>
                <a:latin typeface="Arial"/>
              </a:rPr>
              <a:t>SEE YOU IN THE NEXT COURSE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400" b="1">
                <a:solidFill>
                  <a:srgbClr val="161B26"/>
                </a:solidFill>
                <a:latin typeface="Arial"/>
              </a:rPr>
              <a:t>Thank You!</a:t>
            </a:r>
          </a:p>
        </p:txBody>
      </p:sp>
      <p:sp>
        <p:nvSpPr>
          <p:cNvPr id="6" name="TextBox 5"/>
          <p:cNvSpPr txBox="1"/>
          <p:nvPr/>
        </p:nvSpPr>
        <p:spPr>
          <a:xfrm>
            <a:off x="1024128" y="4480560"/>
            <a:ext cx="10058400" cy="1280160"/>
          </a:xfrm>
          <a:prstGeom prst="rect">
            <a:avLst/>
          </a:prstGeom>
          <a:noFill/>
        </p:spPr>
        <p:txBody>
          <a:bodyPr wrap="square" anchor="t">
            <a:spAutoFit/>
          </a:bodyPr>
          <a:lstStyle/>
          <a:p>
            <a:pPr algn="l">
              <a:spcAft>
                <a:spcPts val="400"/>
              </a:spcAft>
            </a:pPr>
            <a:r>
              <a:rPr sz="1700" b="0">
                <a:solidFill>
                  <a:srgbClr val="5B6372"/>
                </a:solidFill>
                <a:latin typeface="Arial"/>
              </a:rPr>
              <a:t>You can now plan a short film, generate it reference-first, verify every shot with computer vision, finish it with sound and captions, and defend where it should run.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Short Video Film using AI  ·  TGS-2020505925</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